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slides/charts/chart4.xml" ContentType="application/vnd.openxmlformats-officedocument.drawingml.chart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slides/charts/chart5.xml" ContentType="application/vnd.openxmlformats-officedocument.drawingml.chart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6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466bcb9c7646a0" /><Relationship Type="http://schemas.openxmlformats.org/officeDocument/2006/relationships/extended-properties" Target="/docProps/app.xml" Id="Rb77c1419dc284d2b" /><Relationship Type="http://schemas.openxmlformats.org/officeDocument/2006/relationships/officeDocument" Target="/ppt/presentation.xml" Id="R07740b36d10d44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ba89303f434161"/>
  </p:sldMasterIdLst>
  <p:notesMasterIdLst>
    <p:notesMasterId xmlns:r="http://schemas.openxmlformats.org/officeDocument/2006/relationships" r:id="R0e744a8578fa4f46"/>
  </p:notesMasterIdLst>
  <p:sldIdLst>
    <p:sldId xmlns:r="http://schemas.openxmlformats.org/officeDocument/2006/relationships" id="256" r:id="R552b25b6b03148b2"/>
    <p:sldId xmlns:r="http://schemas.openxmlformats.org/officeDocument/2006/relationships" id="257" r:id="R9b22034a732c4d31"/>
    <p:sldId xmlns:r="http://schemas.openxmlformats.org/officeDocument/2006/relationships" id="258" r:id="R3708aa67f89842af"/>
    <p:sldId xmlns:r="http://schemas.openxmlformats.org/officeDocument/2006/relationships" id="259" r:id="R4bdcd4229a60425c"/>
    <p:sldId xmlns:r="http://schemas.openxmlformats.org/officeDocument/2006/relationships" id="260" r:id="R588e9ecf5f2449a9"/>
    <p:sldId xmlns:r="http://schemas.openxmlformats.org/officeDocument/2006/relationships" id="261" r:id="R7ae600191d2f482d"/>
    <p:sldId xmlns:r="http://schemas.openxmlformats.org/officeDocument/2006/relationships" id="262" r:id="R8c43b11747144c69"/>
    <p:sldId xmlns:r="http://schemas.openxmlformats.org/officeDocument/2006/relationships" id="263" r:id="R71862ef082874cc6"/>
    <p:sldId xmlns:r="http://schemas.openxmlformats.org/officeDocument/2006/relationships" id="264" r:id="Rcf0dc10b8f5e481f"/>
    <p:sldId xmlns:r="http://schemas.openxmlformats.org/officeDocument/2006/relationships" id="265" r:id="R9c128dcb8cfb48b9"/>
    <p:sldId xmlns:r="http://schemas.openxmlformats.org/officeDocument/2006/relationships" id="266" r:id="R14f9fb9947464c70"/>
    <p:sldId xmlns:r="http://schemas.openxmlformats.org/officeDocument/2006/relationships" id="267" r:id="Rd1b74fa330b14ae3"/>
    <p:sldId xmlns:r="http://schemas.openxmlformats.org/officeDocument/2006/relationships" id="268" r:id="R21b2140ed26e4132"/>
    <p:sldId xmlns:r="http://schemas.openxmlformats.org/officeDocument/2006/relationships" id="269" r:id="R32cdb2aeb9794a0a"/>
    <p:sldId xmlns:r="http://schemas.openxmlformats.org/officeDocument/2006/relationships" id="270" r:id="R5a0a3c9c4a2b482c"/>
    <p:sldId xmlns:r="http://schemas.openxmlformats.org/officeDocument/2006/relationships" id="271" r:id="Rc7d61d7e9eb3405b"/>
    <p:sldId xmlns:r="http://schemas.openxmlformats.org/officeDocument/2006/relationships" id="272" r:id="Rbe3a09b97a1f449e"/>
    <p:sldId xmlns:r="http://schemas.openxmlformats.org/officeDocument/2006/relationships" id="273" r:id="R8f3b9a61043c43d6"/>
    <p:sldId xmlns:r="http://schemas.openxmlformats.org/officeDocument/2006/relationships" id="274" r:id="R386bd58cfcdd4773"/>
    <p:sldId xmlns:r="http://schemas.openxmlformats.org/officeDocument/2006/relationships" id="275" r:id="R2be72f6d54994023"/>
    <p:sldId xmlns:r="http://schemas.openxmlformats.org/officeDocument/2006/relationships" id="276" r:id="R0fbf657f77e6484e"/>
    <p:sldId xmlns:r="http://schemas.openxmlformats.org/officeDocument/2006/relationships" id="277" r:id="Rb435f1128a2849bf"/>
    <p:sldId xmlns:r="http://schemas.openxmlformats.org/officeDocument/2006/relationships" id="278" r:id="Rdd24362e30394e6b"/>
    <p:sldId xmlns:r="http://schemas.openxmlformats.org/officeDocument/2006/relationships" id="279" r:id="R2ad3deae91a54fe0"/>
    <p:sldId xmlns:r="http://schemas.openxmlformats.org/officeDocument/2006/relationships" id="280" r:id="R86c0183388764ce2"/>
    <p:sldId xmlns:r="http://schemas.openxmlformats.org/officeDocument/2006/relationships" id="281" r:id="Ra5d27f1e23404118"/>
    <p:sldId xmlns:r="http://schemas.openxmlformats.org/officeDocument/2006/relationships" id="282" r:id="Rc11fc322ab0a40bd"/>
    <p:sldId xmlns:r="http://schemas.openxmlformats.org/officeDocument/2006/relationships" id="283" r:id="R0938d98be88c40e6"/>
    <p:sldId xmlns:r="http://schemas.openxmlformats.org/officeDocument/2006/relationships" id="284" r:id="Rfe2d72a48c264ded"/>
    <p:sldId xmlns:r="http://schemas.openxmlformats.org/officeDocument/2006/relationships" id="285" r:id="Re9b449f5adad4c0c"/>
    <p:sldId xmlns:r="http://schemas.openxmlformats.org/officeDocument/2006/relationships" id="286" r:id="Rc11d1be0ff8d48a7"/>
    <p:sldId xmlns:r="http://schemas.openxmlformats.org/officeDocument/2006/relationships" id="287" r:id="R20460e857e274a4f"/>
    <p:sldId xmlns:r="http://schemas.openxmlformats.org/officeDocument/2006/relationships" id="288" r:id="Rb4f388e33dde44e2"/>
    <p:sldId xmlns:r="http://schemas.openxmlformats.org/officeDocument/2006/relationships" id="289" r:id="Rc90d1d15c8924b55"/>
    <p:sldId xmlns:r="http://schemas.openxmlformats.org/officeDocument/2006/relationships" id="290" r:id="R2decea5b40d24bae"/>
    <p:sldId xmlns:r="http://schemas.openxmlformats.org/officeDocument/2006/relationships" id="291" r:id="R92b48275db624ed6"/>
    <p:sldId xmlns:r="http://schemas.openxmlformats.org/officeDocument/2006/relationships" id="292" r:id="Re04e9207de164011"/>
    <p:sldId xmlns:r="http://schemas.openxmlformats.org/officeDocument/2006/relationships" id="293" r:id="Ra894c3b508204a53"/>
    <p:sldId xmlns:r="http://schemas.openxmlformats.org/officeDocument/2006/relationships" id="294" r:id="R1c0980b8ddd14bb6"/>
    <p:sldId xmlns:r="http://schemas.openxmlformats.org/officeDocument/2006/relationships" id="295" r:id="Rd90576fd878e4e03"/>
    <p:sldId xmlns:r="http://schemas.openxmlformats.org/officeDocument/2006/relationships" id="296" r:id="Rdaec39643a1844a4"/>
    <p:sldId xmlns:r="http://schemas.openxmlformats.org/officeDocument/2006/relationships" id="297" r:id="Raf485909248d4dc3"/>
    <p:sldId xmlns:r="http://schemas.openxmlformats.org/officeDocument/2006/relationships" id="298" r:id="Rc6ba345d91224fa7"/>
    <p:sldId xmlns:r="http://schemas.openxmlformats.org/officeDocument/2006/relationships" id="299" r:id="Rb2ca50dc0b11426b"/>
    <p:sldId xmlns:r="http://schemas.openxmlformats.org/officeDocument/2006/relationships" id="300" r:id="R179747bc43a14f99"/>
    <p:sldId xmlns:r="http://schemas.openxmlformats.org/officeDocument/2006/relationships" id="301" r:id="Rc4f06dd30dd84c12"/>
    <p:sldId xmlns:r="http://schemas.openxmlformats.org/officeDocument/2006/relationships" id="302" r:id="Rb666f78e53844a55"/>
    <p:sldId xmlns:r="http://schemas.openxmlformats.org/officeDocument/2006/relationships" id="303" r:id="R6e1eaad558294f61"/>
    <p:sldId xmlns:r="http://schemas.openxmlformats.org/officeDocument/2006/relationships" id="304" r:id="Re0a21c689de543ed"/>
    <p:sldId xmlns:r="http://schemas.openxmlformats.org/officeDocument/2006/relationships" id="305" r:id="R9c2360ac60d34bc8"/>
    <p:sldId xmlns:r="http://schemas.openxmlformats.org/officeDocument/2006/relationships" id="306" r:id="R519e62bdfe9b483f"/>
    <p:sldId xmlns:r="http://schemas.openxmlformats.org/officeDocument/2006/relationships" id="307" r:id="R1d02d5ec43f24b5b"/>
    <p:sldId xmlns:r="http://schemas.openxmlformats.org/officeDocument/2006/relationships" id="308" r:id="Rb2699fe6abd643f3"/>
    <p:sldId xmlns:r="http://schemas.openxmlformats.org/officeDocument/2006/relationships" id="309" r:id="R2b039f6cf5bd4f09"/>
    <p:sldId xmlns:r="http://schemas.openxmlformats.org/officeDocument/2006/relationships" id="310" r:id="Rb6de3c60236f42d4"/>
    <p:sldId xmlns:r="http://schemas.openxmlformats.org/officeDocument/2006/relationships" id="311" r:id="Re5f930fbff3a4765"/>
    <p:sldId xmlns:r="http://schemas.openxmlformats.org/officeDocument/2006/relationships" id="312" r:id="R6b899288189c44e3"/>
    <p:sldId xmlns:r="http://schemas.openxmlformats.org/officeDocument/2006/relationships" id="313" r:id="R67e949873fb64ce9"/>
    <p:sldId xmlns:r="http://schemas.openxmlformats.org/officeDocument/2006/relationships" id="314" r:id="R78a3d50b9bdb46b7"/>
    <p:sldId xmlns:r="http://schemas.openxmlformats.org/officeDocument/2006/relationships" id="315" r:id="R466a09b87ef84d49"/>
    <p:sldId xmlns:r="http://schemas.openxmlformats.org/officeDocument/2006/relationships" id="316" r:id="Re8110e23a5aa4517"/>
    <p:sldId xmlns:r="http://schemas.openxmlformats.org/officeDocument/2006/relationships" id="317" r:id="Rabd7d829a4b34513"/>
    <p:sldId xmlns:r="http://schemas.openxmlformats.org/officeDocument/2006/relationships" id="318" r:id="Rf27edb0b4edb4e37"/>
    <p:sldId xmlns:r="http://schemas.openxmlformats.org/officeDocument/2006/relationships" id="319" r:id="R64f0687240634bb6"/>
    <p:sldId xmlns:r="http://schemas.openxmlformats.org/officeDocument/2006/relationships" id="320" r:id="Rb9bd2178f8544073"/>
    <p:sldId xmlns:r="http://schemas.openxmlformats.org/officeDocument/2006/relationships" id="321" r:id="R57a23dc2b9ee4958"/>
    <p:sldId xmlns:r="http://schemas.openxmlformats.org/officeDocument/2006/relationships" id="322" r:id="R96e9f540630f4676"/>
    <p:sldId xmlns:r="http://schemas.openxmlformats.org/officeDocument/2006/relationships" id="323" r:id="R52cfd03df57e4a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82f1785b5d412f" /><Relationship Type="http://schemas.openxmlformats.org/officeDocument/2006/relationships/slideMaster" Target="/ppt/slideMasters/slideMaster1.xml" Id="R50ba89303f434161" /><Relationship Type="http://schemas.openxmlformats.org/officeDocument/2006/relationships/notesMaster" Target="/ppt/notesMasters/notesMaster1.xml" Id="R0e744a8578fa4f46" /><Relationship Type="http://schemas.openxmlformats.org/officeDocument/2006/relationships/presProps" Target="/ppt/presProps.xml" Id="R2367d39d092b411b" /><Relationship Type="http://schemas.openxmlformats.org/officeDocument/2006/relationships/tableStyles" Target="/ppt/tableStyles.xml" Id="Rb449c2d9b3fa4f27" /><Relationship Type="http://schemas.openxmlformats.org/officeDocument/2006/relationships/slide" Target="/ppt/slides/slide1.xml" Id="R552b25b6b03148b2" /><Relationship Type="http://schemas.openxmlformats.org/officeDocument/2006/relationships/slide" Target="/ppt/slides/slide2.xml" Id="R9b22034a732c4d31" /><Relationship Type="http://schemas.openxmlformats.org/officeDocument/2006/relationships/slide" Target="/ppt/slides/slide3.xml" Id="R3708aa67f89842af" /><Relationship Type="http://schemas.openxmlformats.org/officeDocument/2006/relationships/slide" Target="/ppt/slides/slide4.xml" Id="R4bdcd4229a60425c" /><Relationship Type="http://schemas.openxmlformats.org/officeDocument/2006/relationships/slide" Target="/ppt/slides/slide5.xml" Id="R588e9ecf5f2449a9" /><Relationship Type="http://schemas.openxmlformats.org/officeDocument/2006/relationships/slide" Target="/ppt/slides/slide6.xml" Id="R7ae600191d2f482d" /><Relationship Type="http://schemas.openxmlformats.org/officeDocument/2006/relationships/slide" Target="/ppt/slides/slide7.xml" Id="R8c43b11747144c69" /><Relationship Type="http://schemas.openxmlformats.org/officeDocument/2006/relationships/slide" Target="/ppt/slides/slide8.xml" Id="R71862ef082874cc6" /><Relationship Type="http://schemas.openxmlformats.org/officeDocument/2006/relationships/slide" Target="/ppt/slides/slide9.xml" Id="Rcf0dc10b8f5e481f" /><Relationship Type="http://schemas.openxmlformats.org/officeDocument/2006/relationships/slide" Target="/ppt/slides/slide10.xml" Id="R9c128dcb8cfb48b9" /><Relationship Type="http://schemas.openxmlformats.org/officeDocument/2006/relationships/slide" Target="/ppt/slides/slide11.xml" Id="R14f9fb9947464c70" /><Relationship Type="http://schemas.openxmlformats.org/officeDocument/2006/relationships/slide" Target="/ppt/slides/slide12.xml" Id="Rd1b74fa330b14ae3" /><Relationship Type="http://schemas.openxmlformats.org/officeDocument/2006/relationships/slide" Target="/ppt/slides/slide13.xml" Id="R21b2140ed26e4132" /><Relationship Type="http://schemas.openxmlformats.org/officeDocument/2006/relationships/slide" Target="/ppt/slides/slide14.xml" Id="R32cdb2aeb9794a0a" /><Relationship Type="http://schemas.openxmlformats.org/officeDocument/2006/relationships/slide" Target="/ppt/slides/slide15.xml" Id="R5a0a3c9c4a2b482c" /><Relationship Type="http://schemas.openxmlformats.org/officeDocument/2006/relationships/slide" Target="/ppt/slides/slide16.xml" Id="Rc7d61d7e9eb3405b" /><Relationship Type="http://schemas.openxmlformats.org/officeDocument/2006/relationships/slide" Target="/ppt/slides/slide17.xml" Id="Rbe3a09b97a1f449e" /><Relationship Type="http://schemas.openxmlformats.org/officeDocument/2006/relationships/slide" Target="/ppt/slides/slide18.xml" Id="R8f3b9a61043c43d6" /><Relationship Type="http://schemas.openxmlformats.org/officeDocument/2006/relationships/slide" Target="/ppt/slides/slide19.xml" Id="R386bd58cfcdd4773" /><Relationship Type="http://schemas.openxmlformats.org/officeDocument/2006/relationships/slide" Target="/ppt/slides/slide20.xml" Id="R2be72f6d54994023" /><Relationship Type="http://schemas.openxmlformats.org/officeDocument/2006/relationships/slide" Target="/ppt/slides/slide21.xml" Id="R0fbf657f77e6484e" /><Relationship Type="http://schemas.openxmlformats.org/officeDocument/2006/relationships/slide" Target="/ppt/slides/slide22.xml" Id="Rb435f1128a2849bf" /><Relationship Type="http://schemas.openxmlformats.org/officeDocument/2006/relationships/slide" Target="/ppt/slides/slide23.xml" Id="Rdd24362e30394e6b" /><Relationship Type="http://schemas.openxmlformats.org/officeDocument/2006/relationships/slide" Target="/ppt/slides/slide24.xml" Id="R2ad3deae91a54fe0" /><Relationship Type="http://schemas.openxmlformats.org/officeDocument/2006/relationships/slide" Target="/ppt/slides/slide25.xml" Id="R86c0183388764ce2" /><Relationship Type="http://schemas.openxmlformats.org/officeDocument/2006/relationships/slide" Target="/ppt/slides/slide26.xml" Id="Ra5d27f1e23404118" /><Relationship Type="http://schemas.openxmlformats.org/officeDocument/2006/relationships/slide" Target="/ppt/slides/slide27.xml" Id="Rc11fc322ab0a40bd" /><Relationship Type="http://schemas.openxmlformats.org/officeDocument/2006/relationships/slide" Target="/ppt/slides/slide28.xml" Id="R0938d98be88c40e6" /><Relationship Type="http://schemas.openxmlformats.org/officeDocument/2006/relationships/slide" Target="/ppt/slides/slide29.xml" Id="Rfe2d72a48c264ded" /><Relationship Type="http://schemas.openxmlformats.org/officeDocument/2006/relationships/slide" Target="/ppt/slides/slide30.xml" Id="Re9b449f5adad4c0c" /><Relationship Type="http://schemas.openxmlformats.org/officeDocument/2006/relationships/slide" Target="/ppt/slides/slide31.xml" Id="Rc11d1be0ff8d48a7" /><Relationship Type="http://schemas.openxmlformats.org/officeDocument/2006/relationships/slide" Target="/ppt/slides/slide32.xml" Id="R20460e857e274a4f" /><Relationship Type="http://schemas.openxmlformats.org/officeDocument/2006/relationships/slide" Target="/ppt/slides/slide33.xml" Id="Rb4f388e33dde44e2" /><Relationship Type="http://schemas.openxmlformats.org/officeDocument/2006/relationships/slide" Target="/ppt/slides/slide34.xml" Id="Rc90d1d15c8924b55" /><Relationship Type="http://schemas.openxmlformats.org/officeDocument/2006/relationships/slide" Target="/ppt/slides/slide35.xml" Id="R2decea5b40d24bae" /><Relationship Type="http://schemas.openxmlformats.org/officeDocument/2006/relationships/slide" Target="/ppt/slides/slide36.xml" Id="R92b48275db624ed6" /><Relationship Type="http://schemas.openxmlformats.org/officeDocument/2006/relationships/slide" Target="/ppt/slides/slide37.xml" Id="Re04e9207de164011" /><Relationship Type="http://schemas.openxmlformats.org/officeDocument/2006/relationships/slide" Target="/ppt/slides/slide38.xml" Id="Ra894c3b508204a53" /><Relationship Type="http://schemas.openxmlformats.org/officeDocument/2006/relationships/slide" Target="/ppt/slides/slide39.xml" Id="R1c0980b8ddd14bb6" /><Relationship Type="http://schemas.openxmlformats.org/officeDocument/2006/relationships/slide" Target="/ppt/slides/slide40.xml" Id="Rd90576fd878e4e03" /><Relationship Type="http://schemas.openxmlformats.org/officeDocument/2006/relationships/slide" Target="/ppt/slides/slide41.xml" Id="Rdaec39643a1844a4" /><Relationship Type="http://schemas.openxmlformats.org/officeDocument/2006/relationships/slide" Target="/ppt/slides/slide42.xml" Id="Raf485909248d4dc3" /><Relationship Type="http://schemas.openxmlformats.org/officeDocument/2006/relationships/slide" Target="/ppt/slides/slide43.xml" Id="Rc6ba345d91224fa7" /><Relationship Type="http://schemas.openxmlformats.org/officeDocument/2006/relationships/slide" Target="/ppt/slides/slide44.xml" Id="Rb2ca50dc0b11426b" /><Relationship Type="http://schemas.openxmlformats.org/officeDocument/2006/relationships/slide" Target="/ppt/slides/slide45.xml" Id="R179747bc43a14f99" /><Relationship Type="http://schemas.openxmlformats.org/officeDocument/2006/relationships/slide" Target="/ppt/slides/slide46.xml" Id="Rc4f06dd30dd84c12" /><Relationship Type="http://schemas.openxmlformats.org/officeDocument/2006/relationships/slide" Target="/ppt/slides/slide47.xml" Id="Rb666f78e53844a55" /><Relationship Type="http://schemas.openxmlformats.org/officeDocument/2006/relationships/slide" Target="/ppt/slides/slide48.xml" Id="R6e1eaad558294f61" /><Relationship Type="http://schemas.openxmlformats.org/officeDocument/2006/relationships/slide" Target="/ppt/slides/slide49.xml" Id="Re0a21c689de543ed" /><Relationship Type="http://schemas.openxmlformats.org/officeDocument/2006/relationships/slide" Target="/ppt/slides/slide50.xml" Id="R9c2360ac60d34bc8" /><Relationship Type="http://schemas.openxmlformats.org/officeDocument/2006/relationships/slide" Target="/ppt/slides/slide51.xml" Id="R519e62bdfe9b483f" /><Relationship Type="http://schemas.openxmlformats.org/officeDocument/2006/relationships/slide" Target="/ppt/slides/slide52.xml" Id="R1d02d5ec43f24b5b" /><Relationship Type="http://schemas.openxmlformats.org/officeDocument/2006/relationships/slide" Target="/ppt/slides/slide53.xml" Id="Rb2699fe6abd643f3" /><Relationship Type="http://schemas.openxmlformats.org/officeDocument/2006/relationships/slide" Target="/ppt/slides/slide54.xml" Id="R2b039f6cf5bd4f09" /><Relationship Type="http://schemas.openxmlformats.org/officeDocument/2006/relationships/slide" Target="/ppt/slides/slide55.xml" Id="Rb6de3c60236f42d4" /><Relationship Type="http://schemas.openxmlformats.org/officeDocument/2006/relationships/slide" Target="/ppt/slides/slide56.xml" Id="Re5f930fbff3a4765" /><Relationship Type="http://schemas.openxmlformats.org/officeDocument/2006/relationships/slide" Target="/ppt/slides/slide57.xml" Id="R6b899288189c44e3" /><Relationship Type="http://schemas.openxmlformats.org/officeDocument/2006/relationships/slide" Target="/ppt/slides/slide58.xml" Id="R67e949873fb64ce9" /><Relationship Type="http://schemas.openxmlformats.org/officeDocument/2006/relationships/slide" Target="/ppt/slides/slide59.xml" Id="R78a3d50b9bdb46b7" /><Relationship Type="http://schemas.openxmlformats.org/officeDocument/2006/relationships/slide" Target="/ppt/slides/slide60.xml" Id="R466a09b87ef84d49" /><Relationship Type="http://schemas.openxmlformats.org/officeDocument/2006/relationships/slide" Target="/ppt/slides/slide61.xml" Id="Re8110e23a5aa4517" /><Relationship Type="http://schemas.openxmlformats.org/officeDocument/2006/relationships/slide" Target="/ppt/slides/slide62.xml" Id="Rabd7d829a4b34513" /><Relationship Type="http://schemas.openxmlformats.org/officeDocument/2006/relationships/slide" Target="/ppt/slides/slide63.xml" Id="Rf27edb0b4edb4e37" /><Relationship Type="http://schemas.openxmlformats.org/officeDocument/2006/relationships/slide" Target="/ppt/slides/slide64.xml" Id="R64f0687240634bb6" /><Relationship Type="http://schemas.openxmlformats.org/officeDocument/2006/relationships/slide" Target="/ppt/slides/slide65.xml" Id="Rb9bd2178f8544073" /><Relationship Type="http://schemas.openxmlformats.org/officeDocument/2006/relationships/slide" Target="/ppt/slides/slide66.xml" Id="R57a23dc2b9ee4958" /><Relationship Type="http://schemas.openxmlformats.org/officeDocument/2006/relationships/slide" Target="/ppt/slides/slide67.xml" Id="R96e9f540630f4676" /><Relationship Type="http://schemas.openxmlformats.org/officeDocument/2006/relationships/slide" Target="/ppt/slides/slide68.xml" Id="R52cfd03df57e4a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1bc16c08234c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bba20c5edf4c02" /><Relationship Type="http://schemas.openxmlformats.org/officeDocument/2006/relationships/notesMaster" Target="/ppt/notesMasters/notesMaster1.xml" Id="R7eb49a5b30a94c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2ee354da924f46" /><Relationship Type="http://schemas.openxmlformats.org/officeDocument/2006/relationships/notesMaster" Target="/ppt/notesMasters/notesMaster1.xml" Id="R79e20185b8d945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0394a7edb94733" /><Relationship Type="http://schemas.openxmlformats.org/officeDocument/2006/relationships/notesMaster" Target="/ppt/notesMasters/notesMaster1.xml" Id="R392e286017f047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b5593e9b48402f" /><Relationship Type="http://schemas.openxmlformats.org/officeDocument/2006/relationships/notesMaster" Target="/ppt/notesMasters/notesMaster1.xml" Id="Rd63c426b29b741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adeef5031e4d0a" /><Relationship Type="http://schemas.openxmlformats.org/officeDocument/2006/relationships/notesMaster" Target="/ppt/notesMasters/notesMaster1.xml" Id="R3710d082cbe141a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a4cd8852fa4b69" /><Relationship Type="http://schemas.openxmlformats.org/officeDocument/2006/relationships/notesMaster" Target="/ppt/notesMasters/notesMaster1.xml" Id="Ra40c6f64ae594c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cb2983ad97479e" /><Relationship Type="http://schemas.openxmlformats.org/officeDocument/2006/relationships/notesMaster" Target="/ppt/notesMasters/notesMaster1.xml" Id="R14ed396f05df4d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b7509ea3e14eb0" /><Relationship Type="http://schemas.openxmlformats.org/officeDocument/2006/relationships/notesMaster" Target="/ppt/notesMasters/notesMaster1.xml" Id="R757db61f44a742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dad503c61a4150" /><Relationship Type="http://schemas.openxmlformats.org/officeDocument/2006/relationships/notesMaster" Target="/ppt/notesMasters/notesMaster1.xml" Id="R3619242140c64d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bb5b23227e462d" /><Relationship Type="http://schemas.openxmlformats.org/officeDocument/2006/relationships/notesMaster" Target="/ppt/notesMasters/notesMaster1.xml" Id="Re29b04a64a4d43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113a38e05444db" /><Relationship Type="http://schemas.openxmlformats.org/officeDocument/2006/relationships/notesMaster" Target="/ppt/notesMasters/notesMaster1.xml" Id="R2e80133c32fe410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20b67c58d434438" /><Relationship Type="http://schemas.openxmlformats.org/officeDocument/2006/relationships/notesMaster" Target="/ppt/notesMasters/notesMaster1.xml" Id="R0999d2839a8b4d9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fcd9b33bd3c49d7" /><Relationship Type="http://schemas.openxmlformats.org/officeDocument/2006/relationships/notesMaster" Target="/ppt/notesMasters/notesMaster1.xml" Id="R3aa03e3fcec14ae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5852e046c0043c2" /><Relationship Type="http://schemas.openxmlformats.org/officeDocument/2006/relationships/notesMaster" Target="/ppt/notesMasters/notesMaster1.xml" Id="R23cce7d498cb489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85c09dfd384c4f" /><Relationship Type="http://schemas.openxmlformats.org/officeDocument/2006/relationships/notesMaster" Target="/ppt/notesMasters/notesMaster1.xml" Id="R07ba3ffd84074c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423854601b54779" /><Relationship Type="http://schemas.openxmlformats.org/officeDocument/2006/relationships/notesMaster" Target="/ppt/notesMasters/notesMaster1.xml" Id="R5183216075374c8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aeb94ffac154303" /><Relationship Type="http://schemas.openxmlformats.org/officeDocument/2006/relationships/notesMaster" Target="/ppt/notesMasters/notesMaster1.xml" Id="Rbaae8a2b8e414f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f2ec51ac38a459d" /><Relationship Type="http://schemas.openxmlformats.org/officeDocument/2006/relationships/notesMaster" Target="/ppt/notesMasters/notesMaster1.xml" Id="R49b54c22787c475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936b83885f043ca" /><Relationship Type="http://schemas.openxmlformats.org/officeDocument/2006/relationships/notesMaster" Target="/ppt/notesMasters/notesMaster1.xml" Id="R1febd2aedb83410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5d1857893b240d4" /><Relationship Type="http://schemas.openxmlformats.org/officeDocument/2006/relationships/notesMaster" Target="/ppt/notesMasters/notesMaster1.xml" Id="R6eaacac1b42f477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0504446547f4df4" /><Relationship Type="http://schemas.openxmlformats.org/officeDocument/2006/relationships/notesMaster" Target="/ppt/notesMasters/notesMaster1.xml" Id="R35e21b90898b4b5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a924b8f3fac4d87" /><Relationship Type="http://schemas.openxmlformats.org/officeDocument/2006/relationships/notesMaster" Target="/ppt/notesMasters/notesMaster1.xml" Id="Rc1e2854591e54ea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384b95d28f44fce" /><Relationship Type="http://schemas.openxmlformats.org/officeDocument/2006/relationships/notesMaster" Target="/ppt/notesMasters/notesMaster1.xml" Id="R6cf1c15a76ff42a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d74c0d471734d4e" /><Relationship Type="http://schemas.openxmlformats.org/officeDocument/2006/relationships/notesMaster" Target="/ppt/notesMasters/notesMaster1.xml" Id="R630a1d6973424fd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f260a15bf534718" /><Relationship Type="http://schemas.openxmlformats.org/officeDocument/2006/relationships/notesMaster" Target="/ppt/notesMasters/notesMaster1.xml" Id="Rfbf0b01429c0406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ef450cd2b44457e" /><Relationship Type="http://schemas.openxmlformats.org/officeDocument/2006/relationships/notesMaster" Target="/ppt/notesMasters/notesMaster1.xml" Id="Reeab8e0e626e44a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df808a007d8496b" /><Relationship Type="http://schemas.openxmlformats.org/officeDocument/2006/relationships/notesMaster" Target="/ppt/notesMasters/notesMaster1.xml" Id="R9656a0fcb35b48c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1c5181948e34fa0" /><Relationship Type="http://schemas.openxmlformats.org/officeDocument/2006/relationships/notesMaster" Target="/ppt/notesMasters/notesMaster1.xml" Id="Rd6f89f244633468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09ccf43063f4097" /><Relationship Type="http://schemas.openxmlformats.org/officeDocument/2006/relationships/notesMaster" Target="/ppt/notesMasters/notesMaster1.xml" Id="R9aa1233a5e0c467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df2e6b5636445c5" /><Relationship Type="http://schemas.openxmlformats.org/officeDocument/2006/relationships/notesMaster" Target="/ppt/notesMasters/notesMaster1.xml" Id="R0113f3d01d8e4a6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24dd4ae847447e7" /><Relationship Type="http://schemas.openxmlformats.org/officeDocument/2006/relationships/notesMaster" Target="/ppt/notesMasters/notesMaster1.xml" Id="R2c442639f7c649c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ca46529832d4ec3" /><Relationship Type="http://schemas.openxmlformats.org/officeDocument/2006/relationships/notesMaster" Target="/ppt/notesMasters/notesMaster1.xml" Id="R4d1ddeb8f3dc462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f3ee13a5c944116" /><Relationship Type="http://schemas.openxmlformats.org/officeDocument/2006/relationships/notesMaster" Target="/ppt/notesMasters/notesMaster1.xml" Id="R8949678ddd93477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cd56e2db64d441b" /><Relationship Type="http://schemas.openxmlformats.org/officeDocument/2006/relationships/notesMaster" Target="/ppt/notesMasters/notesMaster1.xml" Id="Rfe5a0771ab28439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f8276d09ae84985" /><Relationship Type="http://schemas.openxmlformats.org/officeDocument/2006/relationships/notesMaster" Target="/ppt/notesMasters/notesMaster1.xml" Id="Rc5401af31b0044e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3d78be69f3540f0" /><Relationship Type="http://schemas.openxmlformats.org/officeDocument/2006/relationships/notesMaster" Target="/ppt/notesMasters/notesMaster1.xml" Id="R635f4ed7dccf419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52de5d21dc54bfa" /><Relationship Type="http://schemas.openxmlformats.org/officeDocument/2006/relationships/notesMaster" Target="/ppt/notesMasters/notesMaster1.xml" Id="R8a345bad8a7d4d0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2e0fd414d9c41aa" /><Relationship Type="http://schemas.openxmlformats.org/officeDocument/2006/relationships/notesMaster" Target="/ppt/notesMasters/notesMaster1.xml" Id="Reb89f040581948a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09c6b3dfb38467b" /><Relationship Type="http://schemas.openxmlformats.org/officeDocument/2006/relationships/notesMaster" Target="/ppt/notesMasters/notesMaster1.xml" Id="R9ee2bb2be8cc4f6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3151e21f25843c2" /><Relationship Type="http://schemas.openxmlformats.org/officeDocument/2006/relationships/notesMaster" Target="/ppt/notesMasters/notesMaster1.xml" Id="R83477d85b31f4d0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3483145df0d4dd7" /><Relationship Type="http://schemas.openxmlformats.org/officeDocument/2006/relationships/notesMaster" Target="/ppt/notesMasters/notesMaster1.xml" Id="R8ad9eab878da448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a30f446c7954345" /><Relationship Type="http://schemas.openxmlformats.org/officeDocument/2006/relationships/notesMaster" Target="/ppt/notesMasters/notesMaster1.xml" Id="R0cc563ba61494e7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7389a6cc9bb4af0" /><Relationship Type="http://schemas.openxmlformats.org/officeDocument/2006/relationships/notesMaster" Target="/ppt/notesMasters/notesMaster1.xml" Id="R4f88b65712f44f2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49d919960094236" /><Relationship Type="http://schemas.openxmlformats.org/officeDocument/2006/relationships/notesMaster" Target="/ppt/notesMasters/notesMaster1.xml" Id="R6bbc347114334c2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c458c3902494fea" /><Relationship Type="http://schemas.openxmlformats.org/officeDocument/2006/relationships/notesMaster" Target="/ppt/notesMasters/notesMaster1.xml" Id="R6b4c4e6d45b1490d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ec5e24bcbfb4d6f" /><Relationship Type="http://schemas.openxmlformats.org/officeDocument/2006/relationships/notesMaster" Target="/ppt/notesMasters/notesMaster1.xml" Id="Rde7f02257f56484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e3e82b25af84e77" /><Relationship Type="http://schemas.openxmlformats.org/officeDocument/2006/relationships/notesMaster" Target="/ppt/notesMasters/notesMaster1.xml" Id="R2e11fac77b4e48d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44b05f570b0146d8" /><Relationship Type="http://schemas.openxmlformats.org/officeDocument/2006/relationships/notesMaster" Target="/ppt/notesMasters/notesMaster1.xml" Id="Rc62c0b4b62c142e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80f16c4283a44f27" /><Relationship Type="http://schemas.openxmlformats.org/officeDocument/2006/relationships/notesMaster" Target="/ppt/notesMasters/notesMaster1.xml" Id="R58da213ee5884868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6a969f9a8a03437c" /><Relationship Type="http://schemas.openxmlformats.org/officeDocument/2006/relationships/notesMaster" Target="/ppt/notesMasters/notesMaster1.xml" Id="R82adaffc2af6489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cfe0f5e25db4475" /><Relationship Type="http://schemas.openxmlformats.org/officeDocument/2006/relationships/notesMaster" Target="/ppt/notesMasters/notesMaster1.xml" Id="R1b48c067f9cf47d4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7844579a67f4010" /><Relationship Type="http://schemas.openxmlformats.org/officeDocument/2006/relationships/notesMaster" Target="/ppt/notesMasters/notesMaster1.xml" Id="Rf37383c495f14d2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6d52b365ffeb4825" /><Relationship Type="http://schemas.openxmlformats.org/officeDocument/2006/relationships/notesMaster" Target="/ppt/notesMasters/notesMaster1.xml" Id="R3bef8ae630714892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c8b7d08943a47db" /><Relationship Type="http://schemas.openxmlformats.org/officeDocument/2006/relationships/notesMaster" Target="/ppt/notesMasters/notesMaster1.xml" Id="R319588a7b12f4c55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550d44c5a83f4b08" /><Relationship Type="http://schemas.openxmlformats.org/officeDocument/2006/relationships/notesMaster" Target="/ppt/notesMasters/notesMaster1.xml" Id="Ra0f6e35d2019464b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573c67a1a8414a13" /><Relationship Type="http://schemas.openxmlformats.org/officeDocument/2006/relationships/notesMaster" Target="/ppt/notesMasters/notesMaster1.xml" Id="R0b897317ef914af0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af700053c7d74120" /><Relationship Type="http://schemas.openxmlformats.org/officeDocument/2006/relationships/notesMaster" Target="/ppt/notesMasters/notesMaster1.xml" Id="R2ad36476fc3642ab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add12aac6c194f32" /><Relationship Type="http://schemas.openxmlformats.org/officeDocument/2006/relationships/notesMaster" Target="/ppt/notesMasters/notesMaster1.xml" Id="Rcf545283c9a64f53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684404f7b98a4a45" /><Relationship Type="http://schemas.openxmlformats.org/officeDocument/2006/relationships/notesMaster" Target="/ppt/notesMasters/notesMaster1.xml" Id="Rb1de2dbbcc1c4130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371dff6170824023" /><Relationship Type="http://schemas.openxmlformats.org/officeDocument/2006/relationships/notesMaster" Target="/ppt/notesMasters/notesMaster1.xml" Id="Rec2f742974ea45e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7788f654d9164f87" /><Relationship Type="http://schemas.openxmlformats.org/officeDocument/2006/relationships/notesMaster" Target="/ppt/notesMasters/notesMaster1.xml" Id="Rdf8dc031e62b43c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cb98db43d29344a0" /><Relationship Type="http://schemas.openxmlformats.org/officeDocument/2006/relationships/notesMaster" Target="/ppt/notesMasters/notesMaster1.xml" Id="R23e60c7b98e2498c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fa262c4c1ab24169" /><Relationship Type="http://schemas.openxmlformats.org/officeDocument/2006/relationships/notesMaster" Target="/ppt/notesMasters/notesMaster1.xml" Id="Rbe5bde2d54b14b66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8ca5ab68c3874c02" /><Relationship Type="http://schemas.openxmlformats.org/officeDocument/2006/relationships/notesMaster" Target="/ppt/notesMasters/notesMaster1.xml" Id="R31c74663ea2945bb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cba16eb2182545f4" /><Relationship Type="http://schemas.openxmlformats.org/officeDocument/2006/relationships/notesMaster" Target="/ppt/notesMasters/notesMaster1.xml" Id="R56441f5c87b44404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a5b993f6074d4cd2" /><Relationship Type="http://schemas.openxmlformats.org/officeDocument/2006/relationships/notesMaster" Target="/ppt/notesMasters/notesMaster1.xml" Id="R2b4bed951a9b4bad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797aaab94e384c31" /><Relationship Type="http://schemas.openxmlformats.org/officeDocument/2006/relationships/notesMaster" Target="/ppt/notesMasters/notesMaster1.xml" Id="R44b4d9291130422a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401901c0b8714679" /><Relationship Type="http://schemas.openxmlformats.org/officeDocument/2006/relationships/notesMaster" Target="/ppt/notesMasters/notesMaster1.xml" Id="R5c6d7e01a3e845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 Mathematical insertion points are documented separately; formulas are intentionally absent from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Machine Learning Repository dataset 350, https://archive.ics.uci.edu/dataset/350/default+of+credit+card+clients.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dataset 350 variable documentation and course data dictionary.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55dd1f6fbd4a2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77c8b6fd574b6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7c3bf8335c43f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5e2e9705344bf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97c1e8688f4e3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fd9fe2caca4b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EF4563-2A88-482B-8605-09241E2596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A4A2BD2-58D0-47E2-B6D6-84207E0DD48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0080BEA-9C0B-4937-80C9-C41D1468B6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D56688-5BA0-4B30-8331-A1F3F9A048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560480E-390A-435A-A760-D03F9CE3CC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F404739-CB79-4144-BD20-975042E5AE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F28B61E-522C-45DC-8ED7-0374BA7755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0124983-5B2C-453F-89D7-375C122448D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FBA094F-7A5D-476F-9C28-083B3B61D9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741D84D-544E-42DE-AF94-14E52504A0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651a9dfc7144b8" /><Relationship Type="http://schemas.openxmlformats.org/officeDocument/2006/relationships/slideLayout" Target="/ppt/slideLayouts/slideLayout1.xml" Id="Rbafc7f1183a24e9d" /><Relationship Type="http://schemas.openxmlformats.org/officeDocument/2006/relationships/slideLayout" Target="/ppt/slideLayouts/slideLayout2.xml" Id="R4835e722a77d434e" /><Relationship Type="http://schemas.openxmlformats.org/officeDocument/2006/relationships/slideLayout" Target="/ppt/slideLayouts/slideLayout3.xml" Id="Rb0535083ae454186" /><Relationship Type="http://schemas.openxmlformats.org/officeDocument/2006/relationships/slideLayout" Target="/ppt/slideLayouts/slideLayout4.xml" Id="Rd4c82fa214154a45" /><Relationship Type="http://schemas.openxmlformats.org/officeDocument/2006/relationships/slideLayout" Target="/ppt/slideLayouts/slideLayout5.xml" Id="R59eb51e31adc4d91" /><Relationship Type="http://schemas.openxmlformats.org/officeDocument/2006/relationships/slideLayout" Target="/ppt/slideLayouts/slideLayout6.xml" Id="Rf1db35b0f66c48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fc7f1183a24e9d"/>
    <p:sldLayoutId xmlns:r="http://schemas.openxmlformats.org/officeDocument/2006/relationships" id="2147483650" r:id="R4835e722a77d434e"/>
    <p:sldLayoutId xmlns:r="http://schemas.openxmlformats.org/officeDocument/2006/relationships" id="2147483651" r:id="Rb0535083ae454186"/>
    <p:sldLayoutId xmlns:r="http://schemas.openxmlformats.org/officeDocument/2006/relationships" id="2147483652" r:id="Rd4c82fa214154a45"/>
    <p:sldLayoutId xmlns:r="http://schemas.openxmlformats.org/officeDocument/2006/relationships" id="2147483653" r:id="R59eb51e31adc4d91"/>
    <p:sldLayoutId xmlns:r="http://schemas.openxmlformats.org/officeDocument/2006/relationships" id="2147483654" r:id="Rf1db35b0f66c48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27faf2756f4121" /><Relationship Type="http://schemas.openxmlformats.org/officeDocument/2006/relationships/notesSlide" Target="/ppt/notesSlides/notesSlide1.xml" Id="R50898d27993341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f4ff85fda4445e" /><Relationship Type="http://schemas.openxmlformats.org/officeDocument/2006/relationships/notesSlide" Target="/ppt/notesSlides/notesSlide2.xml" Id="R26b437d315b841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0543ea81184d6f" /><Relationship Type="http://schemas.openxmlformats.org/officeDocument/2006/relationships/notesSlide" Target="/ppt/notesSlides/notesSlide3.xml" Id="Rba843a1d39594d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d7fa86355d419b" /><Relationship Type="http://schemas.openxmlformats.org/officeDocument/2006/relationships/notesSlide" Target="/ppt/notesSlides/notesSlide4.xml" Id="R0b8af41dfb4c48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09254358b04c66" /><Relationship Type="http://schemas.openxmlformats.org/officeDocument/2006/relationships/notesSlide" Target="/ppt/notesSlides/notesSlide5.xml" Id="R8e72aeb6470f48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ac3e7b54a341d7" /><Relationship Type="http://schemas.openxmlformats.org/officeDocument/2006/relationships/notesSlide" Target="/ppt/notesSlides/notesSlide6.xml" Id="Rd939c786488349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f7692cefc64e37" /><Relationship Type="http://schemas.openxmlformats.org/officeDocument/2006/relationships/notesSlide" Target="/ppt/notesSlides/notesSlide7.xml" Id="R3e27b911561a49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17f836e6ca437d" /><Relationship Type="http://schemas.openxmlformats.org/officeDocument/2006/relationships/notesSlide" Target="/ppt/notesSlides/notesSlide8.xml" Id="R4ad7a1fae4294b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2f53d0b325438c" /><Relationship Type="http://schemas.openxmlformats.org/officeDocument/2006/relationships/notesSlide" Target="/ppt/notesSlides/notesSlide9.xml" Id="Rc3cecc3050f948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43c66f9a4641e4" /><Relationship Type="http://schemas.openxmlformats.org/officeDocument/2006/relationships/notesSlide" Target="/ppt/notesSlides/notesSlide10.xml" Id="R3271f5f2ebb64d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6b1b4452c94249" /><Relationship Type="http://schemas.openxmlformats.org/officeDocument/2006/relationships/notesSlide" Target="/ppt/notesSlides/notesSlide11.xml" Id="Rfbc2f89324544f9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fe912e68b54527" /><Relationship Type="http://schemas.openxmlformats.org/officeDocument/2006/relationships/chart" Target="/ppt/slides/charts/chart1.xml" Id="R329e72011e304795" /><Relationship Type="http://schemas.openxmlformats.org/officeDocument/2006/relationships/notesSlide" Target="/ppt/notesSlides/notesSlide12.xml" Id="Rbcb602db6657420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44319551ea4336" /><Relationship Type="http://schemas.openxmlformats.org/officeDocument/2006/relationships/notesSlide" Target="/ppt/notesSlides/notesSlide13.xml" Id="R825b4f32d5004ad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0f92a4efc84ada" /><Relationship Type="http://schemas.openxmlformats.org/officeDocument/2006/relationships/notesSlide" Target="/ppt/notesSlides/notesSlide14.xml" Id="Ra52d32e1125c4d4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ae20a57e9d42b0" /><Relationship Type="http://schemas.openxmlformats.org/officeDocument/2006/relationships/notesSlide" Target="/ppt/notesSlides/notesSlide15.xml" Id="R5e9b76ba158243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c595e53af34478" /><Relationship Type="http://schemas.openxmlformats.org/officeDocument/2006/relationships/notesSlide" Target="/ppt/notesSlides/notesSlide16.xml" Id="R6f60d49e672947a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e9d8bbdeb54fdd" /><Relationship Type="http://schemas.openxmlformats.org/officeDocument/2006/relationships/notesSlide" Target="/ppt/notesSlides/notesSlide17.xml" Id="Rcc36dc854cde466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d2b026a5714f7e" /><Relationship Type="http://schemas.openxmlformats.org/officeDocument/2006/relationships/notesSlide" Target="/ppt/notesSlides/notesSlide18.xml" Id="Rd022ef43fc8743d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e28f769cfa4aa2" /><Relationship Type="http://schemas.openxmlformats.org/officeDocument/2006/relationships/notesSlide" Target="/ppt/notesSlides/notesSlide19.xml" Id="R48ccdb7a827a4e8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d3e2ee72954c11" /><Relationship Type="http://schemas.openxmlformats.org/officeDocument/2006/relationships/notesSlide" Target="/ppt/notesSlides/notesSlide20.xml" Id="Rc57a0e6e671b4bd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f6d01523884821" /><Relationship Type="http://schemas.openxmlformats.org/officeDocument/2006/relationships/notesSlide" Target="/ppt/notesSlides/notesSlide21.xml" Id="Rd1a9c63970ff4b9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3518ab4bc145b1" /><Relationship Type="http://schemas.openxmlformats.org/officeDocument/2006/relationships/notesSlide" Target="/ppt/notesSlides/notesSlide22.xml" Id="R285d70d684934e7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53a20202614c32" /><Relationship Type="http://schemas.openxmlformats.org/officeDocument/2006/relationships/chart" Target="/ppt/slides/charts/chart2.xml" Id="R839bd50c7f3246cb" /><Relationship Type="http://schemas.openxmlformats.org/officeDocument/2006/relationships/notesSlide" Target="/ppt/notesSlides/notesSlide23.xml" Id="Rddc092eddcb044b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f7db7db76749d9" /><Relationship Type="http://schemas.openxmlformats.org/officeDocument/2006/relationships/notesSlide" Target="/ppt/notesSlides/notesSlide24.xml" Id="R70b99e33a7fd444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8c515aece84796" /><Relationship Type="http://schemas.openxmlformats.org/officeDocument/2006/relationships/chart" Target="/ppt/slides/charts/chart3.xml" Id="Red969f5a19774d32" /><Relationship Type="http://schemas.openxmlformats.org/officeDocument/2006/relationships/notesSlide" Target="/ppt/notesSlides/notesSlide25.xml" Id="R21c21668939a437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0e8baf34324b9e" /><Relationship Type="http://schemas.openxmlformats.org/officeDocument/2006/relationships/notesSlide" Target="/ppt/notesSlides/notesSlide26.xml" Id="Rdbdddb0a5ef9466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7aac3836dc4520" /><Relationship Type="http://schemas.openxmlformats.org/officeDocument/2006/relationships/notesSlide" Target="/ppt/notesSlides/notesSlide27.xml" Id="Rfd9c599f807f424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f3955fc5324ce5" /><Relationship Type="http://schemas.openxmlformats.org/officeDocument/2006/relationships/notesSlide" Target="/ppt/notesSlides/notesSlide28.xml" Id="R0a5fcbc1d4c7464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2c5d21ef0541c0" /><Relationship Type="http://schemas.openxmlformats.org/officeDocument/2006/relationships/notesSlide" Target="/ppt/notesSlides/notesSlide29.xml" Id="R49d72671811e4d1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d28f4dc8ab4f5d" /><Relationship Type="http://schemas.openxmlformats.org/officeDocument/2006/relationships/notesSlide" Target="/ppt/notesSlides/notesSlide30.xml" Id="R4be7d67bd21a42b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76c58f655c404c" /><Relationship Type="http://schemas.openxmlformats.org/officeDocument/2006/relationships/notesSlide" Target="/ppt/notesSlides/notesSlide31.xml" Id="Ra2b868d2bef34b4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7cc241a55a41eb" /><Relationship Type="http://schemas.openxmlformats.org/officeDocument/2006/relationships/notesSlide" Target="/ppt/notesSlides/notesSlide32.xml" Id="R0e7f2053ee6946f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1df75e566244a4" /><Relationship Type="http://schemas.openxmlformats.org/officeDocument/2006/relationships/notesSlide" Target="/ppt/notesSlides/notesSlide33.xml" Id="R40fff5c3683a4c6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2de1ece18549b9" /><Relationship Type="http://schemas.openxmlformats.org/officeDocument/2006/relationships/notesSlide" Target="/ppt/notesSlides/notesSlide34.xml" Id="R2e6b19602d3e451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f0ec65d5984a72" /><Relationship Type="http://schemas.openxmlformats.org/officeDocument/2006/relationships/notesSlide" Target="/ppt/notesSlides/notesSlide35.xml" Id="Rea3eabd761e04d4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a7a0ca19744258" /><Relationship Type="http://schemas.openxmlformats.org/officeDocument/2006/relationships/notesSlide" Target="/ppt/notesSlides/notesSlide36.xml" Id="R7f354a587183458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fd0c0c1c594b01" /><Relationship Type="http://schemas.openxmlformats.org/officeDocument/2006/relationships/notesSlide" Target="/ppt/notesSlides/notesSlide37.xml" Id="R02aea85eb6ef453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d2044fe65442f8" /><Relationship Type="http://schemas.openxmlformats.org/officeDocument/2006/relationships/notesSlide" Target="/ppt/notesSlides/notesSlide38.xml" Id="Ra74dae5e2de7455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e894bcfa494035" /><Relationship Type="http://schemas.openxmlformats.org/officeDocument/2006/relationships/notesSlide" Target="/ppt/notesSlides/notesSlide39.xml" Id="R34a7108f7f4b49e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131c3477d84960" /><Relationship Type="http://schemas.openxmlformats.org/officeDocument/2006/relationships/chart" Target="/ppt/slides/charts/chart4.xml" Id="R9577752407174464" /><Relationship Type="http://schemas.openxmlformats.org/officeDocument/2006/relationships/notesSlide" Target="/ppt/notesSlides/notesSlide40.xml" Id="R708b7cb8b4bc404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444abf3b324727" /><Relationship Type="http://schemas.openxmlformats.org/officeDocument/2006/relationships/notesSlide" Target="/ppt/notesSlides/notesSlide41.xml" Id="R37502a8089d84be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8f8867fb5045a8" /><Relationship Type="http://schemas.openxmlformats.org/officeDocument/2006/relationships/notesSlide" Target="/ppt/notesSlides/notesSlide42.xml" Id="R5dc9879ace6a4c5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4a9850601e4654" /><Relationship Type="http://schemas.openxmlformats.org/officeDocument/2006/relationships/notesSlide" Target="/ppt/notesSlides/notesSlide43.xml" Id="R51d32a76f8e9406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ca3d3f43754b7c" /><Relationship Type="http://schemas.openxmlformats.org/officeDocument/2006/relationships/notesSlide" Target="/ppt/notesSlides/notesSlide44.xml" Id="R85f332a2a7304e8d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83c0aa71b44063" /><Relationship Type="http://schemas.openxmlformats.org/officeDocument/2006/relationships/notesSlide" Target="/ppt/notesSlides/notesSlide45.xml" Id="R4810c4ce670642a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178aa363af413a" /><Relationship Type="http://schemas.openxmlformats.org/officeDocument/2006/relationships/notesSlide" Target="/ppt/notesSlides/notesSlide46.xml" Id="R54d681cd41884cce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668b78d5aa4622" /><Relationship Type="http://schemas.openxmlformats.org/officeDocument/2006/relationships/notesSlide" Target="/ppt/notesSlides/notesSlide47.xml" Id="Rf887be53dea041e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57cd0f0b6d46e4" /><Relationship Type="http://schemas.openxmlformats.org/officeDocument/2006/relationships/notesSlide" Target="/ppt/notesSlides/notesSlide48.xml" Id="R5fa69618d47746d0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d93cccebc2474e" /><Relationship Type="http://schemas.openxmlformats.org/officeDocument/2006/relationships/chart" Target="/ppt/slides/charts/chart5.xml" Id="R8c9f717a96da4af7" /><Relationship Type="http://schemas.openxmlformats.org/officeDocument/2006/relationships/notesSlide" Target="/ppt/notesSlides/notesSlide49.xml" Id="Raa348244eab445d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8688ff26e74f4f" /><Relationship Type="http://schemas.openxmlformats.org/officeDocument/2006/relationships/notesSlide" Target="/ppt/notesSlides/notesSlide50.xml" Id="R1b724e7f13624274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7332803aec4919" /><Relationship Type="http://schemas.openxmlformats.org/officeDocument/2006/relationships/notesSlide" Target="/ppt/notesSlides/notesSlide51.xml" Id="R8203609d94ae46f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a244b3d67c4454" /><Relationship Type="http://schemas.openxmlformats.org/officeDocument/2006/relationships/notesSlide" Target="/ppt/notesSlides/notesSlide52.xml" Id="R3c8667e1429d4c2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0c7b47956f45d2" /><Relationship Type="http://schemas.openxmlformats.org/officeDocument/2006/relationships/notesSlide" Target="/ppt/notesSlides/notesSlide53.xml" Id="R554b3fab66e14547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b63fdc7c4b46f2" /><Relationship Type="http://schemas.openxmlformats.org/officeDocument/2006/relationships/chart" Target="/ppt/slides/charts/chart6.xml" Id="Rbcc1642c52b7465d" /><Relationship Type="http://schemas.openxmlformats.org/officeDocument/2006/relationships/notesSlide" Target="/ppt/notesSlides/notesSlide54.xml" Id="R74f1a374ed0343b9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dbdb81aed944d7" /><Relationship Type="http://schemas.openxmlformats.org/officeDocument/2006/relationships/notesSlide" Target="/ppt/notesSlides/notesSlide55.xml" Id="R6117bb3b08994aee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80f60604cb4676" /><Relationship Type="http://schemas.openxmlformats.org/officeDocument/2006/relationships/notesSlide" Target="/ppt/notesSlides/notesSlide56.xml" Id="R826adeef512d4df5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48a2fa9d6b46c9" /><Relationship Type="http://schemas.openxmlformats.org/officeDocument/2006/relationships/notesSlide" Target="/ppt/notesSlides/notesSlide57.xml" Id="Rf944a5d28e514593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56545043114e15" /><Relationship Type="http://schemas.openxmlformats.org/officeDocument/2006/relationships/notesSlide" Target="/ppt/notesSlides/notesSlide58.xml" Id="Rec66fb9f18cc458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382d2475c84ea1" /><Relationship Type="http://schemas.openxmlformats.org/officeDocument/2006/relationships/notesSlide" Target="/ppt/notesSlides/notesSlide59.xml" Id="R94998e87d1b64daa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3aa1c6e8524c65" /><Relationship Type="http://schemas.openxmlformats.org/officeDocument/2006/relationships/notesSlide" Target="/ppt/notesSlides/notesSlide60.xml" Id="Ra7213d4ae73c41ff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67455f22f44d0e" /><Relationship Type="http://schemas.openxmlformats.org/officeDocument/2006/relationships/notesSlide" Target="/ppt/notesSlides/notesSlide61.xml" Id="R49f12bcf6cd5477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6ea187d049404e" /><Relationship Type="http://schemas.openxmlformats.org/officeDocument/2006/relationships/notesSlide" Target="/ppt/notesSlides/notesSlide62.xml" Id="R87addc69ef7047ff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f8a981356446d7" /><Relationship Type="http://schemas.openxmlformats.org/officeDocument/2006/relationships/notesSlide" Target="/ppt/notesSlides/notesSlide63.xml" Id="R51c3dde3c8c141db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62d57bbc2b4eee" /><Relationship Type="http://schemas.openxmlformats.org/officeDocument/2006/relationships/notesSlide" Target="/ppt/notesSlides/notesSlide64.xml" Id="Rfa73465c002441f3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29391911d3474b" /><Relationship Type="http://schemas.openxmlformats.org/officeDocument/2006/relationships/notesSlide" Target="/ppt/notesSlides/notesSlide65.xml" Id="Re2406823bf224ad4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6945a13f2f4602" /><Relationship Type="http://schemas.openxmlformats.org/officeDocument/2006/relationships/notesSlide" Target="/ppt/notesSlides/notesSlide66.xml" Id="Ra71f817f44a74314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229926d8564b65" /><Relationship Type="http://schemas.openxmlformats.org/officeDocument/2006/relationships/notesSlide" Target="/ppt/notesSlides/notesSlide67.xml" Id="R54ba192ad3bf4219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559c67ad304838" /><Relationship Type="http://schemas.openxmlformats.org/officeDocument/2006/relationships/notesSlide" Target="/ppt/notesSlides/notesSlide68.xml" Id="R52a3e2bfaadf4ca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Controlled missingness example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Missing cells</c:v>
          </c:tx>
          <c:spPr>
            <a:solidFill xmlns:a="http://schemas.openxmlformats.org/drawingml/2006/main">
              <a:srgbClr val="D77B6D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AGE</c:v>
                </c:pt>
                <c:pt idx="1">
                  <c:v>EDUCATION</c:v>
                </c:pt>
                <c:pt idx="2">
                  <c:v>LIMIT_BAL</c:v>
                </c:pt>
                <c:pt idx="3">
                  <c:v>MARRIAGE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LIMIT_BAL threshold flag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Borrower records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Within 1%–99%</c:v>
                </c:pt>
                <c:pt idx="1">
                  <c:v>Outside 1%–99%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29794</c:v>
                </c:pt>
                <c:pt idx="1">
                  <c:v>206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EDUCATION source codes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Rows</c:v>
          </c:tx>
          <c:spPr>
            <a:solidFill xmlns:a="http://schemas.openxmlformats.org/drawingml/2006/main">
              <a:srgbClr val="72C7C0"/>
            </a:solidFill>
          </c:spPr>
          <c:invertIfNegative val="0"/>
          <c:cat>
            <c:numRef>
              <c:f>'Chart Data'!$A$2:$A$8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14</c:v>
                </c:pt>
                <c:pt idx="1">
                  <c:v>10585</c:v>
                </c:pt>
                <c:pt idx="2">
                  <c:v>14030</c:v>
                </c:pt>
                <c:pt idx="3">
                  <c:v>4917</c:v>
                </c:pt>
                <c:pt idx="4">
                  <c:v>123</c:v>
                </c:pt>
                <c:pt idx="5">
                  <c:v>280</c:v>
                </c:pt>
                <c:pt idx="6">
                  <c:v>51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Stratified train/test counts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Rows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Train: no default</c:v>
                </c:pt>
                <c:pt idx="1">
                  <c:v>Train: default</c:v>
                </c:pt>
                <c:pt idx="2">
                  <c:v>Test: no default</c:v>
                </c:pt>
                <c:pt idx="3">
                  <c:v>Test: default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18691</c:v>
                </c:pt>
                <c:pt idx="1">
                  <c:v>5309</c:v>
                </c:pt>
                <c:pt idx="2">
                  <c:v>4673</c:v>
                </c:pt>
                <c:pt idx="3">
                  <c:v>1327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Income after imputation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Imputed income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42000</c:v>
                </c:pt>
                <c:pt idx="1">
                  <c:v>58000</c:v>
                </c:pt>
                <c:pt idx="2">
                  <c:v>58000</c:v>
                </c:pt>
                <c:pt idx="3">
                  <c:v>58000</c:v>
                </c:pt>
                <c:pt idx="4">
                  <c:v>72000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Payment amount before treatment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Payment amount</c:v>
          </c:tx>
          <c:spPr>
            <a:solidFill xmlns:a="http://schemas.openxmlformats.org/drawingml/2006/main">
              <a:srgbClr val="D77B6D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  <c:pt idx="6">
                  <c:v>G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800</c:v>
                </c:pt>
                <c:pt idx="1">
                  <c:v>950</c:v>
                </c:pt>
                <c:pt idx="2">
                  <c:v>1100</c:v>
                </c:pt>
                <c:pt idx="3">
                  <c:v>1300</c:v>
                </c:pt>
                <c:pt idx="4">
                  <c:v>1500</c:v>
                </c:pt>
                <c:pt idx="5">
                  <c:v>1600</c:v>
                </c:pt>
                <c:pt idx="6">
                  <c:v>180000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B669F0-0FB8-4D0F-92A2-3ABC28E4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F362A-514E-4176-A4C1-F10859CA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62000"/>
            <a:ext cx="619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LEARNING</a:t>
            </a:r>
          </a:p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EF542D-E25B-46EB-B95E-3CA28BA6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241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Lecture 3  |  Data Cleaning and Preprocessing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8686F-AEF8-4767-B352-9ACE1038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From raw financial records to leakage-safe model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B2EE4-D6BF-405D-BC8E-E1F6845A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781050"/>
            <a:ext cx="2190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0D2D4A"/>
          </a:solidFill>
          <a:ln xmlns:a="http://schemas.openxmlformats.org/drawingml/2006/main" w="9525">
            <a:solidFill>
              <a:srgbClr val="0D2D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93912-9BB0-4C42-8FAF-AB25DE3F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276350"/>
            <a:ext cx="12001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59368-0532-42C3-8BF9-84A43F95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43050"/>
            <a:ext cx="666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061B33"/>
          </a:solidFill>
          <a:ln xmlns:a="http://schemas.openxmlformats.org/drawingml/2006/main" w="9525">
            <a:solidFill>
              <a:srgbClr val="061B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2DE944-9AC1-47F8-8758-0E76C7CD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33750"/>
            <a:ext cx="2000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67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4E12A-3B1F-4785-96DD-BD3AA98E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292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Dr Ferdinantos Kottas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89404F-831C-41E6-8F04-9CC39677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912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NKUA MPhil Economics  |  Academic Year 2026–2027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2467F5-5F9F-4267-A8AA-24967D5D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  |  Week 03  |  NKUA MPhil Economics  |  2026–2027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BB48C-CE62-4ADE-AFB8-0C928C8E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78726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55FB44-F0DD-459B-8B4D-42BF9218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4746F-7630-40C5-B611-224A5AE8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8BB6F1-DFD3-4A35-BC18-9A7FE430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third lecture protects the model from bad 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BB7D9C-638A-4B70-AC47-B3857C9A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model cannot repair a table whose meaning, completeness, or timing is unclear.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6169D4-5D92-46F7-BA46-4C7B5363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4641A9-51B4-47FE-8B6B-8ADEF38C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9A81EB-FEEB-4CFC-8839-F7D730EE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65CD2-1B03-49A3-8D63-FD2B6C48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BE194-9BE5-40B1-97E3-716A0EB3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61EBB8-6974-46B7-8F8D-E145B3AC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4317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You explored arrays and DataFrames, documented variables, and identified patterns in the credit table.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A54459-ACC1-4609-8EBE-276E8958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EE06FE-C1BA-4B5F-8CAB-9596027B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24442D-A085-421B-BD07-51735B8D9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WEEK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9A926-8845-4856-B110-3A5925BD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4317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You will make data-quality decisions explicit before any estimator is fitted.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909105-72D4-43E0-AC23-148E4AB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82828-06BA-4943-B092-5C5E3799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540204-2648-47DB-A2A3-A1A78E46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47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CONSEQUENCE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D1CF05-5C1A-4D0A-8A6F-CAE8D2DE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4317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missing value, an outlier, or a leaked future observation can change a credit-risk conclusion.</a:t>
            </a:r>
          </a:p>
        </p:txBody>
      </p:sp>
    </p:spTree>
    <p:extLst>
      <p:ext uri="{BB962C8B-B14F-4D97-AF65-F5344CB8AC3E}">
        <p14:creationId xmlns:p14="http://schemas.microsoft.com/office/powerpoint/2010/main" val="10793440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16622C-7236-4031-B8D6-EBF7CBFF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8DF38-7A82-4F92-835C-34CC0EEE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LEARNING OBJECTIVES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E1273-DB51-4D0B-94C9-746DB38F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you should be able to do after this lecture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B43BD7-EB09-477E-968B-438FC3F8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goal is a transparent preprocessing workflow that another analyst can reproduce.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2292F0-2097-4A5D-8DBB-9F750285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25EEB8-145C-4E93-87AA-417D7B0E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4F2CB-0027-4467-814D-A645DF40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37D2D7-28B7-41AA-B8E6-59A659D2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Separate structural missingness, invalid codes, duplicates, and extreme but plausible financial values.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FB348C-D96D-40FD-BEA3-8D225F44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81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AABED5-713A-4A70-9A72-D678BEE2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955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Choose an imputation, removal, or flagging rule that matches the variable and the modelling purpose.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5CF957-E17B-4CF1-99D4-F6C48C78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236EE-6B5B-404F-A214-C38E3DB1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908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Detect outliers with documented thresholds without silently deleting economically meaningful observations.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D8E093-AD84-4C2B-9C8B-D62AA94C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71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276EC6-B212-440F-BFA4-8FD90ECA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861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Encode categorical variables and scale numeric variables with transformations fitted only on training data.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AE6127-CBAE-4467-93CB-4879C9F8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7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4A8A2C-A8BC-40F1-88EF-918F5BC1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a ColumnTransformer and Pipeline that keeps preprocessing tied to the model and prevents leakage.</a:t>
            </a:r>
          </a:p>
        </p:txBody>
      </p:sp>
    </p:spTree>
    <p:extLst>
      <p:ext uri="{BB962C8B-B14F-4D97-AF65-F5344CB8AC3E}">
        <p14:creationId xmlns:p14="http://schemas.microsoft.com/office/powerpoint/2010/main" val="5779288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DD681B-E27B-42DA-A82E-210D2E53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A5669-823B-4339-903F-FE6E510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 USED THIS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0E488-220D-40D3-80B3-3D4DF907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real credit table, a new quality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BE399-1D5E-4550-B57C-98406652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UCI dataset remains the empirical case. Week 3 asks whether the table can enter a model safely.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10AED-AABC-4EC8-9B17-6D2ADE2F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485C78-F404-44FF-A91C-50180168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80D15-7371-496E-B19B-85E4E1FEB6A8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048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8191500"/>
              </a:tblGrid>
              <a:tr h="43542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Course definition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UCI Machine Learning Repository, dataset 350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Observation unit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borrower credit-card account record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 and columns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30,000 observations, 25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default_next_month: 1 = default, 0 = no default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Monetary unit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New Taiwan dollars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3542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Reuse rule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notebook reads the validated compressed course copy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20FE6-049E-42CD-B717-9A20F06B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08B22A-BC64-40DC-9BE5-A46C05FB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431D05-BD59-4A91-9EEC-7FB8AA30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IMPORTANT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C7A1-44FB-4336-B1A4-1D63402E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dataset reports no blank cells, so the notebook creates small controlled examples to demonstrate cleaning decisions without changing the real-data analysis.</a:t>
            </a:r>
          </a:p>
        </p:txBody>
      </p:sp>
    </p:spTree>
    <p:extLst>
      <p:ext uri="{BB962C8B-B14F-4D97-AF65-F5344CB8AC3E}">
        <p14:creationId xmlns:p14="http://schemas.microsoft.com/office/powerpoint/2010/main" val="9684469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A8DE0-1AE9-4122-A230-17A65CCD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B1AB3-6727-4D83-BF2B-E44CC026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LECTURE 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033E1-4378-4F52-848F-E1D454FB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preprocessing route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CD161-70EE-4B52-BC32-B5DB50CC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Each step answers a different question and produces evidence for the next step.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D36CF1-06CC-4912-B27E-09DA5E9F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23848-9CCF-48E0-98E6-650D44EE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6F75A7-A5D3-4756-AD55-F4F14D114A1E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4762500"/>
                <a:gridCol w="4095750"/>
              </a:tblGrid>
              <a:tr h="4490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Audit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is present and what is missing?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Counts, types, codes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Clean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records or values need a documented rule?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Flags, corrected structure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Represent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should variables enter an estimator?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 and categorical blocks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Split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rows may determine transformation parameters?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and test partitions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Transform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do we apply the same rule to future rows?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Fitted preprocessing object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Verify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Did the transformation preserve the modelling contract?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Feature names, shapes, checks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95671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6A0CB-9E23-44D9-BCC7-621D32A6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F81766-030F-4E9C-BCED-56B5F356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531E73-E9E2-4031-9964-84606784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Data-quality audit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4FECF-416F-4886-BB69-A6B9656A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Cleaning begins with evidence about the table, not with a favourite imputation method.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69A068-DDA2-47C1-A58D-5668FE6E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5B63B-56F8-4633-89E6-9FFEBA13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748BBC-BFCC-4A87-9F60-5E3589FE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D7FBF2-36DC-4DD9-9043-126DC997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708906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58B06-F567-4062-BD5C-081811EA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52E0C-D5AB-457F-B371-C5F8F71B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11AC3-79D6-4E50-9862-BDC5B7D3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can go wrong before modelling?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167E28-AFA4-43ED-A479-0A522715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table can fail in several different ways. Each failure requires a different response.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9E6F0-B0B9-40EC-89A9-D7930495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E963CD-CF87-496C-858A-49FFD683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953FFF-D1C8-4CA3-9E7A-E63D146AEF13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429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5334000"/>
                <a:gridCol w="3143250"/>
              </a:tblGrid>
              <a:tr h="48985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Problem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 in finance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First diagnostic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 value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reported income or payment 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isna().sum()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 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same transaction imported twice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duplicated()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Invalid code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Education code outside the data dictionary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value_counts()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Extreme value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Very large limit or payment 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quantiles and plots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Leakage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future status included in a predictor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timing audit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Type error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Date or category read as a number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dtypes and parsing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9557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22CB4B-F546-4825-AC46-9D85842E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EC1F8-ED4C-4184-A5B0-3CAE8C82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5FB74-C0F2-4413-BABF-37990157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Structural and substantive missingness are different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2B5B96-029C-4ED8-A365-315F78D2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blank cell is a storage fact. A special code can be a meaning-bearing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5502F-57E2-4AA3-AC87-55CFCF94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C8387-02E8-4771-B0B0-2E9961E2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C6AA7E-27AC-4EDA-B458-4F3E8B24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1F6A00-59DF-444B-88DD-A1B8ECA0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DCC611-D3BC-4779-B684-513B8078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STRUCTURAL MISSINGNESS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28D187-218A-4550-A64F-65FD199B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value was not collected, not available, or lost during extraction. The analyst must decide whether to impute, flag, exclude, or obtain the source again.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D1D4B-4CFA-46B7-8C8A-5A6F0E98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69188-A7DB-498E-A3F6-D19D3874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B28440-9538-4ACB-987E-5C7B2A50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0275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SUBSTANTIVE 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70B406-7CB8-46D8-8582-FC6F2E38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value such as -1, 0, or 9 may encode a real category or a repayment state. Replacing it with a median can destroy the source meaning.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67551D-723C-4BCE-9098-49F4D026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02298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AF446-CCD8-45C3-9BDA-B30BC73C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57BD68-AE06-4833-B609-80F5E86F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PRACTICAL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D42ECA-A478-4CF9-837D-22C2C3C6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00675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Read the data dictionary before writing the cleaning rule. The same number can be a legitimate amount, a category, or a missingness code depending on the variable.</a:t>
            </a:r>
          </a:p>
        </p:txBody>
      </p:sp>
    </p:spTree>
    <p:extLst>
      <p:ext uri="{BB962C8B-B14F-4D97-AF65-F5344CB8AC3E}">
        <p14:creationId xmlns:p14="http://schemas.microsoft.com/office/powerpoint/2010/main" val="13504420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91D3D-9CD3-4D05-BC95-39667B1E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4BFF8F-6B9E-4F8D-8C88-B71E5047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CFD67-377A-4869-83EF-5935B2414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Missingness is a modelling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FA61C1-09D2-40B0-815E-1725B74C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There is no universally correct response. The choice depends on the variable, the mechanism, and the estimator.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64F2C-046E-4CA4-B804-D12F0568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AEA9C-9AB5-4ECE-B3FB-D3CE2497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FF0189-37EA-411B-B4CE-332AC56B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8D78F-7E2B-417E-AB15-A14C2C15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Drop a row only when the observation is unusable and the exclusion rule is defensible.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88BEEB-D749-4DF1-8099-1D126780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CC3D6-20A1-4543-9477-32066B82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86025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Drop a column when it is unavailable at prediction time, nearly empty, or not part of the question.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B324B7-86DB-48DD-B098-70240A97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57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B3209-0A7F-4102-94DD-67230088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71800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Impute numeric variables with a training-set statistic such as the median when a stable baseline is appropriate.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C10C6-430D-4F26-9A3A-F7EDE6CC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3AC4F-B246-49A5-8CEF-777C73D6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Impute categorical variables with a documented category such as Unknown or the training-set mode.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E42D2E-CAAB-4997-9074-66641D4E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27C97-41C7-4C33-9536-F1FFDB11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Add a missingness indicator when the fact that a value is absent may itself carry information.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ABA2EE-93FB-461C-81E8-B7F6B8E1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1E392C-A058-4CAA-A88C-D5DADE51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29125"/>
            <a:ext cx="9753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Never calculate imputation values on the full dataset before the train/test split.</a:t>
            </a:r>
          </a:p>
        </p:txBody>
      </p:sp>
    </p:spTree>
    <p:extLst>
      <p:ext uri="{BB962C8B-B14F-4D97-AF65-F5344CB8AC3E}">
        <p14:creationId xmlns:p14="http://schemas.microsoft.com/office/powerpoint/2010/main" val="8907735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9A38C2-EA48-46E7-A348-444B7FB6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43F235-9D3A-46A6-90E0-A23CA311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EA692-66D9-495F-8ADC-5BBFF8B4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Start with one compact audit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0E50C-1D58-49D3-95E8-C6B7B548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first code block records the structure before transformations begin.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DDC87-CD38-480D-9101-FD3E6E20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BC207-B107-4790-A1A6-203D7E11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0C3DEA-9CFA-444C-A532-F1F58AB0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8117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91DAA-99B1-4F58-874C-D8DE436A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334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B1A4E0-DC76-4146-A7C9-A80F0284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49530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audit = pd.DataFrame({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'dtype': credit.dtypes.astype(str),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'missing': credit.isna().sum(),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'unique': credit.nunique(),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'min': credit.min(numeric_only=True),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'max': credit.max(numeric_only=True)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})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audit.head()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F67959-D70B-4050-91EB-71601F7E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7C77E-3F36-4A1C-8274-E49C20E9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476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2B5B0-FC89-4A04-8931-5CA6CDD6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095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  dtype  missing  unique  min  max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ID           int64        0   30000  1.0  ...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  int64        0      81  10000 ...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SEX          int64        0       2  1.0  2.0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EDUCATION    int64        0       7  0.0  6.0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A44EC7-0512-4E32-96F2-8EE38DB4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102298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B2ED0-C273-4C3E-A6AF-CC4ED548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732CF6-23B5-4499-B600-37E65C21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F51E9E-F4C4-4197-928D-FC29C3DE8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721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audit is evidence about storage and coverage. It does not yet tell us which variables are safe predictors.</a:t>
            </a:r>
          </a:p>
        </p:txBody>
      </p:sp>
    </p:spTree>
    <p:extLst>
      <p:ext uri="{BB962C8B-B14F-4D97-AF65-F5344CB8AC3E}">
        <p14:creationId xmlns:p14="http://schemas.microsoft.com/office/powerpoint/2010/main" val="14660324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59E9C9-FB6B-41F5-9DE3-A868E869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47806C-54B9-4445-9A61-B53522A5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AUDIT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BF627F-14A3-4019-9FE1-DE42122B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the UCI audit tells 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893FE-BB1A-47F2-BAFD-194605BA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clean blank-cell count is useful, but it is only one dimension of data quality.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8168C-E78F-44BB-87CC-C3FA5064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8FBDBE-1AB6-4BAA-9650-033D428C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49E64-9951-4797-AC8A-A7ABDF9404A1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19087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2381250"/>
                <a:gridCol w="5524500"/>
              </a:tblGrid>
              <a:tr h="45583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 and columns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30,000 × 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expected course table is loaded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Blank cells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empty cells in the supplied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 rows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exact duplicate records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Unique IDs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unique ID per row in this file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 counts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23,364 / 6,636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Class imbalance must be remembered later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Special codes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Present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Education and repayment codes require definitions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40773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AD97EC-D523-4AD7-B2F8-DF2334A5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703CC-E519-4F8A-AFA1-04ABE77B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CONTROLLED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CCF43-B736-4EF7-9708-13537499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teaching example makes missingness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4FDA9-29AA-4D5F-81F6-0E9493A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real UCI file has no blank cells, so we create a small copy with deliberate missing values for the demonstration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C89BA-D1DF-449A-84CF-A63076E0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AC3EF-E91A-460A-8EAC-0BD9625C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73EA19F9-A195-46A2-8D49-9CC2076FED0A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4953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9e72011e30479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FE6930-70D3-46F3-97AC-AE3268F8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9666E-3D35-4CCB-BE8D-A234A484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4667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D94536-E58E-45C1-93F3-C81F92A8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286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 = credit[['LIMIT_BAL',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'AGE', 'EDUCATION', 'MARRIAGE']].head(8).copy()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demo.loc[[1, 4], 'AGE'] = np.nan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demo.loc[[2], 'EDUCATION'] = np.nan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demo.isna().sum()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BA3C5-54BD-43C8-BED2-CA3843EB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738CC5-53E8-4EC8-B5A2-9324C941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2B07C0-79A6-4995-AEC3-4FDB1D0A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WHY USE A CONTROLLED EXAMPLE?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C0670-0335-418E-8D93-031A6F9D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Students can test the cleaning rule without pretending that the original source contains missing values that it does not contain.</a:t>
            </a:r>
          </a:p>
        </p:txBody>
      </p:sp>
    </p:spTree>
    <p:extLst>
      <p:ext uri="{BB962C8B-B14F-4D97-AF65-F5344CB8AC3E}">
        <p14:creationId xmlns:p14="http://schemas.microsoft.com/office/powerpoint/2010/main" val="20973565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C98D96-2811-4ECA-87DD-BBEB0EA1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0A8698-C548-4A1C-9E1F-44BFA318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MISSINGNESS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2A454B-2D04-4237-97CB-FBAB69A6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Measure the rate and preserve the indicator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D7495E-B469-4294-B5C6-9EDABCC0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indicator records that a value was absent before an imputation replaces the cell.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860BD-E841-41EA-9309-73C3FED8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6A79C-DCA5-4A72-A1C3-A28F6DBB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48F94-2867-4B6C-B7A6-C3DE6B54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8117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6D4233-7A4F-4135-992E-92ECE4BD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334000" cy="300037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8D1FC-6D7E-437C-9DCB-8F1BB5E7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49530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missing_rate = demo.isna().mean()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demo['AGE_was_missing'] = demo['AGE'].isna().astype(int)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demo['AGE'] = demo['AGE'].fillna(demo['AGE'].median())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print(missing_rate)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print(demo[['AGE', 'AGE_was_missing']])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63CFB-FFDD-4C23-A92B-026FFDD8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04069E-7C6B-48B7-BA9E-ABBB4C37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476750" cy="300037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84A1FA-9736-4848-B190-B5031C60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09575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AGE          0.25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EDUCATION    0.125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  0.00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MARRIAGE     0.00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AGE  AGE_was_missing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24.0 0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34.0 0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37.0 1</a:t>
            </a:r>
          </a:p>
        </p:txBody>
      </p:sp>
    </p:spTree>
    <p:extLst>
      <p:ext uri="{BB962C8B-B14F-4D97-AF65-F5344CB8AC3E}">
        <p14:creationId xmlns:p14="http://schemas.microsoft.com/office/powerpoint/2010/main" val="1312433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E24858-4276-41C5-85A0-60BF6EB2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36562-5902-4C8B-AC41-8EE2342E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MISSINGNESS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324474-46B5-477E-8C38-A47D4E36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Choose the response by variable role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0FF30D-04F6-4CBC-9DC0-C7DFA408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policy should be written before the model is fitted and should be reproducible in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10C48-CA05-4EAA-AD0C-E06506E2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5EC86F-9A32-4329-A618-ADAF1336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F3757A-A92A-47B6-819A-6210B461DB9C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3524250"/>
                <a:gridCol w="3905250"/>
              </a:tblGrid>
              <a:tr h="539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Variable situation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Possible response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Reason to document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Numeric, modest missingness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 imputation plus indicator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Robust to skew and preserves missingness information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Categorical, missing category meaningful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Explicit Unknown category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Avoids pretending the mode is the true value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Column unavailable at prediction time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Remove the column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Prevents deployment-time failure and leakage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 invalid for the study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Exclude with a count and rule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Shows how the sample changed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 code has meaning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Map using the data dictionary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Avoids replacing a category with a statistic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26338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E5693C-562B-488B-8BFC-415B6815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F66828-609C-4DDE-A2B4-D46E69E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02884-96DA-4D4D-AC18-734B9673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Duplicates and identifiers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58464E-FF0B-4D5F-9199-7347348E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A duplicate check needs both row-level evidence and an understanding of the observation unit.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C0C446-90C5-48A4-9350-9CB318F3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2084A-F024-48F4-8D52-9887FCC9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D3F0A1-7D7C-428D-973D-5721E91D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3EFE53-3D14-4E04-81E6-D836E484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974400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01E4A3-67D3-4440-8B8E-661AA80B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E913A-DC92-44FB-97F3-25D01055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DUPLICATES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D04E6A-737D-4692-8EC8-88742386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 exact duplicate is not the same as a repeated borrower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B853D6-ADB0-4821-AD7A-E9EEDF69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correct check depends on what one row represents.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3D4B0-40FB-431A-B4CB-462DE772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EE33F-CF24-45A1-B6EB-37632A6B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5A2BC-745C-440A-A230-452081A8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77898B-121A-49E5-B839-C2B43167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E752F-FB76-48CE-8DA3-542AECD4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EXACT DUPLICATE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6780B2-69DE-4D5E-8201-43411102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Every column matches another row. This may be a repeated import or a legitimate repeated record, depending on the source.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F9807D-2F6C-4DA5-BFDC-70D8B2AC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3C18B8-4FFF-453E-B951-BE2BC1BF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0764D5-254B-4B35-AB19-926AE3D7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DUPLICATE 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634049-4F12-4E13-B223-B79D5B38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identifier repeats. That may be an error, or it may be valid when one borrower has several accounts or periods.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906AC8-FE2B-4A8E-BDDA-5EB7F488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766A2C-E0CA-40B6-8CBF-5EC0B1CE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7B7AC-B884-433E-9743-B041DD46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REPEATED 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B57156-341F-4D7A-B1E4-B5FF29C0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borrower may appear in several rows by design. The modelling split must respect the entity and time structure.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B7795D-A385-442F-B8B0-5FCE91F1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5346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88C658-CCD8-46F7-8BF4-0972D6DB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E0A998-F1D2-455A-8D10-DDD2AF04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1011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CONSEQUENCE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939AEB-B13E-4ED8-9732-B2F31D46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95925"/>
            <a:ext cx="1011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If the same borrower appears in both training and test samples, performance can look stronger than the model’s performance on a new borrower.</a:t>
            </a:r>
          </a:p>
        </p:txBody>
      </p:sp>
    </p:spTree>
    <p:extLst>
      <p:ext uri="{BB962C8B-B14F-4D97-AF65-F5344CB8AC3E}">
        <p14:creationId xmlns:p14="http://schemas.microsoft.com/office/powerpoint/2010/main" val="12436382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0FD408-38F6-46E7-BE2B-0E34666F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F7200-C152-45F2-AF66-D82363F3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DUPLICATE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A0B62-5641-493C-BC78-E33D66E9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Create a small duplicate example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A96C0-82CF-48B0-A82F-EBA97410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source file contains no exact duplicates. The code below shows how the diagnostic behaves when one row is repeated.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B551E0-011D-4812-BDB9-8EF51DAA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012D6-460F-4A6A-B26F-8F23D1C3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5E36B2-ED51-4D05-910C-5AE5F2CA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069424-7E45-4579-86D7-913E2A7B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4AE86-3087-47B2-BDD4-ACC7C7AC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small = credit.head(5).copy()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demo_dups = pd.concat([small, small.iloc[[0]]], ignore_index=True)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print(demo_dups.shape)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print(demo_dups.duplicated().sum())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11489A-54DB-4C80-BF00-14A7225C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ACE27-A8BA-4BE0-BA4B-E1EB91EA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171DFC-39DC-49A7-8EFE-323A2A7D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(6, 25)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A00E2-155D-425F-AC5A-93B96C4E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80B536-A67F-4BB5-BEF7-F2C615DC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2FFA6D-8DDD-462B-AA33-5B80D72B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DO NOT DELETE SILENTLY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45A070-8519-4BEE-AE5F-91F8F4AE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816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Record the number of rows before and after any duplicate rule, and explain why the retained row is appropriate.</a:t>
            </a:r>
          </a:p>
        </p:txBody>
      </p:sp>
    </p:spTree>
    <p:extLst>
      <p:ext uri="{BB962C8B-B14F-4D97-AF65-F5344CB8AC3E}">
        <p14:creationId xmlns:p14="http://schemas.microsoft.com/office/powerpoint/2010/main" val="39957862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3BA36-EABB-46B4-953E-B023FEB3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2E764-8B28-487A-AA58-F2E6C393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IDENTITY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08277E-57F6-4CE4-9EB4-D833441D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the observation unit to choose the duplicate key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BF5AB1-3741-4AC2-AE6E-DF067A43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Pandas function can answer different questions depending on the subset of columns.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D5C24-DAFA-4081-9042-D6E2FECE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2283A6-88EC-44C2-9D3D-A1BBB36D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A6F2E-196A-4D43-AB4C-B60C3F024BE2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4000500"/>
                <a:gridCol w="39052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Pandas pattern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 answered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Exact row duplicate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credit.duplicated().sum()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 the full record repeated?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Repeated 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credit.ID.duplicated().sum()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Does the identifier repeat?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Repeated borrower-period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credit.duplicated([ID, date]).sum()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Does the same entity-period repeat?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Unique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credit.ID.nunique()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many entities are represented?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First occurrence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credit.duplicated(keep="first")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rows would be removed by a first-row rule?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05868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FBB501-4A5A-4736-B182-E6DFF108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CE1F5A-38CE-4E44-A338-FE705835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6B321-CB66-40AF-BB7C-342BD92F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Outliers and special codes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D2FBE-C388-4BBA-9C56-5E25A050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Unusual observations require a financial interpretation before a mathematical treatment.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988E4-4959-40B9-B673-247032C2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2EB6D-21D9-4B32-9FDB-CF2C1823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9379A4-71CD-4DC7-B063-791F0003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6597A5-ACFB-406B-882F-8A6FEE59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6000684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1163A-6D4E-4912-A881-8DE6753D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BFE98-3CB5-42F0-9326-748994B6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A9965-3BBC-4FAE-B669-1F348316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 outlier is unusual, not automatically wrong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99B6A-46FC-46CB-AAF2-03FC570B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correct response depends on whether the observation is an error, a rare event, or a meaningful tail.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81677-A232-4A9D-B5D2-7F233433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5F5AE2-7584-4DF0-99CE-DCD99A65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B36E7-9104-46AF-8530-D4E9C63A6EE5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76500"/>
                <a:gridCol w="4000500"/>
                <a:gridCol w="4095750"/>
              </a:tblGrid>
              <a:tr h="539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Potential response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Data-entry error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Negative age or impossible category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 from source or exclude with evidence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Rare but valid borrower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Very high credit limit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Keep, flag, transform, or use a robust method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Heavy financial tail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Large payment 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Report quantiles and consider log scale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Model sensitivity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observation changes a coefficient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Run a documented sensitivity check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Leakage-like extreme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Future information embedded in a field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Remove at source and redesign timing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729474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E02B55-218D-47BD-A2F9-83DFA906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194D7A-2199-4804-9489-C341D32D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A6BDB0-540B-4420-A1BF-5C1232F6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UCI variables have very different scales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D6256-D6A5-40D3-A4BF-7E8EAAEC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Quantiles provide a first description before a threshold is chosen.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2D0BB1-9979-4EB5-A3A2-B41B4250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FB5F54-65F6-4923-808A-52FDBCB3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9E6114-5E78-4861-A19B-212496C413F7}"/>
              </a:ext>
            </a:extLst>
          </p:cNvPr>
          <p:cNvGraphicFramePr/>
          <p:nvPr/>
        </p:nvGraphicFramePr>
        <p:xfrm>
          <a:off xmlns:a="http://schemas.openxmlformats.org/drawingml/2006/main" x="666750" y="2047875"/>
          <a:ext xmlns:a="http://schemas.openxmlformats.org/drawingml/2006/main" cx="10858500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1333500"/>
                <a:gridCol w="1428750"/>
                <a:gridCol w="1333500"/>
                <a:gridCol w="1428750"/>
                <a:gridCol w="1714500"/>
                <a:gridCol w="1905000"/>
              </a:tblGrid>
              <a:tr h="5715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IQR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Minimum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Maximum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140,000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240,000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190,000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1,000,000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BILL_AMT1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3,558.75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22,381.50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67,091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63,532.25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-165,580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964,511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2,100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5,006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4,006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873,552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DB8B6D-C39A-4C7E-B6E0-9026D686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1085850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0B151F-B65A-44B2-A79F-88572620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57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554B0-7717-453B-88AF-3C934B14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38775"/>
            <a:ext cx="1043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39D116-D7EE-4C0C-80BB-E87FD86E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long upper tails are part of the financial data-generating process. A cleaning rule must not confuse skewness with invalidity.</a:t>
            </a:r>
          </a:p>
        </p:txBody>
      </p:sp>
    </p:spTree>
    <p:extLst>
      <p:ext uri="{BB962C8B-B14F-4D97-AF65-F5344CB8AC3E}">
        <p14:creationId xmlns:p14="http://schemas.microsoft.com/office/powerpoint/2010/main" val="89942222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6319EF-9007-4213-AE82-C5BA17C6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8D98F3-7800-4F50-A050-B3986CF6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8A5B1-2A6F-48B2-80E3-7242A49F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quantiles to flag before deciding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667A3-31A5-4BE3-882A-4A0D831C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code creates a flag. It does not delete observations or claim that the flagged values are errors.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E5A181-70FF-4CE3-A875-2982450D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9F939-ED2A-4358-B86B-B7250BB9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F30F1-CB30-42D2-B8AC-CE78F3CD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8117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2F674-C9BA-4207-A6A5-6308322A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334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55BDC7-1A48-4C4F-B40B-43266E56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49530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lo = credit['LIMIT_BAL'].quantile(0.01)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hi = credit['LIMIT_BAL'].quantile(0.99)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credit['LIMIT_BAL_outlier'] = ((credit['LIMIT_BAL'] &lt; lo) | (credit['LIMIT_BAL'] &gt; hi))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print(lo, hi)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print(credit['LIMIT_BAL_outlier'].value_counts())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69E371-CF00-4497-81AA-577C6C4F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1E117F-F4BD-47F4-BA23-3204A9B7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476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DC275-9572-491B-9881-B2042817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0957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10,000.0  500,000.0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False    29,794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True        206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1BE35C-D973-4982-965A-9DA7CEB8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0BAB8-9DFD-4DC7-A564-FA653E35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AC962E-62E3-48EF-B454-81FE922C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NEXT QUESTION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ECC1B0-E366-45FC-A095-4493CB61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Are the 206 observations invalid, rare but plausible, or informative about the portfolio? The source and financial context decide.</a:t>
            </a:r>
          </a:p>
        </p:txBody>
      </p:sp>
    </p:spTree>
    <p:extLst>
      <p:ext uri="{BB962C8B-B14F-4D97-AF65-F5344CB8AC3E}">
        <p14:creationId xmlns:p14="http://schemas.microsoft.com/office/powerpoint/2010/main" val="9390631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9C05D8-3165-4BE7-93C8-B620DB0B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AC22E-8EE9-4F66-8C83-C64CF83D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CHART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4626B8-21E2-4C23-8C24-96848849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flag is easier to review when its size is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B6EBF-F103-40FD-BD14-E6A22F11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chart shows how many records a threshold would flag, not how many records should be removed.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6BFC9-D501-40DE-8ABF-496184C7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F0593-67B5-4F54-98F5-212AF9DC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FBABB3C8-31A0-4619-BF68-47D69B401D5A}"/>
              </a:ext>
            </a:extLst>
          </p:cNvPr>
          <p:cNvGraphicFramePr/>
          <p:nvPr/>
        </p:nvGraphicFramePr>
        <p:xfrm>
          <a:off xmlns:a="http://schemas.openxmlformats.org/drawingml/2006/main" x="857250" y="2095500"/>
          <a:ext xmlns:a="http://schemas.openxmlformats.org/drawingml/2006/main" cx="6572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9bd50c7f3246c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DE66F-8E26-4DBB-B464-49C999A0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C65C3-95A7-4758-9C75-16332565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E223F0-C13E-48C3-9597-862710BE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431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ECA005-B118-4E50-B466-67023C77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38425"/>
            <a:ext cx="27241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Flagging 206 records does not prove that they are errors.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97743F-3EE1-4108-881C-D9A31757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67250"/>
            <a:ext cx="3143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025B0-FE04-4C63-816E-A3D712B7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672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C5FAAE-F5CD-4228-A583-35AFF21D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196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DOCUMENT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97E2FC-0A0A-449E-9C2C-738C0922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14925"/>
            <a:ext cx="27241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Threshold, variable, sample size, and treatment must appear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17024887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53A912-3016-48AA-BBDB-C0464BC1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AA615-023E-4A91-A1CB-698F8D8B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OUTLIER TREATMENT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F5BF0-2E54-41A2-9BD7-A960C6B4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Clipping changes the observed variable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97A41-2531-43B1-A0DF-B8F2A4E3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Winsorisation or clipping can improve numerical stability, but it changes the scale and must be reported.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FA3431-AC2C-424B-951B-FAD44957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F0ED85-6863-41DC-BDB4-43FF758F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5B8AD-59C9-4F86-8D92-317FE4FB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4239E-205A-46E5-B7D1-32463F55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0C7B7-6579-41F4-A0CE-632B4623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credit['LIMIT_BAL_clipped'] = credit['LIMIT_BAL'].clip(lo, hi)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credit[['LIMIT_BAL', 'LIMIT_BAL_clipped']].describe().T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CE2D2-3C8B-498E-88DB-40EF2E64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B72A00-5C2B-4088-BD37-2FF33E14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3F437B-7F0C-4570-87DD-4AC6C7BB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         min       max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      10000.0  1000000.0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LIMIT_BAL_clipped 10000.0   500000.0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1189A0-6C19-4E09-A762-046ECD71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93D59A-227A-4233-91CA-13762565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3863F1-35E2-4931-95CC-99B7E7CA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9B24F0-8F51-4C71-B6E1-69D172BC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Clipping reduces the influence of the tail but may remove information about high-limit borrowers. Compare results with and without the treatment.</a:t>
            </a:r>
          </a:p>
        </p:txBody>
      </p:sp>
    </p:spTree>
    <p:extLst>
      <p:ext uri="{BB962C8B-B14F-4D97-AF65-F5344CB8AC3E}">
        <p14:creationId xmlns:p14="http://schemas.microsoft.com/office/powerpoint/2010/main" val="105184482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E44AEB-DCB4-4510-BC79-AE1EFBA1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9C9E5-EE3E-4B30-ADAB-56B85D22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SPECIAL CODES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ECB01-6F8A-43D2-A2DD-0D8963A0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Codes are categories until the data dictionary says otherwise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50708-033C-47B4-853D-46E3706A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Education and repayment fields contain integer codes. The integer type does not make the values continuous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6AE80-5607-4302-B330-258A2E35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64D48D-4F43-4C52-9F9A-2DB184F4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BF3F5D97-8522-41E1-844D-5678D3707158}"/>
              </a:ext>
            </a:extLst>
          </p:cNvPr>
          <p:cNvGraphicFramePr/>
          <p:nvPr/>
        </p:nvGraphicFramePr>
        <p:xfrm>
          <a:off xmlns:a="http://schemas.openxmlformats.org/drawingml/2006/main" x="762000" y="2095500"/>
          <a:ext xmlns:a="http://schemas.openxmlformats.org/drawingml/2006/main" cx="6191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969f5a19774d3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B1CB6-A589-4308-A91A-4B435BE6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714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56CFFE-A215-47BB-9472-8D21DD89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9DBBEB-ED9B-4C02-AF14-AF2FB00C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47900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SOURCE MEANING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2BC1C-B5E5-4607-A126-C7D3AFE1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43175"/>
            <a:ext cx="32956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source dictionary defines 1 as graduate school, 2 as university, 3 as high school, and 4 as others.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48CD27-2C19-4B7C-8040-30AA89D7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57625"/>
            <a:ext cx="3714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FB737B-BC63-4759-9B8D-89BD3537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57625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F494DB-99C0-49D4-8983-5DDDD9CF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1002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QUALITY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D757DE-63A3-4F37-93DD-C58CE2C9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05300"/>
            <a:ext cx="32956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Codes 0, 5, and 6 appear in this file. Investigate their source meaning before collapsing or recoding them.</a:t>
            </a:r>
          </a:p>
        </p:txBody>
      </p:sp>
    </p:spTree>
    <p:extLst>
      <p:ext uri="{BB962C8B-B14F-4D97-AF65-F5344CB8AC3E}">
        <p14:creationId xmlns:p14="http://schemas.microsoft.com/office/powerpoint/2010/main" val="127704785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82E2EB-DBD9-4548-A020-FDD56EDC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F1369-51BC-446E-885E-5AC1B943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CATEGORY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F1CC8-3B2F-420D-ABC0-E284FF43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Document category labels before encoding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337626-EEAA-46F9-BCD3-25F4E29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mapping makes the transformation auditable and prevents a model from treating labels as arbitrary magnitudes.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A7FC6-A3D8-4037-A050-58B7B013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7275F7-86FD-461B-9107-15429E59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5F809C-972F-403A-9766-77BD778B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CC02B0-AC52-4D13-9315-4CB79631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625AD8-904C-42BC-93EC-33C638A1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education_map = {1: "graduate school", 2: "university", 3: "high school", 4: "others"}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credit['education_label'] = credit['EDUCATION'].map(education_map)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credit['education_label'].value_counts(dropna=False)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39462E-283E-4D2A-B999-3A809DF8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C6C7CD-6DEE-4681-84BC-39AE9EE5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305B94-7C68-48D1-99E4-B78BD628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university        14030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graduate school   10585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high school        4917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NaN                  432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3EC20-BCE5-4319-A9D4-851F2E33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D7AAC6-5999-48D1-8D8A-FFBFA720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00FB4-BDC3-47EF-9D02-BA286809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IMPORTANT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6BD5E9-AF8C-4471-88FE-99022367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unmapped values are visible as NaN. That is safer than silently assigning an invented label.</a:t>
            </a:r>
          </a:p>
        </p:txBody>
      </p:sp>
    </p:spTree>
    <p:extLst>
      <p:ext uri="{BB962C8B-B14F-4D97-AF65-F5344CB8AC3E}">
        <p14:creationId xmlns:p14="http://schemas.microsoft.com/office/powerpoint/2010/main" val="21315420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8E274-4DB7-4257-8547-2780ADAE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B40BA-9766-4AD6-A1B4-51156420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FDFD8B-0205-4AF8-A842-2E640267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Numeric and categorical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0E20B-55B0-4124-8FC2-2578367E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A preprocessing rule should match the type and meaning of each variable.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BAB3D-4256-4867-883E-F1E24365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095FA-F7C1-4030-899E-F3377E1B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2C3871-51BB-48A7-8031-A6A2E6B6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893DD-3C05-4966-94C5-21B98CE1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5885140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F8239-BB9E-4512-8BFE-8B162D82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BAB14-1BF5-4A0E-AB76-0A860696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FEATURE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CF7177-5053-44A9-BCD5-97C9CA3E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Types determine the transformation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76E99-6552-479C-B626-B2DEF30C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preprocessing plan separates variables by how an estimator should see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E588C-1FD4-4376-9C03-58350655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4F5298-A8CE-4339-91E3-1AB69305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1B3E8E-3F36-4E7E-8A81-A4756A613E21}"/>
              </a:ext>
            </a:extLst>
          </p:cNvPr>
          <p:cNvGraphicFramePr/>
          <p:nvPr/>
        </p:nvGraphicFramePr>
        <p:xfrm>
          <a:off xmlns:a="http://schemas.openxmlformats.org/drawingml/2006/main" x="819150" y="2047875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4286250"/>
                <a:gridCol w="39052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Examples in this course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Typical transformation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LIMIT_BAL, AGE, BILL_AMT1, PAY_AMT1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Impute, scale, inspect tail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SEX, EDUCATION, MARRIAGE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Impute, one-hot encode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Ordinal-like code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PAY_0 to PAY_6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 source meaning and document choice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Retain for traceability, exclude from predictors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Keep separate from X and never transform as a feature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5899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E965C3-9EB8-4BF8-8A22-377187B2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18ED7-142C-4BBA-A0A4-4E2C45E4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ONE-HOT ENCODING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D93E2-0E37-4E92-93C7-2159A48C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Categories become indicator columns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7A223-3F96-4667-BFBA-02A5679F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One-hot encoding represents category membership without imposing a false numeric distance between labels.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FCCD1-5E46-403B-803E-390D79B4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E01F5-2FD5-4D18-A501-9B8B649F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3EA38-7680-45A0-AA58-8606952B27C9}"/>
              </a:ext>
            </a:extLst>
          </p:cNvPr>
          <p:cNvGraphicFramePr/>
          <p:nvPr/>
        </p:nvGraphicFramePr>
        <p:xfrm>
          <a:off xmlns:a="http://schemas.openxmlformats.org/drawingml/2006/main" x="914400" y="2095500"/>
          <a:ext xmlns:a="http://schemas.openxmlformats.org/drawingml/2006/main" cx="5429250" cy="2190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09750"/>
                <a:gridCol w="1190625"/>
                <a:gridCol w="1190625"/>
                <a:gridCol w="1190625"/>
              </a:tblGrid>
              <a:tr h="5476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0A9F1-F8E1-4EC5-ABCC-89196198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4095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2D0E54-A7CD-4BB2-883A-80532A16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CA3D0B-8630-4E61-B212-54ECA093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47900"/>
            <a:ext cx="3676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WHY IT HELPS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E47CE6-05AA-4892-996E-04D34527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43175"/>
            <a:ext cx="36766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model can estimate a separate contribution for each category. The code must also handle a category that appears later but was not present in the training sample.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EDEF5-3908-4A34-A920-81A4B317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134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A00437-605D-4262-932B-2627CBA1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BBAC27-5CA7-4DCB-8906-2291547A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4900"/>
            <a:ext cx="971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COURSE RULE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38607F-2D1B-4B02-870D-BED03FAF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0175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handle_unknown="ignore" in the transformation so an unseen test or deployment category does not crash the pipeline.</a:t>
            </a:r>
          </a:p>
        </p:txBody>
      </p:sp>
    </p:spTree>
    <p:extLst>
      <p:ext uri="{BB962C8B-B14F-4D97-AF65-F5344CB8AC3E}">
        <p14:creationId xmlns:p14="http://schemas.microsoft.com/office/powerpoint/2010/main" val="213322012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10ADB9-C776-4E00-8F49-14163406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4D550-09F0-44C7-AA72-826B19AE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ENCODING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1FBDA6-44BF-4AB3-B0E5-EF21E33F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Run the transformation on a small table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662B1-855D-407B-B071-6D42493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small example makes the new columns and their order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7BBA6F-0A0E-4C26-AA98-A99EA199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76DF9-F212-4EB9-9E70-A73A22B4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E199CA-41FB-47ED-B825-B370D746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A109FC-6AB5-48A8-87E3-7B89DE73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3384AA-994D-4290-8F59-51F1D22E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cats = credit[['SEX', 'EDUCATION', 'MARRIAGE']].head()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encoded = pd.get_dummies(cats.astype('string'), drop_first=False)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print(encoded.shape)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print(encoded.columns.tolist())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04094B-AF16-4481-BED8-FA4DD217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66ED2D-0BDA-4362-8131-C5AA79D6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D0F8A-D18D-44BB-B2A1-CF8A3828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(5, 5)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['SEX_1', 'SEX_2', 'EDUCATION_2', 'MARRIAGE_1', 'MARRIAGE_2']</a:t>
            </a:r>
          </a:p>
        </p:txBody>
      </p:sp>
    </p:spTree>
    <p:extLst>
      <p:ext uri="{BB962C8B-B14F-4D97-AF65-F5344CB8AC3E}">
        <p14:creationId xmlns:p14="http://schemas.microsoft.com/office/powerpoint/2010/main" val="52423092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18F7AB-3888-4EB4-9D2A-602194C1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9ED2C-363C-49B6-BE83-F28202D9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ENCODING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2136C1-7592-4C03-BC0B-CD0A17B5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Inspect the encoded rows before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3DCA21-6C30-4356-ABA4-251A32DD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transformation should be easy to audit: each row has a clear pattern of category indicators.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B8A12-9B68-438C-8EB0-0BFE3EA7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EB0CB6-1E05-4E75-91AD-D9300FB6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B10D9E-4624-4E7B-BC86-C643A3B58C63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762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524000"/>
                <a:gridCol w="1619250"/>
                <a:gridCol w="1619250"/>
                <a:gridCol w="2095500"/>
                <a:gridCol w="1905000"/>
                <a:gridCol w="1809750"/>
              </a:tblGrid>
              <a:tr h="4603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SEX_1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SEX_2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EDUCATION_2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MARRIAGE_1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MARRIAGE_2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C0E05-3CC0-40B1-9365-29382681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2A4293-A792-4638-82C1-DE75D6B6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6C53B-BDAA-4210-8579-A56C6D9E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A1B1E1-1414-49C2-9C02-5546C689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81675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columns are not new economic facts. They are a model-friendly representation of the original categories.</a:t>
            </a:r>
          </a:p>
        </p:txBody>
      </p:sp>
    </p:spTree>
    <p:extLst>
      <p:ext uri="{BB962C8B-B14F-4D97-AF65-F5344CB8AC3E}">
        <p14:creationId xmlns:p14="http://schemas.microsoft.com/office/powerpoint/2010/main" val="88838109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A5983A-A561-4413-BDF3-205E10BA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4489D9-B0C5-45A7-B8E9-3B878639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SCALING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B1CC24-AA92-40C0-924E-C0A8A73A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Scaling puts numeric variables on a comparable numerical basis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80F96-7F37-4721-ABB1-F5C2A538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variable measured in New Taiwan dollars can otherwise dominate a variable measured in years or repayment status.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005AC-04EE-428E-9EAB-ED13B99B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982EBE-DD9E-47BB-B815-B4C1C4F7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6CBF01-1D9C-4280-AF2F-347E4B84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16AD1E-C8F8-45CD-82D4-AC2984C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B8DD8-90D1-4E1B-963A-E6055EF8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BEFORE SCALING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78BC2E-C6B5-4265-A42D-6E336210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LIMIT_BAL may range from 10,000 to 1,000,000 while AGE ranges from 21 to 79. A distance-based model will respond to the units.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EE985-30D7-4B85-8E8E-1489617E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5C6B07-D9F5-49E7-AB8D-E1901375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11586E-E08F-4D41-BE05-92CBE5DC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AFTER SCALING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EA5808-0A32-4495-80F3-40A75608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standard scaler centres a training variable and rescales it using its training dispersion. The same fitted rule is applied to validation and test 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DBD2D-4E47-4944-B094-789591A5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D1BD75-6727-4F63-AD22-6B328533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C26D0-4CE9-4F2C-A129-B6BB6906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0027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STILL INSPECT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377F5E-B2DF-461F-B129-4A0A9BA5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7241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Scaling does not remove skewness, bad codes, leakage, or the need to explain the original financial unit.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55FD36-99E8-455F-8F11-88C0F227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5346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BD5A0D-0ACF-484A-A383-B0F50038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57FF55-FE17-4711-A46E-D5FD0205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1011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MATHEMATICS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B8E8D0-6EBD-4237-8F79-25D06620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95925"/>
            <a:ext cx="1011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exact standardisation equation and symbol definitions are in the separate mathematics reference for this lecture.</a:t>
            </a:r>
          </a:p>
        </p:txBody>
      </p:sp>
    </p:spTree>
    <p:extLst>
      <p:ext uri="{BB962C8B-B14F-4D97-AF65-F5344CB8AC3E}">
        <p14:creationId xmlns:p14="http://schemas.microsoft.com/office/powerpoint/2010/main" val="74708174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7D79E-746E-4258-A3DC-925DBEB4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37C5B-3A2C-47B6-8060-E77C964F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SCALING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26848-366A-4E46-A8E1-1C2B798D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Fit the scaler on the training sample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BE422-D7C6-4B22-97D5-60DD9977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transformation object stores the parameters it learned from training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3293FA-C670-4608-B9B1-7CE58416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31AECF-6C0C-4283-B0F5-A3574C1A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0B9E9-11AB-4720-A657-EC7EB1809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04D55C-C89D-40D2-958B-2824BB09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D27648-2178-472D-A495-6B49A674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scaler = StandardScaler()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train_scaled = scaler.fit_transform(X_train[['LIMIT_BAL', 'AGE']])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test_scaled = scaler.transform(X_test[['LIMIT_BAL', 'AGE']])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print(train_scaled.shape)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print(test_scaled.shape)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C379E-A38A-4C94-B045-03E4CF5D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C3D85-49C7-4B3B-8BB5-A73D8BE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35F510-1FE0-4D27-8D55-1ACCEE1E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(24000, 2)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(6000, 2)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5CA99-7401-4BB4-9B98-F01F2120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C2CC6-57FD-4B3E-9DDE-BBC5321C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DB7F4-40D1-4F60-9843-BEF67192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LEAKAGE CHECKPOINT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6AE9D9-AD39-410A-854F-3A469C6B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test data is transformed with transform(), never fit_transform().</a:t>
            </a:r>
          </a:p>
        </p:txBody>
      </p:sp>
    </p:spTree>
    <p:extLst>
      <p:ext uri="{BB962C8B-B14F-4D97-AF65-F5344CB8AC3E}">
        <p14:creationId xmlns:p14="http://schemas.microsoft.com/office/powerpoint/2010/main" val="173272985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1ED8A7-4584-4A65-912B-B4D2C602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A739A-B626-480E-A5F9-D0737ED0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SCALING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061457-7E92-47B9-8695-0EC41471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transformed training columns have mean near 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B4DB2-34D9-40CE-AF02-EEF70EE5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output is a numerical check, not a replacement for understanding the original units.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246AC3-7C75-4A5F-A5D8-4EC300D4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42391-50D3-4484-9205-8EDAD36A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9332E-83B5-4A60-9A59-0CD0D6330BD1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762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3429000"/>
                <a:gridCol w="4000500"/>
              </a:tblGrid>
              <a:tr h="4603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Training feature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after fit_transform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Std. deviation after fit_transform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BILL_AMT1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7E438-485E-4097-86D8-8864BF83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B01E0-27E8-4D54-8D47-F787688C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3418B-436F-4DE8-948B-BAC1D665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IMPORTANT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B87A1-49D6-47E0-88D0-4F42DFDB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81675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test sample does not need to have mean zero. It must be transformed using the training parameters.</a:t>
            </a:r>
          </a:p>
        </p:txBody>
      </p:sp>
    </p:spTree>
    <p:extLst>
      <p:ext uri="{BB962C8B-B14F-4D97-AF65-F5344CB8AC3E}">
        <p14:creationId xmlns:p14="http://schemas.microsoft.com/office/powerpoint/2010/main" val="130515866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740EC-CE3E-4AE0-ADAE-9D251B77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F0B81-5C10-4827-ACA2-E54F89E7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E3DCDE-3688-47ED-8E28-5DE79C4B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Leakage-safe preprocessing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83985-9B60-4A44-BC7A-65873866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 order of splitting, fitting, transforming, and evaluating determines whether the result is credible.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19EA1-D454-4C4E-8AD4-BFC19EEF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35B8A2-9435-4790-B3F9-20B9A107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9F90F-1FC2-4F13-B2D1-DF98E9B5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327B38-FE5F-4421-B0A2-09BCCBCE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77235264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AC5C3B-5C88-4C80-A1E3-AF7EEE53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8AB7A-2E41-49C0-8F5A-76C742C7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 SPLIT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10F329-BA4B-444A-8C39-97E6BDA9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Train, validation, and test rows have different roles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608B2B-059E-4EB9-9637-749894FD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roles are about information flow, not about giving some rows less importance.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B7C7E-40F4-4849-BCE6-64E15310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B3522-D832-4BEB-896A-990A4DFD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C5511B-CE88-44B0-BE01-F42C0E30143D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76500"/>
                <a:gridCol w="4476750"/>
                <a:gridCol w="3619500"/>
              </a:tblGrid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Used for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Must not 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Learn imputation, scaling, encoding, and model parameters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Treat it as future data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Validation or cross-validation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Choose settings and compare candidate models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 the final test outcome to choose repeatedly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Test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final estimate of generalisation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Fit transformations or tune decisions on 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B5CD5F-FDD3-4F33-9195-4D10FB1B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A1FA44-F367-4DD0-9826-841A927E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CEF10D-A082-46A7-990E-542B4908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95900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INFORMATION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83F41-3779-417A-A423-D844E1A2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91175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Any quantity calculated using the full dataset can carry information from the test sample into training. That includes means, medians, category sets, thresholds, and selected features.</a:t>
            </a:r>
          </a:p>
        </p:txBody>
      </p:sp>
    </p:spTree>
    <p:extLst>
      <p:ext uri="{BB962C8B-B14F-4D97-AF65-F5344CB8AC3E}">
        <p14:creationId xmlns:p14="http://schemas.microsoft.com/office/powerpoint/2010/main" val="60563481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EFCFF0-7FAE-4490-9649-99558A3D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D9C1A-F88F-4DFE-BBDC-949990B9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E173F4-B6B4-4BDB-9EE3-7DB121C1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plausible-looking workflow can still be wrong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5A1ABF-5176-4866-A516-828D6230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code may run successfully while the evaluation is contaminated.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2A8A58-08D4-40BF-92D1-788779D4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A7DFF6-41DD-45B7-B7C4-75A40B2C7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23916-3CA9-4DC2-A9A2-4E8BEB13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WRONG WORKFLOW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77CAF-02F8-4557-9DDF-E9BADD32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FAAB45-708A-407C-BA32-1BF3111B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# Wrong order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X_scaled = StandardScaler().fit_transform(X)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X_train, X_test, y_train, y_test = train_test_split(X_scaled, y, test_size=0.2)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# The scaler saw the future test rows.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1174D6-0BFA-4B4E-9316-25D0E0A7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B2608E-2EB5-47B8-8BDE-8072C768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D2FA0-8AA6-4678-A6CB-39FDF71D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057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WHY IT IS WRONG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73CDBE-71CD-4893-A866-F5899C1E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43175"/>
            <a:ext cx="4057650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mean and standard deviation used in the transformation include test observations. The test set has influenced the training representation before evaluation.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863F87-F75D-459B-B7A6-97D38105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8E29B-B31C-4B03-9F8B-C92268EB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B9C1DF-BDB7-4495-AF54-D1830DBE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THE ERROR IS METHODOLOGICAL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54EFC-76D7-458C-9926-12F77451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No syntax error will warn you about this. The notebook must make the information boundary explicit.</a:t>
            </a:r>
          </a:p>
        </p:txBody>
      </p:sp>
    </p:spTree>
    <p:extLst>
      <p:ext uri="{BB962C8B-B14F-4D97-AF65-F5344CB8AC3E}">
        <p14:creationId xmlns:p14="http://schemas.microsoft.com/office/powerpoint/2010/main" val="175012717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CB702-FA69-49F3-A8C5-96CCEAD4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E8A37B-D7F5-438E-87BA-EF305931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79955-F36A-439F-9AC1-480E3E3B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correct order keeps the test set outside fitting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9BCAC-EFA5-4EFF-A010-20A6D58A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Split first. Fit on training data. Transform both partitions with the fitted object.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D4CC3-ABB7-4E78-9502-0AA7D539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198C54-3A64-4EEF-9BAA-EF2C69FE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1B9D42-2BFA-4C86-98FB-BF578847E75E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238250"/>
                <a:gridCol w="4476750"/>
                <a:gridCol w="485775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Operation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Information available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Separate X and 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All rows, but target is kept apart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Train/test split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rows for fitting, test rows held out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preprocessor.fit_transform(X_train)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values only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preprocessor.transform(X_test)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fitted training rule only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Fit model on transformed training data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representation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Evaluate once on transformed test data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Held-out evidence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108428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E40B5-FB29-4CFE-A64F-4FF256A2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4301E6-EC52-433D-B343-2D03B39A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SPLIT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7B055-5E21-41D8-88D7-CC1F5FF0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Stratification preserves the target proportion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3755E-28D5-4661-8508-5211469E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For a binary credit-risk target, stratification reduces the chance that a split has a very different class balance.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F1F8B-E197-4E5D-A2A7-A47FB2B5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A50248-7D74-465E-83ED-ACAD4672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D6A663-28E7-4B9A-A08B-ABC782B1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341AC-E858-49CD-8A63-BF47649B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BF2E1-EDE8-45AA-B583-BBB6F0CC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 = credit[num_cols + cat_cols]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y = credit['default_next_month']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X_train, X_test, y_train, y_test = train_test_split(X, y, test_size=0.20, random_state=42, stratify=y)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ED53EA-1E2C-424C-83B3-093823C6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88EAA-1D5B-4799-9921-1B55F2EF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93874-3F47-4D82-8BFE-8887D752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X_train: (24000, 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X_test:  (6000, 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y_train default rate: 0.2212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y_test default rate:  0.2212</a:t>
            </a:r>
          </a:p>
        </p:txBody>
      </p:sp>
    </p:spTree>
    <p:extLst>
      <p:ext uri="{BB962C8B-B14F-4D97-AF65-F5344CB8AC3E}">
        <p14:creationId xmlns:p14="http://schemas.microsoft.com/office/powerpoint/2010/main" val="38365711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CF022-1F23-49D4-9355-FBEA270E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9ED07-656C-4F2E-B6F3-A61A4452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SPLIT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3B156-0A9D-439F-B0F3-2F964657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split preserves the class balance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CE51B-0393-47C3-A194-99E5A2F5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counts are an audit of the split, not a performance result.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BD443-BF08-42FE-A0E9-18653C5F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9F3ED-057D-46F6-A56D-DD0FB0D2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F717427D-CE3A-4A02-B7A3-38642CEC4BC7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6667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7775240717446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E9B8C-6966-499E-B40C-717796AB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6F9ABB-F0F9-49D5-B304-8380F8DC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1789F0-F5A1-4E27-8289-14F2028A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4315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TRAINING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771150-04A7-4879-A7F8-F54EF19C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38425"/>
            <a:ext cx="2628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24,000 rows, including 5,309 defaults.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E3731-387E-4E68-B984-E1AD9BCB5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38625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E27B99-D367-492E-BBD0-40F4CA50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38625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E49717-1D1B-4C84-8F80-86053F78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91025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21C042-6D36-4E7D-A7A1-BF614DE6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86300"/>
            <a:ext cx="26289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6,000 held-out rows, including 1,327 defaults.</a:t>
            </a:r>
          </a:p>
        </p:txBody>
      </p:sp>
    </p:spTree>
    <p:extLst>
      <p:ext uri="{BB962C8B-B14F-4D97-AF65-F5344CB8AC3E}">
        <p14:creationId xmlns:p14="http://schemas.microsoft.com/office/powerpoint/2010/main" val="195429648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CC151-1528-4B76-B43F-7BFB1492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6D6E8-B8FE-4B17-8C0C-CAE48D33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COLUMNTRANSFORMER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4B0E34-038E-4F8C-ACB3-0CCDA4BA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Different columns can follow different pipelines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585C45-7DCD-420E-A1D3-BAC521F2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ColumnTransformer gives the table a declared transformation contract.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4E408-D2D5-4EB6-961B-1D9E1817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047D1-486E-404A-98D7-344BBAC5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F3B41-69CD-4CAD-83B9-8643583DB033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571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571750"/>
                <a:gridCol w="4857750"/>
                <a:gridCol w="314325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 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 imputer → StandardScaler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Five scaled numeric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Most-frequent imputer → OneHotEncoder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Thirteen indicator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Excluded from X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Retained separately for traceability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Excluded from preprocessing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Used as y after the split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4EC1A0-F2D9-4418-9051-89C4A47A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85FAE-8224-4D0C-933A-83877714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AE8D8-393B-442B-8A26-EED41E07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WHY THIS IS SAFER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9955C4-0C9E-4071-97E2-E42C19D6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object stores the training medians, scale parameters, and category vocabulary. Applying it later uses the same decisions in the same order.</a:t>
            </a:r>
          </a:p>
        </p:txBody>
      </p:sp>
    </p:spTree>
    <p:extLst>
      <p:ext uri="{BB962C8B-B14F-4D97-AF65-F5344CB8AC3E}">
        <p14:creationId xmlns:p14="http://schemas.microsoft.com/office/powerpoint/2010/main" val="73344705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C3AD04-0478-448C-8011-E852EE11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ECAFCC-E524-4225-92E2-AD778A7C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PIPELINE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BBB18-C354-45A9-B6B2-0576347C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the preprocessing object once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F11299-E90F-4E6E-A827-45CF8098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This is the code pattern that will carry into logistic regression and tree-based models.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07C1BF-743B-4D36-A570-CD80DB72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DB0A5-00BC-4AC2-A5F8-29782B88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DB94E-2B50-435D-9298-33871FB3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0DA544-7885-4F0A-8FD2-66C69FFA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6667500" cy="3476625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2A44EB-CF72-4339-840A-E55C8B98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24075"/>
            <a:ext cx="6286500" cy="3133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numeric_pipe = Pipeline([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("imputer", SimpleImputer(strategy="median")),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("scale", StandardScaler())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categorical_pipe = Pipeline([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("imputer", SimpleImputer(strategy="most_frequent")),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("onehot", OneHotEncoder(handle_unknown="ignore"))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preprocessor = ColumnTransformer([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("num", numeric_pipe, num_cols),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("cat", categorical_pipe, cat_cols)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B23E3-3B37-41C6-B1DC-F0C5A352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DF653-8766-4394-85E9-805A8C7E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6C669-F7C1-4A5C-A610-2FE5ED1F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NUMERIC BLOCK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F6654-9B30-4A21-9B6A-588C766E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43175"/>
            <a:ext cx="28194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Median imputation and scaling use training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40A67C-62AE-423F-AE3C-AC38620D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2060FF-16C7-4A6F-8095-56668FE2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D94FE1-8E72-4134-AE29-ECE4E9A6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1529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CATEGORICAL BLOCK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EC51A4-EFCF-46EC-B8B2-BF4B0636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48175"/>
            <a:ext cx="28194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Unknown categories are handled without changing the code path.</a:t>
            </a:r>
          </a:p>
        </p:txBody>
      </p:sp>
    </p:spTree>
    <p:extLst>
      <p:ext uri="{BB962C8B-B14F-4D97-AF65-F5344CB8AC3E}">
        <p14:creationId xmlns:p14="http://schemas.microsoft.com/office/powerpoint/2010/main" val="62876312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D02340-DFE8-4B27-A43F-9F3E0960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9896E-FDA4-46AC-8205-FAE654FF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PIPELINE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44F07-1A3A-4E11-928A-6722030D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transformation creates a model-ready 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A897B-23C0-471F-B975-E8B899C6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output shape and feature names are part of the quality check.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E530C-C977-4E4D-A3F1-3B6A03A9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0056F-F731-4F53-B103-83DD32D2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E17A1A-3D48-4034-A7D4-AECB350D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79793-E5B1-4F0F-AB50-0219EF9E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41B919-4502-4BF5-80B0-7D672A9F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X_train_ready = preprocessor.fit_transform(X_train)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X_test_ready = preprocessor.transform(X_test)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print(X_train_ready.shape)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print(X_test_ready.shape)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print(len(preprocessor.get_feature_names_out()))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0357F3-6906-4635-90DC-2A7EDB9E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2C2C45-29B8-4501-A5D0-CE224998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C9033C-5FB7-4E4F-A7EC-854E16A3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371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(24000, 18)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(6000, 18)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6BF71A-73C0-4452-94C0-B0551D05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A442E6-696B-4FAE-BF20-76257AB6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9A69DD-AF45-4A9D-A45B-190E1866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1D8F7F-8328-4BC3-BDC2-0A4FC572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Eight raw predictor columns become five scaled numeric columns plus thirteen one-hot columns.</a:t>
            </a:r>
          </a:p>
        </p:txBody>
      </p:sp>
    </p:spTree>
    <p:extLst>
      <p:ext uri="{BB962C8B-B14F-4D97-AF65-F5344CB8AC3E}">
        <p14:creationId xmlns:p14="http://schemas.microsoft.com/office/powerpoint/2010/main" val="180757959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04660-80FA-44CE-BBBD-6FD27F47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87360D-072A-4F18-9E2B-ACF1FE55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END-TO-END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7ABCD-0F9A-4165-8AFF-17163EDF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Inspect transformed feature names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BE99E-CFE5-435C-89B9-8B2C4DBE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Feature names connect the model matrix back to the original financial variables.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63A62-C0F1-45C0-BF55-D4FF5AFD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490AB-05B3-4B3F-8E92-1D238F08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6CC88-7EE1-471C-93A0-836C5C6D7013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571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819150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 output names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num__LIMIT_BAL, num__AGE, num__PAY_0, num__BILL_AMT1, num__PAY_AMT1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cat__SEX_1, cat__SEX_2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Education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cat__EDUCATION_0 through cat__EDUCATION_6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Marriage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cat__MARRIAGE_0 through cat__MARRIAGE_3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D274B-FE8F-49DD-8A4A-4B390C69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9DAC0-B9ED-45A4-BA88-E22F7250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0177C-BDA8-4196-8C04-9BAE1032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MODEL DOCUMENTATION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5302B-FB19-4F8C-A333-7BBD87F0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Keep this list with the fitted model. It tells a reviewer what each coefficient or feature-importance value can mean.</a:t>
            </a:r>
          </a:p>
        </p:txBody>
      </p:sp>
    </p:spTree>
    <p:extLst>
      <p:ext uri="{BB962C8B-B14F-4D97-AF65-F5344CB8AC3E}">
        <p14:creationId xmlns:p14="http://schemas.microsoft.com/office/powerpoint/2010/main" val="1604913698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BC3F1-88EF-4D14-BEA1-5C4FE707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2974C-E9BE-4853-B703-6B7010AE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A12E2-10BA-4E26-B957-63446245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Worked cases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1FCDE7-5B1F-4B5E-A820-3F1F8736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These small cases make the cleaning decisions concrete before the full pipeline is used on the UCI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F41A1-5FCB-4F85-B2C7-2A2CB49C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  <a:lvl1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1pPr>
            <a:lvl2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2pPr>
            <a:lvl3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3pPr>
            <a:lvl4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4pPr>
            <a:lvl5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5pPr>
            <a:lvl6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6pPr>
            <a:lvl7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7pPr>
            <a:lvl8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8pPr>
            <a:lvl9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962CC-2CD0-48A8-9846-3B3A3423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64BE0-51F0-4342-A799-52C06322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AC3F6-80B2-42AD-8C53-5D9F4710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6085745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4E72CD-3DE1-451A-8B64-1CA84870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F1E79-8EE6-48B9-9AB1-406FA0BA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STUDIES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28F5D-C353-4EF3-AC50-CD305933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Five short cases connect the rule to a financial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91345B-DF00-4433-AE17-F9270757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Each case uses a small table so the result can be inspected by hand and reproduced in the notebook.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5BCE18-22E7-4C64-AF97-BA43BA83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63C83-92D2-4F59-A5C6-ADD0CEB7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3AB1F-E1BA-404D-B605-A35949C762A5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4476750"/>
                <a:gridCol w="400050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Case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produced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· Missing income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does an absent value mean for a borrower?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Imputed value plus missingness flag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 · Duplicate transaction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 the repeated row a second event or a duplicate import?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Exact-row and identifier checks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 · Large payment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Should an extreme amount be removed?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Threshold, flag, and treatment decision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 · New category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happens when a new channel appears?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One-hot output with unknown handling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 · Leakage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much can a test observation change a transformation?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Training-only versus full-sample parameter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 · Full pipeline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do the pieces work together?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18 model-ready features from the real table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195746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B27E0B-F5AF-4F09-9425-47CCFB76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6EF50-DFF1-4E5B-9B18-7D8E0171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A · MISSINGNESS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597A0-062D-47F6-9973-BC0588B5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missing income value can carry information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91303-9112-4AEF-A20E-E22EB898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median imputation can hide a useful operational signal if the analyst discards the fact that the value was absent.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55D88C-8379-42A5-A986-80A2A631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1F692-68E3-44BD-AAC1-3DF91832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F8662-359C-430A-9D5A-B26C95DF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E67A16-1A40-4F53-8D66-BFC8F0F7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764B8-194C-4602-A2D0-5341A9C7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FINANCIAL 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D29184-64CD-4AA0-B8B3-4674E3DB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borrower who does not report income may differ systematically from a borrower whose reported income is low. The code should preserve that distinction for later analysis.</a:t>
            </a:r>
          </a:p>
        </p:txBody>
      </p:sp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9C6E1-7F0D-4DEE-851C-4958EAC093D7}"/>
              </a:ext>
            </a:extLst>
          </p:cNvPr>
          <p:cNvGraphicFramePr/>
          <p:nvPr/>
        </p:nvGraphicFramePr>
        <p:xfrm>
          <a:off xmlns:a="http://schemas.openxmlformats.org/drawingml/2006/main" x="6191250" y="2095500"/>
          <a:ext xmlns:a="http://schemas.openxmlformats.org/drawingml/2006/main" cx="485775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1619250"/>
                <a:gridCol w="1524000"/>
              </a:tblGrid>
              <a:tr h="396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Borrower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Income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Reported?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42,000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58,000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72,000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3DED29-85C9-4EC7-81CB-6EB11114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02298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76E8EC-2A06-43CD-88ED-32318679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745B2B-E315-4F13-88AA-9762CB39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CA28B3-4929-41A9-91E7-85BFCDEC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9592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Impute the numeric value for the estimator, retain an indicator for the missingness event, and explain that the indicator is a modelling feature rather than a replacement for source recovery.</a:t>
            </a:r>
          </a:p>
        </p:txBody>
      </p:sp>
    </p:spTree>
    <p:extLst>
      <p:ext uri="{BB962C8B-B14F-4D97-AF65-F5344CB8AC3E}">
        <p14:creationId xmlns:p14="http://schemas.microsoft.com/office/powerpoint/2010/main" val="177200722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EDC61F-EB91-4FE4-934C-8EA8E3A4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B226A-5432-41C8-A410-AE262516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A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4DBE27-DF1E-407B-BF21-C64902A1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Median imputation and an indicator produce two pieces of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5CA1E-F095-48D3-9A01-02A201DB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imputed value supports the numerical pipeline. The indicator preserves the data-collection event.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80DC97-5C1D-440F-886F-6C0B4EEE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3414C-5F3D-4EEE-92DF-51F11D54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8E150-7826-4639-9EC1-370D7E33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E114C5-DA48-48FC-AC03-942839E6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0258D-C347-4B06-BC45-6E35FCB3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case_a["income_was_missing"] = case_a["income"].isna().astype(int)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median_income = case_a["income"].median()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case_a["income"] = case_a["income"].fillna(median_income)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case_a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124135-3EB6-4D32-8079-C34DCDE5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63DDDE-AD4B-4518-9130-040184B4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89A26-8545-4B0A-8832-B05CC57B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median_income: 58000.0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borrower  income  missing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          42000       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B          58000       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C          58000        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          58000       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          72000       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CF305D-B068-46FF-8BD5-8C47F244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16B64-5300-429B-AD00-2852485A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BF9A21-1007-432C-9F58-75D7EBF3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91B05A-1905-4A60-A829-0F17DFE4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Rows B and D receive the same numerical value as the median, but the indicator keeps their original status visible.</a:t>
            </a:r>
          </a:p>
        </p:txBody>
      </p:sp>
    </p:spTree>
    <p:extLst>
      <p:ext uri="{BB962C8B-B14F-4D97-AF65-F5344CB8AC3E}">
        <p14:creationId xmlns:p14="http://schemas.microsoft.com/office/powerpoint/2010/main" val="7244637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3D320E-F3CF-498F-B65D-FA0F4D20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3D940-8A4B-459A-B8BA-A3C90ED9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A ·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0D141-3A52-494C-8CDD-C58A423B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missingness indicator changes the interpretation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5B9F74-2F1F-4AEC-B92C-AD2115C6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imputed income alone suggests that B and D look like median-income borrowers. The flag tells us that the source did not report the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A5E02-C83A-4B38-8CDB-07F68D8E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F2449D-53FD-4393-ADDC-D8F13CC0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C89FF5B9-1A72-46DA-BD12-0CF3B3B8ADD4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5905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c9f717a96da4af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EE27E4-6A04-4801-A839-9DEEF524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361950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A59D55-47FF-40E8-B290-0B400CFA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571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523818-69D2-4B1D-A57F-B7A92A83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90775"/>
            <a:ext cx="320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NUMERIC 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40CFC-6AEA-42BD-8412-DFEA0D5C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86050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Every row now has a value that a numeric transformer can process.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F964E-AED8-40FC-B5DD-8B7A5F9C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05250"/>
            <a:ext cx="361950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A3AC63-B8E2-415E-A033-2D9971CC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05250"/>
            <a:ext cx="571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F7E32-5A8E-4767-9AE6-9F7337D7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57650"/>
            <a:ext cx="320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INFORMATION FLAG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CB6CC-C64D-4F8C-AC9E-E0D98D9F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52925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Rows B and D retain a separate indicator equal to 1.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54C0A5-24CE-4EF8-9F68-674CD2D2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0416B8-AE5F-45E7-9DA0-95AFE802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407C89-CC95-49EF-AA8F-FD7CB304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4FBD3E-FCC7-466E-ABFE-4F74536B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indicator may be useful, but the analyst must test whether it improves the model and whether it is available at prediction time.</a:t>
            </a:r>
          </a:p>
        </p:txBody>
      </p:sp>
    </p:spTree>
    <p:extLst>
      <p:ext uri="{BB962C8B-B14F-4D97-AF65-F5344CB8AC3E}">
        <p14:creationId xmlns:p14="http://schemas.microsoft.com/office/powerpoint/2010/main" val="956066292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77B8C1-9216-4C4C-AEE6-BDFB5E0F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E623AE-C68D-4C26-A7E1-A7BDE38E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B · DUPLICATES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4509F4-8A94-4D20-8532-1F357203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repeated transaction requires an identity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9A4B8-0C55-4608-B85A-426DA26C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duplicate row can inflate frequency, amount, and risk estimates. A repeated identifier may also represent a legitimate second event.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F43CF-491C-4856-9667-EDB2AFA4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0FDF5C-69A0-4B44-BDAB-52FE9E42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0311B7-EAB5-4EEA-AF1E-81F457C1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17521D-8D80-4EDC-B832-76BCB03C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FD61AA-4E34-43BE-8340-562E12EE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EXACT DUPLICATE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088F7-75EA-4598-AA29-5812DD26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All stored fields match. This often points to an import or append error, but the source system should be checked before deletion.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CFF14-220C-4D35-BFFE-4E5B0ED9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8DAACB-0B40-47C0-9040-7B9050D8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D3409-D186-4113-BA05-B7F7B2B90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47900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REPEATED IDENTIFIER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0CE493-DBA1-4D2B-8E07-68950543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transaction ID appears again. The amounts, timestamps, or status fields decide whether it is a repeated event or a duplicate record.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063D20-3E76-417E-9CEE-47F481B6945B}"/>
              </a:ext>
            </a:extLst>
          </p:cNvPr>
          <p:cNvGraphicFramePr/>
          <p:nvPr/>
        </p:nvGraphicFramePr>
        <p:xfrm>
          <a:off xmlns:a="http://schemas.openxmlformats.org/drawingml/2006/main" x="819150" y="4953000"/>
          <a:ext xmlns:a="http://schemas.openxmlformats.org/drawingml/2006/main" cx="10229850" cy="952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2476500"/>
                <a:gridCol w="2190750"/>
                <a:gridCol w="4133850"/>
              </a:tblGrid>
              <a:tr h="1905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Transaction 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Merchant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120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103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84372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A0829B-3AEE-4F4C-90D2-44C1D731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CA5EEE-6449-4AB7-B983-EB79214B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B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78FB4D-DDC1-4A88-AC80-52F9502B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Check the row and identifier separately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9C621-680E-4569-B301-501434AF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small example contains one exact duplicate and one repeated identifier. The two counts agree here, but they answer different questions.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64CD1-91D7-4749-9DA5-2D01EBF0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3EB60C-932E-4837-BD89-FBA56C38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4ECC2-54EF-4EDB-927F-96866E2E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5712E-913C-48EC-B887-A5BED9E7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36335D-CA3C-4088-A2B5-2D154A07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exact = transactions.duplicated()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same_id = transactions["transaction_id"].duplicated()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print(exact.sum())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print(same_id.sum())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2444CB-206B-44D2-A187-23E035E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433D52-9FCA-44A1-951A-EBB714B8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042C37-E550-4BB2-80A8-8669AB69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exact duplicate rows: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repeated transaction IDs: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rows 2 and 3 are identical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review before deleting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E4B9D6-3C33-4279-8F2D-6FED5E1D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EC3C57-44B1-4665-BDAF-986941C3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5450B2-7E35-4A03-84A6-13697F91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PRACTICAL RULE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477C77-5FA2-47C8-B791-877765ED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Never use ID uniqueness as a substitute for comparing the fields that define an event.</a:t>
            </a:r>
          </a:p>
        </p:txBody>
      </p:sp>
    </p:spTree>
    <p:extLst>
      <p:ext uri="{BB962C8B-B14F-4D97-AF65-F5344CB8AC3E}">
        <p14:creationId xmlns:p14="http://schemas.microsoft.com/office/powerpoint/2010/main" val="100497355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2B552B-F6AE-4F73-B544-BFA54658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2A9A26-517C-4CE7-8C58-967A345F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C · EXTREME VALUES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6040A0-A64C-40C1-9328-6CCE9E58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 extreme payment can be valid, erroneous, or economically important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1687E-D38A-4592-82D0-0B7C8787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threshold creates a review list. It does not decide the treatment by itself.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AB1C3-B712-49D9-AAD3-D5C79959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7010D4-616C-46BF-B386-8DF5394A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CB8C0A-6D2B-4189-93A3-06D8931CF7C1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86000"/>
                <a:gridCol w="2476500"/>
                <a:gridCol w="5810250"/>
              </a:tblGrid>
              <a:tr h="3929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Payment record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Amount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Initial interpretation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800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950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1,500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1,600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Typical payment in this 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39290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180,000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Extreme value requiring source review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9002F7-0636-4FF2-828C-2C0D993D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E29DE3-BC46-4A17-98AD-BE5AC9A1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A811D4-895D-4EE7-935A-26CD6357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QUESTION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D933F-E789-4E86-AEA7-755F9240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Was the payment genuinely large, recorded in a different unit, or duplicated during extraction?</a:t>
            </a:r>
          </a:p>
        </p:txBody>
      </p:sp>
    </p:spTree>
    <p:extLst>
      <p:ext uri="{BB962C8B-B14F-4D97-AF65-F5344CB8AC3E}">
        <p14:creationId xmlns:p14="http://schemas.microsoft.com/office/powerpoint/2010/main" val="76160175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7F7D13-8BE9-4F91-AC90-9A7CDB22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FCDB9D-654D-47C9-9799-CACDD76B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C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E75428-DE31-4BE4-91BE-1446333D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IQR rule flags the large payment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D0FAA1-6781-495A-99E7-F2E88D2A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example shows the mechanics of a flag. The final treatment must follow the source definition and the modelling objective.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BB541-92AC-4EE9-9DF7-47B7D9AF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9DA6E-418E-491B-8AE1-E677489E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792797-08A2-4437-AF2B-FEB8B24A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68D65-8182-4CF2-9BD4-8BEB3EA1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7EBEA4-FFD9-4614-840B-DCC2633D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q1 = payments["amount"].quantile(0.25)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q3 = payments["amount"].quantile(0.75)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iqr = q3 - q1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upper = q3 + 1.5 * iqr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payments["outlier_flag"] = payments["amount"] &gt; upper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29B28-2728-4D0A-84CE-DEDECCB0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758A7-FB8A-4149-8B68-22E9E12C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C2BCFF-6285-47B9-874E-74C4E692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q1: 975.0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q3: 1500.0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upper fence: 2337.5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flagged rows: 1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flagged amount: 180000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F48D5D-6E31-43BB-A335-3B4CF4B1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19E49F-85E6-491F-9FFC-5ED50790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19EBB5-DB96-4B6D-BC7D-2E0C882B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POSSIBLE TREATMENTS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F18F0A-86C4-41C5-A094-34AFBC50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Verify, cap, transform, keep with a flag, or remove only with a documented reason.</a:t>
            </a:r>
          </a:p>
        </p:txBody>
      </p:sp>
    </p:spTree>
    <p:extLst>
      <p:ext uri="{BB962C8B-B14F-4D97-AF65-F5344CB8AC3E}">
        <p14:creationId xmlns:p14="http://schemas.microsoft.com/office/powerpoint/2010/main" val="62003338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FFEE95-BA69-46F1-9135-8CBA253E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8A225-896E-418D-BFD5-DE893128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C ·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4F364-2AF0-4E31-BE4F-1963BE38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plot shows why a flag is useful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B58B1-7578-4722-A221-B175509F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extreme value is visible immediately. The chart does not claim that the record is wrong.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ECE66-EC4A-42AF-B4F7-BBAF09CE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A2A18-478E-462E-ABF4-EE8D87D6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1BCBB66C-751C-4690-93F3-98F2C1B3F8D9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6667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c1642c52b7465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1A3E7-9ABA-4126-8111-192073E7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2952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3519EF-94CE-40A6-986F-FA9553DC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830D1A-5943-4A45-9D73-67300744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90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REVIEW THE 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957DD-3FCC-4B76-B16F-0BD12485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533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Check currency, units, timestamp, and transaction status before changing the value.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A87928-25FD-41CE-A3BE-A318FD13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48125"/>
            <a:ext cx="2952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6CFE4-308F-4615-92A5-A8F22D65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4812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161FB-6040-4476-84F8-D1822584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005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KEEP THE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3D5D1-16DA-467A-897A-DBAC0F9B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95800"/>
            <a:ext cx="2533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Store the threshold, flag count, and treatment decision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170400303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DC089-02E3-4813-B612-DCA5474A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F0B9D7-291B-42B4-9AE9-855DBB26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D · NEW CATEGORIES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7691D6-E445-4D6F-B5DC-87A51CBE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deployment table can contain a category unseen during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BE6B8-FD5B-4AAE-A801-D4DF3020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encoder must handle a new channel without changing the transformation contract or crashing the prediction path.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8A9C7-3997-4ED7-8907-EAFB1CAD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804BC-4493-42CB-BD75-A1F3653C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A65573-472D-4C04-9ABD-8285138465B7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57500"/>
                <a:gridCol w="2857500"/>
                <a:gridCol w="4857750"/>
              </a:tblGrid>
              <a:tr h="59531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Training channels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New test channel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behaviour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branch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mobile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Unknown category is ignored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web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Known categories retain their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branch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Output shape stays stable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90E5F4-6A57-45A8-A132-CF541159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02298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2449B-88E4-46FD-B376-97C4F255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A3311-BAE2-4279-9B47-B74021B8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53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43B83-0B73-4518-A71C-77AB52DE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4830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Financial institutions add products, channels, or status codes. The preprocessing object should expose the issue for review while keeping the pipeline operational.</a:t>
            </a:r>
          </a:p>
        </p:txBody>
      </p:sp>
    </p:spTree>
    <p:extLst>
      <p:ext uri="{BB962C8B-B14F-4D97-AF65-F5344CB8AC3E}">
        <p14:creationId xmlns:p14="http://schemas.microsoft.com/office/powerpoint/2010/main" val="70491003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D8D71-0C9C-4712-8C1F-DD3506B4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ED1185-8F02-4ABA-8A91-C2101CA5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D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F6E53-5DB7-473D-9277-39F31B9F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encoder preserves the feature layout for a new category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D2B72-BA59-448B-BE2F-BD00E51D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unseen mobile category contributes zeros to the existing one-hot columns. A separate monitoring rule should still record that it appeared.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64374C-81C9-4B74-AF5E-30E7974F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0E7526-BD8C-449E-9F53-C7498A09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4C69E-E310-42D9-BCC8-CA6517C4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5C0EE-F9C9-4839-9232-D36B6086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B10EF-2011-476E-9F68-57A061A1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encoder = OneHotEncoder(handle_unknown="ignore", sparse_output=False)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encoder.fit(pd.DataFrame({"channel": ["branch", "web"]}))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encoder.transform(pd.DataFrame({"channel": ["mobile", "web"]}))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325D2-857D-4C2E-B3B2-CAF3D6F3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32A1E2-714C-4D75-880D-4EB1669F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9D305C-0354-440F-A99E-094F3DD4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feature names: channel_branch, channel_web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mobile -&gt; [0.0, 0.0]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web    -&gt; [0.0, 1.0]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unknown-category warning: mobile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1E6F7F-0A6D-4E5D-B4F3-A8A0E3E3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02298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9173E8-BFB4-465A-A1DC-01ED0E9E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0B73F6-A511-44D3-A5CA-E5D84CBA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959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BA83C-81C7-4C40-A1CF-45990661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91175"/>
            <a:ext cx="981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Monitor the new category separately. Operational robustness does not remove the business change.</a:t>
            </a:r>
          </a:p>
        </p:txBody>
      </p:sp>
    </p:spTree>
    <p:extLst>
      <p:ext uri="{BB962C8B-B14F-4D97-AF65-F5344CB8AC3E}">
        <p14:creationId xmlns:p14="http://schemas.microsoft.com/office/powerpoint/2010/main" val="1841219907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70E6B-B811-4834-8D6E-F7FB3F61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45EB0A-BE03-48D0-B1E4-7E87B65C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E · 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893B41-F277-4E6E-BFB9-F8187D83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transformation can use information from the future without obvious errors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C7155E-82BE-479A-B99A-3672959A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wrong workflow often looks reasonable because every line executes successfully.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94287F-9D69-46F9-A97F-918C679D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368ADD-8B0A-478B-A9F6-CCD2E4A3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3F7EA4-E47E-4C3D-9576-C96E3C82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9C0D35-A0B5-4028-8B9E-FE8DDFFC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D40EAB-6C84-42E6-9D43-8A242A32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WRONG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2F499-09BB-4B66-A123-A72BA2BF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43434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Compute a mean or scale using all rows, then split the data. The held-out sample has already influenced the representation used for training.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9154D4-5D13-45DF-A0DB-6165A849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857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057FA8-1334-4ED6-81BD-4EEBB49D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E3D7D0-FE3E-4B31-A817-9B34514F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47900"/>
            <a:ext cx="443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CORRECT WORKFLOW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6772-A665-41F3-95C7-50FF4974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44386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Split first. Learn the transformation on training rows. Reuse the stored parameters on test rows without fitting again.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0F87CE-078E-4884-ADB7-165C8199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91125"/>
            <a:ext cx="10229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information boundary is part of the model design.</a:t>
            </a:r>
          </a:p>
        </p:txBody>
      </p:sp>
    </p:spTree>
    <p:extLst>
      <p:ext uri="{BB962C8B-B14F-4D97-AF65-F5344CB8AC3E}">
        <p14:creationId xmlns:p14="http://schemas.microsoft.com/office/powerpoint/2010/main" val="1289195286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1550D7-0009-45BA-9D39-9E451ED6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3D9F94-65BA-45D8-9527-9BFD4EB6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E · CODE AND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5A4188-26C3-4B04-85D4-0A17A443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One future observation can change the scaling parameters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628A5A-A793-463F-B394-B71E0509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toy example isolates the logic. The difference becomes larger when the test sample contains a regime shift or an unusual value.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0EE5F-9568-4604-B6E2-4F10E9BF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1979-3497-4646-B648-51F3CB4E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E85673-E77A-41AD-A250-154226AD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F8C10-B323-4A2A-B3EF-2EB22241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334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3E4B8-776A-466E-B209-29B93C0A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953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train = np.array([10., 20., 30.])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test = np.array([1000.])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wrong_mean = np.concatenate([train, test]).mean()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right_mean = train.mean()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print(wrong_mean, right_mean)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1B4EB6-D8D6-4F78-9ECE-EE522ABB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392BAF-BA38-4482-A54D-E966D6D0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9C4F0-2962-4D4B-9043-862780F4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095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wrong full-sample mean: 265.0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training-only mean: 20.0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the test row changes the centre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fit_transform(X_train)</a:t>
            </a:r>
          </a:p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transform(X_test)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55F00-D849-4EDD-89CE-972852DB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298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C4798C-FC7A-4796-90F7-8BD604CD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824E9-F5D2-425B-AF30-A63BF26D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LESSON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68ED7-0787-4318-B1B7-4D40E696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test set should measure generalisation, not help define the representation being evaluated.</a:t>
            </a:r>
          </a:p>
        </p:txBody>
      </p:sp>
    </p:spTree>
    <p:extLst>
      <p:ext uri="{BB962C8B-B14F-4D97-AF65-F5344CB8AC3E}">
        <p14:creationId xmlns:p14="http://schemas.microsoft.com/office/powerpoint/2010/main" val="1821725851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C929D7-DE65-4B93-A7E2-AB5809D0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37631-EA87-4FE1-ACA0-D991F40A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E ·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DDCB2-2503-4D44-80A5-0B5A236B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leakage error changes the meaning of the transformed 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758250-BFF0-4944-A15A-5D7838A2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test value receives different transformed values depending on whether the full sample was used to fit the scaler.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97D75-AF75-4F58-B00E-23E6E2ED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8BE65-FE09-431D-A6CD-359657F3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DB9C3-CEB8-4839-A1B4-5A573DECBA3A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2286000"/>
                <a:gridCol w="3429000"/>
                <a:gridCol w="2190750"/>
              </a:tblGrid>
              <a:tr h="6191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Workflow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used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Test value transformation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Full sample before split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265.0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Uses the test row to define the centre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Leaky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only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20.0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Uses training information only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Pipeline fit on training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Stored training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Applies the stored rule to test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857754-7EDA-4ACC-866A-7AAC8256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10572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6FCB07-4E45-4611-A232-714D004E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57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004A6-DB5E-4EC6-99CF-8F74799C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REVIEW QUESTION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C3F790-1421-4A91-9E14-9F8E0799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10153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When you see fit_transform in a notebook, ask which rows are inside the object at that moment.</a:t>
            </a:r>
          </a:p>
        </p:txBody>
      </p:sp>
    </p:spTree>
    <p:extLst>
      <p:ext uri="{BB962C8B-B14F-4D97-AF65-F5344CB8AC3E}">
        <p14:creationId xmlns:p14="http://schemas.microsoft.com/office/powerpoint/2010/main" val="1213970895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C48789-CB74-4BC5-AAB4-95776772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0DA783-BCF6-41FE-99DD-76067880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F · FULL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6186B3-1BCF-4C80-9EEC-B38887C3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real table needs one declared transformation contract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A627E-DAA7-4B2B-AFD6-50D7C76C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final case combines the earlier decisions on the UCI credit dataset. The target and identifier remain outside the predictor matrix.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A1686-9D3B-418E-9D23-B9A2C4F0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37665-B9BB-449B-919E-198989E4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AF68CE-5A0D-4B9B-93C5-744179FBE46E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762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2857500"/>
                <a:gridCol w="3810000"/>
                <a:gridCol w="1809750"/>
              </a:tblGrid>
              <a:tr h="5524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Raw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Transformation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 variables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 imputation and scaling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SEX, EDUCATION, MARRIAGE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Mode imputation and one-hot encoding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13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Retain separately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 predictor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Keep as 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 predictor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B6120-E4D2-446B-A3F3-E206F2E2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57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0E831-A02A-4307-869B-8AE0611A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B2E245-EB40-439D-809B-C2B55C64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F49DC6-1F23-4C5B-BBBA-F50DDB41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Eight raw predictor columns become eighteen model-ready features.</a:t>
            </a:r>
          </a:p>
        </p:txBody>
      </p:sp>
    </p:spTree>
    <p:extLst>
      <p:ext uri="{BB962C8B-B14F-4D97-AF65-F5344CB8AC3E}">
        <p14:creationId xmlns:p14="http://schemas.microsoft.com/office/powerpoint/2010/main" val="1983100837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F5C42B-1EE8-444E-ABD0-8B28AAFF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8D9526-BA0E-44BE-B22A-D785FF8E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F ·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2F9275-F2E4-49C9-A2D4-4CDA1DD4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pipeline keeps the rules together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59F73-8D5B-487F-B77C-AB07F2E5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single fitted object can be saved, reviewed, and reused when the next supervised model is introduced.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7B6223-C64E-43AB-9824-E4F631DA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EFA3B1-F96E-4B75-9F81-31957FAB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F8FB4-D83E-40D8-850E-90C49ABE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248CC0-A719-4AD1-ABF9-67EE17C9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6667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1881F-A333-46FE-87B6-29C5CA4B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24075"/>
            <a:ext cx="628650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  <a:lvl1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2pPr>
            <a:lvl3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3pPr>
            <a:lvl4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4pPr>
            <a:lvl5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5pPr>
            <a:lvl6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6pPr>
            <a:lvl7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7pPr>
            <a:lvl8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8pPr>
            <a:lvl9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preprocessor = ColumnTransformer([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("num", numeric_pipe, num_cols),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("cat", categorical_pipe, cat_cols)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X_train_ready = preprocessor.fit_transform(X_train)</a:t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X_test_ready = preprocessor.transform(X_test)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names = preprocessor.get_feature_names_out()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6774AC-58CC-4717-9C42-3DB741EF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238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7EA9E0-2250-4865-AA1E-38F00371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5FD014-1B88-4102-A1E8-E5BAA73E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NUMERIC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35623-FC03-4ED8-84C5-31E1D94A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43175"/>
            <a:ext cx="2819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Five scaled columns retain their source names.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D7AA1A-75A3-4893-9044-21B413AD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57625"/>
            <a:ext cx="3238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B50D6F-0395-4BD2-A80C-1F3255A6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5762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A673D8-6F96-43F4-B045-A178CABD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10025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CATEGORICAL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C878BB-F3DC-4487-AB69-10BFBBC4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05300"/>
            <a:ext cx="2819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Thirteen indicators record category membership.</a:t>
            </a:r>
          </a:p>
        </p:txBody>
      </p:sp>
    </p:spTree>
    <p:extLst>
      <p:ext uri="{BB962C8B-B14F-4D97-AF65-F5344CB8AC3E}">
        <p14:creationId xmlns:p14="http://schemas.microsoft.com/office/powerpoint/2010/main" val="496216647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E78A7-94E4-4416-A052-607634E1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BCC66-EAC4-4C47-8174-FBD60347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CASE F ·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A9C8D-9782-481D-B040-D7B9C5C0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output provides an auditable bridge to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93761-A269-4C9B-B5FC-8AF9D220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Before fitting logistic regression or a tree, confirm the dimensions and feature names.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651D7-5F8A-4443-9038-ADC60C83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B0E847-0B1C-4D20-AB9F-E1DE4DE5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131D41-FA76-4594-8093-003C69B760BD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2952750"/>
                <a:gridCol w="523875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Why it matters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Training matrix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(24,000, 18)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transformation ran on every training row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Test matrix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(6,000, 18)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same output layout reaches held-out rows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 features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selected numeric block is visible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Categorical features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category vocabulary is documented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Feature-name list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18 names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Later coefficients can be traced back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B873FA-CA61-451B-AAEC-6F0168E3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7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A49579-9C3B-40DA-A335-B3947CCC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5591E9-4B93-48FC-87D2-8FD18640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29275"/>
            <a:ext cx="1015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MODEL HANDOFF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662811-10EF-4364-B5E8-BBA9F7A4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24550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next lecture can extend this object with financial feature engineering without rewriting the data-quality contract.</a:t>
            </a:r>
          </a:p>
        </p:txBody>
      </p:sp>
    </p:spTree>
    <p:extLst>
      <p:ext uri="{BB962C8B-B14F-4D97-AF65-F5344CB8AC3E}">
        <p14:creationId xmlns:p14="http://schemas.microsoft.com/office/powerpoint/2010/main" val="984744865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9445F-D19E-492A-A3B6-C01E2E73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C8149C-EE07-4DCA-8168-7DFAFE96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D0D73F-458C-4CF8-AA1B-5EA719E2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good preprocessing notebook explains each result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084D8-52F4-4298-9ED2-C234EC64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output is useful only when the reader can connect it to a data decision and a financial meaning.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CD0C8-3618-45C7-8AF7-703982CB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1DB96A-E02C-4B89-AE28-471B3999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C4BEEA-F203-414D-9367-2B768E697FBC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4766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57500"/>
                <a:gridCol w="7715250"/>
              </a:tblGrid>
              <a:tr h="49666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 to answer in writing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Missingness rate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Why could the value be absent, and is the absence available at prediction time?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Duplicate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defines the event, and is deletion supported by the source system?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Outlier flag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Are the flagged values errors, rare valid cases, or a different unit?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Encoded feature count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Which categories created the columns and what happens to new categories?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Transformed shape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 the number and order of features match the modelling plan?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Train/test comparison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Did any test information influence the fitted transformation?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1947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2D2868-8121-452D-9372-C45594D0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05B1F3-E51C-4733-A91F-F62DFBF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PRACTICE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740A6-3498-489B-98C9-0E4030FB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Run one case yourself before submitting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08116-B4E2-447D-AD83-BA3E9DD6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Choose one variable and write the decision as if you were documenting a production data-quality rule.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5FBB6-7F9D-480A-8C49-DAD2AC57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42502-9159-4B87-923F-12D7E111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DFB3D-98B0-43B0-BF54-31D3FF8E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1E5DE-5281-42DF-B6B5-EAE5EFEE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478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Select one numeric variable from the UCI table and report its 1st, 50th, and 99th percentiles.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7FCA11-5DDD-474F-A2C5-278A85CE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832BF5-F4A7-47D0-B7F9-3B362D5E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431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Create a flag with a threshold that you can explain in one sentence.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E04DFE-4B88-4118-86EE-55BAC799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54204F-B3F1-40CE-966A-A932EB79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384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a controlled copy to introduce one missing value and preserve an indicator.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CF02D-1B8D-417E-B45A-690E76AA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C7DE81-900A-4118-B94A-1DC2136F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337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a small categorical example with one unseen test category.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B20A93-3F41-4D59-80DC-F1BEB7D5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A17743-84C5-49F6-8968-3C2834FD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29075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Run the pipeline from the notebook and report the output shape and feature names.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E623E-DB5A-4427-9746-17447BDD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2298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354FF7-8204-4928-A860-43DE4A65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DE5E96-B373-4A1B-A390-445BA119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387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SUBMISSION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5D5314-EBAA-4030-834C-4717B5FB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340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Include the code, the output, and a short interpretation. A code cell without an explanation is incomplete for this course.</a:t>
            </a:r>
          </a:p>
        </p:txBody>
      </p:sp>
    </p:spTree>
    <p:extLst>
      <p:ext uri="{BB962C8B-B14F-4D97-AF65-F5344CB8AC3E}">
        <p14:creationId xmlns:p14="http://schemas.microsoft.com/office/powerpoint/2010/main" val="1842639651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5AE2E6-1066-4098-8E2B-FCF8B0C4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66BEB6-D08F-4458-9503-B6A1278A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TAKEAWAYS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365C9F-0BE0-499C-9CC9-1E38CBCD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3 closes the gap between a table and a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07128-52E2-4C09-9695-2258A6F8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next supervised-learning lecture can begin only after the data contract is explicit.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65097-B033-4C9B-86AC-434475D3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453640-BA18-47CE-8A4D-F5B7FBF3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779C71-FD54-4E82-A820-9420CF06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A1574-6097-427C-B689-9790D6AF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478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Audit the source before changing values.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6EB1A-7683-41D4-8290-8CCADBE5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0621A-2F7E-48D9-851C-6A0F52EE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050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Preserve missingness and duplicate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065965-BB97-411C-B54A-A7FDB82A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63602F-DB4F-4444-BEF9-5F6714BF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622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Flag extreme values before deciding on treatment.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DA0620-9DE8-43DF-B18A-1DE9951A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CF96FA-A01E-4F02-BCFB-D1D9D25C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194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Separate numeric, categorical, identifier, and target roles.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2C2C0B-FF70-4447-B53A-2A44E3CC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7B8FB9-AE31-4781-BC86-2D2F9387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766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Split before fitting transformations.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E7EF6F-EF36-4E6D-AFD9-73EBD74E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9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B1626-9EE7-46B4-B5D1-A03A171C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338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one ColumnTransformer so the rules are reproducible.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B123AE-DB02-4407-BCBC-AD1A4137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2846C5-44A1-490D-B9CD-26F8FD40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Carry the data dictionary and feature-name list into the model report.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360438-AA7B-43F0-A43E-052650BE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6875"/>
            <a:ext cx="10229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5413D7-C5AB-4B5C-8617-1E10C5BE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687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E831BE-4CCD-403E-B402-7B5A0DFA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29275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NEXT LECTURE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C3A96B-6CAA-4D80-BBCF-2A0FC8BA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92455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4 uses this pipeline to construct financial features while keeping the prediction timestamp explicit.</a:t>
            </a:r>
          </a:p>
        </p:txBody>
      </p:sp>
    </p:spTree>
    <p:extLst>
      <p:ext uri="{BB962C8B-B14F-4D97-AF65-F5344CB8AC3E}">
        <p14:creationId xmlns:p14="http://schemas.microsoft.com/office/powerpoint/2010/main" val="2050477646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224D7-E846-48F3-AF32-9BAF806F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3BD4D-4602-4692-9DFD-1378243C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QUALITY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A0559-FBE5-42F2-AC03-3CF59670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preprocessing checklist for this course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3995B-E809-4062-8D41-6DA4B5F9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notebook should make every item visible before the next model is fitted.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F6A3E-7BEF-48F0-94CF-90726865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7764B2-EC9E-40A4-A93A-28D58CDB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AE5C1-87A6-4B63-87D1-FA077AE47AA8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619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571750"/>
                <a:gridCol w="8001000"/>
              </a:tblGrid>
              <a:tr h="452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Pass condition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UCI source, licence, observation unit, and target are documented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Structure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Rows, columns, dtypes, missingness, duplicates, and codes are checked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Outliers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Thresholds create flags before any treatment is chosen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Timing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Variables are available at the prediction point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Split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Train/test partition occurs before fitting transformations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Pipeline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Numeric and categorical transformations are declared and reproducible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Output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Feature names, shapes, and category handling are inspected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8204368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7CD2E7-24B8-4650-8F2B-0F3995F3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FB7B69-456C-4DEC-A53A-0DD25B3D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WEEKLY ASSIGNMENT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14D87-9CA7-4E79-B53D-7235A2A2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Submit a leakage-safe preprocessing notebook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CC076-4932-4761-9CD2-00EC824B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assignment turns the lecture route into a reproducible artifact.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91088-CAE4-4594-8BA8-0F5B875F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0B6FB-3D78-46DA-8DE7-41D818D8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200DD9-B10B-48EE-8CA7-667E905F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A7150C-CFAA-40A5-9746-7A344D5D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Load the complete UCI credit table and document source, variables, target, and observation unit.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0549F-8F34-4BC0-BEBC-DEC8F878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0BB3A-F979-4C0F-B2E0-0BB53819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7650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Produce an audit table covering shape, data types, missingness, duplicates, identifiers, and coded categories.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B6C790-7AAF-430F-9F58-A0ED7D21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38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B0E9F-7B23-4372-992E-5B9F0FD7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5275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Create one controlled missingness example and explain the chosen treatment without altering the source file.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0908AD-47E1-4E76-BFD3-AA06D1D5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828DF-F101-4438-A3E5-BAC12086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2900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Flag a documented outlier rule and compare counts before deciding whether any treatment is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21D70-7F96-4EEE-AE8C-0EF26B29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07606-1216-4CAB-9A42-A3BF573F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a train/test split and a ColumnTransformer with separate numeric and categorical pipelines.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2581D-6200-48D8-8E4C-146A4EB9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7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A56897-1D40-49B3-986D-EAB7A74B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81500"/>
            <a:ext cx="975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Show transformed shapes and feature names, then explain how the workflow prevents leakage.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F0C59D-8D15-4C62-821F-F45F8D62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9906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5FF246-2251-4B9E-8C7C-361B5611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5F7F6B-ED56-4FCE-B33A-37615B39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86400"/>
            <a:ext cx="948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DEADLINE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141D01-371D-4EC4-B7C8-E7BC9D23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81675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Submit the Colab notebook one day before the next course meeting and complete the related DataCamp practice.</a:t>
            </a:r>
          </a:p>
        </p:txBody>
      </p:sp>
    </p:spTree>
    <p:extLst>
      <p:ext uri="{BB962C8B-B14F-4D97-AF65-F5344CB8AC3E}">
        <p14:creationId xmlns:p14="http://schemas.microsoft.com/office/powerpoint/2010/main" val="502534193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188837-5443-4B89-BF9F-71F2723D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6DDA1-B64A-4B1E-8D59-040FD940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NEXT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6C66F1-6E73-49E1-9FD2-CF68530F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4 introduces feature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984D6-45C3-4814-9272-AFAA0B46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next lecture creates financial variables while keeping the prediction timestamp explicit.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D94F4-90D6-445A-967B-67E59B0F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03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47121-23AC-4D51-8AD4-C3FF9F99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6A2541-8674-4D56-AB44-DB9C9DA4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B9BF5-4258-468C-8075-8F3DFC4E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3E2B41-4EF0-426B-A290-AD0399A3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FEATURE MEANING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2DC6AC-7F6E-4F6A-B77E-4200B9A3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43175"/>
            <a:ext cx="26289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Ratios, lags, rolling summaries, and interactions should represent a financial concept.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6E7AA-74FC-459C-B566-9FE3A4FE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5EEE9C-BB64-45D4-9A13-EB885D25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112EC-689F-4D74-B997-44BA0233D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479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20D729-ABB1-4C3B-B509-11FD0525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43175"/>
            <a:ext cx="26289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feature is valid only when it is known at the prediction point.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25065D-E55F-4134-9E43-2216EFB9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BC556C-6391-4E5A-9B50-20CDBEC6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4CBE9F-5C3C-44C1-8BD5-638D8DDC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479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SUPERVISED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B7723-4D8E-4CAE-8104-D4FF2184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43175"/>
            <a:ext cx="26289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engineered variables will feed the first supervised models later in the course.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31E335-3D0C-4A7B-9E59-4E387670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Keep the Week 3 preprocessing notebook. Week 4 will extend the same pipeline rather than replace it.</a:t>
            </a:r>
          </a:p>
        </p:txBody>
      </p:sp>
    </p:spTree>
    <p:extLst>
      <p:ext uri="{BB962C8B-B14F-4D97-AF65-F5344CB8AC3E}">
        <p14:creationId xmlns:p14="http://schemas.microsoft.com/office/powerpoint/2010/main" val="3221526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2026-10-24T19:11:30.8570000Z</dcterms:created>
  <dcterms:modified xsi:type="dcterms:W3CDTF">2026-10-24T19:11:30.8570000Z</dcterms:modified>
</coreProperties>
</file>