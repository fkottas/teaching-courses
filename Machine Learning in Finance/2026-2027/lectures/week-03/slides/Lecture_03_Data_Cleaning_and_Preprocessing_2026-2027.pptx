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1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2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slides/charts/chart4.xml" ContentType="application/vnd.openxmlformats-officedocument.drawingml.chart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slides/charts/chart6.xml" ContentType="application/vnd.openxmlformats-officedocument.drawingml.chart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5b5d69d81640f9" /><Relationship Type="http://schemas.openxmlformats.org/officeDocument/2006/relationships/extended-properties" Target="/docProps/app.xml" Id="Rdba2daf8951246b6" /><Relationship Type="http://schemas.openxmlformats.org/officeDocument/2006/relationships/officeDocument" Target="/ppt/presentation.xml" Id="R61078e42ede64b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ac764c2efc4ebc"/>
  </p:sldMasterIdLst>
  <p:notesMasterIdLst>
    <p:notesMasterId xmlns:r="http://schemas.openxmlformats.org/officeDocument/2006/relationships" r:id="R89ec32072d194f37"/>
  </p:notesMasterIdLst>
  <p:sldIdLst>
    <p:sldId xmlns:r="http://schemas.openxmlformats.org/officeDocument/2006/relationships" id="256" r:id="R2ae0265bd0224992"/>
    <p:sldId xmlns:r="http://schemas.openxmlformats.org/officeDocument/2006/relationships" id="257" r:id="Rba94a41a2ca84a59"/>
    <p:sldId xmlns:r="http://schemas.openxmlformats.org/officeDocument/2006/relationships" id="258" r:id="R68449549992b4ef8"/>
    <p:sldId xmlns:r="http://schemas.openxmlformats.org/officeDocument/2006/relationships" id="259" r:id="Rb757564dce6342e5"/>
    <p:sldId xmlns:r="http://schemas.openxmlformats.org/officeDocument/2006/relationships" id="260" r:id="R9b7dc375d9fc4fe3"/>
    <p:sldId xmlns:r="http://schemas.openxmlformats.org/officeDocument/2006/relationships" id="261" r:id="R8117918e44f243e1"/>
    <p:sldId xmlns:r="http://schemas.openxmlformats.org/officeDocument/2006/relationships" id="262" r:id="R45e16166e2314d57"/>
    <p:sldId xmlns:r="http://schemas.openxmlformats.org/officeDocument/2006/relationships" id="263" r:id="R2c0816e907e34ed9"/>
    <p:sldId xmlns:r="http://schemas.openxmlformats.org/officeDocument/2006/relationships" id="264" r:id="R86787e34e54e40fc"/>
    <p:sldId xmlns:r="http://schemas.openxmlformats.org/officeDocument/2006/relationships" id="265" r:id="Re1d64bbb817549d1"/>
    <p:sldId xmlns:r="http://schemas.openxmlformats.org/officeDocument/2006/relationships" id="266" r:id="R3df556d457f848a2"/>
    <p:sldId xmlns:r="http://schemas.openxmlformats.org/officeDocument/2006/relationships" id="267" r:id="Rc4c9479979184581"/>
    <p:sldId xmlns:r="http://schemas.openxmlformats.org/officeDocument/2006/relationships" id="268" r:id="Rf95661af34df4591"/>
    <p:sldId xmlns:r="http://schemas.openxmlformats.org/officeDocument/2006/relationships" id="269" r:id="Rf8ae2b7f39f04ca8"/>
    <p:sldId xmlns:r="http://schemas.openxmlformats.org/officeDocument/2006/relationships" id="270" r:id="R307b5cc4e74d44f9"/>
    <p:sldId xmlns:r="http://schemas.openxmlformats.org/officeDocument/2006/relationships" id="271" r:id="Rddd3d06730e7489a"/>
    <p:sldId xmlns:r="http://schemas.openxmlformats.org/officeDocument/2006/relationships" id="272" r:id="Ra0917e0e5e884674"/>
    <p:sldId xmlns:r="http://schemas.openxmlformats.org/officeDocument/2006/relationships" id="273" r:id="R79576d64ae174532"/>
    <p:sldId xmlns:r="http://schemas.openxmlformats.org/officeDocument/2006/relationships" id="274" r:id="R3771b6f7a29f41c6"/>
    <p:sldId xmlns:r="http://schemas.openxmlformats.org/officeDocument/2006/relationships" id="275" r:id="Rb5bc16965d564cfa"/>
    <p:sldId xmlns:r="http://schemas.openxmlformats.org/officeDocument/2006/relationships" id="276" r:id="R483b0de9ee7d41dd"/>
    <p:sldId xmlns:r="http://schemas.openxmlformats.org/officeDocument/2006/relationships" id="277" r:id="Rab7d56f946e649ec"/>
    <p:sldId xmlns:r="http://schemas.openxmlformats.org/officeDocument/2006/relationships" id="278" r:id="R41ad3d8b31554f8a"/>
    <p:sldId xmlns:r="http://schemas.openxmlformats.org/officeDocument/2006/relationships" id="279" r:id="Ra2c5d51a3e504547"/>
    <p:sldId xmlns:r="http://schemas.openxmlformats.org/officeDocument/2006/relationships" id="280" r:id="Re50aedc5b1a64b84"/>
    <p:sldId xmlns:r="http://schemas.openxmlformats.org/officeDocument/2006/relationships" id="281" r:id="Rc1ad7e1b8f094ae6"/>
    <p:sldId xmlns:r="http://schemas.openxmlformats.org/officeDocument/2006/relationships" id="282" r:id="Rc5c4ef8f7fab4d90"/>
    <p:sldId xmlns:r="http://schemas.openxmlformats.org/officeDocument/2006/relationships" id="283" r:id="R99c234220b784f13"/>
    <p:sldId xmlns:r="http://schemas.openxmlformats.org/officeDocument/2006/relationships" id="284" r:id="R5b2b84ac16bb4a39"/>
    <p:sldId xmlns:r="http://schemas.openxmlformats.org/officeDocument/2006/relationships" id="285" r:id="R60dc95160236445a"/>
    <p:sldId xmlns:r="http://schemas.openxmlformats.org/officeDocument/2006/relationships" id="286" r:id="Rd3719aab59174603"/>
    <p:sldId xmlns:r="http://schemas.openxmlformats.org/officeDocument/2006/relationships" id="287" r:id="R8df25e0cecef402a"/>
    <p:sldId xmlns:r="http://schemas.openxmlformats.org/officeDocument/2006/relationships" id="288" r:id="Ra8b740698b9849e9"/>
    <p:sldId xmlns:r="http://schemas.openxmlformats.org/officeDocument/2006/relationships" id="289" r:id="Raba3f7aa70f94e4c"/>
    <p:sldId xmlns:r="http://schemas.openxmlformats.org/officeDocument/2006/relationships" id="290" r:id="R30fe4d1499a54326"/>
    <p:sldId xmlns:r="http://schemas.openxmlformats.org/officeDocument/2006/relationships" id="291" r:id="R4cf89706332743f6"/>
    <p:sldId xmlns:r="http://schemas.openxmlformats.org/officeDocument/2006/relationships" id="292" r:id="Rb7fe5cdea9464ef6"/>
    <p:sldId xmlns:r="http://schemas.openxmlformats.org/officeDocument/2006/relationships" id="293" r:id="Rd2042a60aba1440c"/>
    <p:sldId xmlns:r="http://schemas.openxmlformats.org/officeDocument/2006/relationships" id="294" r:id="R4b507a8007854aaa"/>
    <p:sldId xmlns:r="http://schemas.openxmlformats.org/officeDocument/2006/relationships" id="295" r:id="Rba74153a24834ebf"/>
    <p:sldId xmlns:r="http://schemas.openxmlformats.org/officeDocument/2006/relationships" id="296" r:id="Rc4a40388aac44d77"/>
    <p:sldId xmlns:r="http://schemas.openxmlformats.org/officeDocument/2006/relationships" id="297" r:id="Rd75fa6e1d9104b11"/>
    <p:sldId xmlns:r="http://schemas.openxmlformats.org/officeDocument/2006/relationships" id="298" r:id="R9c65e29cc7d94530"/>
    <p:sldId xmlns:r="http://schemas.openxmlformats.org/officeDocument/2006/relationships" id="299" r:id="Rd802ec2b68794e50"/>
    <p:sldId xmlns:r="http://schemas.openxmlformats.org/officeDocument/2006/relationships" id="300" r:id="R8221c022c31d48f4"/>
    <p:sldId xmlns:r="http://schemas.openxmlformats.org/officeDocument/2006/relationships" id="301" r:id="R303f4f8ea5564451"/>
    <p:sldId xmlns:r="http://schemas.openxmlformats.org/officeDocument/2006/relationships" id="302" r:id="R6c11ef6c8d99436d"/>
    <p:sldId xmlns:r="http://schemas.openxmlformats.org/officeDocument/2006/relationships" id="303" r:id="Rf14c522dc42a48aa"/>
    <p:sldId xmlns:r="http://schemas.openxmlformats.org/officeDocument/2006/relationships" id="304" r:id="R1f28013ca9a143bc"/>
    <p:sldId xmlns:r="http://schemas.openxmlformats.org/officeDocument/2006/relationships" id="305" r:id="R8a6fc5ce05f24a6c"/>
    <p:sldId xmlns:r="http://schemas.openxmlformats.org/officeDocument/2006/relationships" id="306" r:id="R82e1b542322c414f"/>
    <p:sldId xmlns:r="http://schemas.openxmlformats.org/officeDocument/2006/relationships" id="307" r:id="R669b7c0e603340fa"/>
    <p:sldId xmlns:r="http://schemas.openxmlformats.org/officeDocument/2006/relationships" id="308" r:id="Re58e38d774754c6b"/>
    <p:sldId xmlns:r="http://schemas.openxmlformats.org/officeDocument/2006/relationships" id="309" r:id="Rf0265f1661ee4f78"/>
    <p:sldId xmlns:r="http://schemas.openxmlformats.org/officeDocument/2006/relationships" id="310" r:id="Re4f9506a2e3e41be"/>
    <p:sldId xmlns:r="http://schemas.openxmlformats.org/officeDocument/2006/relationships" id="311" r:id="R5d46bb001454440d"/>
    <p:sldId xmlns:r="http://schemas.openxmlformats.org/officeDocument/2006/relationships" id="312" r:id="R39adaed0fa694b82"/>
    <p:sldId xmlns:r="http://schemas.openxmlformats.org/officeDocument/2006/relationships" id="313" r:id="R85083a69fe584ab9"/>
    <p:sldId xmlns:r="http://schemas.openxmlformats.org/officeDocument/2006/relationships" id="314" r:id="R44f950ae97324dc5"/>
    <p:sldId xmlns:r="http://schemas.openxmlformats.org/officeDocument/2006/relationships" id="315" r:id="Raef38f6ba42a4713"/>
    <p:sldId xmlns:r="http://schemas.openxmlformats.org/officeDocument/2006/relationships" id="316" r:id="R8b8a0553a8844753"/>
    <p:sldId xmlns:r="http://schemas.openxmlformats.org/officeDocument/2006/relationships" id="317" r:id="Rdf8321f537884eca"/>
    <p:sldId xmlns:r="http://schemas.openxmlformats.org/officeDocument/2006/relationships" id="318" r:id="R6316a8b41e824da5"/>
    <p:sldId xmlns:r="http://schemas.openxmlformats.org/officeDocument/2006/relationships" id="319" r:id="Rc97cab584cfe4d61"/>
    <p:sldId xmlns:r="http://schemas.openxmlformats.org/officeDocument/2006/relationships" id="320" r:id="R5d70887d31e14f3d"/>
    <p:sldId xmlns:r="http://schemas.openxmlformats.org/officeDocument/2006/relationships" id="321" r:id="R0aa215b05e8545f3"/>
    <p:sldId xmlns:r="http://schemas.openxmlformats.org/officeDocument/2006/relationships" id="322" r:id="R11c0af8fee0d4b77"/>
    <p:sldId xmlns:r="http://schemas.openxmlformats.org/officeDocument/2006/relationships" id="323" r:id="R27691bfcee27428a"/>
    <p:sldId xmlns:r="http://schemas.openxmlformats.org/officeDocument/2006/relationships" id="324" r:id="R00e0931c5bf14206"/>
    <p:sldId xmlns:r="http://schemas.openxmlformats.org/officeDocument/2006/relationships" id="325" r:id="R73050503172c48c5"/>
    <p:sldId xmlns:r="http://schemas.openxmlformats.org/officeDocument/2006/relationships" id="326" r:id="R3a4b25d5bc03492e"/>
    <p:sldId xmlns:r="http://schemas.openxmlformats.org/officeDocument/2006/relationships" id="327" r:id="Rb1f29b92ca0a46fe"/>
    <p:sldId xmlns:r="http://schemas.openxmlformats.org/officeDocument/2006/relationships" id="328" r:id="Ra4c57b36ad2d4a1e"/>
    <p:sldId xmlns:r="http://schemas.openxmlformats.org/officeDocument/2006/relationships" id="329" r:id="R45f6fbd20c6c4cf8"/>
    <p:sldId xmlns:r="http://schemas.openxmlformats.org/officeDocument/2006/relationships" id="330" r:id="Rb60e91d4fea04c63"/>
    <p:sldId xmlns:r="http://schemas.openxmlformats.org/officeDocument/2006/relationships" id="331" r:id="R83002ea48a7c4da8"/>
    <p:sldId xmlns:r="http://schemas.openxmlformats.org/officeDocument/2006/relationships" id="332" r:id="Re4f6f9361dbb4b0f"/>
    <p:sldId xmlns:r="http://schemas.openxmlformats.org/officeDocument/2006/relationships" id="333" r:id="R06f1fb62698245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55730c474f43b9" /><Relationship Type="http://schemas.openxmlformats.org/officeDocument/2006/relationships/slideMaster" Target="/ppt/slideMasters/slideMaster1.xml" Id="R1fac764c2efc4ebc" /><Relationship Type="http://schemas.openxmlformats.org/officeDocument/2006/relationships/notesMaster" Target="/ppt/notesMasters/notesMaster1.xml" Id="R89ec32072d194f37" /><Relationship Type="http://schemas.openxmlformats.org/officeDocument/2006/relationships/presProps" Target="/ppt/presProps.xml" Id="R338ea9f85ec04279" /><Relationship Type="http://schemas.openxmlformats.org/officeDocument/2006/relationships/tableStyles" Target="/ppt/tableStyles.xml" Id="R0ac7e5eb380c44fb" /><Relationship Type="http://schemas.openxmlformats.org/officeDocument/2006/relationships/slide" Target="/ppt/slides/slide1.xml" Id="R2ae0265bd0224992" /><Relationship Type="http://schemas.openxmlformats.org/officeDocument/2006/relationships/slide" Target="/ppt/slides/slide2.xml" Id="Rba94a41a2ca84a59" /><Relationship Type="http://schemas.openxmlformats.org/officeDocument/2006/relationships/slide" Target="/ppt/slides/slide3.xml" Id="R68449549992b4ef8" /><Relationship Type="http://schemas.openxmlformats.org/officeDocument/2006/relationships/slide" Target="/ppt/slides/slide4.xml" Id="Rb757564dce6342e5" /><Relationship Type="http://schemas.openxmlformats.org/officeDocument/2006/relationships/slide" Target="/ppt/slides/slide5.xml" Id="R9b7dc375d9fc4fe3" /><Relationship Type="http://schemas.openxmlformats.org/officeDocument/2006/relationships/slide" Target="/ppt/slides/slide6.xml" Id="R8117918e44f243e1" /><Relationship Type="http://schemas.openxmlformats.org/officeDocument/2006/relationships/slide" Target="/ppt/slides/slide7.xml" Id="R45e16166e2314d57" /><Relationship Type="http://schemas.openxmlformats.org/officeDocument/2006/relationships/slide" Target="/ppt/slides/slide8.xml" Id="R2c0816e907e34ed9" /><Relationship Type="http://schemas.openxmlformats.org/officeDocument/2006/relationships/slide" Target="/ppt/slides/slide9.xml" Id="R86787e34e54e40fc" /><Relationship Type="http://schemas.openxmlformats.org/officeDocument/2006/relationships/slide" Target="/ppt/slides/slide10.xml" Id="Re1d64bbb817549d1" /><Relationship Type="http://schemas.openxmlformats.org/officeDocument/2006/relationships/slide" Target="/ppt/slides/slide11.xml" Id="R3df556d457f848a2" /><Relationship Type="http://schemas.openxmlformats.org/officeDocument/2006/relationships/slide" Target="/ppt/slides/slide12.xml" Id="Rc4c9479979184581" /><Relationship Type="http://schemas.openxmlformats.org/officeDocument/2006/relationships/slide" Target="/ppt/slides/slide13.xml" Id="Rf95661af34df4591" /><Relationship Type="http://schemas.openxmlformats.org/officeDocument/2006/relationships/slide" Target="/ppt/slides/slide14.xml" Id="Rf8ae2b7f39f04ca8" /><Relationship Type="http://schemas.openxmlformats.org/officeDocument/2006/relationships/slide" Target="/ppt/slides/slide15.xml" Id="R307b5cc4e74d44f9" /><Relationship Type="http://schemas.openxmlformats.org/officeDocument/2006/relationships/slide" Target="/ppt/slides/slide16.xml" Id="Rddd3d06730e7489a" /><Relationship Type="http://schemas.openxmlformats.org/officeDocument/2006/relationships/slide" Target="/ppt/slides/slide17.xml" Id="Ra0917e0e5e884674" /><Relationship Type="http://schemas.openxmlformats.org/officeDocument/2006/relationships/slide" Target="/ppt/slides/slide18.xml" Id="R79576d64ae174532" /><Relationship Type="http://schemas.openxmlformats.org/officeDocument/2006/relationships/slide" Target="/ppt/slides/slide19.xml" Id="R3771b6f7a29f41c6" /><Relationship Type="http://schemas.openxmlformats.org/officeDocument/2006/relationships/slide" Target="/ppt/slides/slide20.xml" Id="Rb5bc16965d564cfa" /><Relationship Type="http://schemas.openxmlformats.org/officeDocument/2006/relationships/slide" Target="/ppt/slides/slide21.xml" Id="R483b0de9ee7d41dd" /><Relationship Type="http://schemas.openxmlformats.org/officeDocument/2006/relationships/slide" Target="/ppt/slides/slide22.xml" Id="Rab7d56f946e649ec" /><Relationship Type="http://schemas.openxmlformats.org/officeDocument/2006/relationships/slide" Target="/ppt/slides/slide23.xml" Id="R41ad3d8b31554f8a" /><Relationship Type="http://schemas.openxmlformats.org/officeDocument/2006/relationships/slide" Target="/ppt/slides/slide24.xml" Id="Ra2c5d51a3e504547" /><Relationship Type="http://schemas.openxmlformats.org/officeDocument/2006/relationships/slide" Target="/ppt/slides/slide25.xml" Id="Re50aedc5b1a64b84" /><Relationship Type="http://schemas.openxmlformats.org/officeDocument/2006/relationships/slide" Target="/ppt/slides/slide26.xml" Id="Rc1ad7e1b8f094ae6" /><Relationship Type="http://schemas.openxmlformats.org/officeDocument/2006/relationships/slide" Target="/ppt/slides/slide27.xml" Id="Rc5c4ef8f7fab4d90" /><Relationship Type="http://schemas.openxmlformats.org/officeDocument/2006/relationships/slide" Target="/ppt/slides/slide28.xml" Id="R99c234220b784f13" /><Relationship Type="http://schemas.openxmlformats.org/officeDocument/2006/relationships/slide" Target="/ppt/slides/slide29.xml" Id="R5b2b84ac16bb4a39" /><Relationship Type="http://schemas.openxmlformats.org/officeDocument/2006/relationships/slide" Target="/ppt/slides/slide30.xml" Id="R60dc95160236445a" /><Relationship Type="http://schemas.openxmlformats.org/officeDocument/2006/relationships/slide" Target="/ppt/slides/slide31.xml" Id="Rd3719aab59174603" /><Relationship Type="http://schemas.openxmlformats.org/officeDocument/2006/relationships/slide" Target="/ppt/slides/slide32.xml" Id="R8df25e0cecef402a" /><Relationship Type="http://schemas.openxmlformats.org/officeDocument/2006/relationships/slide" Target="/ppt/slides/slide33.xml" Id="Ra8b740698b9849e9" /><Relationship Type="http://schemas.openxmlformats.org/officeDocument/2006/relationships/slide" Target="/ppt/slides/slide34.xml" Id="Raba3f7aa70f94e4c" /><Relationship Type="http://schemas.openxmlformats.org/officeDocument/2006/relationships/slide" Target="/ppt/slides/slide35.xml" Id="R30fe4d1499a54326" /><Relationship Type="http://schemas.openxmlformats.org/officeDocument/2006/relationships/slide" Target="/ppt/slides/slide36.xml" Id="R4cf89706332743f6" /><Relationship Type="http://schemas.openxmlformats.org/officeDocument/2006/relationships/slide" Target="/ppt/slides/slide37.xml" Id="Rb7fe5cdea9464ef6" /><Relationship Type="http://schemas.openxmlformats.org/officeDocument/2006/relationships/slide" Target="/ppt/slides/slide38.xml" Id="Rd2042a60aba1440c" /><Relationship Type="http://schemas.openxmlformats.org/officeDocument/2006/relationships/slide" Target="/ppt/slides/slide39.xml" Id="R4b507a8007854aaa" /><Relationship Type="http://schemas.openxmlformats.org/officeDocument/2006/relationships/slide" Target="/ppt/slides/slide40.xml" Id="Rba74153a24834ebf" /><Relationship Type="http://schemas.openxmlformats.org/officeDocument/2006/relationships/slide" Target="/ppt/slides/slide41.xml" Id="Rc4a40388aac44d77" /><Relationship Type="http://schemas.openxmlformats.org/officeDocument/2006/relationships/slide" Target="/ppt/slides/slide42.xml" Id="Rd75fa6e1d9104b11" /><Relationship Type="http://schemas.openxmlformats.org/officeDocument/2006/relationships/slide" Target="/ppt/slides/slide43.xml" Id="R9c65e29cc7d94530" /><Relationship Type="http://schemas.openxmlformats.org/officeDocument/2006/relationships/slide" Target="/ppt/slides/slide44.xml" Id="Rd802ec2b68794e50" /><Relationship Type="http://schemas.openxmlformats.org/officeDocument/2006/relationships/slide" Target="/ppt/slides/slide45.xml" Id="R8221c022c31d48f4" /><Relationship Type="http://schemas.openxmlformats.org/officeDocument/2006/relationships/slide" Target="/ppt/slides/slide46.xml" Id="R303f4f8ea5564451" /><Relationship Type="http://schemas.openxmlformats.org/officeDocument/2006/relationships/slide" Target="/ppt/slides/slide47.xml" Id="R6c11ef6c8d99436d" /><Relationship Type="http://schemas.openxmlformats.org/officeDocument/2006/relationships/slide" Target="/ppt/slides/slide48.xml" Id="Rf14c522dc42a48aa" /><Relationship Type="http://schemas.openxmlformats.org/officeDocument/2006/relationships/slide" Target="/ppt/slides/slide49.xml" Id="R1f28013ca9a143bc" /><Relationship Type="http://schemas.openxmlformats.org/officeDocument/2006/relationships/slide" Target="/ppt/slides/slide50.xml" Id="R8a6fc5ce05f24a6c" /><Relationship Type="http://schemas.openxmlformats.org/officeDocument/2006/relationships/slide" Target="/ppt/slides/slide51.xml" Id="R82e1b542322c414f" /><Relationship Type="http://schemas.openxmlformats.org/officeDocument/2006/relationships/slide" Target="/ppt/slides/slide52.xml" Id="R669b7c0e603340fa" /><Relationship Type="http://schemas.openxmlformats.org/officeDocument/2006/relationships/slide" Target="/ppt/slides/slide53.xml" Id="Re58e38d774754c6b" /><Relationship Type="http://schemas.openxmlformats.org/officeDocument/2006/relationships/slide" Target="/ppt/slides/slide54.xml" Id="Rf0265f1661ee4f78" /><Relationship Type="http://schemas.openxmlformats.org/officeDocument/2006/relationships/slide" Target="/ppt/slides/slide55.xml" Id="Re4f9506a2e3e41be" /><Relationship Type="http://schemas.openxmlformats.org/officeDocument/2006/relationships/slide" Target="/ppt/slides/slide56.xml" Id="R5d46bb001454440d" /><Relationship Type="http://schemas.openxmlformats.org/officeDocument/2006/relationships/slide" Target="/ppt/slides/slide57.xml" Id="R39adaed0fa694b82" /><Relationship Type="http://schemas.openxmlformats.org/officeDocument/2006/relationships/slide" Target="/ppt/slides/slide58.xml" Id="R85083a69fe584ab9" /><Relationship Type="http://schemas.openxmlformats.org/officeDocument/2006/relationships/slide" Target="/ppt/slides/slide59.xml" Id="R44f950ae97324dc5" /><Relationship Type="http://schemas.openxmlformats.org/officeDocument/2006/relationships/slide" Target="/ppt/slides/slide60.xml" Id="Raef38f6ba42a4713" /><Relationship Type="http://schemas.openxmlformats.org/officeDocument/2006/relationships/slide" Target="/ppt/slides/slide61.xml" Id="R8b8a0553a8844753" /><Relationship Type="http://schemas.openxmlformats.org/officeDocument/2006/relationships/slide" Target="/ppt/slides/slide62.xml" Id="Rdf8321f537884eca" /><Relationship Type="http://schemas.openxmlformats.org/officeDocument/2006/relationships/slide" Target="/ppt/slides/slide63.xml" Id="R6316a8b41e824da5" /><Relationship Type="http://schemas.openxmlformats.org/officeDocument/2006/relationships/slide" Target="/ppt/slides/slide64.xml" Id="Rc97cab584cfe4d61" /><Relationship Type="http://schemas.openxmlformats.org/officeDocument/2006/relationships/slide" Target="/ppt/slides/slide65.xml" Id="R5d70887d31e14f3d" /><Relationship Type="http://schemas.openxmlformats.org/officeDocument/2006/relationships/slide" Target="/ppt/slides/slide66.xml" Id="R0aa215b05e8545f3" /><Relationship Type="http://schemas.openxmlformats.org/officeDocument/2006/relationships/slide" Target="/ppt/slides/slide67.xml" Id="R11c0af8fee0d4b77" /><Relationship Type="http://schemas.openxmlformats.org/officeDocument/2006/relationships/slide" Target="/ppt/slides/slide68.xml" Id="R27691bfcee27428a" /><Relationship Type="http://schemas.openxmlformats.org/officeDocument/2006/relationships/slide" Target="/ppt/slides/slide69.xml" Id="R00e0931c5bf14206" /><Relationship Type="http://schemas.openxmlformats.org/officeDocument/2006/relationships/slide" Target="/ppt/slides/slide70.xml" Id="R73050503172c48c5" /><Relationship Type="http://schemas.openxmlformats.org/officeDocument/2006/relationships/slide" Target="/ppt/slides/slide71.xml" Id="R3a4b25d5bc03492e" /><Relationship Type="http://schemas.openxmlformats.org/officeDocument/2006/relationships/slide" Target="/ppt/slides/slide72.xml" Id="Rb1f29b92ca0a46fe" /><Relationship Type="http://schemas.openxmlformats.org/officeDocument/2006/relationships/slide" Target="/ppt/slides/slide73.xml" Id="Ra4c57b36ad2d4a1e" /><Relationship Type="http://schemas.openxmlformats.org/officeDocument/2006/relationships/slide" Target="/ppt/slides/slide74.xml" Id="R45f6fbd20c6c4cf8" /><Relationship Type="http://schemas.openxmlformats.org/officeDocument/2006/relationships/slide" Target="/ppt/slides/slide75.xml" Id="Rb60e91d4fea04c63" /><Relationship Type="http://schemas.openxmlformats.org/officeDocument/2006/relationships/slide" Target="/ppt/slides/slide76.xml" Id="R83002ea48a7c4da8" /><Relationship Type="http://schemas.openxmlformats.org/officeDocument/2006/relationships/slide" Target="/ppt/slides/slide77.xml" Id="Re4f6f9361dbb4b0f" /><Relationship Type="http://schemas.openxmlformats.org/officeDocument/2006/relationships/slide" Target="/ppt/slides/slide78.xml" Id="R06f1fb62698245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6aef6feb424e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b990b3802043bb" /><Relationship Type="http://schemas.openxmlformats.org/officeDocument/2006/relationships/notesMaster" Target="/ppt/notesMasters/notesMaster1.xml" Id="Raef1d9f2498c43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0f2e2a63c54209" /><Relationship Type="http://schemas.openxmlformats.org/officeDocument/2006/relationships/notesMaster" Target="/ppt/notesMasters/notesMaster1.xml" Id="R904a6ecd5ac442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92e428ec9f4c63" /><Relationship Type="http://schemas.openxmlformats.org/officeDocument/2006/relationships/notesMaster" Target="/ppt/notesMasters/notesMaster1.xml" Id="R3aff28d266594f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a57749e2484e34" /><Relationship Type="http://schemas.openxmlformats.org/officeDocument/2006/relationships/notesMaster" Target="/ppt/notesMasters/notesMaster1.xml" Id="R06966363339247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a98db9fd2049f4" /><Relationship Type="http://schemas.openxmlformats.org/officeDocument/2006/relationships/notesMaster" Target="/ppt/notesMasters/notesMaster1.xml" Id="R15fafc78bfda4b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1788af2b0c4b2a" /><Relationship Type="http://schemas.openxmlformats.org/officeDocument/2006/relationships/notesMaster" Target="/ppt/notesMasters/notesMaster1.xml" Id="Rb9362741d4924a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b64546cd9f4fec" /><Relationship Type="http://schemas.openxmlformats.org/officeDocument/2006/relationships/notesMaster" Target="/ppt/notesMasters/notesMaster1.xml" Id="R31c6efa8900749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2a0557bee94843" /><Relationship Type="http://schemas.openxmlformats.org/officeDocument/2006/relationships/notesMaster" Target="/ppt/notesMasters/notesMaster1.xml" Id="Rd2fab14626274f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e773f1b2ff45f1" /><Relationship Type="http://schemas.openxmlformats.org/officeDocument/2006/relationships/notesMaster" Target="/ppt/notesMasters/notesMaster1.xml" Id="R2cf0bb64a09248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d1b695e0f14aa8" /><Relationship Type="http://schemas.openxmlformats.org/officeDocument/2006/relationships/notesMaster" Target="/ppt/notesMasters/notesMaster1.xml" Id="R3a9da5a0fd0a4e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304ad780164aa0" /><Relationship Type="http://schemas.openxmlformats.org/officeDocument/2006/relationships/notesMaster" Target="/ppt/notesMasters/notesMaster1.xml" Id="R10e2d6bcc005454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70d81a09354f00" /><Relationship Type="http://schemas.openxmlformats.org/officeDocument/2006/relationships/notesMaster" Target="/ppt/notesMasters/notesMaster1.xml" Id="R21e7c9f8e092429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ff549acb6c14bf5" /><Relationship Type="http://schemas.openxmlformats.org/officeDocument/2006/relationships/notesMaster" Target="/ppt/notesMasters/notesMaster1.xml" Id="R7c328e9cc990434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9d918766e324bd8" /><Relationship Type="http://schemas.openxmlformats.org/officeDocument/2006/relationships/notesMaster" Target="/ppt/notesMasters/notesMaster1.xml" Id="R902a07469c9b4f1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9b844ce891a4351" /><Relationship Type="http://schemas.openxmlformats.org/officeDocument/2006/relationships/notesMaster" Target="/ppt/notesMasters/notesMaster1.xml" Id="Rb9390716f20b42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1a2eefc91a84456" /><Relationship Type="http://schemas.openxmlformats.org/officeDocument/2006/relationships/notesMaster" Target="/ppt/notesMasters/notesMaster1.xml" Id="R4a4cf36cbc2743f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a757272ae16422e" /><Relationship Type="http://schemas.openxmlformats.org/officeDocument/2006/relationships/notesMaster" Target="/ppt/notesMasters/notesMaster1.xml" Id="R727a12c0c961414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f6900fca0c463c" /><Relationship Type="http://schemas.openxmlformats.org/officeDocument/2006/relationships/notesMaster" Target="/ppt/notesMasters/notesMaster1.xml" Id="Rcc04fa58f62c48a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8faebeef3e34139" /><Relationship Type="http://schemas.openxmlformats.org/officeDocument/2006/relationships/notesMaster" Target="/ppt/notesMasters/notesMaster1.xml" Id="Rca8f45860b224a2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eca189f57b475d" /><Relationship Type="http://schemas.openxmlformats.org/officeDocument/2006/relationships/notesMaster" Target="/ppt/notesMasters/notesMaster1.xml" Id="R9860209fcc4d4db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111f5cc52a1411d" /><Relationship Type="http://schemas.openxmlformats.org/officeDocument/2006/relationships/notesMaster" Target="/ppt/notesMasters/notesMaster1.xml" Id="Rbc118ccf1bfb417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3e75f527a684211" /><Relationship Type="http://schemas.openxmlformats.org/officeDocument/2006/relationships/notesMaster" Target="/ppt/notesMasters/notesMaster1.xml" Id="R5cedc259ec5f48c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0ed7b4eee334b9f" /><Relationship Type="http://schemas.openxmlformats.org/officeDocument/2006/relationships/notesMaster" Target="/ppt/notesMasters/notesMaster1.xml" Id="R2d498b45bc38422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5eb122f84764d1c" /><Relationship Type="http://schemas.openxmlformats.org/officeDocument/2006/relationships/notesMaster" Target="/ppt/notesMasters/notesMaster1.xml" Id="R40c609ee905b41c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115108b157946bf" /><Relationship Type="http://schemas.openxmlformats.org/officeDocument/2006/relationships/notesMaster" Target="/ppt/notesMasters/notesMaster1.xml" Id="R0225e35243074b8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54ffc76c65a4c70" /><Relationship Type="http://schemas.openxmlformats.org/officeDocument/2006/relationships/notesMaster" Target="/ppt/notesMasters/notesMaster1.xml" Id="Rcfce3d7d8d44485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aeb6bbd91394193" /><Relationship Type="http://schemas.openxmlformats.org/officeDocument/2006/relationships/notesMaster" Target="/ppt/notesMasters/notesMaster1.xml" Id="R0e1421f75daf4ba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f57a2ef11834277" /><Relationship Type="http://schemas.openxmlformats.org/officeDocument/2006/relationships/notesMaster" Target="/ppt/notesMasters/notesMaster1.xml" Id="R4f5e8c9d90784e7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d2066b2cdda417e" /><Relationship Type="http://schemas.openxmlformats.org/officeDocument/2006/relationships/notesMaster" Target="/ppt/notesMasters/notesMaster1.xml" Id="R038ad991860b47d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afa65e0d2334897" /><Relationship Type="http://schemas.openxmlformats.org/officeDocument/2006/relationships/notesMaster" Target="/ppt/notesMasters/notesMaster1.xml" Id="R40fe62f22e5f4ab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de92acf98874dc6" /><Relationship Type="http://schemas.openxmlformats.org/officeDocument/2006/relationships/notesMaster" Target="/ppt/notesMasters/notesMaster1.xml" Id="Ra3dab690a7c74db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0b79840bc2b4098" /><Relationship Type="http://schemas.openxmlformats.org/officeDocument/2006/relationships/notesMaster" Target="/ppt/notesMasters/notesMaster1.xml" Id="R029062f597b149c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e3d91d35b0e4b32" /><Relationship Type="http://schemas.openxmlformats.org/officeDocument/2006/relationships/notesMaster" Target="/ppt/notesMasters/notesMaster1.xml" Id="Rea589f7489f44d6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692b65d9a3e4713" /><Relationship Type="http://schemas.openxmlformats.org/officeDocument/2006/relationships/notesMaster" Target="/ppt/notesMasters/notesMaster1.xml" Id="Rf07d071462b2496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2f74f663ad94562" /><Relationship Type="http://schemas.openxmlformats.org/officeDocument/2006/relationships/notesMaster" Target="/ppt/notesMasters/notesMaster1.xml" Id="R374404e83dd54a1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38697425c554e51" /><Relationship Type="http://schemas.openxmlformats.org/officeDocument/2006/relationships/notesMaster" Target="/ppt/notesMasters/notesMaster1.xml" Id="Rde2a15346b07442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c6f79f988294f78" /><Relationship Type="http://schemas.openxmlformats.org/officeDocument/2006/relationships/notesMaster" Target="/ppt/notesMasters/notesMaster1.xml" Id="Rea6e581d17c848d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a12e30752814202" /><Relationship Type="http://schemas.openxmlformats.org/officeDocument/2006/relationships/notesMaster" Target="/ppt/notesMasters/notesMaster1.xml" Id="R9fb5cddd811b4ac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19d6bf09588452d" /><Relationship Type="http://schemas.openxmlformats.org/officeDocument/2006/relationships/notesMaster" Target="/ppt/notesMasters/notesMaster1.xml" Id="Rbdd8d73709904ba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4bd2bcc92644083" /><Relationship Type="http://schemas.openxmlformats.org/officeDocument/2006/relationships/notesMaster" Target="/ppt/notesMasters/notesMaster1.xml" Id="Rd4c4a90fdf4e449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96cf4dbc2a04c84" /><Relationship Type="http://schemas.openxmlformats.org/officeDocument/2006/relationships/notesMaster" Target="/ppt/notesMasters/notesMaster1.xml" Id="R91c9e7cc42834a2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0939e8c32d14ce6" /><Relationship Type="http://schemas.openxmlformats.org/officeDocument/2006/relationships/notesMaster" Target="/ppt/notesMasters/notesMaster1.xml" Id="R4355e1143f45451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a47d915bd9847f9" /><Relationship Type="http://schemas.openxmlformats.org/officeDocument/2006/relationships/notesMaster" Target="/ppt/notesMasters/notesMaster1.xml" Id="Rba39640ee866468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50e6293bcf8433d" /><Relationship Type="http://schemas.openxmlformats.org/officeDocument/2006/relationships/notesMaster" Target="/ppt/notesMasters/notesMaster1.xml" Id="Rc7d7db1e05fa4b5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19c460f07964185" /><Relationship Type="http://schemas.openxmlformats.org/officeDocument/2006/relationships/notesMaster" Target="/ppt/notesMasters/notesMaster1.xml" Id="Rb08ef1efd43e4ce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5e2e737a7e544a4" /><Relationship Type="http://schemas.openxmlformats.org/officeDocument/2006/relationships/notesMaster" Target="/ppt/notesMasters/notesMaster1.xml" Id="R381d5e9298aa4e77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d87aef0207646dc" /><Relationship Type="http://schemas.openxmlformats.org/officeDocument/2006/relationships/notesMaster" Target="/ppt/notesMasters/notesMaster1.xml" Id="R725c8b18ef1b49f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0d3626a9ff384294" /><Relationship Type="http://schemas.openxmlformats.org/officeDocument/2006/relationships/notesMaster" Target="/ppt/notesMasters/notesMaster1.xml" Id="R8878b86dd40744a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17cfecdb52374b06" /><Relationship Type="http://schemas.openxmlformats.org/officeDocument/2006/relationships/notesMaster" Target="/ppt/notesMasters/notesMaster1.xml" Id="R8fde45e595ae45a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7e3915378ad4244" /><Relationship Type="http://schemas.openxmlformats.org/officeDocument/2006/relationships/notesMaster" Target="/ppt/notesMasters/notesMaster1.xml" Id="R05244916635d4c8b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e900d1805244d93" /><Relationship Type="http://schemas.openxmlformats.org/officeDocument/2006/relationships/notesMaster" Target="/ppt/notesMasters/notesMaster1.xml" Id="R6a592ea075f2419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78bd6e0134c4454" /><Relationship Type="http://schemas.openxmlformats.org/officeDocument/2006/relationships/notesMaster" Target="/ppt/notesMasters/notesMaster1.xml" Id="R8ae418c9eb3440e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e2dda90e2f941bb" /><Relationship Type="http://schemas.openxmlformats.org/officeDocument/2006/relationships/notesMaster" Target="/ppt/notesMasters/notesMaster1.xml" Id="R4e6a57474c8a48f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ea6fcec539f41f7" /><Relationship Type="http://schemas.openxmlformats.org/officeDocument/2006/relationships/notesMaster" Target="/ppt/notesMasters/notesMaster1.xml" Id="R4944a22db7164a3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fb146a7699a47f4" /><Relationship Type="http://schemas.openxmlformats.org/officeDocument/2006/relationships/notesMaster" Target="/ppt/notesMasters/notesMaster1.xml" Id="Rd9417c670ade4375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f9183eef7f374f1a" /><Relationship Type="http://schemas.openxmlformats.org/officeDocument/2006/relationships/notesMaster" Target="/ppt/notesMasters/notesMaster1.xml" Id="R6aae6c3ff8ce4982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44fe7ab9f8d14904" /><Relationship Type="http://schemas.openxmlformats.org/officeDocument/2006/relationships/notesMaster" Target="/ppt/notesMasters/notesMaster1.xml" Id="Rdd81e05732bb401c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b470f26013ec47f5" /><Relationship Type="http://schemas.openxmlformats.org/officeDocument/2006/relationships/notesMaster" Target="/ppt/notesMasters/notesMaster1.xml" Id="R0108b02da39346b6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1061dd02fd80404e" /><Relationship Type="http://schemas.openxmlformats.org/officeDocument/2006/relationships/notesMaster" Target="/ppt/notesMasters/notesMaster1.xml" Id="Rea2f1f510a35497f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5d977685ef56449d" /><Relationship Type="http://schemas.openxmlformats.org/officeDocument/2006/relationships/notesMaster" Target="/ppt/notesMasters/notesMaster1.xml" Id="R95ae7743ee4d490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2a63a490d2154778" /><Relationship Type="http://schemas.openxmlformats.org/officeDocument/2006/relationships/notesMaster" Target="/ppt/notesMasters/notesMaster1.xml" Id="Re6241671a6d44c30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1508e4eb52e64891" /><Relationship Type="http://schemas.openxmlformats.org/officeDocument/2006/relationships/notesMaster" Target="/ppt/notesMasters/notesMaster1.xml" Id="Re74fef2329214f5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9a71252cd55b4eef" /><Relationship Type="http://schemas.openxmlformats.org/officeDocument/2006/relationships/notesMaster" Target="/ppt/notesMasters/notesMaster1.xml" Id="Rcc2afbb9cd824bf9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54f4151088314748" /><Relationship Type="http://schemas.openxmlformats.org/officeDocument/2006/relationships/notesMaster" Target="/ppt/notesMasters/notesMaster1.xml" Id="Rbdb2b3b9dc1b434f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7f90445181da4029" /><Relationship Type="http://schemas.openxmlformats.org/officeDocument/2006/relationships/notesMaster" Target="/ppt/notesMasters/notesMaster1.xml" Id="Rbd1042a3a976445b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aa83ff70abc248e4" /><Relationship Type="http://schemas.openxmlformats.org/officeDocument/2006/relationships/notesMaster" Target="/ppt/notesMasters/notesMaster1.xml" Id="R7a88a9b9b58543ce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a61c23de818b4c11" /><Relationship Type="http://schemas.openxmlformats.org/officeDocument/2006/relationships/notesMaster" Target="/ppt/notesMasters/notesMaster1.xml" Id="Rf6a79172f8b74af9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ef748b8651d049e3" /><Relationship Type="http://schemas.openxmlformats.org/officeDocument/2006/relationships/notesMaster" Target="/ppt/notesMasters/notesMaster1.xml" Id="Rcbe8462a1af2449d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cdc1e15ce8774979" /><Relationship Type="http://schemas.openxmlformats.org/officeDocument/2006/relationships/notesMaster" Target="/ppt/notesMasters/notesMaster1.xml" Id="R94e3c2a791a0475e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e5ef1ca9f8424bed" /><Relationship Type="http://schemas.openxmlformats.org/officeDocument/2006/relationships/notesMaster" Target="/ppt/notesMasters/notesMaster1.xml" Id="Rc8139fe39b764f74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4f621e8cfac641d9" /><Relationship Type="http://schemas.openxmlformats.org/officeDocument/2006/relationships/notesMaster" Target="/ppt/notesMasters/notesMaster1.xml" Id="Rb63c4faf75644d63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54c22db8d7bc4046" /><Relationship Type="http://schemas.openxmlformats.org/officeDocument/2006/relationships/notesMaster" Target="/ppt/notesMasters/notesMaster1.xml" Id="R935f1eb7392a4e58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4f33fd52a6904492" /><Relationship Type="http://schemas.openxmlformats.org/officeDocument/2006/relationships/notesMaster" Target="/ppt/notesMasters/notesMaster1.xml" Id="Rdf5552a941b64cbf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aa8a29a06d794873" /><Relationship Type="http://schemas.openxmlformats.org/officeDocument/2006/relationships/notesMaster" Target="/ppt/notesMasters/notesMaster1.xml" Id="Rdd18b1471bfb41c3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9527f26cb50f40bb" /><Relationship Type="http://schemas.openxmlformats.org/officeDocument/2006/relationships/notesMaster" Target="/ppt/notesMasters/notesMaster1.xml" Id="R276cfeec79754299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8cfc4a4b0b8f422b" /><Relationship Type="http://schemas.openxmlformats.org/officeDocument/2006/relationships/notesMaster" Target="/ppt/notesMasters/notesMaster1.xml" Id="R99d34905029343cc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3d7851ee1e6d4695" /><Relationship Type="http://schemas.openxmlformats.org/officeDocument/2006/relationships/notesMaster" Target="/ppt/notesMasters/notesMaster1.xml" Id="Rde94d62060fc4837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da98b8ab66564201" /><Relationship Type="http://schemas.openxmlformats.org/officeDocument/2006/relationships/notesMaster" Target="/ppt/notesMasters/notesMaster1.xml" Id="Rac65226f57464d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 Mathematical insertion points are documented separately; formulas are intentionally absent from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Machine Learning Repository dataset 350, https://archive.ics.uci.edu/dataset/350/default+of+credit+card+clients.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Image: Sprinno, "Credit cards.jpeg", Wikimedia Commons, CC0 1.0. Source: https://commons.wikimedia.org/wiki/File:Credit_cards.jpeg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Image: Remyrosenbaum, "Conventional ETL Diagram", Wikimedia Commons, CC BY-SA 4.0. Source: https://commons.wikimedia.org/wiki/File:Conventional_ETL_Diagram.jpg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Embedded reference image: EpochFail, "Machine learning nutshell — Split into train-test set", Wikimedia Commons, CC BY-SA 4.0. Source: https://commons.wikimedia.org/wiki/File:Machine_learning_nutshell_--_Split_into_train-test_set.svg. The three-column diagram is editable native slide content.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dataset 350 variable documentation and course data dictionary.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86b857e45c4bf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0141cfa4e148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8a7c2c593f4a3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6133200092468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335500ddf346c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3e0aeaa4c543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35E97F-A802-4AEE-929B-FD9B34CFDB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C1A14C9-71B5-418F-B5CA-40C8012A09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AA28345-A87D-4DA9-AA20-AB3BBE6DD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D44A238-7375-42E3-96B0-7D03E8F232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F2C3134-4030-416D-AA58-9474DF2103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E11284C-7DF2-4C4D-A594-9BB2164672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BF0D1B-47E7-4C05-86D6-AE4B92DAC0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FC50F98-768B-4880-A02E-065007E91F3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8E60DB-92BE-4F51-9FA6-7DDF006135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78F7C03-D4F8-4AF5-A633-A91FEB2E1B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9b425c7adb4646" /><Relationship Type="http://schemas.openxmlformats.org/officeDocument/2006/relationships/slideLayout" Target="/ppt/slideLayouts/slideLayout1.xml" Id="R31a082ec4b9d4c58" /><Relationship Type="http://schemas.openxmlformats.org/officeDocument/2006/relationships/slideLayout" Target="/ppt/slideLayouts/slideLayout2.xml" Id="R411467c185de4544" /><Relationship Type="http://schemas.openxmlformats.org/officeDocument/2006/relationships/slideLayout" Target="/ppt/slideLayouts/slideLayout3.xml" Id="R20f6b17f612c449a" /><Relationship Type="http://schemas.openxmlformats.org/officeDocument/2006/relationships/slideLayout" Target="/ppt/slideLayouts/slideLayout4.xml" Id="R54630eaa6b0f446f" /><Relationship Type="http://schemas.openxmlformats.org/officeDocument/2006/relationships/slideLayout" Target="/ppt/slideLayouts/slideLayout5.xml" Id="Re736eb813abc46d3" /><Relationship Type="http://schemas.openxmlformats.org/officeDocument/2006/relationships/slideLayout" Target="/ppt/slideLayouts/slideLayout6.xml" Id="Rfba735e8fa5947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a082ec4b9d4c58"/>
    <p:sldLayoutId xmlns:r="http://schemas.openxmlformats.org/officeDocument/2006/relationships" id="2147483650" r:id="R411467c185de4544"/>
    <p:sldLayoutId xmlns:r="http://schemas.openxmlformats.org/officeDocument/2006/relationships" id="2147483651" r:id="R20f6b17f612c449a"/>
    <p:sldLayoutId xmlns:r="http://schemas.openxmlformats.org/officeDocument/2006/relationships" id="2147483652" r:id="R54630eaa6b0f446f"/>
    <p:sldLayoutId xmlns:r="http://schemas.openxmlformats.org/officeDocument/2006/relationships" id="2147483653" r:id="Re736eb813abc46d3"/>
    <p:sldLayoutId xmlns:r="http://schemas.openxmlformats.org/officeDocument/2006/relationships" id="2147483654" r:id="Rfba735e8fa5947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fa5829a8cc4d5c" /><Relationship Type="http://schemas.openxmlformats.org/officeDocument/2006/relationships/notesSlide" Target="/ppt/notesSlides/notesSlide1.xml" Id="R607ccd0b8ed24a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8fe6773d134433" /><Relationship Type="http://schemas.openxmlformats.org/officeDocument/2006/relationships/notesSlide" Target="/ppt/notesSlides/notesSlide2.xml" Id="R8dd0c335aec140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f28af12ec24e42" /><Relationship Type="http://schemas.openxmlformats.org/officeDocument/2006/relationships/notesSlide" Target="/ppt/notesSlides/notesSlide3.xml" Id="Ra38629f9fe8249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93916d89da45b4" /><Relationship Type="http://schemas.openxmlformats.org/officeDocument/2006/relationships/notesSlide" Target="/ppt/notesSlides/notesSlide4.xml" Id="Rf9789cfba5c44c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385064776245cb" /><Relationship Type="http://schemas.openxmlformats.org/officeDocument/2006/relationships/notesSlide" Target="/ppt/notesSlides/notesSlide5.xml" Id="Ra992196e9eb443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bcbd06f2fd4b7a" /><Relationship Type="http://schemas.openxmlformats.org/officeDocument/2006/relationships/notesSlide" Target="/ppt/notesSlides/notesSlide6.xml" Id="Rd2b5a14bbb9a42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29628634c64374" /><Relationship Type="http://schemas.openxmlformats.org/officeDocument/2006/relationships/image" Target="/ppt/media/image.jpeg" Id="Rda1a7755f23d4810" /><Relationship Type="http://schemas.openxmlformats.org/officeDocument/2006/relationships/notesSlide" Target="/ppt/notesSlides/notesSlide7.xml" Id="Rab178d9bf49f4c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27fa99eebd4a7a" /><Relationship Type="http://schemas.openxmlformats.org/officeDocument/2006/relationships/image" Target="/ppt/media/image2.jpeg" Id="R9ad3c4d711e34057" /><Relationship Type="http://schemas.openxmlformats.org/officeDocument/2006/relationships/notesSlide" Target="/ppt/notesSlides/notesSlide8.xml" Id="Ra8356d76401b4b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2237bab5fd481e" /><Relationship Type="http://schemas.openxmlformats.org/officeDocument/2006/relationships/notesSlide" Target="/ppt/notesSlides/notesSlide9.xml" Id="R05434c665da743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956bf58d30414f" /><Relationship Type="http://schemas.openxmlformats.org/officeDocument/2006/relationships/notesSlide" Target="/ppt/notesSlides/notesSlide10.xml" Id="R1f6ceb4f812340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94ee8fb4904662" /><Relationship Type="http://schemas.openxmlformats.org/officeDocument/2006/relationships/notesSlide" Target="/ppt/notesSlides/notesSlide11.xml" Id="Rdf09f443a6ce49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f7436e765e4b4c" /><Relationship Type="http://schemas.openxmlformats.org/officeDocument/2006/relationships/notesSlide" Target="/ppt/notesSlides/notesSlide12.xml" Id="R7222a6cb31c940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6acbdfb6354f46" /><Relationship Type="http://schemas.openxmlformats.org/officeDocument/2006/relationships/image" Target="/ppt/media/image.png" Id="Re22fb1edd99e474a" /><Relationship Type="http://schemas.openxmlformats.org/officeDocument/2006/relationships/notesSlide" Target="/ppt/notesSlides/notesSlide13.xml" Id="R13abd07892c043d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da0d4fd9624192" /><Relationship Type="http://schemas.openxmlformats.org/officeDocument/2006/relationships/notesSlide" Target="/ppt/notesSlides/notesSlide14.xml" Id="R72c6b1e1828d4cf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f7158d3d7d4ef8" /><Relationship Type="http://schemas.openxmlformats.org/officeDocument/2006/relationships/notesSlide" Target="/ppt/notesSlides/notesSlide15.xml" Id="R8ad2a6f4e202489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2bfbc3b293468e" /><Relationship Type="http://schemas.openxmlformats.org/officeDocument/2006/relationships/notesSlide" Target="/ppt/notesSlides/notesSlide16.xml" Id="R4dc002e6a8594d2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c935e663aa43b6" /><Relationship Type="http://schemas.openxmlformats.org/officeDocument/2006/relationships/notesSlide" Target="/ppt/notesSlides/notesSlide17.xml" Id="Rcbcbe164832f4cf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ad29d02b354d1c" /><Relationship Type="http://schemas.openxmlformats.org/officeDocument/2006/relationships/notesSlide" Target="/ppt/notesSlides/notesSlide18.xml" Id="R3b176055fec1495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42a243b4bc4574" /><Relationship Type="http://schemas.openxmlformats.org/officeDocument/2006/relationships/notesSlide" Target="/ppt/notesSlides/notesSlide19.xml" Id="R3dda389cbcee42d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c785fd03684e58" /><Relationship Type="http://schemas.openxmlformats.org/officeDocument/2006/relationships/notesSlide" Target="/ppt/notesSlides/notesSlide20.xml" Id="R1d72b06fa75f4f9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e5918f202f4d67" /><Relationship Type="http://schemas.openxmlformats.org/officeDocument/2006/relationships/notesSlide" Target="/ppt/notesSlides/notesSlide21.xml" Id="R448c990c8c33413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0d37fe07294aa7" /><Relationship Type="http://schemas.openxmlformats.org/officeDocument/2006/relationships/chart" Target="/ppt/slides/charts/chart1.xml" Id="R2a00ddf4da9e442a" /><Relationship Type="http://schemas.openxmlformats.org/officeDocument/2006/relationships/notesSlide" Target="/ppt/notesSlides/notesSlide22.xml" Id="R3b2b9fb4dc344f8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3eba4994a3428f" /><Relationship Type="http://schemas.openxmlformats.org/officeDocument/2006/relationships/notesSlide" Target="/ppt/notesSlides/notesSlide23.xml" Id="R3d1d1eb876ed41c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9076edd4394154" /><Relationship Type="http://schemas.openxmlformats.org/officeDocument/2006/relationships/notesSlide" Target="/ppt/notesSlides/notesSlide24.xml" Id="R325d788d2a6d4bc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2e38bb1c684268" /><Relationship Type="http://schemas.openxmlformats.org/officeDocument/2006/relationships/notesSlide" Target="/ppt/notesSlides/notesSlide25.xml" Id="Rb09b4be5ece4486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7338415ffc4f04" /><Relationship Type="http://schemas.openxmlformats.org/officeDocument/2006/relationships/notesSlide" Target="/ppt/notesSlides/notesSlide26.xml" Id="R69bd1317d7ae48e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711adffbe54408" /><Relationship Type="http://schemas.openxmlformats.org/officeDocument/2006/relationships/notesSlide" Target="/ppt/notesSlides/notesSlide27.xml" Id="R5dcdd92a2b114f5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003e9462114807" /><Relationship Type="http://schemas.openxmlformats.org/officeDocument/2006/relationships/notesSlide" Target="/ppt/notesSlides/notesSlide28.xml" Id="R293628233fc3472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353e7704164304" /><Relationship Type="http://schemas.openxmlformats.org/officeDocument/2006/relationships/notesSlide" Target="/ppt/notesSlides/notesSlide29.xml" Id="Raa54dc70572842c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b5fe2eec9b4876" /><Relationship Type="http://schemas.openxmlformats.org/officeDocument/2006/relationships/notesSlide" Target="/ppt/notesSlides/notesSlide30.xml" Id="R8b45f22f84b849e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7f0dc77fd64f4d" /><Relationship Type="http://schemas.openxmlformats.org/officeDocument/2006/relationships/notesSlide" Target="/ppt/notesSlides/notesSlide31.xml" Id="R41cca6b94e10415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33e89911df44ed" /><Relationship Type="http://schemas.openxmlformats.org/officeDocument/2006/relationships/notesSlide" Target="/ppt/notesSlides/notesSlide32.xml" Id="Recee09c03a254b6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ea0344f1e84177" /><Relationship Type="http://schemas.openxmlformats.org/officeDocument/2006/relationships/chart" Target="/ppt/slides/charts/chart2.xml" Id="Rc5e6bfd4587248bd" /><Relationship Type="http://schemas.openxmlformats.org/officeDocument/2006/relationships/notesSlide" Target="/ppt/notesSlides/notesSlide33.xml" Id="Ree9989e5c996469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70ff1c69e64fde" /><Relationship Type="http://schemas.openxmlformats.org/officeDocument/2006/relationships/notesSlide" Target="/ppt/notesSlides/notesSlide34.xml" Id="R0853ebb432f54f4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0a9f54520f4e3c" /><Relationship Type="http://schemas.openxmlformats.org/officeDocument/2006/relationships/chart" Target="/ppt/slides/charts/chart3.xml" Id="Rf57b49f20d5a48c9" /><Relationship Type="http://schemas.openxmlformats.org/officeDocument/2006/relationships/notesSlide" Target="/ppt/notesSlides/notesSlide35.xml" Id="R12ba941c41364bf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ad5a93a4d14161" /><Relationship Type="http://schemas.openxmlformats.org/officeDocument/2006/relationships/notesSlide" Target="/ppt/notesSlides/notesSlide36.xml" Id="R3687bbc3adb64ea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298cc49bc44490" /><Relationship Type="http://schemas.openxmlformats.org/officeDocument/2006/relationships/notesSlide" Target="/ppt/notesSlides/notesSlide37.xml" Id="R56fdf127acef4b3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7bdcfc85eb41ca" /><Relationship Type="http://schemas.openxmlformats.org/officeDocument/2006/relationships/notesSlide" Target="/ppt/notesSlides/notesSlide38.xml" Id="Rf7c34758f5934f9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ad389a762c4531" /><Relationship Type="http://schemas.openxmlformats.org/officeDocument/2006/relationships/notesSlide" Target="/ppt/notesSlides/notesSlide39.xml" Id="Rb5ad5e3833b24fa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fb414537294594" /><Relationship Type="http://schemas.openxmlformats.org/officeDocument/2006/relationships/notesSlide" Target="/ppt/notesSlides/notesSlide40.xml" Id="Rcf740975d1164c4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a428630f35403a" /><Relationship Type="http://schemas.openxmlformats.org/officeDocument/2006/relationships/notesSlide" Target="/ppt/notesSlides/notesSlide41.xml" Id="R8e779d36e0ff497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c02a719c0245e4" /><Relationship Type="http://schemas.openxmlformats.org/officeDocument/2006/relationships/notesSlide" Target="/ppt/notesSlides/notesSlide42.xml" Id="R6b58d105eb22497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f33e929bbe4c5b" /><Relationship Type="http://schemas.openxmlformats.org/officeDocument/2006/relationships/notesSlide" Target="/ppt/notesSlides/notesSlide43.xml" Id="Rf2006626344342b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4a386a8cee4423" /><Relationship Type="http://schemas.openxmlformats.org/officeDocument/2006/relationships/notesSlide" Target="/ppt/notesSlides/notesSlide44.xml" Id="Rc32830cb426f49f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816a2392754df5" /><Relationship Type="http://schemas.openxmlformats.org/officeDocument/2006/relationships/notesSlide" Target="/ppt/notesSlides/notesSlide45.xml" Id="R236a1296af5b46c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771b8d87c54a80" /><Relationship Type="http://schemas.openxmlformats.org/officeDocument/2006/relationships/notesSlide" Target="/ppt/notesSlides/notesSlide46.xml" Id="R2533bd28da514ae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43be9ee2ae432a" /><Relationship Type="http://schemas.openxmlformats.org/officeDocument/2006/relationships/notesSlide" Target="/ppt/notesSlides/notesSlide47.xml" Id="Rffe7b93c73fd4492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6021f092ce4338" /><Relationship Type="http://schemas.openxmlformats.org/officeDocument/2006/relationships/notesSlide" Target="/ppt/notesSlides/notesSlide48.xml" Id="R2b72261b17434f9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b7a0169dd84331" /><Relationship Type="http://schemas.openxmlformats.org/officeDocument/2006/relationships/notesSlide" Target="/ppt/notesSlides/notesSlide49.xml" Id="R1da7fc6fe4f94e95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6f7013ce224444" /><Relationship Type="http://schemas.openxmlformats.org/officeDocument/2006/relationships/chart" Target="/ppt/slides/charts/chart4.xml" Id="Rd997967514b349e6" /><Relationship Type="http://schemas.openxmlformats.org/officeDocument/2006/relationships/notesSlide" Target="/ppt/notesSlides/notesSlide50.xml" Id="R07d24b45876c461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ae30517459457f" /><Relationship Type="http://schemas.openxmlformats.org/officeDocument/2006/relationships/notesSlide" Target="/ppt/notesSlides/notesSlide51.xml" Id="R617eaa8e070e4ce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a2386e19ac4821" /><Relationship Type="http://schemas.openxmlformats.org/officeDocument/2006/relationships/notesSlide" Target="/ppt/notesSlides/notesSlide52.xml" Id="Rd4f99bf9f7b14fd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bd98f039434f5d" /><Relationship Type="http://schemas.openxmlformats.org/officeDocument/2006/relationships/notesSlide" Target="/ppt/notesSlides/notesSlide53.xml" Id="Ra82f0c2f8b4b482f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f5a34e70834ff8" /><Relationship Type="http://schemas.openxmlformats.org/officeDocument/2006/relationships/notesSlide" Target="/ppt/notesSlides/notesSlide54.xml" Id="R9a2d824c7a4f4d3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5cb660fa3c4d99" /><Relationship Type="http://schemas.openxmlformats.org/officeDocument/2006/relationships/notesSlide" Target="/ppt/notesSlides/notesSlide55.xml" Id="R8bde1fcf9b48464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6bf05a8bdb42e6" /><Relationship Type="http://schemas.openxmlformats.org/officeDocument/2006/relationships/notesSlide" Target="/ppt/notesSlides/notesSlide56.xml" Id="R1e9c54373f294bff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8efeca078943cf" /><Relationship Type="http://schemas.openxmlformats.org/officeDocument/2006/relationships/notesSlide" Target="/ppt/notesSlides/notesSlide57.xml" Id="R148efc563cc745f1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1e611f650b44d2" /><Relationship Type="http://schemas.openxmlformats.org/officeDocument/2006/relationships/notesSlide" Target="/ppt/notesSlides/notesSlide58.xml" Id="Rb9e3f8cd63a54a0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08eba52a0c4275" /><Relationship Type="http://schemas.openxmlformats.org/officeDocument/2006/relationships/chart" Target="/ppt/slides/charts/chart5.xml" Id="Rc07b81c5a28d4c25" /><Relationship Type="http://schemas.openxmlformats.org/officeDocument/2006/relationships/notesSlide" Target="/ppt/notesSlides/notesSlide59.xml" Id="R9431ab7e5a8749d6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a231d1afbf40e3" /><Relationship Type="http://schemas.openxmlformats.org/officeDocument/2006/relationships/notesSlide" Target="/ppt/notesSlides/notesSlide60.xml" Id="R3b562bb759244a7a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d57b50de1a439f" /><Relationship Type="http://schemas.openxmlformats.org/officeDocument/2006/relationships/notesSlide" Target="/ppt/notesSlides/notesSlide61.xml" Id="Rf02930f84e7f4f22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c05d0ebba40cb" /><Relationship Type="http://schemas.openxmlformats.org/officeDocument/2006/relationships/notesSlide" Target="/ppt/notesSlides/notesSlide62.xml" Id="R53507fb5910440ab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d840f724224767" /><Relationship Type="http://schemas.openxmlformats.org/officeDocument/2006/relationships/notesSlide" Target="/ppt/notesSlides/notesSlide63.xml" Id="R8d709662126e4ae7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d6045bc62b4877" /><Relationship Type="http://schemas.openxmlformats.org/officeDocument/2006/relationships/chart" Target="/ppt/slides/charts/chart6.xml" Id="R031dce605ce44453" /><Relationship Type="http://schemas.openxmlformats.org/officeDocument/2006/relationships/notesSlide" Target="/ppt/notesSlides/notesSlide64.xml" Id="R22cb851fd8e045f9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02ae56981748b1" /><Relationship Type="http://schemas.openxmlformats.org/officeDocument/2006/relationships/notesSlide" Target="/ppt/notesSlides/notesSlide65.xml" Id="Rfc99b5a1397549e1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9acf1c49f34171" /><Relationship Type="http://schemas.openxmlformats.org/officeDocument/2006/relationships/notesSlide" Target="/ppt/notesSlides/notesSlide66.xml" Id="Rd6aaae20ce94499a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aad5f688b64af3" /><Relationship Type="http://schemas.openxmlformats.org/officeDocument/2006/relationships/notesSlide" Target="/ppt/notesSlides/notesSlide67.xml" Id="R21a554ff730a421d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52a527b8224266" /><Relationship Type="http://schemas.openxmlformats.org/officeDocument/2006/relationships/notesSlide" Target="/ppt/notesSlides/notesSlide68.xml" Id="R7c8a7605baf84b54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cdc6c7970942cb" /><Relationship Type="http://schemas.openxmlformats.org/officeDocument/2006/relationships/notesSlide" Target="/ppt/notesSlides/notesSlide69.xml" Id="Ra79d364c104441c7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652c750ccb498d" /><Relationship Type="http://schemas.openxmlformats.org/officeDocument/2006/relationships/notesSlide" Target="/ppt/notesSlides/notesSlide70.xml" Id="R834f0956c8214042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3562fdc90a45e3" /><Relationship Type="http://schemas.openxmlformats.org/officeDocument/2006/relationships/notesSlide" Target="/ppt/notesSlides/notesSlide71.xml" Id="R74754e82bb074751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fa045dc66c4fd0" /><Relationship Type="http://schemas.openxmlformats.org/officeDocument/2006/relationships/notesSlide" Target="/ppt/notesSlides/notesSlide72.xml" Id="R30e08bd6a8c64a4c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6e3ac7c5034ee4" /><Relationship Type="http://schemas.openxmlformats.org/officeDocument/2006/relationships/notesSlide" Target="/ppt/notesSlides/notesSlide73.xml" Id="Rd5b6add94a9847a9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f4ef37e0f442cb" /><Relationship Type="http://schemas.openxmlformats.org/officeDocument/2006/relationships/notesSlide" Target="/ppt/notesSlides/notesSlide74.xml" Id="R655b43b9bc7b411c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f4d59612b84d28" /><Relationship Type="http://schemas.openxmlformats.org/officeDocument/2006/relationships/notesSlide" Target="/ppt/notesSlides/notesSlide75.xml" Id="R58a4f4e84ddb40cc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7188f632e049a8" /><Relationship Type="http://schemas.openxmlformats.org/officeDocument/2006/relationships/notesSlide" Target="/ppt/notesSlides/notesSlide76.xml" Id="Rc1e348dff42445dd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0a3c28f2e84fac" /><Relationship Type="http://schemas.openxmlformats.org/officeDocument/2006/relationships/notesSlide" Target="/ppt/notesSlides/notesSlide77.xml" Id="Rfeef3fdde4034bb2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9c77ed55ba4808" /><Relationship Type="http://schemas.openxmlformats.org/officeDocument/2006/relationships/notesSlide" Target="/ppt/notesSlides/notesSlide78.xml" Id="R6b505fc0816945a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Controlled missingness example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Missing cells</c:v>
          </c:tx>
          <c:spPr>
            <a:solidFill xmlns:a="http://schemas.openxmlformats.org/drawingml/2006/main">
              <a:srgbClr val="D77B6D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AGE</c:v>
                </c:pt>
                <c:pt idx="1">
                  <c:v>EDUCATION</c:v>
                </c:pt>
                <c:pt idx="2">
                  <c:v>LIMIT_BAL</c:v>
                </c:pt>
                <c:pt idx="3">
                  <c:v>MARRIAGE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LIMIT_BAL threshold flag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Borrower records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Within 1%–99%</c:v>
                </c:pt>
                <c:pt idx="1">
                  <c:v>Outside 1%–99%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29794</c:v>
                </c:pt>
                <c:pt idx="1">
                  <c:v>206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EDUCATION source codes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Rows</c:v>
          </c:tx>
          <c:spPr>
            <a:solidFill xmlns:a="http://schemas.openxmlformats.org/drawingml/2006/main">
              <a:srgbClr val="72C7C0"/>
            </a:solidFill>
          </c:spPr>
          <c:invertIfNegative val="0"/>
          <c:cat>
            <c:numRef>
              <c:f>'Chart Data'!$A$2:$A$8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14</c:v>
                </c:pt>
                <c:pt idx="1">
                  <c:v>10585</c:v>
                </c:pt>
                <c:pt idx="2">
                  <c:v>14030</c:v>
                </c:pt>
                <c:pt idx="3">
                  <c:v>4917</c:v>
                </c:pt>
                <c:pt idx="4">
                  <c:v>123</c:v>
                </c:pt>
                <c:pt idx="5">
                  <c:v>280</c:v>
                </c:pt>
                <c:pt idx="6">
                  <c:v>51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Stratified train/test counts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Rows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Train: no default</c:v>
                </c:pt>
                <c:pt idx="1">
                  <c:v>Train: default</c:v>
                </c:pt>
                <c:pt idx="2">
                  <c:v>Test: no default</c:v>
                </c:pt>
                <c:pt idx="3">
                  <c:v>Test: default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18691</c:v>
                </c:pt>
                <c:pt idx="1">
                  <c:v>5309</c:v>
                </c:pt>
                <c:pt idx="2">
                  <c:v>4673</c:v>
                </c:pt>
                <c:pt idx="3">
                  <c:v>1327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Income after imputation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Imputed income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42000</c:v>
                </c:pt>
                <c:pt idx="1">
                  <c:v>58000</c:v>
                </c:pt>
                <c:pt idx="2">
                  <c:v>58000</c:v>
                </c:pt>
                <c:pt idx="3">
                  <c:v>58000</c:v>
                </c:pt>
                <c:pt idx="4">
                  <c:v>72000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Payment amount before treatment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Payment amount</c:v>
          </c:tx>
          <c:spPr>
            <a:solidFill xmlns:a="http://schemas.openxmlformats.org/drawingml/2006/main">
              <a:srgbClr val="D77B6D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  <c:pt idx="6">
                  <c:v>G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800</c:v>
                </c:pt>
                <c:pt idx="1">
                  <c:v>950</c:v>
                </c:pt>
                <c:pt idx="2">
                  <c:v>1100</c:v>
                </c:pt>
                <c:pt idx="3">
                  <c:v>1300</c:v>
                </c:pt>
                <c:pt idx="4">
                  <c:v>1500</c:v>
                </c:pt>
                <c:pt idx="5">
                  <c:v>1600</c:v>
                </c:pt>
                <c:pt idx="6">
                  <c:v>180000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99B221-13B5-43B4-8AAE-469C36CE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0149F-7C90-4C70-A303-79D60234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62000"/>
            <a:ext cx="619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LEARNING</a:t>
            </a:r>
          </a:p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A84FF-E57F-41C4-A0FE-C563DA7A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241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Lecture 3  |  Data Cleaning and Preprocessing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6BF3B6-3760-40ED-8605-2E05611C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From raw financial records to leakage-safe model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F60358-4DDA-4D9C-962E-3FCE0A9C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781050"/>
            <a:ext cx="2190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0D2D4A"/>
          </a:solidFill>
          <a:ln xmlns:a="http://schemas.openxmlformats.org/drawingml/2006/main" w="9525">
            <a:solidFill>
              <a:srgbClr val="0D2D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C4960-42C7-4117-96A8-915B4706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276350"/>
            <a:ext cx="12001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D1707-A852-45BA-A906-E2AA0C08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43050"/>
            <a:ext cx="666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061B33"/>
          </a:solidFill>
          <a:ln xmlns:a="http://schemas.openxmlformats.org/drawingml/2006/main" w="9525">
            <a:solidFill>
              <a:srgbClr val="061B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65999C-EAC0-4896-9276-B50A6592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33750"/>
            <a:ext cx="2000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67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40EEC6-D07C-45EA-8BE7-62B282CE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292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Dr Ferdinantos Kottas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4E2F7-D06E-4EB5-B525-A96AB28E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912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NKUA MPhil Economics  |  Academic Year 2026–2027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4AC0C-FC80-4D4B-A71D-DBD76F43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  |  Week 03  |  NKUA MPhil Economics  |  2026–2027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F2C38-034D-4E97-B609-0664C239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069544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03C6EB-C301-4621-A223-3A0C4845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890B3A-B996-4629-A879-96D87539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90552-43C0-4BD6-946E-6AE1B2CD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third lecture protects the model from bad 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8A2F1-CE94-47F0-B13F-BFEF49D7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model cannot repair a table whose meaning, completeness, or timing is unclear.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379E9D-A9A9-46DB-B901-9FFCD290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574EB5-4706-4110-A3E5-32E9E1BB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B1C5C9-0EBD-436B-993A-3E9EC83B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DC9F04-F8C4-49DA-90D8-5776A6E5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264E1-D2DF-4400-B474-D74EECC8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23B047-CE66-49A4-AEFE-AB9E27D1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4317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You explored arrays and DataFrames, documented variables, and identified patterns in the credit table.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52051-2F8B-43B2-9463-AB4C23D1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A5859E-C5EA-449F-A447-6EEFD1AA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7A2718-BC73-4BE8-9EAF-C5402791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WEEK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0D0CE-0738-4ACD-85F2-B592F45B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4317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You will make data-quality decisions explicit before any estimator is fitted.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5807F-AD9A-4CA6-AE2E-4BA261C0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708C3-CC76-4B44-A7A9-F4806F1F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20334D-AFE4-4077-A6D4-4C038784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CONSEQUENCE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66F05-D445-473F-A61C-B0DF3AA8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4317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missing value, an outlier, or a leaked future observation can change a credit-risk conclusion.</a:t>
            </a:r>
          </a:p>
        </p:txBody>
      </p:sp>
    </p:spTree>
    <p:extLst>
      <p:ext uri="{BB962C8B-B14F-4D97-AF65-F5344CB8AC3E}">
        <p14:creationId xmlns:p14="http://schemas.microsoft.com/office/powerpoint/2010/main" val="5720727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898D9A-805E-497C-9B93-3DDD017F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FC7EE-EA78-4C4E-9929-44096979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LEARNING OBJECTIVES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3525D2-3E50-4124-AA50-3A10AECC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you should be able to do after this lecture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F504A8-189D-410F-82FC-8FBF1F07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goal is a transparent preprocessing workflow that another analyst can reproduce.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B4716-A2B6-442E-8A44-12E343D0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E4C50D-9E8C-420B-B3A5-2EED9855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8244E8-01C7-463E-9F8B-16CAC8E0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3D125-6759-425A-8AFA-861FB733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Separate structural missingness, invalid codes, duplicates, and extreme but plausible financial values.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6DD5C2-B091-408A-B9BD-EC7566FF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81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48FA48-543C-4AD2-BBE7-618E96AE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955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Choose an imputation, removal, or flagging rule that matches the variable and the modelling purpose.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CCA97D-5357-4F92-B11F-4F35AB29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ADA3AB-F171-4CD6-A175-1B5935BF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908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Detect outliers with documented thresholds without silently deleting economically meaningful observations.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FC7F5E-2FDA-4BAB-BC4A-44BAFAFB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71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A7ED9A-4A27-43EE-B9FF-24801303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861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Encode categorical variables and scale numeric variables with transformations fitted only on training data.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0FDB5A-07D0-4F46-9D21-59D56096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7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3FDCD-E323-495F-8DF5-DB2FF74A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a ColumnTransformer and Pipeline that keeps preprocessing tied to the model and prevents leakage.</a:t>
            </a:r>
          </a:p>
        </p:txBody>
      </p:sp>
    </p:spTree>
    <p:extLst>
      <p:ext uri="{BB962C8B-B14F-4D97-AF65-F5344CB8AC3E}">
        <p14:creationId xmlns:p14="http://schemas.microsoft.com/office/powerpoint/2010/main" val="2883337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DE4AB8-17B8-4129-9C5D-151C0E73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C654F-0204-488F-97AD-C656F67F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 USED THIS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BE142D-8899-4BD3-B747-6108FB66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real credit table, a new quality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EA9DC-10E8-476C-8A19-5721467E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UCI dataset remains the empirical case. Week 3 asks whether the table can enter a model safely.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750F1E-DB7D-4783-AA20-CD33613F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810990-63BF-4583-9DBA-24ECEC12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8052D-AB0C-41DA-B517-133E8D981CD4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048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8191500"/>
              </a:tblGrid>
              <a:tr h="43542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Course definition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UCI Machine Learning Repository, dataset 350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Observation unit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borrower credit-card account record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 and columns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30,000 observations, 25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default_next_month: 1 = default, 0 = no default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Monetary unit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New Taiwan dollars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Reuse rule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notebook reads the validated compressed course copy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853E6-4D18-426A-BAB5-7097B7EC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C38113-65C3-49EF-AB5C-35453EE9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2C6E3-BFB0-4D60-BE49-F8ABA507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IMPORTANT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2C6912-049E-4D2E-BCDF-E3EB59B0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dataset reports no blank cells, so the notebook creates small controlled examples to demonstrate cleaning decisions without changing the real-data analysis.</a:t>
            </a:r>
          </a:p>
        </p:txBody>
      </p:sp>
    </p:spTree>
    <p:extLst>
      <p:ext uri="{BB962C8B-B14F-4D97-AF65-F5344CB8AC3E}">
        <p14:creationId xmlns:p14="http://schemas.microsoft.com/office/powerpoint/2010/main" val="271069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650311-AFEB-41CF-A04A-B746F9EB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47855-1FEB-4E45-85FD-2526B4E2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LECTURE 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E62AC-ED9A-4B77-B8B5-DF5954CD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preprocessing route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86B71D-7840-4936-B611-AE9B24DF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Each step answers a different question and produces evidence for the next step.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CA4CE2-ADA1-4ECC-A9E9-CFE00F8E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0A2067-4625-43C2-AE18-3BDCA6C8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B1A3E-1477-4B57-97B1-5A8D4E9513C0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4762500"/>
                <a:gridCol w="4095750"/>
              </a:tblGrid>
              <a:tr h="4490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Audit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is present and what is missing?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Counts, types, codes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Clean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records or values need a documented rule?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Flags, corrected structure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Represent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should variables enter an estimator?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 and categorical blocks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Split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rows may determine transformation parameters?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and test partitions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Transform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do we apply the same rule to future rows?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Fitted preprocessing object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Verify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Did the transformation preserve the modelling contract?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Feature names, shapes, checks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9374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B0873-2370-4B36-904F-E384EF67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5A98C-0180-435E-8BE4-4557499B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BEFORE THE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0F627-AEFB-4420-BF9A-EA63C51B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a financial event to a model input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DD0A2-6353-4915-883E-85C9A681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 notebook is the last step in a longer data journey. Understanding that journey makes the cleaning decisions easier to interpret.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5FB22-01D4-4876-915C-BD13CC81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853B2-2B29-42DE-A8CA-02B2A556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1F1FE-5531-43AB-8EC9-0EC381AF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EE833-E84F-4CC8-8C6D-BD8D698E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294794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8EF46C-275C-4A5C-8480-F020FA9A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E6248-0AA0-4123-8DE0-A00337B9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MENTAL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260BA0-3EFE-4CE9-A321-3A902C2F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credit-risk model starts with a business event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C406B5-CDB6-4955-8307-F0B3032D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card purchase, payment, limit change, or delinquency event is recorded by an operational system. Analysts later turn those records into a table that a supervised model can use.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905FC-C97D-4E3C-B796-1775F39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7F579-A403-4E82-B6F0-B168F8EC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08B1BB-5926-4A83-85EF-7113C36AF9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1a7755f23d4810"/>
          <a:stretch xmlns:a="http://schemas.openxmlformats.org/drawingml/2006/main"/>
        </p:blipFill>
        <p:spPr>
          <a:xfrm xmlns:a="http://schemas.openxmlformats.org/drawingml/2006/main">
            <a:off x="8561761" y="1714500"/>
            <a:ext cx="2021728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5735F-A8A7-4B08-91CE-58647AF3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1257300" cy="20955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5FD5F-4A8F-4B49-A2E9-3364E594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41919-EAC5-489F-B3E6-1AF2069A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Business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32987-2E77-4009-B7B2-695634DD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6125"/>
            <a:ext cx="95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payment, purchase, account status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3B280B-D9DC-445F-BFBE-EB0C8AA9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143125"/>
            <a:ext cx="1257300" cy="20955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5B6F24-73F3-4CA5-A2E8-B02E4E79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336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816163-FF1C-444C-BA47-343CA948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813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Operational record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A44B77-58F8-43D0-B8FB-DFA0A57B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86125"/>
            <a:ext cx="95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transaction or account system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CF38D3-890C-4BF4-A5E9-5601679A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143125"/>
            <a:ext cx="1257300" cy="20955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2F9385-A318-4654-82BD-E946D0A1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336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7C0A3B-6B58-4F2B-A4F3-6BB9FA3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813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Analytical 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A21A0F-D7A7-4B7C-BD6B-42B1AF70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86125"/>
            <a:ext cx="95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joined, documented, time-aware dataset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6F6DA-E1FA-4B29-958E-194A4AE0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43125"/>
            <a:ext cx="1257300" cy="20955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9A362-5AFE-4DF6-971D-D13D39E2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3336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C45F18-DFDB-4A28-B789-2B35037C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813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Feature matrix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D9D59D-6453-4FCF-9EE7-B37CAEA0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86125"/>
            <a:ext cx="95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numeric and categorical predictors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3821E5-4131-438F-A4BC-2DF5C7E0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43125"/>
            <a:ext cx="1257300" cy="20955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DDE875-5873-4AC6-A4E9-6DBE3318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336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F3C262-490D-4614-B9A6-761A7AA3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813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Supervised model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408A6B-4945-414E-8C31-2DBC8437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286125"/>
            <a:ext cx="95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probability, class, or forecast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2C2407-FE56-4135-BADC-B7303E52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72390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804D99-AE0D-4A7C-846B-3ACBDC7C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C3E913-9BE6-4C3D-8A16-3BE7AF2E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05400"/>
            <a:ext cx="681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COURSE CONNECTION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01B07B-3947-4F07-9F91-3FD382D1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00675"/>
            <a:ext cx="6819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3 works mainly on stages 03 and 04. The output must still respect what happened in stage 01 and when each value became known.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DA7E1A-2F38-459A-A178-81E91931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8101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Image: Sprinno, "Credit cards.jpeg", Wikimedia Commons, CC0 1.0</a:t>
            </a:r>
          </a:p>
        </p:txBody>
      </p:sp>
    </p:spTree>
    <p:extLst>
      <p:ext uri="{BB962C8B-B14F-4D97-AF65-F5344CB8AC3E}">
        <p14:creationId xmlns:p14="http://schemas.microsoft.com/office/powerpoint/2010/main" val="10209567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920A00-6411-4124-9197-0A079A77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F40F3-451C-4011-BE83-7C0DC868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ETL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A6544-8D3D-4BBA-AE77-28494B48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ETL means extract, transform, and load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654B6-E8C7-4B52-BA63-6B8D97FC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labels describe where a dataset comes from, how it changes, and where the cleaned result is made available. In machine learning, the same logic appears inside a reproducible notebook and pipeline.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E206C-B0B3-4FA3-8AD9-E5DA3648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6B1287-3679-4C51-9409-35E264B4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98CB82-0BDF-479D-9265-8DDCD7E1B7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3c4d711e34057"/>
          <a:stretch xmlns:a="http://schemas.openxmlformats.org/drawingml/2006/main"/>
        </p:blipFill>
        <p:spPr>
          <a:xfrm xmlns:a="http://schemas.openxmlformats.org/drawingml/2006/main">
            <a:off x="6858000" y="2020494"/>
            <a:ext cx="4095750" cy="2531262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8025C6-F7A6-41BF-AF8A-9C6952BC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5334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EDD07A-23F9-45E9-BCE1-AF0B7CC4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D092C-C088-4788-9677-17E9CE06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05025"/>
            <a:ext cx="491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7BAD37-3A8E-4C60-BCD8-13430421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4914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Load the complete source table, preserve the original fields, and record the source version. Example: read the UCI credit-card file without silently changing codes.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B7945-8C96-4A49-BCBB-553C612F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5334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8233CD-215E-4ED2-BBD6-3E58E386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A03A5-8BC0-4181-9F21-3BC0488A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491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TRANSFORM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EA210C-5E2E-4FE3-B0C3-4F34A61C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914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Audit, flag, impute, encode, scale, join, or aggregate. Every transformation changes the representation and needs a documented rule.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A569B1-056C-4B37-87C8-F3374997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14875"/>
            <a:ext cx="5334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636176-B23F-4A99-96E3-2DF7D596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14875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0A5E00-8BF4-4F6E-8AC2-8ACA0E59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67275"/>
            <a:ext cx="491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LOAD OR HAND OFF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8F48F8-5898-458C-8B5E-F78FE4FB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62550"/>
            <a:ext cx="4914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Make the model-ready table or feature matrix available to the next system. In this course the hand-off is a fitted scikit-learn pipeline.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CCC70C-7A78-4B20-839A-341D3467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530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Image: Remyrosenbaum, "Conventional ETL Diagram", Wikimedia Commons, CC BY-SA 4.0</a:t>
            </a:r>
          </a:p>
        </p:txBody>
      </p:sp>
    </p:spTree>
    <p:extLst>
      <p:ext uri="{BB962C8B-B14F-4D97-AF65-F5344CB8AC3E}">
        <p14:creationId xmlns:p14="http://schemas.microsoft.com/office/powerpoint/2010/main" val="3300589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BAD698-3D3B-4BC5-9DBF-CB87794E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459DA-0C09-4634-AA08-F38DD44F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ETL VERSUS ELT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19776-D4D8-49F0-BF42-7EC9FB1C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Where the transformation happens changes the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752BD-9A15-4453-943D-585682F5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Traditional ETL transforms before loading into the analytical store. ELT loads first and transforms inside a warehouse or lakehouse. Both approaches require data definitions, lineage, access controls, and quality checks.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20AFD-CC0C-40F6-AA93-81F7CBB6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D42CE-854D-435B-984E-DBA4B862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D1631A-4848-46BA-90E3-C37DFFDD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4810125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CD541-EE95-41F3-B4AD-5E7F8FED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11E2D6-9173-4A95-AA91-9814DE94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0275"/>
            <a:ext cx="43910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ETL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7968B0-2076-41AE-80E3-349A1A7A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391025" cy="2085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Source -&gt; transform -&gt; analytical store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Useful when the destination should receive only validated, structured data. The transformation system carries more responsibility before the data becomes available for analysis.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B33DD-9D59-42A1-BFEC-E899C7F7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4810125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4947E-BC41-485A-9C9C-894ED477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DB2638-65DB-4A72-AC9C-19FED359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0275"/>
            <a:ext cx="43910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ELT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2C9F3B-0B0D-494C-8B27-843DD1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4391025" cy="2085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Source -&gt; analytical store -&gt; transform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Useful when scalable storage keeps raw history and analysts need to create several derived datasets. The raw layer needs strong governance because it may contain sensitive or inconsistent records.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5F4C5-99AC-4B46-AF3C-F0E7CDC8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95875"/>
            <a:ext cx="102584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E34DA9-5813-4D99-B727-08D59895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95875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B616A0-0FC1-4676-A801-8E97588E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48275"/>
            <a:ext cx="98393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WEEK 3 INTERPRETATION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068046-C7A3-4066-B7AB-631479E5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43550"/>
            <a:ext cx="98393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scikit-learn Pipeline behaves like a controlled transformation stage: it learns rules from training data and applies the same rules to later rows.</a:t>
            </a:r>
          </a:p>
        </p:txBody>
      </p:sp>
    </p:spTree>
    <p:extLst>
      <p:ext uri="{BB962C8B-B14F-4D97-AF65-F5344CB8AC3E}">
        <p14:creationId xmlns:p14="http://schemas.microsoft.com/office/powerpoint/2010/main" val="17819907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948FC-ACD1-4B36-95B0-E75518C8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556A9-A65B-4CCD-9940-34D89C62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OLTP AND OLAP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E2B89-0573-4174-988A-CABEA655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Operational and analytical systems answer different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33DF9-C552-4E2A-A4BD-267C1836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Students often meet both terms because financial institutions need fast transaction processing and large historical analysis. They are optimized for different access patterns.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6067A4-B7ED-4EE5-B67C-7888114F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0F60D-311A-426F-9549-695B13B2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CACE9-2748-4867-B0C6-2EE9E9B5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3190875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872210-8ABD-4EAC-A4F4-2A7D8035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C231F-0115-4BE3-B4DB-6CEAAD48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05025"/>
            <a:ext cx="27717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OLTP · ONLINE TRANSACTION PROCESSING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B48120-3B3F-4F2A-84B2-FDACC8B1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771775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Question: “Can this payment be authorised now?”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Many small reads and writes. Strong consistency. Current operational state. Examples include card authorisation, account updates, and payment posting.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C5953-EC4C-4AE1-B515-E8D432B4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52625"/>
            <a:ext cx="3190875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F4F6FA-C919-4A71-82E1-DE5D3147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52625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94942-1428-48FC-9989-FC3F03C9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105025"/>
            <a:ext cx="27717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OLAP · ONLINE ANALYTICAL PROCESSING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297713-6996-4C1C-A835-583BB910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771775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Question: “How did default rates differ by customer segment and month?”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Large scans and aggregations across history. Designed for analysis, reporting, and feature construction.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A64F7C-D6F0-4D72-9385-8853C9E1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752725" cy="2857500"/>
          </a:xfrm>
          <a:prstGeom xmlns:a="http://schemas.openxmlformats.org/drawingml/2006/main" prst="roundRect">
            <a:avLst>
              <a:gd name="adj" fmla="val 4152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AC5096-B319-4E62-BCD8-236013F5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0A44EC-873F-44BE-AA96-F8F42EB1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05025"/>
            <a:ext cx="233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WHY ML USES OLAP-STYLE 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F04CA9-A0C9-4AFC-BC4E-E7FF3F29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2333625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Training repeatedly scans many rows and columns. The modelling table is usually derived from analytical storage, not from a live transaction query.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7E3287-AA13-47F5-85E1-8EEFE4E2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86375"/>
            <a:ext cx="10258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distinction is about workload and design, not about “good” versus “bad” data.</a:t>
            </a:r>
          </a:p>
        </p:txBody>
      </p:sp>
    </p:spTree>
    <p:extLst>
      <p:ext uri="{BB962C8B-B14F-4D97-AF65-F5344CB8AC3E}">
        <p14:creationId xmlns:p14="http://schemas.microsoft.com/office/powerpoint/2010/main" val="6370200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AA4180-D23F-4F8B-BE55-0A6EF1FB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60145-E64A-42DA-AAA7-E6057EAE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STORAGE CONCEPTS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211DA-59B5-43F6-B17F-90E7A44E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Warehouse, data lake, and lakehouse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39934-43B4-4694-8915-56F9BB7A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These terms describe common places where financial data may live before it becomes a model-ready table. The course uses the concepts to reason about provenance and readiness, not to build a cloud platform.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7FDA9-0444-43C7-BB2F-5A1AA47C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D03E1-8DB1-4F6A-BD7D-D65C0A8B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C7D34-D7C7-48FF-9D4A-B5FF4621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3048000" cy="31432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9B38E9-06AD-4A1E-8A82-DE5024AA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571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F8FE9-E3B8-46CE-B206-987EB6CD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05025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 WAREHOUSE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D09B1-8C88-4128-8AD1-67FDE215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628900" cy="2562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Curated, structured, governed tables designed for reporting and 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Typical use: monthly risk reporting, approved customer dimensions, and stable aggregates.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35BA7-48B8-486B-91C2-1CF490A7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3048000" cy="31432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B7B85-4B95-45D9-BA29-611B1884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571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081E49-8220-46DD-A4F7-43A0F970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05025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DATA LAKE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10F2C4-3F29-4B77-9C88-A5529133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00300"/>
            <a:ext cx="2628900" cy="2562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Low-cost storage for raw, semi-structured, and unstructured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Typical use: event logs, raw files, snapshots, and data retained before its final analytical shape is known.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A4F7FB-A947-47C0-9D01-734A6171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52625"/>
            <a:ext cx="3048000" cy="31432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35BB54-A1C9-46BD-B5E3-5F0520F4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52625"/>
            <a:ext cx="571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ED1DB0-1490-437A-B4E6-0535D824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05025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LAKEHOUSE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5AF803-660C-48D7-B092-D17A0FC7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00300"/>
            <a:ext cx="2628900" cy="2562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lake-style storage layer with warehouse-style management such as schemas, transactions, catalogues, and governed analytical tables.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Typical use: one platform for raw history and reliable derived tables.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69A66F-0BAA-42FF-B9A6-E2943211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10706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8F0990-E607-4C37-BD87-B48818AE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7494C5-EF52-43D7-8EB9-53D6427D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028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KEY QUESTION FOR ANY STORAGE LAYER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2A438B-D6C0-43FB-9C7C-55125DC3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76925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Can we identify the source, observation unit, timestamp, transformations, owner, and allowed use of the data?</a:t>
            </a:r>
          </a:p>
        </p:txBody>
      </p:sp>
    </p:spTree>
    <p:extLst>
      <p:ext uri="{BB962C8B-B14F-4D97-AF65-F5344CB8AC3E}">
        <p14:creationId xmlns:p14="http://schemas.microsoft.com/office/powerpoint/2010/main" val="898279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D8130A-D77A-4905-95A3-56CA6462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1EE4B4-199E-434E-A6EC-FE683226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 GOVERNANCE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8A7F6-994A-4C0F-AC2B-2A8EDF84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model-ready file is not automatically trustworthy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86E6E6-D12E-491F-9884-B71D6BAD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Good preprocessing needs more than code. It also needs a record of who produced the data, what each field means, and when each value became available.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88C68-B2DC-4F81-B11E-63E13134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7096F-8368-4685-86A2-F3DC8E9D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ABDC69-1C23-4B30-B519-F04389A5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7A332-E94A-4DA8-AA22-2FC3662D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6583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Data dictionary: define variables, units, valid codes, and the target.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19DB5-3E58-4972-991C-8FD85E82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9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1896A-6FB5-4A34-8274-9988DF29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24125"/>
            <a:ext cx="96583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Lineage: record the source file, joins, filters, transformations, and output dataset.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31CE8-E5E7-4718-A4D6-7177C7F9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33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2D6D2F-BD54-4A10-B04D-2E84F653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96583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Quality controls: check row counts, ranges, missingness, duplicates, and category changes.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3164C-0DE5-4827-8D86-DC5CC76E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A99097-3315-4449-9080-A913659F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71875"/>
            <a:ext cx="96583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Access and privacy: limit sensitive fields and retain only what the modelling question requires.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34661-2361-448F-B90A-1402FC97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81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03E61-DE25-4792-8772-54EF4BE9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95750"/>
            <a:ext cx="96583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Reproducibility: keep the exact code, environment, data version, and preprocessing object.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FC4443-4ABD-4CD4-BD55-6E71869D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2298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30E027-93D4-4E55-841C-70E83A52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57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A8F0D0-E1A3-4C0F-9BE2-E13DA983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EXAMPLE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FBDC78-3958-4065-BE1E-3C474DB2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repayment status reported after the prediction date may be a valid field for reporting but an invalid predictor for an earlier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9726797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AD8D9F-C689-494B-82AE-EF5D1442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E419BD-E6E1-424A-B4C4-4D05FAA2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INFORMATION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B161E-C02F-4D99-8AA0-0ADE5B3E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Train, validation, and test have three different jobs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573ECB-EB5B-4B52-A793-4774BE55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split is a design decision. It determines which observations may influence a rule and which observations remain evidence about generalisation.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E6C96F-D562-42CD-AC5B-700A68D5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53576-E477-4865-A532-F8DBDB88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57EDD-DBA8-4C07-8AF7-C20B530329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fb1edd99e474a"/>
          <a:stretch xmlns:a="http://schemas.openxmlformats.org/drawingml/2006/main"/>
        </p:blipFill>
        <p:spPr>
          <a:xfrm xmlns:a="http://schemas.openxmlformats.org/drawingml/2006/main">
            <a:off x="742950" y="1961833"/>
            <a:ext cx="4953000" cy="3029585"/>
          </a:xfrm>
          <a:prstGeom xmlns:a="http://schemas.openxmlformats.org/drawingml/2006/main" prst="roundRect">
            <a:avLst>
              <a:gd name="adj" fmla="val 375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AE6E89-A751-4AFA-BE4F-E7E8FFB2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1381125" cy="2190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BD8398-F522-4A7B-8852-BDDEC8C5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57D0AD-345B-4461-A2C3-BDF7187E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574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3C2818-8902-49AB-B358-48E6211E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00375"/>
            <a:ext cx="11144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fit imputer, scaler, encoder, and model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3A397-4AA7-44B4-AB18-9CBB94ED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333625"/>
            <a:ext cx="1381125" cy="2190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11E1B0-6A79-468E-96B8-506F6E04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333625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EE7B0-1628-447D-A73C-AD943B3F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574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C68F6-C0E4-4107-B508-858AC144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00375"/>
            <a:ext cx="11144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choose hyperparameters or threshold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7ACC8-7498-4FA0-8168-792FB1BA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33625"/>
            <a:ext cx="1381125" cy="2190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B2D562-38A7-4214-BE8E-17599199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33625"/>
            <a:ext cx="1381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F1E877-5784-4CBC-BCAC-63BA9B33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574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89CA2-0E36-4A89-9922-3011A2CA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00375"/>
            <a:ext cx="11144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report final held-out performance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D0022B-997A-48A7-92A9-E59FC94A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86375"/>
            <a:ext cx="102584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7DB45C-223A-47FD-8CA5-FEF122E9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86375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74E27F-5CC5-4304-A9B5-46AED41B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38775"/>
            <a:ext cx="98393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CRITICAL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53E88C-F09D-4DC8-89A9-FC4E006D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34050"/>
            <a:ext cx="98393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Fit preprocessing on training rows only. Use validation to choose. Touch the test set once for the final estimate whenever possible.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AA7480-2CE8-4817-AC95-EA2C760B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48375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Embedded reference image: EpochFail, "Machine learning nutshell — Split into train-test set", Wikimedia Commons,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7668765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8D12F7-DC69-45E2-BD7E-0CA26B82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1A63C8-1745-4679-AE8C-266E9E03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ORDER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05CD6-651D-4842-8D88-8A200CCA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code can be valid or leaky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BE5A6F-CF44-40DC-B8C0-EB3B04C3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test set should not define the representation used to train or tune the model. A pipeline makes the information boundary explicit.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F2255-7D88-4DA2-A82B-837833E0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F26AD-8A29-4896-B7DA-2F50562F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6116BA-323F-4708-B076-6042AEE9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10CBF5-582C-44CA-817C-57B52DAF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F71909-E12E-4225-83BB-14254154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0275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WRONG ORDER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266840-0DDF-4D0D-A7E6-C9A0B500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1. Calculate full-sample medians and scales</a:t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2. Encode categories using all rows</a:t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3. Split into train and test</a:t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4. Fit the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held-out rows have influenced the input representation.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49EF5-02A0-4C06-9524-AAFC9A7A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481012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CF999-0186-4CAA-ABA0-CA4FAA80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1A838-01B0-48A3-9FAB-5FA728C7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0275"/>
            <a:ext cx="43910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CORRECT ORDER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F6593-9B92-4384-B570-0D60B3F1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439102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1. Split the rows</a:t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2. Fit transformations on training rows</a:t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3. Transform validation/test rows</a:t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4. Fit and tune the model within the training 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Held-out rows remain evidence.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61E7D1-6877-4F05-83DF-E1AAC9EE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95875"/>
            <a:ext cx="10258425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D5EF26-6AF8-4B02-9379-F2F05F83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95875"/>
            <a:ext cx="57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5535D9-311A-4430-907C-61FB2A29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48275"/>
            <a:ext cx="98393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PRACTICAL CHECK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B4DFA-397D-4C0F-85BC-1FACA49D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43550"/>
            <a:ext cx="98393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Whenever a notebook calls fit or fit_transform, identify exactly which rows are inside the object at that moment.</a:t>
            </a:r>
          </a:p>
        </p:txBody>
      </p:sp>
    </p:spTree>
    <p:extLst>
      <p:ext uri="{BB962C8B-B14F-4D97-AF65-F5344CB8AC3E}">
        <p14:creationId xmlns:p14="http://schemas.microsoft.com/office/powerpoint/2010/main" val="3589945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9E7173-7C8B-4F76-9798-02C921B1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D100B8-52D0-4209-9A7E-EB7442D1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 3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BCA02-3396-4612-AED2-2022041D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this lecture must leave behind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BCB0C-94A4-45B1-8467-EB1D474F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Before the first classification model, the course needs a documented and reusable data contract.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9100B-A4D9-4FC4-8913-E4C56E6D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02945-DF36-4689-8505-B32D4732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B42A23-F849-4229-94FD-C14F4D82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14FBE-732F-4289-A161-0942D66D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52625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Source and observation unit are explicit.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FA7DF-705A-4A49-B669-DF0087FE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9FA5C-BF1F-48FA-8506-9A2F6952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28875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Variable roles separate predictors, identifiers, and target.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2E548C-A8FF-4D17-B5A6-1BCFC235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379593-85EE-479D-A6BC-5A6346B1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Financial units and special codes come from the data dictionary.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27EDA5-5FA2-46F8-A1FA-B3F7C5D2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1FCF28-F747-48F7-B777-10BDBC61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81375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Missingness, duplicates, outliers, and unseen categories have documented handling.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55C6B2-120A-4B8C-B18A-6DACCB11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43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AA352B-755C-403B-BA67-FAA8858C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57625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Train/test or train/validation/test boundaries are defined before fitting transformations.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65BDDE-7FD2-4963-BEF4-900FD001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9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5E47D6-29DE-462C-A3B4-06FF272B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33875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ColumnTransformer returns stable feature names and shapes.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AAFBE4-8810-4E0C-A763-C20B0772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A7974B-3A15-437B-B9DE-DB077ED5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0125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notebook can be rerun from a clean session and produces the same checks.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086363-7777-45F1-8B7F-AF6AD44D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71A9C3-62A8-46F3-9DD2-DD1F3B15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34F80B-96CA-44EA-A26A-2FDE3A31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NOW THE CODE HAS CONTEXT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55C9B1-26DA-4EEB-BDB0-EA9156B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next section shows each diagnostic and transformation on the UCI credit table and controlled examples.</a:t>
            </a:r>
          </a:p>
        </p:txBody>
      </p:sp>
    </p:spTree>
    <p:extLst>
      <p:ext uri="{BB962C8B-B14F-4D97-AF65-F5344CB8AC3E}">
        <p14:creationId xmlns:p14="http://schemas.microsoft.com/office/powerpoint/2010/main" val="8201140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EBEA61-075D-4BF5-AF44-CB81FB4D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87554-1D94-4460-ABE8-A467A9F8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BDEDB0-72DE-4AC0-AF42-0AEDD99A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Data-quality audit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423C56-7B89-4DBA-8DD3-1D54C638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Cleaning begins with evidence about the table, not with a favourite imputation method.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CF9D3-F0F4-44D0-A085-9E6A5C29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8943E-69AE-4C84-BB8E-A197ECC9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F60E6-7674-48D5-8CE8-A2422630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ADF5B-1490-4902-ACE9-91695CA3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900673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74F394-274C-4FEF-98F0-4745AE35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CC130-843C-4F31-B8E3-E3E21B51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577499-F43D-445A-82D8-0E6D890E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can go wrong before modelling?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DDBD49-2E24-455F-92F1-A012E1AC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table can fail in several different ways. Each failure requires a different response.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E17559-FA8D-4902-B037-E42DEB72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A22176-5279-4BA4-99CF-EC818A41A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D5300-BD30-468F-BE96-1A6EBAF28177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429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5334000"/>
                <a:gridCol w="3143250"/>
              </a:tblGrid>
              <a:tr h="48985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Problem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 in finance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First diagnostic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 value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reported income or payment 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isna().sum()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 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same transaction imported twice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duplicated()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Invalid code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Education code outside the data dictionary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value_counts()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Extreme value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Very large limit or payment 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quantiles and plots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Leakage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future status included in a predictor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timing audit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Type error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Date or category read as a number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dtypes and parsing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33554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128D9B-7DA3-44A8-B458-F3C0B1A6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DCC5D-57A2-4EDD-83BD-58FE21CB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CC06C-96E4-4605-8C0E-683F6D74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Structural and substantive missingness are different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41C6D-4F16-42E2-923F-2F15CC6B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blank cell is a storage fact. A special code can be a meaning-bearing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D21850-5652-450C-B3FD-097A1402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8475D-EF57-4164-8FFD-97BC94B7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61378-9120-441B-BAA0-2B9625FF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0C7C4A-956D-4838-AF53-2B101020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91542C-95FF-409F-B3E8-334B5630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STRUCTURAL MISSINGNESS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0B36A-B4F0-445B-A415-F3DE45EA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value was not collected, not available, or lost during extraction. The analyst must decide whether to impute, flag, exclude, or obtain the source again.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090A16-43FA-411C-9988-B73246C8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93639-4030-418B-8814-98E03A7C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2D9BD-A064-4B3D-AAD5-AF493CF2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0275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SUBSTANTIVE 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73301D-5AAE-4F7B-9D6E-DCD62AAD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value such as -1, 0, or 9 may encode a real category or a repayment state. Replacing it with a median can destroy the source meaning.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603A4-5100-4A54-B5EF-B6632E46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02298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1E642D-8029-4D31-AF62-D88503EB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F27518-A4F4-4556-A773-79A27B45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PRACTICAL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6774D8-BE3A-4E65-A89D-A98F3B7F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00675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Read the data dictionary before writing the cleaning rule. The same number can be a legitimate amount, a category, or a missingness code depending on the variable.</a:t>
            </a:r>
          </a:p>
        </p:txBody>
      </p:sp>
    </p:spTree>
    <p:extLst>
      <p:ext uri="{BB962C8B-B14F-4D97-AF65-F5344CB8AC3E}">
        <p14:creationId xmlns:p14="http://schemas.microsoft.com/office/powerpoint/2010/main" val="162595901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5FF5CF-73AC-4E39-8089-656516A7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6402A-B398-4046-A6E7-DD488FD1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7E34D-703F-4669-A66E-40F9718E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Missingness is a modelling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E680A-4C51-4EAF-92F3-140281F4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There is no universally correct response. The choice depends on the variable, the mechanism, and the estimator.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CC2D2-3E53-4948-8AFA-74EA51F1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E5EC28-11B5-47EB-B9A4-B42FEE70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02687-4F22-4FDF-895D-8FE049F8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B82EC-FC45-4C37-A88B-41E8CA61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Drop a row only when the observation is unusable and the exclusion rule is defensible.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F4D99-C141-499A-BA71-00A2B974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34B53-32ED-4EFC-B87F-3CD6779D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86025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Drop a column when it is unavailable at prediction time, nearly empty, or not part of the question.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EBFC6A-5E1D-4369-900D-F439F469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57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CCADD-9AA4-4F3D-B21E-5B1C8C82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71800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Impute numeric variables with a training-set statistic such as the median when a stable baseline is appropriate.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014662-5CC7-4FB4-A122-1FD494C1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F16312-258A-4508-8CCD-F38DB170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Impute categorical variables with a documented category such as Unknown or the training-set mode.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34AA03-DFE7-461A-B01B-0F5601B2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524F2C-FB60-4443-AC51-2DD50EBE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Add a missingness indicator when the fact that a value is absent may itself carry information.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CC39A5-3C7E-4FF8-B015-8D5A20E5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9C7DB9-2FD4-4965-8391-A03CB1C3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29125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Never calculate imputation values on the full dataset before the train/test split.</a:t>
            </a:r>
          </a:p>
        </p:txBody>
      </p:sp>
    </p:spTree>
    <p:extLst>
      <p:ext uri="{BB962C8B-B14F-4D97-AF65-F5344CB8AC3E}">
        <p14:creationId xmlns:p14="http://schemas.microsoft.com/office/powerpoint/2010/main" val="10069281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683119-FE8D-4416-B044-F010E09C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968B22-BC33-45E7-9267-62FE9B3D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F2AEE-E6DE-4FFB-A968-5C778069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Start with one compact audit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4CAB4-07B1-4FF0-9C68-D246ADDD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first code block records the structure before transformations begin.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54257B-359E-4E6F-AB39-5E6587E8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C09F8-4604-4D70-8CF0-8BB9223A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712836-3DFD-4342-8BF9-20B02097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8117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1E776-D13B-4F1C-9AD8-14BFD1B7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334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EA01C-F665-48CC-B737-36C3DC94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49530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audit = pd.DataFrame({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'dtype': credit.dtypes.astype(str),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'missing': credit.isna().sum(),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'unique': credit.nunique(),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'min': credit.min(numeric_only=True),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'max': credit.max(numeric_only=True)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})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audit.head()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7E16CD-7461-4337-BB53-1407826D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2735D-5C49-425E-9C86-1A1E69D9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476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813E71-081F-40DC-A0FA-4D361AED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095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  dtype  missing  unique  min  max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ID           int64        0   30000  1.0  ...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  int64        0      81  10000 ...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SEX          int64        0       2  1.0  2.0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EDUCATION    int64        0       7  0.0  6.0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7F546-CE69-41B1-8AA8-B809F0F2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102298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ACF726-40A2-47AD-9DB2-5B119917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00D4EE-3FE7-4579-8021-1F81EB14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275B88-FC1B-494E-97F1-9BFDD002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721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audit is evidence about storage and coverage. It does not yet tell us which variables are safe predictors.</a:t>
            </a:r>
          </a:p>
        </p:txBody>
      </p:sp>
    </p:spTree>
    <p:extLst>
      <p:ext uri="{BB962C8B-B14F-4D97-AF65-F5344CB8AC3E}">
        <p14:creationId xmlns:p14="http://schemas.microsoft.com/office/powerpoint/2010/main" val="126504457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ACE853-FF07-41B4-AECB-A7B2D8B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3002B-7E1F-457A-88CD-D8A85D94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10721D-3EA8-4D8C-88AD-21D37DC6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the UCI audit tells 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DF03DC-45B1-4730-B6D3-CF8B6D48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clean blank-cell count is useful, but it is only one dimension of data quality.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C0733-93F0-46D0-BB88-4D79252A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C2C48-D10C-4C8C-B4FF-9A28B5DF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30AB13-B85E-48AC-A9BA-1F4EE0D47B39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19087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2381250"/>
                <a:gridCol w="5524500"/>
              </a:tblGrid>
              <a:tr h="45583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 and columns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30,000 × 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expected course table is loaded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Blank cells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empty cells in the supplied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 rows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exact duplicate records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Unique IDs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unique ID per row in this file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 counts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23,364 / 6,636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Class imbalance must be remembered later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Special codes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Present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Education and repayment codes require definitions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070970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40FC6-4E4D-4D6A-B08D-88DCB34D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5FA63-8208-449E-B04B-899C93EF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CONTROLLED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126B0-573D-49F0-869F-B6B165A4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teaching example makes missingness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A41AE2-88C1-45D2-9C0E-429D80A0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real UCI file has no blank cells, so we create a small copy with deliberate missing values for the demonstration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F57132-20CF-4F81-A114-1887E75E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4D4E04-F914-4EA8-ADDD-CB2E78F9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E62DCD03-5C0E-483B-B84C-F5E9A0A077FA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4953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00ddf4da9e442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45944-D6D3-4CE4-9E57-23A7F0E4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DDAA68-57E4-4F6D-AD61-3A5B4F67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4667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F076DA-83B8-4446-AC4F-8850B420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286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 = credit[['LIMIT_BAL',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'AGE', 'EDUCATION', 'MARRIAGE']].head(8).copy()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demo.loc[[1, 4], 'AGE'] = np.nan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demo.loc[[2], 'EDUCATION'] = np.nan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demo.isna().sum()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B4600-E6BA-43FF-931F-3C44A8B0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61E9C0-B782-49B0-95A0-546A9AAD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49E0F2-7FBF-4ED0-9D3B-5F468C89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WHY USE A CONTROLLED EXAMPLE?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C1456-E4C7-4C25-B831-141D0E0A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Students can test the cleaning rule without pretending that the original source contains missing values that it does not contain.</a:t>
            </a:r>
          </a:p>
        </p:txBody>
      </p:sp>
    </p:spTree>
    <p:extLst>
      <p:ext uri="{BB962C8B-B14F-4D97-AF65-F5344CB8AC3E}">
        <p14:creationId xmlns:p14="http://schemas.microsoft.com/office/powerpoint/2010/main" val="186265487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0DFA3-0E78-4178-87B2-3953970E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D90C7B-8A86-478B-AF36-B65FC9E6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MISSINGNESS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1ADCA-75C6-47FA-8086-963B7296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Measure the rate and preserve the indicator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CA444-84E8-4A24-B27F-420177C0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indicator records that a value was absent before an imputation replaces the cell.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B6F16-7858-4DA5-9232-9F1F0C5B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26106-18A4-4B14-A75D-39252C88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AA706-142B-468D-8CCE-F897FA00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8117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BDEAC-E251-4935-A183-C94287A2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334000" cy="300037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66AC0C-FA41-4203-8864-2595BC9A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49530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missing_rate = demo.isna().mean()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demo['AGE_was_missing'] = demo['AGE'].isna().astype(int)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demo['AGE'] = demo['AGE'].fillna(demo['AGE'].median())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print(missing_rate)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print(demo[['AGE', 'AGE_was_missing']])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019A81-6E98-4A74-B32B-54FA4D80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D5DE7-44B4-4DAB-9720-0B61A0E4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476750" cy="300037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50A7C6-0E92-4604-904B-AB0B167B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09575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AGE          0.25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EDUCATION    0.125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  0.00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MARRIAGE     0.00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AGE  AGE_was_missing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24.0 0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34.0 0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37.0 1</a:t>
            </a:r>
          </a:p>
        </p:txBody>
      </p:sp>
    </p:spTree>
    <p:extLst>
      <p:ext uri="{BB962C8B-B14F-4D97-AF65-F5344CB8AC3E}">
        <p14:creationId xmlns:p14="http://schemas.microsoft.com/office/powerpoint/2010/main" val="100125810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F71DA-5F0F-4573-B40E-A9A867DE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DDCA4-5FB9-42E8-B289-9DC939B4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MISSINGNESS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A9A55-E9D9-489A-BB0D-CB772A28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Choose the response by variable role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1B4DC-65DC-4FC8-B820-CE3A0DB3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policy should be written before the model is fitted and should be reproducible in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0A1A6-9918-4456-B6A8-11619144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8615E-1AD2-4870-8CF7-8703B02D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D0B61A-686A-4D79-9018-87132244C035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3524250"/>
                <a:gridCol w="3905250"/>
              </a:tblGrid>
              <a:tr h="539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Variable situation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Possible response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Reason to document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Numeric, modest missingness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 imputation plus indicator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Robust to skew and preserves missingness information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Categorical, missing category meaningful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Explicit Unknown category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Avoids pretending the mode is the true value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Column unavailable at prediction time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Remove the column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Prevents deployment-time failure and leakage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 invalid for the study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Exclude with a count and rule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Shows how the sample changed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 code has meaning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Map using the data dictionary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Avoids replacing a category with a statistic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182565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5C5167-AE39-4630-9268-4B730E0A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8507D-54FD-45CC-80BF-9F88B4E3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F18688-DBB2-433E-8404-10ADB7EF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Duplicates and identifiers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C7ACD-2970-4999-8B4A-B1B820C2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A duplicate check needs both row-level evidence and an understanding of the observation unit.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AAE52-0937-4013-9EBF-70EB54A3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E6F0D8-7BF1-4EE7-B1B4-1E610819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CE2A8A-808B-40BF-A904-6F09FC55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95D9D0-944A-4BF9-ACB8-CC46518F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8329386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7D7CD4-DC42-4161-AC81-435BF006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8C5F7-5531-45EC-BCA3-3626C94D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DUPLICATES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F96B4-8A13-4BA1-AA40-4558643F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 exact duplicate is not the same as a repeated borrower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7E11EB-C593-4E43-9BCF-0D71E547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correct check depends on what one row represents.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0F92F-66A6-49C8-A4E3-ED47EC36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F3B978-C0D5-4E8E-9FCF-B34A1352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FF6686-D2C5-4045-B1CC-1C6AC617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A4B45F-1E0F-43E9-AA96-ED81C8A6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6EF1EA-7E94-41A4-8BB7-776560FD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EXACT DUPLICATE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35784-B98F-4A6C-BAD2-DEA4A3A3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Every column matches another row. This may be a repeated import or a legitimate repeated record, depending on the source.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DAB15-5A17-4442-B693-2D40B357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4C3AB0-88C3-4182-B74A-466050E6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33786-A0F4-4A0A-B189-49A2DC3A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DUPLICATE 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D7E789-6EEB-4DA0-9CAA-10C9CC62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identifier repeats. That may be an error, or it may be valid when one borrower has several accounts or periods.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28652D-5698-47A5-A503-213A07E7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1C2BB0-C1B9-4273-BC07-390E6458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31FBD3-C4BC-4341-B3B5-2EEDCD72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REPEATED 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11B54E-114B-4B8D-8A35-5B0400C8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borrower may appear in several rows by design. The modelling split must respect the entity and time structure.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66B7F4-DACE-485A-9B8D-6E793FAC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5346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FDFBF8-F6B0-49F1-9EC5-048AC18C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690659-B03D-416E-98E7-FF28E6BF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1011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CONSEQUENCE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CB712A-5A6C-4637-A346-29138608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95925"/>
            <a:ext cx="1011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If the same borrower appears in both training and test samples, performance can look stronger than the model’s performance on a new borrower.</a:t>
            </a:r>
          </a:p>
        </p:txBody>
      </p:sp>
    </p:spTree>
    <p:extLst>
      <p:ext uri="{BB962C8B-B14F-4D97-AF65-F5344CB8AC3E}">
        <p14:creationId xmlns:p14="http://schemas.microsoft.com/office/powerpoint/2010/main" val="80632338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FF961F-2736-4203-B602-170E5927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B2266-4F9A-487F-955E-7533103E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DUPLICATE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1329C0-6837-4B01-B97C-652823BB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Create a small duplicate example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2D04D-F63A-4A92-B3CA-032113C9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source file contains no exact duplicates. The code below shows how the diagnostic behaves when one row is repeated.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0C861-D3B2-4AC6-8B15-C85D9F68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15759C-F380-4CB0-865A-09239E42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EB10B9-7A7F-4D0E-AB78-A1B6CE54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361A46-58DF-4C1A-9CE4-782A4D7D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2BE590-DF8A-4471-A4A5-797E40BA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small = credit.head(5).copy()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demo_dups = pd.concat([small, small.iloc[[0]]], ignore_index=True)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print(demo_dups.shape)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print(demo_dups.duplicated().sum())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1459C-16F7-41F5-8938-62312B7D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185839-97A5-4A95-A637-6C1C1E12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E36DA-21B6-45E0-8045-65C7A7FF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(6, 25)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64DE7-A7BF-4987-90E7-322447B6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D6D330-62BE-4A4A-BABE-1B7CA586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A8DFCE-A92D-4F8E-AFAF-113F8528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DO NOT DELETE SILENTLY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54C56F-4D9F-4B7F-8AD2-39A60D43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816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Record the number of rows before and after any duplicate rule, and explain why the retained row is appropriate.</a:t>
            </a:r>
          </a:p>
        </p:txBody>
      </p:sp>
    </p:spTree>
    <p:extLst>
      <p:ext uri="{BB962C8B-B14F-4D97-AF65-F5344CB8AC3E}">
        <p14:creationId xmlns:p14="http://schemas.microsoft.com/office/powerpoint/2010/main" val="158361992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EDCF5-D63E-4BC6-AED6-6F266ECD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E6904-9469-49F7-BCDE-2530875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IDENTITY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D4E2A4-193B-45B2-9EB1-94DFF8F0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the observation unit to choose the duplicate key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F8FA1-3242-4BE6-A785-108CD9CE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Pandas function can answer different questions depending on the subset of columns.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F9F4F-70CE-47EC-8BE0-54912237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476E97-86B1-46F9-9E49-33B607C0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9648E2-7D66-4B25-9961-529843FBA2DD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4000500"/>
                <a:gridCol w="39052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Pandas pattern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 answered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Exact row duplicate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credit.duplicated().sum()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 the full record repeated?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Repeated 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credit.ID.duplicated().sum()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Does the identifier repeat?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Repeated borrower-period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credit.duplicated([ID, date]).sum()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Does the same entity-period repeat?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Unique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credit.ID.nunique()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many entities are represented?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First occurrence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credit.duplicated(keep="first")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rows would be removed by a first-row rule?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410437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8DD057-1104-43F2-84CF-62217F9D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FA8EAC-2B34-4713-8DB1-EC338C3E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F962C-09EB-4D5F-B553-D209EF08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Outliers and special codes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28ED3E-C034-406C-8359-38AE6592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Unusual observations require a financial interpretation before a mathematical treatment.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35905D-27FA-42D9-AD46-B688DB92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65FB0-0D7B-46CD-914B-CFE99DFA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78C3A-8AA4-4C17-BA50-49356221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551901-D891-4B78-9F32-92B2B3E7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1680494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3B3E41-DC99-4522-9149-3C9077AC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1753E-6728-483F-902A-B8EDC29C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3FF9C-6B28-49AC-BC7E-B100DC01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 outlier is unusual, not automatically wrong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040B6-34A1-489C-8961-4B6ADEFD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correct response depends on whether the observation is an error, a rare event, or a meaningful tail.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EBEB8-9E36-4F62-917B-E0998C90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590349-418F-4FF8-BAB8-48EED367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75A438-646C-46C9-85B0-B9501B5EE00E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76500"/>
                <a:gridCol w="4000500"/>
                <a:gridCol w="4095750"/>
              </a:tblGrid>
              <a:tr h="539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Potential response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Data-entry error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Negative age or impossible category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 from source or exclude with evidence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Rare but valid borrower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Very high credit limit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Keep, flag, transform, or use a robust method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Heavy financial tail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Large payment 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Report quantiles and consider log scale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Model sensitivity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observation changes a coefficient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Run a documented sensitivity check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Leakage-like extreme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Future information embedded in a field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Remove at source and redesign timing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60053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F61FC2-BDD1-4A94-A9CD-98C98B8D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8B81D-5815-4829-9B73-4B0F291A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86A0C-3E3E-4FB3-9D93-36751268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UCI variables have very different scales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E058EE-7814-4C5E-913E-5AD7E26C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Quantiles provide a first description before a threshold is chosen.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5A4EC-B625-49F7-9BBD-4A50570B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A328C1-1BCE-4B95-B915-826CCE3F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896896-4DDC-43E3-82E3-25DD5638F553}"/>
              </a:ext>
            </a:extLst>
          </p:cNvPr>
          <p:cNvGraphicFramePr/>
          <p:nvPr/>
        </p:nvGraphicFramePr>
        <p:xfrm>
          <a:off xmlns:a="http://schemas.openxmlformats.org/drawingml/2006/main" x="666750" y="2047875"/>
          <a:ext xmlns:a="http://schemas.openxmlformats.org/drawingml/2006/main" cx="10858500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1333500"/>
                <a:gridCol w="1428750"/>
                <a:gridCol w="1333500"/>
                <a:gridCol w="1428750"/>
                <a:gridCol w="1714500"/>
                <a:gridCol w="1905000"/>
              </a:tblGrid>
              <a:tr h="5715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IQR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Minimum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Maximum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140,000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240,000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190,000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1,000,000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BILL_AMT1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3,558.75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22,381.50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67,091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63,532.25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-165,580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964,511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2,100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5,006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4,006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873,552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32EC64-0551-4BBE-AE11-CF083480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1085850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1BE6F-D719-483F-904A-2977AB1E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57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2B61E9-62C4-41F1-AE4E-5CBE9DD0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38775"/>
            <a:ext cx="1043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BE4580-7FE5-4FCB-BF93-5AC529AC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long upper tails are part of the financial data-generating process. A cleaning rule must not confuse skewness with invalidity.</a:t>
            </a:r>
          </a:p>
        </p:txBody>
      </p:sp>
    </p:spTree>
    <p:extLst>
      <p:ext uri="{BB962C8B-B14F-4D97-AF65-F5344CB8AC3E}">
        <p14:creationId xmlns:p14="http://schemas.microsoft.com/office/powerpoint/2010/main" val="1947459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028D57-9637-410C-B77B-44334705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777ECB-B3DB-4D59-82AE-A755359A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1B1D08-8E20-4C65-AD88-A17A471B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quantiles to flag before deciding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765C8-74C4-4868-B16D-85F217ED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code creates a flag. It does not delete observations or claim that the flagged values are errors.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AA420-A5A6-442E-99A5-8C1F09F9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EB49B-6AB4-48C7-976C-BD8FECBB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33972-5530-4878-BE25-6A63638A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8117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915C7-48B2-4450-98CB-685D0B57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334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0D423-C685-41FD-8FBF-6C27D038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49530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lo = credit['LIMIT_BAL'].quantile(0.01)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hi = credit['LIMIT_BAL'].quantile(0.99)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credit['LIMIT_BAL_outlier'] = ((credit['LIMIT_BAL'] &lt; lo) | (credit['LIMIT_BAL'] &gt; hi))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print(lo, hi)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print(credit['LIMIT_BAL_outlier'].value_counts())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A15078-19AC-4C74-AE48-EDF81AD7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76A570-33F8-40B0-A3C5-9684DF38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476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0B222-2348-4FF0-9A66-41ECCBA1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0957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10,000.0  500,000.0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False    29,794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True        206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B2CC11-BFB7-40EF-BB65-461A53FD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403BFE-2690-4968-B6F2-62C8FFBA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111A9-3697-4C69-8F75-A17EF296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NEXT QUESTION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4C0C6D-63CD-43CC-8DE0-470888F1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Are the 206 observations invalid, rare but plausible, or informative about the portfolio? The source and financial context decide.</a:t>
            </a:r>
          </a:p>
        </p:txBody>
      </p:sp>
    </p:spTree>
    <p:extLst>
      <p:ext uri="{BB962C8B-B14F-4D97-AF65-F5344CB8AC3E}">
        <p14:creationId xmlns:p14="http://schemas.microsoft.com/office/powerpoint/2010/main" val="25172471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F044F9-83AE-4D03-B0C2-CFB3D4C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27682-7B48-4FFB-853C-7BBC6323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CHART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A5B183-8696-4D0F-BA08-D5AA6F62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flag is easier to review when its size is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3EBF44-813B-4A6B-8D3C-90BC7C34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chart shows how many records a threshold would flag, not how many records should be removed.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298C08-A8A6-44E0-86A2-6CDFBE5A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00C5A6-A3B7-4198-AC29-69FE0B75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611A1A40-14AD-425C-9D31-597DFDC0F857}"/>
              </a:ext>
            </a:extLst>
          </p:cNvPr>
          <p:cNvGraphicFramePr/>
          <p:nvPr/>
        </p:nvGraphicFramePr>
        <p:xfrm>
          <a:off xmlns:a="http://schemas.openxmlformats.org/drawingml/2006/main" x="857250" y="2095500"/>
          <a:ext xmlns:a="http://schemas.openxmlformats.org/drawingml/2006/main" cx="6572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e6bfd4587248b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D28F1-0838-49D7-AF3A-7107457E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773C0-3646-452E-A9B3-B0C8FA3A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F33595-6BC5-40CD-A95B-82B61595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431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91FB13-AA0D-4BC0-BA37-340AB587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3842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Flagging 206 records does not prove that they are errors.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AA091-7325-4B3E-9E23-D6789542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67250"/>
            <a:ext cx="3143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05078-88F0-4A98-8257-38D94892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672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04951-40CB-4168-A906-7CE28DB3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196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DOCUMENT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BE307D-0413-4993-B69D-44F1ADA0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14925"/>
            <a:ext cx="27241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Threshold, variable, sample size, and treatment must appear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86093093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A0CB2A-049F-4FF0-B479-AB2BE59F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0D061B-B887-4D0F-8DF0-4ABEB345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TREATMENT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5403F8-DD6A-4138-96D6-7E0A7532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Clipping changes the observed variable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28C01-6219-4298-9BB4-E2FE16E5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Winsorisation or clipping can improve numerical stability, but it changes the scale and must be reported.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BD8B8-A1F8-407C-B73C-6D45C8E2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6B42D-31DA-4B11-9C51-175778FD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7824-86B3-41E8-A1C1-6EF4FEC7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4E910-EE7F-4CDA-AC9F-B72F5793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6FF627-425C-46A2-BF25-6C182D60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credit['LIMIT_BAL_clipped'] = credit['LIMIT_BAL'].clip(lo, hi)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credit[['LIMIT_BAL', 'LIMIT_BAL_clipped']].describe().T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71541-1CE4-40BB-A437-F2DBF639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EF734-9235-478F-8801-6E6D10F8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31E146-5F08-4D5F-9F60-2346B3A8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         min       max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      10000.0  1000000.0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LIMIT_BAL_clipped 10000.0   500000.0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99D6EA-D35A-46AA-BE0B-3241174A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3810C0-2459-4074-A506-92D1553E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A40F45-9972-4C00-8D5D-D66D2AF6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EFE2B7-313E-45F9-8DF6-69ABBC1F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Clipping reduces the influence of the tail but may remove information about high-limit borrowers. Compare results with and without the treatment.</a:t>
            </a:r>
          </a:p>
        </p:txBody>
      </p:sp>
    </p:spTree>
    <p:extLst>
      <p:ext uri="{BB962C8B-B14F-4D97-AF65-F5344CB8AC3E}">
        <p14:creationId xmlns:p14="http://schemas.microsoft.com/office/powerpoint/2010/main" val="208572684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36870D-826B-4204-AD1E-AE03D157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249B05-94DF-4F25-9B30-5A67157F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SPECIAL CODES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125EED-06A8-4299-90F8-8623666C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Codes are categories until the data dictionary says otherwise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F7B4B9-C009-47A1-AECF-A58DB00B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Education and repayment fields contain integer codes. The integer type does not make the values continuous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0F192C-7BF5-444A-BE9F-BB486804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EB563-24DD-47E0-9C87-67A790F2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B62231F2-EB6E-4DFB-8A4D-D695C37E70DE}"/>
              </a:ext>
            </a:extLst>
          </p:cNvPr>
          <p:cNvGraphicFramePr/>
          <p:nvPr/>
        </p:nvGraphicFramePr>
        <p:xfrm>
          <a:off xmlns:a="http://schemas.openxmlformats.org/drawingml/2006/main" x="762000" y="2095500"/>
          <a:ext xmlns:a="http://schemas.openxmlformats.org/drawingml/2006/main" cx="6191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7b49f20d5a48c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73FEB-4C5E-4D13-BCD9-11FADE15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714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AAA8E4-1ABC-47E1-92F7-C3CCCDEA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C9314-EFDB-42C3-A281-317B9465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47900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SOURCE MEANING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4EEC3-D9A9-42E0-B87C-E35FE6E8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43175"/>
            <a:ext cx="32956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source dictionary defines 1 as graduate school, 2 as university, 3 as high school, and 4 as others.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690D7B-C402-47BE-A523-338A1721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57625"/>
            <a:ext cx="3714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B5028-F7B7-43AC-A2F6-364B84B2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57625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985673-87E9-4223-8E09-00B5FFBE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1002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QUALITY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36FE01-DD1E-439F-8CA4-2C6FFDAD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05300"/>
            <a:ext cx="32956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Codes 0, 5, and 6 appear in this file. Investigate their source meaning before collapsing or recoding them.</a:t>
            </a:r>
          </a:p>
        </p:txBody>
      </p:sp>
    </p:spTree>
    <p:extLst>
      <p:ext uri="{BB962C8B-B14F-4D97-AF65-F5344CB8AC3E}">
        <p14:creationId xmlns:p14="http://schemas.microsoft.com/office/powerpoint/2010/main" val="195515019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7ABAAB-1D58-4EAC-92C0-7F65B91A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C00A5A-F7D8-46FB-846D-88AF7F9C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CATEGORY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B5A6F-0DDE-4714-B547-E5322E55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Document category labels before encoding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97D6EC-7BA2-42CF-9670-2F4A3A21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mapping makes the transformation auditable and prevents a model from treating labels as arbitrary magnitudes.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16D04-5C08-4BF3-A35A-41A4B5D2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88B9F-0612-4412-9000-CF0788CD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C5D9B-A80E-4ECA-B8F5-9EE61344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8EE452-08F7-49B1-BD08-64E1A700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835EF-95A8-46FA-B688-0987A2F6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education_map = {1: "graduate school", 2: "university", 3: "high school", 4: "others"}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credit['education_label'] = credit['EDUCATION'].map(education_map)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credit['education_label'].value_counts(dropna=False)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15835-B4AE-4A3A-8BE0-7EEE940E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775513-9545-47C6-8C78-0109E5A9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6ABC34-CCC4-4A9C-AF64-0466FBFC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university        14030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graduate school   10585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high school        4917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NaN                  432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A24C76-5696-41F3-BBC3-3DEE301B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6E17E8-D61C-481A-A28D-FBD33DAE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86DBD-B8E2-47F6-B08F-4C7583F0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IMPORTANT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7D366F-0354-4FA5-A79E-07D82717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unmapped values are visible as NaN. That is safer than silently assigning an invented label.</a:t>
            </a:r>
          </a:p>
        </p:txBody>
      </p:sp>
    </p:spTree>
    <p:extLst>
      <p:ext uri="{BB962C8B-B14F-4D97-AF65-F5344CB8AC3E}">
        <p14:creationId xmlns:p14="http://schemas.microsoft.com/office/powerpoint/2010/main" val="64743484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61416D-2FCF-4BE0-B7F7-7C266D4D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FF7940-B18A-49E4-AADC-49FAE973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8D73F-D401-4FF0-AC05-41E8C406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Numeric and categorical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9C4ED-7DEB-4123-99FC-2068E0CA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A preprocessing rule should match the type and meaning of each variable.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7390E1-6494-481A-8AB8-AE466E4F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0A97FA-9EEB-42FD-BD47-2E8D0BC7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F719C4-A713-4B28-8596-C2AB6F0D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50E29-25A0-47FD-9D81-3C7CF1AC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54516784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1640B7-C12D-4210-9F42-4A5B0A0B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B556B-F788-46C1-BE68-86AF379D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FEATURE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200740-EFFF-4441-83A5-1B7B114E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Types determine the transformation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E34B8-8B59-481B-AA48-0F3207CA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preprocessing plan separates variables by how an estimator should see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DACDDC-DC4F-4AF7-839E-3178B667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8F0F42-F44F-4BA9-8D88-FB37B871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3ED31E-5E2F-4C0D-9173-AC78FBE528F0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4286250"/>
                <a:gridCol w="39052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Examples in this course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Typical transformation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LIMIT_BAL, AGE, BILL_AMT1, PAY_AMT1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Impute, scale, inspect tail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SEX, EDUCATION, MARRIAGE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Impute, one-hot encode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Ordinal-like code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PAY_0 to PAY_6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 source meaning and document choice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Retain for traceability, exclude from predictors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Keep separate from X and never transform as a feature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550688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5F32A2-BFDB-4573-ACCC-9C517731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73B935-A1B5-4449-949F-E47A7145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ONE-HOT ENCODING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1AD02-46DC-4422-9FF8-B5A9CF7D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Categories become indicator columns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C2DED-396F-46FE-BC52-B0596A24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One-hot encoding represents category membership without imposing a false numeric distance between labels.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6FD98-1B14-4F46-A6A1-8B0116090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413F26-FEC9-4DDB-9F59-D0975AFB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30D31B-308C-4C53-9D81-AEAE5A08E503}"/>
              </a:ext>
            </a:extLst>
          </p:cNvPr>
          <p:cNvGraphicFramePr/>
          <p:nvPr/>
        </p:nvGraphicFramePr>
        <p:xfrm>
          <a:off xmlns:a="http://schemas.openxmlformats.org/drawingml/2006/main" x="914400" y="2095500"/>
          <a:ext xmlns:a="http://schemas.openxmlformats.org/drawingml/2006/main" cx="5429250" cy="2190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09750"/>
                <a:gridCol w="1190625"/>
                <a:gridCol w="1190625"/>
                <a:gridCol w="1190625"/>
              </a:tblGrid>
              <a:tr h="5476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09CC73-53EE-4638-8B72-DE2B7DEA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4095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909D8E-001A-42BF-8A74-22D4B729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E16A6-86EB-4D01-AB57-79F0E8A6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47900"/>
            <a:ext cx="3676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WHY IT HELPS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8870E-BE19-4125-BF7A-6B37DC00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43175"/>
            <a:ext cx="36766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model can estimate a separate contribution for each category. The code must also handle a category that appears later but was not present in the training sample.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544C84-B8E9-4F20-A2CE-05108DB6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134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266DB9-23E5-43DE-AF16-8229F221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637058-581C-4C81-B328-A9336C83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4900"/>
            <a:ext cx="971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COURSE RULE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296D5-1F77-416D-B4B0-D8439534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0175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handle_unknown="ignore" in the transformation so an unseen test or deployment category does not crash the pipeline.</a:t>
            </a:r>
          </a:p>
        </p:txBody>
      </p:sp>
    </p:spTree>
    <p:extLst>
      <p:ext uri="{BB962C8B-B14F-4D97-AF65-F5344CB8AC3E}">
        <p14:creationId xmlns:p14="http://schemas.microsoft.com/office/powerpoint/2010/main" val="155188127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967A1-7CBC-4CD7-9BDE-FB8B2566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E42A10-98DA-4EB6-8E39-0A8B990C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ENCODING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84B47-6FFE-4F11-87F1-53E65CA9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Run the transformation on a small table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B617A-9D9C-4B8C-A5FF-E30BDDB6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small example makes the new columns and their order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3979D-413B-4643-9887-0B6F2CF0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028A7-DE91-4155-9AF1-F84D1FC6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DFA2D-38BF-4538-A816-31DAEEA3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6BD15-136F-49A2-9767-BBE1F1D6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66854-28AC-4B39-BC21-B6BB4A00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cats = credit[['SEX', 'EDUCATION', 'MARRIAGE']].head()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encoded = pd.get_dummies(cats.astype('string'), drop_first=False)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print(encoded.shape)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print(encoded.columns.tolist())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4037F6-1E93-47DB-9B7F-7B228CB2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24AA61-2794-4AD9-A513-47C1D56F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124E49-C2D0-4060-8BCD-7B17A871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(5, 5)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['SEX_1', 'SEX_2', 'EDUCATION_2', 'MARRIAGE_1', 'MARRIAGE_2']</a:t>
            </a:r>
          </a:p>
        </p:txBody>
      </p:sp>
    </p:spTree>
    <p:extLst>
      <p:ext uri="{BB962C8B-B14F-4D97-AF65-F5344CB8AC3E}">
        <p14:creationId xmlns:p14="http://schemas.microsoft.com/office/powerpoint/2010/main" val="122183217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6141D6-4D15-46FB-9535-6D9F6448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1480C-5277-4312-870D-14537781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ENCODING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871DDD-BDB2-404E-93DB-3EB2B6CB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Inspect the encoded rows before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0E7698-E5C6-4540-8ED1-A0FB9354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transformation should be easy to audit: each row has a clear pattern of category indicators.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F6D21A-0E0A-4A0C-BD2D-86C7C84D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734B6-0C18-4139-92F5-87FA5DDC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DCE461-AF92-4242-9836-19FA7D434F2E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762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524000"/>
                <a:gridCol w="1619250"/>
                <a:gridCol w="1619250"/>
                <a:gridCol w="2095500"/>
                <a:gridCol w="1905000"/>
                <a:gridCol w="1809750"/>
              </a:tblGrid>
              <a:tr h="4603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SEX_1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SEX_2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MARRIAGE_1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MARRIAGE_2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D265D-87A4-4602-8030-1FADF10A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71E0E0-B13A-43EE-99E1-3E70161E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25D07-83E7-4AE0-964D-C94146D1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81F22A-A523-416B-9290-6711163B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81675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columns are not new economic facts. They are a model-friendly representation of the original categories.</a:t>
            </a:r>
          </a:p>
        </p:txBody>
      </p:sp>
    </p:spTree>
    <p:extLst>
      <p:ext uri="{BB962C8B-B14F-4D97-AF65-F5344CB8AC3E}">
        <p14:creationId xmlns:p14="http://schemas.microsoft.com/office/powerpoint/2010/main" val="68295307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DA505A-F3BE-4BD7-B5AF-7D7BB60A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A23D21-BB76-49D3-99C4-12A92D3F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SCALING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174A6-8D8B-4DAA-8E55-48134F48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Scaling puts numeric variables on a comparable numerical basis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220EA-4165-41D0-9DD2-2A2DF5DE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variable measured in New Taiwan dollars can otherwise dominate a variable measured in years or repayment status.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CA50E3-0B57-4952-A672-FC77373C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FBFBD-F505-4DFC-878D-3658CFC9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E5477-FE7B-4952-B211-DE897AF1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8B0BEA-443D-46A1-A10A-7F8AB5C2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B0A5F-CB36-4DAD-8146-AEA05415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BEFORE SCALING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D72207-5011-4EB1-B7D6-542E5443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LIMIT_BAL may range from 10,000 to 1,000,000 while AGE ranges from 21 to 79. A distance-based model will respond to the units.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2D083-9D68-41B9-9C2F-E0DEF9CA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FCA210-DACB-4324-AF29-BE80889C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1CF6D9-F924-475A-97BD-2C852AFA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AFTER SCALING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C0B785-E1A3-4CB3-961C-3AB9FB9D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standard scaler centres a training variable and rescales it using its training dispersion. The same fitted rule is applied to validation and test 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079C9E-2E8E-49E6-8656-C7D69159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3224C5-B500-4C48-8052-3BBD25F5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623C8D-FF84-40FB-881A-752F7420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STILL INSPECT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1C4350-F5A4-4045-96BE-8D2212F2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Scaling does not remove skewness, bad codes, leakage, or the need to explain the original financial unit.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622AEB-81B6-4B0F-BA01-0AAC7D39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5346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D909A-B13F-4609-BB4F-DFE54D55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D4DD25-D75F-40E4-982B-671B290B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1011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MATHEMATICS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951559-7D7B-42EB-B0E7-70D65BEBE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95925"/>
            <a:ext cx="1011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exact standardisation equation and symbol definitions are in the separate mathematics reference for this lecture.</a:t>
            </a:r>
          </a:p>
        </p:txBody>
      </p:sp>
    </p:spTree>
    <p:extLst>
      <p:ext uri="{BB962C8B-B14F-4D97-AF65-F5344CB8AC3E}">
        <p14:creationId xmlns:p14="http://schemas.microsoft.com/office/powerpoint/2010/main" val="132211260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19A9AB-2BF0-468C-B460-2A6AF5F7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AF7D5-057F-4253-B826-D98B9A0F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SCALING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01F6E-73C7-4F0A-BC3A-7BEFCAAF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Fit the scaler on the training sample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7E5ACF-A99D-418F-B218-4AEB613D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transformation object stores the parameters it learned from training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2ABFD4-C01C-4BF7-A02B-EB92E634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472DC7-E6B7-4134-94E4-BBB53E34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F6F24E-A646-43E8-83C8-EB67C329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DD5FC-A927-4BBA-BC7C-3E7539BB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661798-60F4-49C1-AB73-CA34CC0D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scaler = StandardScaler()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train_scaled = scaler.fit_transform(X_train[['LIMIT_BAL', 'AGE']])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test_scaled = scaler.transform(X_test[['LIMIT_BAL', 'AGE']])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print(train_scaled.shape)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print(test_scaled.shape)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D1AA3-7474-4A73-81C9-D6C5E81C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061C2-27F7-4E71-AACB-2F3E71FF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B06200-DBF4-4DC6-8FAB-BE03EF38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(24000, 2)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(6000, 2)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794827-3F3B-4B4F-81FD-72BE0FBB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7F67D4-1655-4D55-8F49-886A9366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2BADD-5B15-47E3-A54E-F8D7A81E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LEAKAGE CHECKPOINT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205BA8-A9C3-4C1A-B7B8-E1F9261B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test data is transformed with transform(), never fit_transform().</a:t>
            </a:r>
          </a:p>
        </p:txBody>
      </p:sp>
    </p:spTree>
    <p:extLst>
      <p:ext uri="{BB962C8B-B14F-4D97-AF65-F5344CB8AC3E}">
        <p14:creationId xmlns:p14="http://schemas.microsoft.com/office/powerpoint/2010/main" val="156211928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5EFCB-031C-4459-A534-6DC3DDCB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5DC19-D2A0-44A5-A9E4-3B97B83C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SCALING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768C1-EA95-477C-B945-9075676F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transformed training columns have mean near 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BC42D-84C2-49CB-95AB-E389464C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output is a numerical check, not a replacement for understanding the original units.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AD3F8-BE53-4A58-9234-3B74B51C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9EB54-736D-447E-80B6-25028B1E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60C23-0AE4-4337-B77D-C05835BB7FD5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762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3429000"/>
                <a:gridCol w="4000500"/>
              </a:tblGrid>
              <a:tr h="4603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Training feature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after fit_transform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Std. deviation after fit_transform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BILL_AMT1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AF9758-6595-40AA-BEF7-73B3EA60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9D3148-EBE7-43DA-B457-328D92A9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BB8BA-AB6F-459F-B40B-5A358181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IMPORTANT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38CC6C-0001-4950-8C94-AB35AC79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81675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test sample does not need to have mean zero. It must be transformed using the training parameters.</a:t>
            </a:r>
          </a:p>
        </p:txBody>
      </p:sp>
    </p:spTree>
    <p:extLst>
      <p:ext uri="{BB962C8B-B14F-4D97-AF65-F5344CB8AC3E}">
        <p14:creationId xmlns:p14="http://schemas.microsoft.com/office/powerpoint/2010/main" val="214483093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A202D-24E8-4C29-A713-C6DC292C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2DE3FE-7F6C-4470-ABAA-E8216D23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827D8-0236-4BF0-942F-6FDAA3FB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Leakage-safe preprocessing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6B6EB-87B6-4333-9E63-305F4570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 order of splitting, fitting, transforming, and evaluating determines whether the result is credible.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44482-EE40-4A63-85A7-02EBDA15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0E2E0D-9C84-427E-81D4-580C954F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CAE12-70A8-4452-9549-70B830F8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F4A76-39A9-4087-A243-62E9D1E4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84745705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4DB399-1C7E-4851-92D4-4BEDB171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018327-7570-45C7-BFC7-A3D5C19E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 SPLIT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C178CB-652C-49EA-8DF7-39636D3A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Train, validation, and test rows have different roles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A398B-7B3A-4A02-B94F-3BD58B27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roles are about information flow, not about giving some rows less importance.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72F94-A030-4A96-B4F7-92CB606C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BBE83-B791-484B-BBDB-F519CC6A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3ADFC-C188-424B-913A-F82375FA4E69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76500"/>
                <a:gridCol w="4476750"/>
                <a:gridCol w="3619500"/>
              </a:tblGrid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Used for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Must not 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Learn imputation, scaling, encoding, and model parameters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Treat it as future data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Validation or cross-validation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Choose settings and compare candidate models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 the final test outcome to choose repeatedly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Test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final estimate of generalisation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Fit transformations or tune decisions on 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22E9A-9751-4D19-A719-4A1ACF75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38FF95-D2FC-416D-AB38-D6FF7D15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A3C421-CEC2-4DA5-AC6E-CA0D7414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95900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INFORMATION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124DC-A416-4D4A-B406-3E638996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91175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Any quantity calculated using the full dataset can carry information from the test sample into training. That includes means, medians, category sets, thresholds, and selected features.</a:t>
            </a:r>
          </a:p>
        </p:txBody>
      </p:sp>
    </p:spTree>
    <p:extLst>
      <p:ext uri="{BB962C8B-B14F-4D97-AF65-F5344CB8AC3E}">
        <p14:creationId xmlns:p14="http://schemas.microsoft.com/office/powerpoint/2010/main" val="166806306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CBCD03-3330-4A3A-AF34-99CBFD76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09ECD-8679-4A3B-B1B4-4912323B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8DE97-6DB6-4A11-8BAF-6233D021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plausible-looking workflow can still be wrong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336C6-F0B1-4940-B820-644265EB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code may run successfully while the evaluation is contaminated.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D0C66-A0C3-4ADA-A07F-AC043E27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1247B-C834-4EF9-B5E3-FED31600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9FD2A0-5CAB-4CB9-98B6-A5912B42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WRONG WORKFLOW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5E543F-647A-4BD3-9865-4F990C04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09A663-BD12-4047-9223-2F94B2AC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# Wrong order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X_scaled = StandardScaler().fit_transform(X)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X_train, X_test, y_train, y_test = train_test_split(X_scaled, y, test_size=0.2)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# The scaler saw the future test rows.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96F28-C862-4C89-8C11-5A08C168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75E81-7262-4C49-8E37-30B1EF4C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3C36D3-97C7-4D91-8676-5C3CF31E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05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WHY IT IS WRONG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DEC13-A922-4B5C-A577-3E014942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43175"/>
            <a:ext cx="4057650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mean and standard deviation used in the transformation include test observations. The test set has influenced the training representation before evaluation.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49BA4-EB87-4F7B-8FB7-065B03F7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F4A75-FAE2-4863-B173-9B88DCF3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46192-1148-4708-87AB-8126B9DB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THE ERROR IS METHODOLOGICAL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9422F-CB9A-4F34-A61C-9FADD0B8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No syntax error will warn you about this. The notebook must make the information boundary explicit.</a:t>
            </a:r>
          </a:p>
        </p:txBody>
      </p:sp>
    </p:spTree>
    <p:extLst>
      <p:ext uri="{BB962C8B-B14F-4D97-AF65-F5344CB8AC3E}">
        <p14:creationId xmlns:p14="http://schemas.microsoft.com/office/powerpoint/2010/main" val="175139621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A516CC-23E6-44D6-BCEF-30B274B1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36DE7-6013-4B48-85B3-31111837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364FEB-8FE6-4A11-8166-42ACCB48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correct order keeps the test set outside fitting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067F22-8F83-46D7-BEB7-3E8BC62B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Split first. Fit on training data. Transform both partitions with the fitted object.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FBFA6D-1B4B-4BAB-92D6-E9BA3B50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DDAEDB-8911-4095-BA06-5F8A334E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B3641-B8F9-4FB7-8047-88D101C836A4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238250"/>
                <a:gridCol w="4476750"/>
                <a:gridCol w="485775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Operation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Information available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Separate X and 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All rows, but target is kept apart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Train/test split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rows for fitting, test rows held out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preprocessor.fit_transform(X_train)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values only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preprocessor.transform(X_test)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fitted training rule only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Fit model on transformed training data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representation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Evaluate once on transformed test data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Held-out evidence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93541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E0471E-72DA-4BD1-8CEE-76C9B62B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8A593-598D-47D4-80CC-564DD997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SPLIT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C36B95-5EBF-465C-AA14-8EDBAC86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Stratification preserves the target proportion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C1323-D583-4F4E-BB8D-9B8AED6A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For a binary credit-risk target, stratification reduces the chance that a split has a very different class balance.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810BF3-F4D4-4F01-9CE0-0D4BF2A9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67C8E-A92F-4FE7-9221-5A74E1B7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AB5F4E-770C-4F46-B45D-1BB6CBA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89BD6D-608D-448E-BB9D-D1393757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B3315B-803A-41FF-9A7A-FB62B5E9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 = credit[num_cols + cat_cols]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y = credit['default_next_month']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X_train, X_test, y_train, y_test = train_test_split(X, y, test_size=0.20, random_state=42, stratify=y)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EE7BBA-7335-493B-80E1-2936AA37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6A4BE1-598A-449B-809B-6909F193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F60B0-6EFE-4112-A2D7-72A5850D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X_train: (24000, 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X_test:  (6000, 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y_train default rate: 0.2212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y_test default rate:  0.2212</a:t>
            </a:r>
          </a:p>
        </p:txBody>
      </p:sp>
    </p:spTree>
    <p:extLst>
      <p:ext uri="{BB962C8B-B14F-4D97-AF65-F5344CB8AC3E}">
        <p14:creationId xmlns:p14="http://schemas.microsoft.com/office/powerpoint/2010/main" val="65790604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6F9EFF-9FAD-4DB5-BA1F-31E061CC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39DE2-E336-478E-8C13-0EA5C9B6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SPLIT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88797C-F054-4FE4-9070-5D0BCFEB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split preserves the class balance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5CA21-04A4-418B-AB39-D889F6E9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counts are an audit of the split, not a performance result.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19887F-01AF-4769-B2AD-9DE2716C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22D90-0D2A-4603-80D8-6DF1DABE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7BB8A751-499D-46E6-8FCC-BAF3E8900180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6667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97967514b349e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1D3C99-60FE-4D59-9EAB-66FE88F4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CAE3E6-C242-4152-A149-C77EF13D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E83ECD-9419-4AB2-9984-3F909F6C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4315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TRAINING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25C1AB-118E-421F-8E40-301200D2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38425"/>
            <a:ext cx="2628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24,000 rows, including 5,309 defaults.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F860E-FACF-4A4F-8627-A3D8F556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38625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662457-1BBB-4829-AAB5-D938ED44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38625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62369-4F06-4FF4-95FF-5523003B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91025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3C1CDD-9DC3-4826-8221-38FB4C93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86300"/>
            <a:ext cx="2628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6,000 held-out rows, including 1,327 defaults.</a:t>
            </a:r>
          </a:p>
        </p:txBody>
      </p:sp>
    </p:spTree>
    <p:extLst>
      <p:ext uri="{BB962C8B-B14F-4D97-AF65-F5344CB8AC3E}">
        <p14:creationId xmlns:p14="http://schemas.microsoft.com/office/powerpoint/2010/main" val="45413621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0DE847-7E12-4CFD-889D-3E209151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1FA52B-485B-439E-937D-39B5B540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COLUMNTRANSFORMER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9E7A5E-1429-4664-92D2-348150C4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Different columns can follow different pipelines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D5F77-5292-4320-964B-0E47B697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ColumnTransformer gives the table a declared transformation contract.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42A8C7-2312-4952-A7ED-05131D9F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60F4B0-C308-4DA7-9672-227E3EC9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5AC3D9-FDC6-4B33-A1B0-3A6A3C39BD8F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571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571750"/>
                <a:gridCol w="4857750"/>
                <a:gridCol w="314325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 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 imputer → StandardScaler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Five scaled numeric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Most-frequent imputer → OneHotEncoder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Thirteen indicator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Excluded from X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Retained separately for traceability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Excluded from preprocessing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Used as y after the split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71DBE-6558-40DF-93D6-8F28B02D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FFCE41-8788-436D-96AD-2071F55D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9CC4C1-841C-4DB6-AE22-83E84280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WHY THIS IS SAFER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16488-C500-4578-AD8A-58D9F2A1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object stores the training medians, scale parameters, and category vocabulary. Applying it later uses the same decisions in the same order.</a:t>
            </a:r>
          </a:p>
        </p:txBody>
      </p:sp>
    </p:spTree>
    <p:extLst>
      <p:ext uri="{BB962C8B-B14F-4D97-AF65-F5344CB8AC3E}">
        <p14:creationId xmlns:p14="http://schemas.microsoft.com/office/powerpoint/2010/main" val="10641445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B01220-F185-4B00-ABCB-8D647F5E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60946-7C17-400B-8972-3CFD85AA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PIPELINE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8F7B8-3D5E-4E9C-ADB8-8C3BB847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the preprocessing object once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0D8BB-E34D-4C99-A5A1-D9A990DC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This is the code pattern that will carry into logistic regression and tree-based models.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19E06C-1723-4F35-90F8-AFED29E2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6DD1AA-6C5D-4E61-88EE-C43B2E48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769320-E121-4267-B898-299692D9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49406-9639-4F55-8027-1272D1CF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6667500" cy="3476625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BA4E5-4B0D-405B-A1E6-664CCD5D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24075"/>
            <a:ext cx="6286500" cy="3133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numeric_pipe = Pipeline([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("imputer", SimpleImputer(strategy="median")),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("scale", StandardScaler())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categorical_pipe = Pipeline([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("imputer", SimpleImputer(strategy="most_frequent")),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("onehot", OneHotEncoder(handle_unknown="ignore"))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preprocessor = ColumnTransformer([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("num", numeric_pipe, num_cols),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("cat", categorical_pipe, cat_cols)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DE90C3-2F68-40D4-9517-10EB4823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16EC0F-8A52-438E-A382-9A5FBEC3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458E0B-75B1-4C4A-8535-5628563B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NUMERIC BLOCK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2E42C-6A9D-42AE-89FC-7A891955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43175"/>
            <a:ext cx="28194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Median imputation and scaling use training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29F61-082C-445A-915E-AB54D11E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C01B2B-983F-405F-8FF0-1FAD495A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1E65A9-EB9C-4337-8AB2-409C7B25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1529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CATEGORICAL BLOCK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DD063C-8EAC-4BBE-8C85-36DB3622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48175"/>
            <a:ext cx="28194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Unknown categories are handled without changing the code path.</a:t>
            </a:r>
          </a:p>
        </p:txBody>
      </p:sp>
    </p:spTree>
    <p:extLst>
      <p:ext uri="{BB962C8B-B14F-4D97-AF65-F5344CB8AC3E}">
        <p14:creationId xmlns:p14="http://schemas.microsoft.com/office/powerpoint/2010/main" val="183192624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A7E7B0-800F-4603-B345-887D5B9C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C717BA-7367-4E38-81E1-DFB007AA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PIPELINE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903533-CBF9-44BD-A6E7-7FAAE42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transformation creates a model-ready 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61C05-BCEF-42F2-A9FD-25FD9B3D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output shape and feature names are part of the quality check.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703B5-EAD0-4EE4-A11A-001152FA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BD975-3150-4C4C-B5C0-0335A7D5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B3B5D-D5BE-444D-B6E0-AF529C0B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5A55C6-F65E-4943-8BD2-5BB91FD5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23D668-D94A-4E6F-95B5-724C47DB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X_train_ready = preprocessor.fit_transform(X_train)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X_test_ready = preprocessor.transform(X_test)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print(X_train_ready.shape)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print(X_test_ready.shape)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print(len(preprocessor.get_feature_names_out()))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D2BD8B-56CF-4CF7-B304-2C7CB67A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AF488E-1978-4B44-B47D-780B6D49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81B65-8AE9-445E-A643-B990ED3E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(24000, 18)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(6000, 18)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B98BAB-FB78-4BC5-B92B-89A64804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198629-F0BE-4A06-9734-FF8704AF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60A79-A1D4-4623-94DA-D98F9677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8A462E-9440-4782-9319-53C9C78C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Eight raw predictor columns become five scaled numeric columns plus thirteen one-hot columns.</a:t>
            </a:r>
          </a:p>
        </p:txBody>
      </p:sp>
    </p:spTree>
    <p:extLst>
      <p:ext uri="{BB962C8B-B14F-4D97-AF65-F5344CB8AC3E}">
        <p14:creationId xmlns:p14="http://schemas.microsoft.com/office/powerpoint/2010/main" val="171664514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1F878C-7EE6-4492-A9EE-8E4C7B25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3677C-B782-4BA7-9CED-4C0CE75B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END-TO-END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E53A8-E69C-49BE-88F2-14B4553D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Inspect transformed feature names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A2D8C-2032-4DCC-9FB0-21259CC9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Feature names connect the model matrix back to the original financial variables.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B3BB9F-5C80-4F3A-B937-28B3041D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E1412-9336-47A0-A76A-F685A391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6008C-1282-48D6-8F1A-92BFB963774C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571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819150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 output names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num__LIMIT_BAL, num__AGE, num__PAY_0, num__BILL_AMT1, num__PAY_AMT1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cat__SEX_1, cat__SEX_2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Education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cat__EDUCATION_0 through cat__EDUCATION_6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Marriage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cat__MARRIAGE_0 through cat__MARRIAGE_3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A3146C-624C-4868-A9A4-9D97D220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22ECDF-38A9-44ED-9A67-A69F6F48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0ADE-81BC-40A1-AE1C-D3B6E9D0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MODEL DOCUMENTATION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E267E5-949A-421D-BB8B-242CD26C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Keep this list with the fitted model. It tells a reviewer what each coefficient or feature-importance value can mean.</a:t>
            </a:r>
          </a:p>
        </p:txBody>
      </p:sp>
    </p:spTree>
    <p:extLst>
      <p:ext uri="{BB962C8B-B14F-4D97-AF65-F5344CB8AC3E}">
        <p14:creationId xmlns:p14="http://schemas.microsoft.com/office/powerpoint/2010/main" val="117270927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2CB74-F19C-4A4F-A848-2D618468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C059E-3D3E-47B2-990E-F44C0A75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5A4BE-4498-4FB4-A388-6FD3AAC5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Worked cases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54E96-13BF-4B97-97E8-ED56D952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These small cases make the cleaning decisions concrete before the full pipeline is used on the UCI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9CE50-56B9-487F-A2F3-605AF7E0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C5B7C-A434-4042-B317-6A5822FF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50642-D12F-476D-8D6C-B84D2112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DDEC36-600E-4923-A8F9-222F517F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905043244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E9B046-002A-459D-8E44-6F7037A8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35EED-8966-4B3E-BDAE-527FAC47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STUDIES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8FF0C5-5D21-460E-96DD-BC4900FA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Five short cases connect the rule to a financial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7296D-502F-4A5C-AA89-03886DA7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Each case uses a small table so the result can be inspected by hand and reproduced in the notebook.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B35CCC-2AA1-4837-B0D5-D2259B8E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9EA96-D235-42EC-8916-D411B30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0A133-1A5C-4D89-91A7-97F861561D15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4476750"/>
                <a:gridCol w="400050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Case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produced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· Missing income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does an absent value mean for a borrower?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Imputed value plus missingness flag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 · Duplicate transaction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 the repeated row a second event or a duplicate import?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Exact-row and identifier checks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 · Large payment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Should an extreme amount be removed?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Threshold, flag, and treatment decision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 · New category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happens when a new channel appears?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One-hot output with unknown handling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 · Leakage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much can a test observation change a transformation?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Training-only versus full-sample parameter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 · Full pipeline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do the pieces work together?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18 model-ready features from the real table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211417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907DF2-2D0E-4D07-99A1-EC0F7FFC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B9244B-EBD9-445C-B42C-37222615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A · MISSINGNESS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2FCAD-67D7-42B8-9830-72C1D438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missing income value can carry information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02B6D-6E33-4D41-B5E1-860895A7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median imputation can hide a useful operational signal if the analyst discards the fact that the value was absent.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D1128-90BB-4BD8-A328-4BE84E49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5BE28E-CD9C-4AE8-9356-DC772FC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9A6868-5FA9-4C0B-A47F-61387CF5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3C2222-B395-4D5D-B9E6-1129807B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2DFA72-C391-4896-BF4B-BFDF674C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FINANCIAL 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54346-C198-4388-9E46-39FC11A7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borrower who does not report income may differ systematically from a borrower whose reported income is low. The code should preserve that distinction for later analysis.</a:t>
            </a:r>
          </a:p>
        </p:txBody>
      </p:sp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2E0348-AA54-4C9F-98F8-267D4C51A698}"/>
              </a:ext>
            </a:extLst>
          </p:cNvPr>
          <p:cNvGraphicFramePr/>
          <p:nvPr/>
        </p:nvGraphicFramePr>
        <p:xfrm>
          <a:off xmlns:a="http://schemas.openxmlformats.org/drawingml/2006/main" x="6191250" y="2095500"/>
          <a:ext xmlns:a="http://schemas.openxmlformats.org/drawingml/2006/main" cx="485775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1619250"/>
                <a:gridCol w="1524000"/>
              </a:tblGrid>
              <a:tr h="396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Borrower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Income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Reported?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42,000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58,000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72,000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C6200-2E6B-41AD-92DF-D95335A5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2298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943733-D1E7-4621-A21F-0839D27D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CC600A-3AE4-418D-87EA-C27A7290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9C1CC6-6167-41A5-A7B1-74CF8705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9592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Impute the numeric value for the estimator, retain an indicator for the missingness event, and explain that the indicator is a modelling feature rather than a replacement for source recovery.</a:t>
            </a:r>
          </a:p>
        </p:txBody>
      </p:sp>
    </p:spTree>
    <p:extLst>
      <p:ext uri="{BB962C8B-B14F-4D97-AF65-F5344CB8AC3E}">
        <p14:creationId xmlns:p14="http://schemas.microsoft.com/office/powerpoint/2010/main" val="36704482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B81C0-5058-43E2-B1B5-7D588983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599C68-BF45-4E5F-979C-50C05F8E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A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01D381-D164-48DE-8CAA-F40F763D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Median imputation and an indicator produce two pieces of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39456E-B1DF-44B0-9CD6-6B6A6D02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imputed value supports the numerical pipeline. The indicator preserves the data-collection event.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35F042-BB94-4C71-83D5-58962BB8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6DCD0-6CB2-4FD6-B045-820A17DC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4F15A9-81C8-45D9-9B25-04908140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6C8D4E-9FE1-485B-8749-5B360047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FEFA24-0973-410D-BF35-62032741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case_a["income_was_missing"] = case_a["income"].isna().astype(int)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median_income = case_a["income"].median()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case_a["income"] = case_a["income"].fillna(median_income)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case_a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72009-C478-4525-8868-C55174AF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317212-23EE-4452-A2ED-DD101D93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671E3-72F2-4978-97E1-E8F2EFF9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median_income: 58000.0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borrower  income  missing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          42000       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B          58000       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C          58000       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          58000       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          72000       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55805-9289-40A4-BD76-621584D2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26C3D-F003-483D-9A60-5C292D53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3EA75-85B9-4860-9F27-42ADEA69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A7B07-A821-4DBD-90A4-429708BD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Rows B and D receive the same numerical value as the median, but the indicator keeps their original status visible.</a:t>
            </a:r>
          </a:p>
        </p:txBody>
      </p:sp>
    </p:spTree>
    <p:extLst>
      <p:ext uri="{BB962C8B-B14F-4D97-AF65-F5344CB8AC3E}">
        <p14:creationId xmlns:p14="http://schemas.microsoft.com/office/powerpoint/2010/main" val="1374515732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348912-09AB-40AF-8188-95434266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7DA256-4254-4619-AA17-55641722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A ·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74A389-5278-4A61-8AC0-A69521B8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missingness indicator changes the interpretation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DBBC2-382A-40C9-AD00-3A890A86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imputed income alone suggests that B and D look like median-income borrowers. The flag tells us that the source did not report the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0A7112-78C7-4F06-AD74-CF533926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36BC4C-4948-4B3E-9FF5-033F7FFA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012F300C-DA2C-4B86-8931-F2C22570E59F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5905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7b81c5a28d4c2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341B80-EFF0-4161-8B2C-D31108EF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361950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32C234-F2E7-4F61-AAFD-0E0D060D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571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2D69E0-F994-4B75-BE11-8F23B581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90775"/>
            <a:ext cx="320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NUMERIC 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E941AD-CF7E-4D37-A494-028BE9A9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86050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Every row now has a value that a numeric transformer can process.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A38B1F-75B9-4F95-9FE6-A0072E78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05250"/>
            <a:ext cx="361950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04299B-BC22-44C8-9A1B-E8B13F4F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05250"/>
            <a:ext cx="571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9612CC-928F-4FC0-8052-4DEE8D496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57650"/>
            <a:ext cx="320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INFORMATION FLAG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DCCCC0-BADC-4CA4-BE37-77057033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52925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Rows B and D retain a separate indicator equal to 1.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7C4E17-CE3B-423A-94DB-14428A7C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245D25-5B8E-441A-BFBF-A0A16C55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9BD90E-075C-4E7A-945D-498B4F9A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F5D740-D82C-4A55-9E7A-9F6CDD23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indicator may be useful, but the analyst must test whether it improves the model and whether it is available at prediction time.</a:t>
            </a:r>
          </a:p>
        </p:txBody>
      </p:sp>
    </p:spTree>
    <p:extLst>
      <p:ext uri="{BB962C8B-B14F-4D97-AF65-F5344CB8AC3E}">
        <p14:creationId xmlns:p14="http://schemas.microsoft.com/office/powerpoint/2010/main" val="128306356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E80828-7485-42C2-9DA5-1D78C4BF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42B0F-D9CC-41DD-8628-BB643CAB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B · DUPLICATES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563F6-3BA9-47BE-B2C1-CD5B9813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repeated transaction requires an identity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D37A5-C7B3-4816-8783-2FF6B998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duplicate row can inflate frequency, amount, and risk estimates. A repeated identifier may also represent a legitimate second event.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77839-4C30-43DF-816B-082830EA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28EF8-1080-431F-AF25-E6451B6D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D8532-7FAE-4FC7-8F65-41DA8E1E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13F80-04B9-4E2B-B530-03E34827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BA620-2DE7-4979-9D29-08395A22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EXACT DUPLICATE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4FF66-8BFD-4E5F-9362-3614A128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All stored fields match. This often points to an import or append error, but the source system should be checked before deletion.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42FB6-0267-4686-AD8C-021AE917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308AFE-0AA6-464A-8042-7BC310F6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31DF2C-6D11-4B34-B212-69EA0364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47900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REPEATED IDENTIFIER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8FB6C-0F41-4DE7-9CC1-9BA2D01E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transaction ID appears again. The amounts, timestamps, or status fields decide whether it is a repeated event or a duplicate record.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5CF7D7-7AEE-49FF-B92D-49988254B8EC}"/>
              </a:ext>
            </a:extLst>
          </p:cNvPr>
          <p:cNvGraphicFramePr/>
          <p:nvPr/>
        </p:nvGraphicFramePr>
        <p:xfrm>
          <a:off xmlns:a="http://schemas.openxmlformats.org/drawingml/2006/main" x="819150" y="4953000"/>
          <a:ext xmlns:a="http://schemas.openxmlformats.org/drawingml/2006/main" cx="10229850" cy="952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2476500"/>
                <a:gridCol w="2190750"/>
                <a:gridCol w="4133850"/>
              </a:tblGrid>
              <a:tr h="1905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Transaction 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Merchant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120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0927710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18AE1-40A0-4FCE-A6F6-A34ECC6D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27B9D-B5F4-413D-8B34-DEF02238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B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D8CF4-A95A-41BC-9C2B-7E7E85A1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Check the row and identifier separately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A179C-9040-4757-9A70-E87FA8E1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small example contains one exact duplicate and one repeated identifier. The two counts agree here, but they answer different questions.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A14E5-CAA5-4184-A4D9-ABB57120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5A6B2-CF45-4738-8D61-2D194E84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E26C82-B452-4B18-97E5-671D14AF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83307-D099-4DC7-9792-8BDF9AD9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373DDF-DFC6-4649-BC34-08E03309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exact = transactions.duplicated()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same_id = transactions["transaction_id"].duplicated()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print(exact.sum())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print(same_id.sum())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E47F6-D5E5-4FCC-A4B1-CA47D603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181424-D461-48FF-8537-4F219082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E4F2DD-C4D7-47B5-8EAF-8D684EA7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exact duplicate rows: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repeated transaction IDs: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rows 2 and 3 are identical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review before deleting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C40DEE-867B-4ED3-9BEA-5455BD75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A58F6E-6223-4E25-AC73-1FA530AE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C7C47D-E409-4367-B8DB-8EA77F97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PRACTICAL RULE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7D7DC-70EF-46DA-AAAC-680B8812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Never use ID uniqueness as a substitute for comparing the fields that define an event.</a:t>
            </a:r>
          </a:p>
        </p:txBody>
      </p:sp>
    </p:spTree>
    <p:extLst>
      <p:ext uri="{BB962C8B-B14F-4D97-AF65-F5344CB8AC3E}">
        <p14:creationId xmlns:p14="http://schemas.microsoft.com/office/powerpoint/2010/main" val="142898402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7B5396-C3C2-4738-BFAF-F3ACF3C9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B2E66E-7D79-4949-B1B5-3D979F5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C · EXTREME VALUES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4942E-1F4A-4A17-9A8D-862E836B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 extreme payment can be valid, erroneous, or economically important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47FDB-6C02-477B-880E-4293A48D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threshold creates a review list. It does not decide the treatment by itself.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FFA19-3641-4B25-AC29-1132D73D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9E3D5-E415-45E6-8E30-AE2DBE94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1E3CB-3FB2-4EA3-B18A-F2E619CD3C24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86000"/>
                <a:gridCol w="2476500"/>
                <a:gridCol w="5810250"/>
              </a:tblGrid>
              <a:tr h="3929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Payment record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Initial interpretation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800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950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1,500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1,600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180,000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Extreme value requiring source review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846B36-E5E1-4C5F-9FDA-5AD1B08D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BCD37C-8307-483F-B171-128AB392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310ED-7B61-4280-865E-AC116FB9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QUESTION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8E26E-5A1A-4D1C-A55F-CD80C9FB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Was the payment genuinely large, recorded in a different unit, or duplicated during extraction?</a:t>
            </a:r>
          </a:p>
        </p:txBody>
      </p:sp>
    </p:spTree>
    <p:extLst>
      <p:ext uri="{BB962C8B-B14F-4D97-AF65-F5344CB8AC3E}">
        <p14:creationId xmlns:p14="http://schemas.microsoft.com/office/powerpoint/2010/main" val="1397950695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636639-4279-4BBD-9A83-B2CF9899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D972D-DE8C-4E64-815A-11848377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C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28FD8-6A38-417A-B584-EDACA128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IQR rule flags the large payment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6A854-5990-4689-B0B4-90CA3B7F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example shows the mechanics of a flag. The final treatment must follow the source definition and the modelling objective.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6359A-6A4C-408F-B5A3-2CC0252F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7ACEE-EE93-4ACD-B6BB-A55B170F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23354E-D140-407A-A912-2A05E4F7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02D56F-5E14-4FF5-8069-A431BE85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A1C00-6D1B-46F9-BEA6-CD8141F7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q1 = payments["amount"].quantile(0.25)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q3 = payments["amount"].quantile(0.75)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iqr = q3 - q1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upper = q3 + 1.5 * iqr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payments["outlier_flag"] = payments["amount"] &gt; upper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5FB68-1009-44E2-AF33-F2B43935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58E7E-7490-4D13-BC37-6D8B97A8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EC7A50-E050-4D75-B0C8-BAB728A6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q1: 975.0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q3: 1500.0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upper fence: 2337.5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flagged rows: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flagged amount: 180000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C9C13E-F619-4B0E-9828-7BA5FAD8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F8C83-58B6-4F3E-AD2A-999D0238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1F068A-B0F6-4D41-A573-494A0189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POSSIBLE TREATMENTS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1A690-1768-4DAA-95DD-8BEFD975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Verify, cap, transform, keep with a flag, or remove only with a documented reason.</a:t>
            </a:r>
          </a:p>
        </p:txBody>
      </p:sp>
    </p:spTree>
    <p:extLst>
      <p:ext uri="{BB962C8B-B14F-4D97-AF65-F5344CB8AC3E}">
        <p14:creationId xmlns:p14="http://schemas.microsoft.com/office/powerpoint/2010/main" val="101196800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91AA80-828B-4440-A083-7635E4EF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A73A2-363D-4A8E-AB4F-FD8BDA7B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C ·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404E3-723B-4ABF-8D97-AB42B371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plot shows why a flag is useful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2BDAB-8A39-443D-923B-572E9857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extreme value is visible immediately. The chart does not claim that the record is wrong.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069E8-3A31-4CD6-BE2B-EF33F2CA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7520E-8FF1-4ABA-98A5-9DCFDF5B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BA457C51-549C-4027-AA41-35A57C6CA574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6667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1dce605ce4445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E28AF4-BD91-4BF8-903A-A6DCC64D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2952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9685B-63C2-42E5-BC5D-97865B71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8810F-530C-47FE-BF3D-25E01A4B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90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REVIEW THE 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FC468-038B-4F74-BF64-FF1DDEF8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533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Check currency, units, timestamp, and transaction status before changing the value.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57AC48-92D0-4F31-A5A4-563D7499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48125"/>
            <a:ext cx="2952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F9747-E8CB-43DB-97E7-155D5ED1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4812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CF681-118B-4FE6-A9ED-1D4A2E2A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005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KEEP THE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5DBC77-83E3-4127-AC7E-CE35A0A2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95800"/>
            <a:ext cx="2533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Store the threshold, flag count, and treatment decision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1014781721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F1740-CC67-45D2-9E00-E655F40C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2362F-D0EF-400C-BDE8-762A12D1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D · NEW CATEGORIES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7930EF-1597-4AEB-95F4-2782AA16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deployment table can contain a category unseen during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0D7CC-7822-4C7A-90F0-9E7F75D8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encoder must handle a new channel without changing the transformation contract or crashing the prediction path.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2CC07-2722-4205-B934-83E1B110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AEF0B1-1496-45A7-B22B-26E3E0B5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A9E800-E036-4317-AF0C-1D25CCCBF8C9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57500"/>
                <a:gridCol w="2857500"/>
                <a:gridCol w="4857750"/>
              </a:tblGrid>
              <a:tr h="59531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Training channels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New test channel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behaviour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branch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mobile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Unknown category is ignored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web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Known categories retain their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branch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Output shape stays stable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A74F2A-DFEE-40CC-A848-5261D5E4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02298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112AE8-ADFC-4E77-AC97-A0D82141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7DBDB6-C2BA-4A53-A14B-C063102F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53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10E059-1181-4BBA-A050-4D19D6D6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4830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Financial institutions add products, channels, or status codes. The preprocessing object should expose the issue for review while keeping the pipeline operational.</a:t>
            </a:r>
          </a:p>
        </p:txBody>
      </p:sp>
    </p:spTree>
    <p:extLst>
      <p:ext uri="{BB962C8B-B14F-4D97-AF65-F5344CB8AC3E}">
        <p14:creationId xmlns:p14="http://schemas.microsoft.com/office/powerpoint/2010/main" val="1340135005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230001-B171-4669-BC11-16301882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B9A8F3-6BD0-48D6-A935-721B29CD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D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E7C77-D368-4CA0-893E-EF44EE1A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encoder preserves the feature layout for a new category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47E13-86A2-4990-BFCF-66B954B1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unseen mobile category contributes zeros to the existing one-hot columns. A separate monitoring rule should still record that it appeared.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D1E0B-2991-4BA7-9243-5251AEC8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3866D-E5F7-48F7-BEA6-10A0E714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D549A0-73A0-4E88-9B3B-A9D7F71B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00C238-1FC4-4A09-9450-DBBDF34D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43E32-D979-4871-BC86-8027B5F0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encoder = OneHotEncoder(handle_unknown="ignore", sparse_output=False)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encoder.fit(pd.DataFrame({"channel": ["branch", "web"]}))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encoder.transform(pd.DataFrame({"channel": ["mobile", "web"]}))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0E6BAA-CF47-4959-A733-611673A5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7BC28F-0B24-453A-BBB7-BCD19DE0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E195C2-1DF6-446D-8525-4D1C39FC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feature names: channel_branch, channel_web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mobile -&gt; [0.0, 0.0]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web    -&gt; [0.0, 1.0]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unknown-category warning: mobile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46B439-2648-4196-8045-DE3A56D2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02298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47772-074B-4ECC-AE5C-5E58A84A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890AEB-DDCE-4D85-A4A4-C265D13F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959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18911F-8E8D-47EC-BFAC-6E596410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91175"/>
            <a:ext cx="981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Monitor the new category separately. Operational robustness does not remove the business change.</a:t>
            </a:r>
          </a:p>
        </p:txBody>
      </p:sp>
    </p:spTree>
    <p:extLst>
      <p:ext uri="{BB962C8B-B14F-4D97-AF65-F5344CB8AC3E}">
        <p14:creationId xmlns:p14="http://schemas.microsoft.com/office/powerpoint/2010/main" val="2091611421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A2D8EA-15FC-4718-9F92-48DEBB7D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D41F4-9024-4D1B-9245-57BC8E96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E · 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9C3D03-4846-49AC-A2DA-1BD63249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transformation can use information from the future without obvious errors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AF956-5A4B-4A68-8297-42D70C5F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wrong workflow often looks reasonable because every line executes successfully.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EE767-3D6B-4AD9-8D78-B22D87E3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0E1806-5135-4B41-9E2B-BBA38580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CC84B-CC0C-4ADB-8825-8B9F428B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F56F1-CFA5-41AB-A783-67F912A3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A37D18-0DE3-4C90-A6F2-FD3E7C7D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WRONG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C1BFC2-217A-4251-9A7A-02879CD7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Compute a mean or scale using all rows, then split the data. The held-out sample has already influenced the representation used for training.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16DA1-5EB7-422C-AA36-C0269FA4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9F913-E5E5-4BF3-885A-F85D908C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C8E45E-ABB1-4E31-92E3-1C6F8C5E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47900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CORRECT WORKFLOW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06093-F972-4CBC-B86C-76A34F03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Split first. Learn the transformation on training rows. Reuse the stored parameters on test rows without fitting again.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E30EF-AEB1-444C-9754-9FDA404B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91125"/>
            <a:ext cx="10229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information boundary is part of the model design.</a:t>
            </a:r>
          </a:p>
        </p:txBody>
      </p:sp>
    </p:spTree>
    <p:extLst>
      <p:ext uri="{BB962C8B-B14F-4D97-AF65-F5344CB8AC3E}">
        <p14:creationId xmlns:p14="http://schemas.microsoft.com/office/powerpoint/2010/main" val="592601631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FA4EA5-838D-4224-B20E-0217ADBFA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4C5725-5AA3-494A-8328-60B5885A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E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C27D97-C6EA-4BB6-840A-048FDF19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One future observation can change the scaling parameters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3EBFB-881C-45C8-B164-8F5BA77D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toy example isolates the logic. The difference becomes larger when the test sample contains a regime shift or an unusual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2504F-4322-4EE0-A263-9C144035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41E869-3B12-4CD9-A605-92C1E1F8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A7EB6A-CDB6-4377-9A3C-889A15F7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AF59B-8DED-4CC6-B34E-DFC12322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250571-8FBC-4452-853A-A64532B0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train = np.array([10., 20., 30.])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test = np.array([1000.])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wrong_mean = np.concatenate([train, test]).mean()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right_mean = train.mean()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print(wrong_mean, right_mean)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68A0CB-1045-40DD-A2C3-2B24D499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B4132-CB8B-40C4-BEBE-1E9F17BD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32A790-8573-4DE5-9B44-8ECC5CE9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wrong full-sample mean: 265.0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training-only mean: 20.0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the test row changes the centre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fit_transform(X_train)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transform(X_test)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23D27-067D-45D2-BB2E-FC150261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963502-D5E2-484C-B658-07CE0912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B16BEA-7C08-49E7-B71A-AC48DB67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LESSON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E1836-FF81-4E8C-845C-52322308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test set should measure generalisation, not help define the representation being evaluated.</a:t>
            </a:r>
          </a:p>
        </p:txBody>
      </p:sp>
    </p:spTree>
    <p:extLst>
      <p:ext uri="{BB962C8B-B14F-4D97-AF65-F5344CB8AC3E}">
        <p14:creationId xmlns:p14="http://schemas.microsoft.com/office/powerpoint/2010/main" val="1962054485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69BAF-9EF3-478D-B17C-8FEDEF0E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56B4D-AE0E-45D4-9D74-090CB424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E ·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EDDC4-19B0-4D2D-87B2-00303217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leakage error changes the meaning of the transformed 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52D0A-DBD4-49F0-9ED7-F506EDF8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test value receives different transformed values depending on whether the full sample was used to fit the scaler.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9D862-163D-4464-B829-5F9EB5AA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773A2-2CE4-44E0-9AC6-AE4FD379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3691F5-CAA7-494A-846B-0529C8635F56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2286000"/>
                <a:gridCol w="3429000"/>
                <a:gridCol w="2190750"/>
              </a:tblGrid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Workflow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used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Test value transformation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Full sample before split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265.0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Uses the test row to define the centre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Leaky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only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Uses training information only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Pipeline fit on training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Stored training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Applies the stored rule to test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4EC8D3-3107-4C1F-B9EF-614E2180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B843C-2EE0-48DB-9B04-FB5057B4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44014C-BB64-4747-8701-E043DDEB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REVIEW QUESTION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C3E0C8-BE7D-41B1-9962-9AFA941E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When you see fit_transform in a notebook, ask which rows are inside the object at that moment.</a:t>
            </a:r>
          </a:p>
        </p:txBody>
      </p:sp>
    </p:spTree>
    <p:extLst>
      <p:ext uri="{BB962C8B-B14F-4D97-AF65-F5344CB8AC3E}">
        <p14:creationId xmlns:p14="http://schemas.microsoft.com/office/powerpoint/2010/main" val="192623136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FC798C-AD62-4D1C-BFCF-AF5C825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06D8E-566D-416F-84F6-32083E00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F · FULL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1B2785-EE69-43C7-B9B9-B2DFA435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real table needs one declared transformation contract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90D46-E51C-465A-8A4C-61F0C16F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final case combines the earlier decisions on the UCI credit dataset. The target and identifier remain outside the predictor matrix.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BC116-5165-4A79-8A23-9DAD70D8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8CD7A5-D16F-476F-9A53-EE3C7BE9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F53C7-C855-4F53-9E5C-929D398D4F9D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762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2857500"/>
                <a:gridCol w="3810000"/>
                <a:gridCol w="1809750"/>
              </a:tblGrid>
              <a:tr h="5524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Raw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Transformation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 variables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 imputation and scaling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SEX, EDUCATION, MARRIAGE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Mode imputation and one-hot encoding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13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Retain separately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 predictor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Keep as 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 predictor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78CF9-4363-468E-B218-A44EE3B3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57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80CD0-03FA-4C6D-AC7C-40EDD5A5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6FB2B-31AA-44FB-8C5E-2BDEDF02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5D4429-5C63-4A25-A4D6-91656839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Eight raw predictor columns become eighteen model-ready features.</a:t>
            </a:r>
          </a:p>
        </p:txBody>
      </p:sp>
    </p:spTree>
    <p:extLst>
      <p:ext uri="{BB962C8B-B14F-4D97-AF65-F5344CB8AC3E}">
        <p14:creationId xmlns:p14="http://schemas.microsoft.com/office/powerpoint/2010/main" val="841980007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4A1BFF-53A3-4DEB-80FA-34032816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62EF85-6DFC-4205-A55D-7E683A32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F ·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8EE6AC-3431-4EC3-9352-F89F05A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pipeline keeps the rules together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CD5A94-18B6-4D97-B976-F82AC375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single fitted object can be saved, reviewed, and reused when the next supervised model is introduced.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F7A51-4F0F-44C1-82B6-F0F1B86E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4788D-811D-4541-A13B-723DD623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3BB841-5934-4827-B795-5B794406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C1757-4660-4D6A-B173-B7B39556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6667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4FAE0A-0A5E-4A49-8E05-71155C4C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24075"/>
            <a:ext cx="628650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preprocessor = ColumnTransformer([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("num", numeric_pipe, num_cols),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("cat", categorical_pipe, cat_cols)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X_train_ready = preprocessor.fit_transform(X_train)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X_test_ready = preprocessor.transform(X_test)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names = preprocessor.get_feature_names_out()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2B8CB0-D070-4B13-8E1B-A8EEA219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238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D9FE3-04A6-453C-B6D2-59342D6F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DBE70-0191-4386-AAA9-055D2D8D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NUMERIC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F4D2D3-3479-4BAF-91EF-F0131ECC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43175"/>
            <a:ext cx="2819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Five scaled columns retain their source names.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009E23-FBBB-4224-AA3B-DC6F9B2E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57625"/>
            <a:ext cx="3238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E713E4-FCD7-4B17-9C4D-DB3C462A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5762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48974C-294C-4F7C-9379-6FED646FE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10025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CATEGORICAL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6DCEFD-0BA4-4307-84B6-D8C8592C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05300"/>
            <a:ext cx="2819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Thirteen indicators record category membership.</a:t>
            </a:r>
          </a:p>
        </p:txBody>
      </p:sp>
    </p:spTree>
    <p:extLst>
      <p:ext uri="{BB962C8B-B14F-4D97-AF65-F5344CB8AC3E}">
        <p14:creationId xmlns:p14="http://schemas.microsoft.com/office/powerpoint/2010/main" val="1614256960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EBF11A-4EF5-47F3-851D-6A6CBFB0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789E2E-9C13-44AB-94DB-908690CF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F ·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1C832C-B23F-42AF-9499-58164B7C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output provides an auditable bridge to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1B29C-0BF9-45FE-A50F-B5D81795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Before fitting logistic regression or a tree, confirm the dimensions and feature names.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73CE5-7F9B-469C-BE16-34BCBAB2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3B580-BAE2-4C96-9C9C-9A219915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9E86F8-93A4-4D6F-805D-3D79DD4D5154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2952750"/>
                <a:gridCol w="523875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Why it matters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matrix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(24,000, 18)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transformation ran on every training row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Test matrix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(6,000, 18)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same output layout reaches held-out rows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 features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selected numeric block is visible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 features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category vocabulary is documented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Feature-name list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18 names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Later coefficients can be traced back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AF844-7647-4CE2-8CAA-4CF4F6BB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7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A37A8-3530-437D-BDC0-E2F74FC9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7417E-3EEE-4186-94E6-232FB266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MODEL HANDOFF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984D6-BBEF-4237-94C9-014E7A3B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next lecture can extend this object with financial feature engineering without rewriting the data-quality contract.</a:t>
            </a:r>
          </a:p>
        </p:txBody>
      </p:sp>
    </p:spTree>
    <p:extLst>
      <p:ext uri="{BB962C8B-B14F-4D97-AF65-F5344CB8AC3E}">
        <p14:creationId xmlns:p14="http://schemas.microsoft.com/office/powerpoint/2010/main" val="211525563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F17C80-45D6-4569-9C8B-3F38B9E7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F0EC47-35EA-4962-9461-34E0FBB9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17555-0EB2-411E-8796-69E35559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good preprocessing notebook explains each result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4F081-E3DD-43B2-BCB9-9DB42F02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output is useful only when the reader can connect it to a data decision and a financial meaning.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7D5C95-63D8-451F-92DF-D8222911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C95E8-3E28-4E94-9EA3-2715678B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F4A1A-5CB1-42B1-8875-3C163C3B46E4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4766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57500"/>
                <a:gridCol w="7715250"/>
              </a:tblGrid>
              <a:tr h="49666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 to answer in writing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Missingness rate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Why could the value be absent, and is the absence available at prediction time?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defines the event, and is deletion supported by the source system?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Outlier flag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Are the flagged values errors, rare valid cases, or a different unit?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Encoded feature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categories created the columns and what happens to new categories?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Transformed shape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 the number and order of features match the modelling plan?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Train/test comparison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Did any test information influence the fitted transformation?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89887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A8366-BED0-4A9C-8302-807562F9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D81F1-6278-4044-BD5C-48AA55AF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PRACTICE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54857-D1DD-4914-A7C0-F13FE50D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Run one case yourself before submitting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292EE-B4F9-4E2A-A7BD-4FAFB029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Choose one variable and write the decision as if you were documenting a production data-quality rule.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FB2FE-3EC7-423D-A194-F8C729A4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51475B-7268-4185-A63C-D7CD26AC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2C33E-E0EE-42CA-8DF7-FA0783A6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D659AC-0382-45E2-8E9F-99B4DA56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478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Select one numeric variable from the UCI table and report its 1st, 50th, and 99th percentiles.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021B23-76E9-4303-9855-B6791155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B8AA79-CF63-4993-B2C0-898942CF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431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Create a flag with a threshold that you can explain in one sentence.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59F05-D008-4C8F-B088-64DE4EF0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E1EDC4-64DE-45E8-B5D4-D20E8973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384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a controlled copy to introduce one missing value and preserve an indicator.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E018A3-98FF-4D4E-8BE0-5503E449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7A131D-209D-48AB-93BB-5EB2FA06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337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a small categorical example with one unseen test category.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4DD93E-3443-4947-A5B0-00AE26F2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5B2CD5-73AE-48EC-B5F7-1447D4FE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290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Run the pipeline from the notebook and report the output shape and feature names.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6823B8-95CA-42BA-9B5D-1A4DC8D4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2298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16022B-2488-49C7-B3C7-1221B5A3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575FB8-9E8C-4B59-A7DF-1210DDAD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SUBMISSION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7239CA-6F91-45DE-A368-182D7020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Include the code, the output, and a short interpretation. A code cell without an explanation is incomplete for this course.</a:t>
            </a:r>
          </a:p>
        </p:txBody>
      </p:sp>
    </p:spTree>
    <p:extLst>
      <p:ext uri="{BB962C8B-B14F-4D97-AF65-F5344CB8AC3E}">
        <p14:creationId xmlns:p14="http://schemas.microsoft.com/office/powerpoint/2010/main" val="174511083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0C4628-43D4-4149-8653-7AC6D54EE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4F524-94C9-4B66-9B04-91486F2C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TAKEAWAYS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BD1D6-8361-49F0-BE3B-870E6172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3 closes the gap between a table and a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44961-700D-479D-AF04-890A8BC3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next supervised-learning lecture can begin only after the data contract is explicit.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FF0B2-3C1F-40C0-9ECE-931E0FB5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17FEE-9A8B-4936-8182-CE6DCB97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19A4D-AB66-42C3-9CD8-BE55A2F3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E5B8F-0829-4DD4-94A1-B1FA1127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478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Audit the source before changing values.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A71AC-D65C-496D-B948-D9B2F40A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66954-4EE2-4797-8726-4A03ED60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050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Preserve missingness and duplicate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6DAED-CC23-4F09-A8DD-A3A6ACBC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5C4551-BFCC-4018-82AD-DC8EB60C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622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Flag extreme values before deciding on treatment.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6C40F2-BD45-477D-BC0E-23992494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18B619-B92F-4CAC-A03F-38955C70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194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Separate numeric, categorical, identifier, and target roles.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9A9FEB-5BA9-48E7-9F93-5D92CA2C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D8B8BF-34FC-4F83-AAD4-ED7EF7C2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766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Split before fitting transformations.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751B32-92BA-41BB-81BE-38B010E3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9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9B7111-571F-4B78-88B5-AF33DABA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338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one ColumnTransformer so the rules are reproducible.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875A8E-578F-45ED-B557-FB78D0ED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2DEE76-5965-4D11-8C07-14474BC5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Carry the data dictionary and feature-name list into the model report.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38A4CA-3606-44D7-B8D4-687B9CA5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C51A55-E568-4601-AE65-B19DE132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82B40F-4CAE-4B51-90E6-720AB432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NEXT LECTURE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1CBDC8-A6C8-492A-BCC8-53F34D54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4 uses this pipeline to construct financial features while keeping the prediction timestamp explicit.</a:t>
            </a:r>
          </a:p>
        </p:txBody>
      </p:sp>
    </p:spTree>
    <p:extLst>
      <p:ext uri="{BB962C8B-B14F-4D97-AF65-F5344CB8AC3E}">
        <p14:creationId xmlns:p14="http://schemas.microsoft.com/office/powerpoint/2010/main" val="979784290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7BEB8-4D74-4F06-A534-49FEA970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41228-B2C2-4D5B-A7A8-B8970327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QUALITY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D98F61-B28B-4311-8DB9-336E6BF4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preprocessing checklist for this course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42DBB-1B4A-457C-8950-62FB95D9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notebook should make every item visible before the next model is fitted.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836A15-FE5E-427B-85D9-573094A9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CAC9C-5B97-4FBF-958D-51296F3D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A9870-4388-40E2-AD27-51E27611F4CF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619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571750"/>
                <a:gridCol w="8001000"/>
              </a:tblGrid>
              <a:tr h="452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Pass condition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UCI source, licence, observation unit, and target are documented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Structure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Rows, columns, dtypes, missingness, duplicates, and codes are checked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Outliers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Thresholds create flags before any treatment is chosen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Timing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Variables are available at the prediction point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Split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Train/test partition occurs before fitting transformations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Pipeline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 and categorical transformations are declared and reproducible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Feature names, shapes, and category handling are inspected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05318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9CC1AB-D344-4DE3-9ECE-586A2708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92699D-02B3-4DF7-B8A0-4D7F5888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WEEKLY ASSIGNMENT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BD6187-B2A3-4D17-B926-DE4D4AFE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Submit a leakage-safe preprocessing notebook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A6A111-7093-49AE-934D-7DA14474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assignment turns the lecture route into a reproducible artifact.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676D8-FCB3-41A5-9098-A97CDD03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94EB3-C2FB-4954-8FDC-1FA1D6C1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64825-30EA-4B52-A5F2-2CEDDD57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BE995-38EE-464E-A6A7-A8600936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Load the complete UCI credit table and document source, variables, target, and observation unit.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0BFB7-32BA-4D4B-A262-66A68F85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8D604-FDCC-4A14-9D93-CCCA40EF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7650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Produce an audit table covering shape, data types, missingness, duplicates, identifiers, and coded categories.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275DC6-D9D4-46F4-8227-7234421A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38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45EF8-BE07-498D-B068-7F68273D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5275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Create one controlled missingness example and explain the chosen treatment without altering the source file.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2AF96D-655A-43B9-B26A-A17B41BE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799243-24BE-4F4A-BB2E-C77D2A1B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2900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Flag a documented outlier rule and compare counts before deciding whether any treatment is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4A01C3-E5A4-4F02-A2D2-36B00450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6D4CB2-DED4-4003-B7FA-E55F6497D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a train/test split and a ColumnTransformer with separate numeric and categorical pipelines.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736308-B33F-402F-BFA0-4AAE2416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7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317E72-7C8F-4357-9037-8BF4A841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8150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Show transformed shapes and feature names, then explain how the workflow prevents leakage.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7B543-9D23-4B6E-8079-675BCF7F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9906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D463F5-6C89-4CBB-91CA-4A373B79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9AD017-185F-43EE-A4FB-A29FEF8B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86400"/>
            <a:ext cx="948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DEADLINE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49B2A8-1E20-4AD0-B39B-34995222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81675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Submit the Colab notebook one day before the next course meeting and complete the related DataCamp practice.</a:t>
            </a:r>
          </a:p>
        </p:txBody>
      </p:sp>
    </p:spTree>
    <p:extLst>
      <p:ext uri="{BB962C8B-B14F-4D97-AF65-F5344CB8AC3E}">
        <p14:creationId xmlns:p14="http://schemas.microsoft.com/office/powerpoint/2010/main" val="586493463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ED3BB2-A6BA-4086-853F-9637319D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BAFF1E-471D-4635-A3B2-47C2110F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NEXT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E06F44-25DD-420C-B7C2-ED2C36D0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4 introduces feature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D0155-31DB-4657-B055-3C84B019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next lecture creates financial variables while keeping the prediction timestamp explicit.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16829F-2022-43DD-9BA6-8DA4804C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16EAD-BB0E-4AA2-8796-F26CE48B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E0E733-7F3E-473C-85A7-3CD1D4DD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1BD9F7-28DD-4289-93BA-49D2A1BB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56CCB-DE4E-478E-B9DD-39590D5E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FEATURE MEANING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B4C241-D29D-4C36-A816-067CFC5C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26289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Ratios, lags, rolling summaries, and interactions should represent a financial concept.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101D7D-04E3-46DC-A6AB-39043548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8C2869-A189-4918-8252-86ED182E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ECEBBF-1E6A-4BE2-A9BB-2EFB997F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479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328C6E-2DC2-4DF5-8ED6-FA2076C7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43175"/>
            <a:ext cx="26289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feature is valid only when it is known at the prediction point.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DD213B-A818-46CF-9481-1DEAC11B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2BC54A-4899-46D6-AF82-AB108AC4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9124E6-6C64-42B8-BF88-9F070C8B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479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SUPERVISED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1A61B6-B805-40BA-95AB-5CEA3744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43175"/>
            <a:ext cx="26289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engineered variables will feed the first supervised models later in the course.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7DCA46-2D4E-4F71-90CE-27BDA63E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Keep the Week 3 preprocessing notebook. Week 4 will extend the same pipeline rather than replace it.</a:t>
            </a:r>
          </a:p>
        </p:txBody>
      </p:sp>
    </p:spTree>
    <p:extLst>
      <p:ext uri="{BB962C8B-B14F-4D97-AF65-F5344CB8AC3E}">
        <p14:creationId xmlns:p14="http://schemas.microsoft.com/office/powerpoint/2010/main" val="17716845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2026-10-24T20:56:19.0250000Z</dcterms:created>
  <dcterms:modified xsi:type="dcterms:W3CDTF">2026-10-24T20:56:19.0250000Z</dcterms:modified>
</coreProperties>
</file>