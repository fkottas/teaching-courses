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2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3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slides/charts/chart4.xml" ContentType="application/vnd.openxmlformats-officedocument.drawingml.chart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c89c3e4cdc4898" /><Relationship Type="http://schemas.openxmlformats.org/officeDocument/2006/relationships/extended-properties" Target="/docProps/app.xml" Id="R7c9e4c0853ad4b20" /><Relationship Type="http://schemas.openxmlformats.org/officeDocument/2006/relationships/officeDocument" Target="/ppt/presentation.xml" Id="R09d856d59e6f42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5574a30c83463d"/>
  </p:sldMasterIdLst>
  <p:notesMasterIdLst>
    <p:notesMasterId xmlns:r="http://schemas.openxmlformats.org/officeDocument/2006/relationships" r:id="Raaf99d2be2fe44a6"/>
  </p:notesMasterIdLst>
  <p:sldIdLst>
    <p:sldId xmlns:r="http://schemas.openxmlformats.org/officeDocument/2006/relationships" id="256" r:id="Rf24e6fb247204730"/>
    <p:sldId xmlns:r="http://schemas.openxmlformats.org/officeDocument/2006/relationships" id="257" r:id="R027447e86ec24263"/>
    <p:sldId xmlns:r="http://schemas.openxmlformats.org/officeDocument/2006/relationships" id="258" r:id="Rbc09576bfa9b464f"/>
    <p:sldId xmlns:r="http://schemas.openxmlformats.org/officeDocument/2006/relationships" id="259" r:id="R92927c904c0249a0"/>
    <p:sldId xmlns:r="http://schemas.openxmlformats.org/officeDocument/2006/relationships" id="260" r:id="Racd64f169467499d"/>
    <p:sldId xmlns:r="http://schemas.openxmlformats.org/officeDocument/2006/relationships" id="261" r:id="R3e63804c4e644c85"/>
    <p:sldId xmlns:r="http://schemas.openxmlformats.org/officeDocument/2006/relationships" id="262" r:id="R5284728d100849ed"/>
    <p:sldId xmlns:r="http://schemas.openxmlformats.org/officeDocument/2006/relationships" id="263" r:id="Reed3f56624f1411e"/>
    <p:sldId xmlns:r="http://schemas.openxmlformats.org/officeDocument/2006/relationships" id="264" r:id="R754ee3cb19e84048"/>
    <p:sldId xmlns:r="http://schemas.openxmlformats.org/officeDocument/2006/relationships" id="265" r:id="R695930c4e66b41ff"/>
    <p:sldId xmlns:r="http://schemas.openxmlformats.org/officeDocument/2006/relationships" id="266" r:id="R45bea757d153421e"/>
    <p:sldId xmlns:r="http://schemas.openxmlformats.org/officeDocument/2006/relationships" id="267" r:id="R34ae2bbcbbf64bdc"/>
    <p:sldId xmlns:r="http://schemas.openxmlformats.org/officeDocument/2006/relationships" id="268" r:id="Rde8156a5271042be"/>
    <p:sldId xmlns:r="http://schemas.openxmlformats.org/officeDocument/2006/relationships" id="269" r:id="R9a607aeb648942a2"/>
    <p:sldId xmlns:r="http://schemas.openxmlformats.org/officeDocument/2006/relationships" id="270" r:id="R02cdfb1658624ef3"/>
    <p:sldId xmlns:r="http://schemas.openxmlformats.org/officeDocument/2006/relationships" id="271" r:id="Rb98e8ace77034451"/>
    <p:sldId xmlns:r="http://schemas.openxmlformats.org/officeDocument/2006/relationships" id="272" r:id="Rad413cf2ae844d56"/>
    <p:sldId xmlns:r="http://schemas.openxmlformats.org/officeDocument/2006/relationships" id="273" r:id="R736240362ba64f5f"/>
    <p:sldId xmlns:r="http://schemas.openxmlformats.org/officeDocument/2006/relationships" id="274" r:id="R36bbe2b178a4431e"/>
    <p:sldId xmlns:r="http://schemas.openxmlformats.org/officeDocument/2006/relationships" id="275" r:id="R848dcb1e852b4b26"/>
    <p:sldId xmlns:r="http://schemas.openxmlformats.org/officeDocument/2006/relationships" id="276" r:id="R56a5310df7294937"/>
    <p:sldId xmlns:r="http://schemas.openxmlformats.org/officeDocument/2006/relationships" id="277" r:id="R8e9e9ef1a72d4716"/>
    <p:sldId xmlns:r="http://schemas.openxmlformats.org/officeDocument/2006/relationships" id="278" r:id="Rb2eded0d2876424b"/>
    <p:sldId xmlns:r="http://schemas.openxmlformats.org/officeDocument/2006/relationships" id="279" r:id="Ra4b822de611a4a75"/>
    <p:sldId xmlns:r="http://schemas.openxmlformats.org/officeDocument/2006/relationships" id="280" r:id="Rd5c2ec5e94c840ba"/>
    <p:sldId xmlns:r="http://schemas.openxmlformats.org/officeDocument/2006/relationships" id="281" r:id="R67c7385972e3472f"/>
    <p:sldId xmlns:r="http://schemas.openxmlformats.org/officeDocument/2006/relationships" id="282" r:id="R125eb76cfd0b4a42"/>
    <p:sldId xmlns:r="http://schemas.openxmlformats.org/officeDocument/2006/relationships" id="283" r:id="R7462fd7c108e4326"/>
    <p:sldId xmlns:r="http://schemas.openxmlformats.org/officeDocument/2006/relationships" id="284" r:id="Reb7087d6f16d4dd7"/>
    <p:sldId xmlns:r="http://schemas.openxmlformats.org/officeDocument/2006/relationships" id="285" r:id="R328b67219cc546a6"/>
    <p:sldId xmlns:r="http://schemas.openxmlformats.org/officeDocument/2006/relationships" id="286" r:id="R6139e7f13fde4bef"/>
    <p:sldId xmlns:r="http://schemas.openxmlformats.org/officeDocument/2006/relationships" id="287" r:id="Rbf09946ae00749f8"/>
    <p:sldId xmlns:r="http://schemas.openxmlformats.org/officeDocument/2006/relationships" id="288" r:id="R3b740ccfb8de4ba9"/>
    <p:sldId xmlns:r="http://schemas.openxmlformats.org/officeDocument/2006/relationships" id="289" r:id="Ra7430406af474b8d"/>
    <p:sldId xmlns:r="http://schemas.openxmlformats.org/officeDocument/2006/relationships" id="290" r:id="R7fd45a7bde554333"/>
    <p:sldId xmlns:r="http://schemas.openxmlformats.org/officeDocument/2006/relationships" id="291" r:id="Rc9a45126e7fa4d2b"/>
    <p:sldId xmlns:r="http://schemas.openxmlformats.org/officeDocument/2006/relationships" id="292" r:id="R19a7a89323d74513"/>
    <p:sldId xmlns:r="http://schemas.openxmlformats.org/officeDocument/2006/relationships" id="293" r:id="Rf7cef45c8d0d4df1"/>
    <p:sldId xmlns:r="http://schemas.openxmlformats.org/officeDocument/2006/relationships" id="294" r:id="R39c6fca9156c4e62"/>
    <p:sldId xmlns:r="http://schemas.openxmlformats.org/officeDocument/2006/relationships" id="295" r:id="R39547182c1d149ec"/>
    <p:sldId xmlns:r="http://schemas.openxmlformats.org/officeDocument/2006/relationships" id="296" r:id="R6a54f929cab84bd6"/>
    <p:sldId xmlns:r="http://schemas.openxmlformats.org/officeDocument/2006/relationships" id="297" r:id="R690cfb134562478c"/>
    <p:sldId xmlns:r="http://schemas.openxmlformats.org/officeDocument/2006/relationships" id="298" r:id="R9b47c53755f7462c"/>
    <p:sldId xmlns:r="http://schemas.openxmlformats.org/officeDocument/2006/relationships" id="299" r:id="R16c3e79a276f4a6c"/>
    <p:sldId xmlns:r="http://schemas.openxmlformats.org/officeDocument/2006/relationships" id="300" r:id="R211ce90f5f5e41f6"/>
    <p:sldId xmlns:r="http://schemas.openxmlformats.org/officeDocument/2006/relationships" id="301" r:id="R9abd871d362244c9"/>
    <p:sldId xmlns:r="http://schemas.openxmlformats.org/officeDocument/2006/relationships" id="302" r:id="Re40c1aeb0c7e42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9a92c28e064b2e" /><Relationship Type="http://schemas.openxmlformats.org/officeDocument/2006/relationships/slideMaster" Target="/ppt/slideMasters/slideMaster1.xml" Id="Red5574a30c83463d" /><Relationship Type="http://schemas.openxmlformats.org/officeDocument/2006/relationships/notesMaster" Target="/ppt/notesMasters/notesMaster1.xml" Id="Raaf99d2be2fe44a6" /><Relationship Type="http://schemas.openxmlformats.org/officeDocument/2006/relationships/presProps" Target="/ppt/presProps.xml" Id="Rc9601ecd2bcb4c0d" /><Relationship Type="http://schemas.openxmlformats.org/officeDocument/2006/relationships/tableStyles" Target="/ppt/tableStyles.xml" Id="R182429de68b94ff0" /><Relationship Type="http://schemas.openxmlformats.org/officeDocument/2006/relationships/slide" Target="/ppt/slides/slide1.xml" Id="Rf24e6fb247204730" /><Relationship Type="http://schemas.openxmlformats.org/officeDocument/2006/relationships/slide" Target="/ppt/slides/slide2.xml" Id="R027447e86ec24263" /><Relationship Type="http://schemas.openxmlformats.org/officeDocument/2006/relationships/slide" Target="/ppt/slides/slide3.xml" Id="Rbc09576bfa9b464f" /><Relationship Type="http://schemas.openxmlformats.org/officeDocument/2006/relationships/slide" Target="/ppt/slides/slide4.xml" Id="R92927c904c0249a0" /><Relationship Type="http://schemas.openxmlformats.org/officeDocument/2006/relationships/slide" Target="/ppt/slides/slide5.xml" Id="Racd64f169467499d" /><Relationship Type="http://schemas.openxmlformats.org/officeDocument/2006/relationships/slide" Target="/ppt/slides/slide6.xml" Id="R3e63804c4e644c85" /><Relationship Type="http://schemas.openxmlformats.org/officeDocument/2006/relationships/slide" Target="/ppt/slides/slide7.xml" Id="R5284728d100849ed" /><Relationship Type="http://schemas.openxmlformats.org/officeDocument/2006/relationships/slide" Target="/ppt/slides/slide8.xml" Id="Reed3f56624f1411e" /><Relationship Type="http://schemas.openxmlformats.org/officeDocument/2006/relationships/slide" Target="/ppt/slides/slide9.xml" Id="R754ee3cb19e84048" /><Relationship Type="http://schemas.openxmlformats.org/officeDocument/2006/relationships/slide" Target="/ppt/slides/slide10.xml" Id="R695930c4e66b41ff" /><Relationship Type="http://schemas.openxmlformats.org/officeDocument/2006/relationships/slide" Target="/ppt/slides/slide11.xml" Id="R45bea757d153421e" /><Relationship Type="http://schemas.openxmlformats.org/officeDocument/2006/relationships/slide" Target="/ppt/slides/slide12.xml" Id="R34ae2bbcbbf64bdc" /><Relationship Type="http://schemas.openxmlformats.org/officeDocument/2006/relationships/slide" Target="/ppt/slides/slide13.xml" Id="Rde8156a5271042be" /><Relationship Type="http://schemas.openxmlformats.org/officeDocument/2006/relationships/slide" Target="/ppt/slides/slide14.xml" Id="R9a607aeb648942a2" /><Relationship Type="http://schemas.openxmlformats.org/officeDocument/2006/relationships/slide" Target="/ppt/slides/slide15.xml" Id="R02cdfb1658624ef3" /><Relationship Type="http://schemas.openxmlformats.org/officeDocument/2006/relationships/slide" Target="/ppt/slides/slide16.xml" Id="Rb98e8ace77034451" /><Relationship Type="http://schemas.openxmlformats.org/officeDocument/2006/relationships/slide" Target="/ppt/slides/slide17.xml" Id="Rad413cf2ae844d56" /><Relationship Type="http://schemas.openxmlformats.org/officeDocument/2006/relationships/slide" Target="/ppt/slides/slide18.xml" Id="R736240362ba64f5f" /><Relationship Type="http://schemas.openxmlformats.org/officeDocument/2006/relationships/slide" Target="/ppt/slides/slide19.xml" Id="R36bbe2b178a4431e" /><Relationship Type="http://schemas.openxmlformats.org/officeDocument/2006/relationships/slide" Target="/ppt/slides/slide20.xml" Id="R848dcb1e852b4b26" /><Relationship Type="http://schemas.openxmlformats.org/officeDocument/2006/relationships/slide" Target="/ppt/slides/slide21.xml" Id="R56a5310df7294937" /><Relationship Type="http://schemas.openxmlformats.org/officeDocument/2006/relationships/slide" Target="/ppt/slides/slide22.xml" Id="R8e9e9ef1a72d4716" /><Relationship Type="http://schemas.openxmlformats.org/officeDocument/2006/relationships/slide" Target="/ppt/slides/slide23.xml" Id="Rb2eded0d2876424b" /><Relationship Type="http://schemas.openxmlformats.org/officeDocument/2006/relationships/slide" Target="/ppt/slides/slide24.xml" Id="Ra4b822de611a4a75" /><Relationship Type="http://schemas.openxmlformats.org/officeDocument/2006/relationships/slide" Target="/ppt/slides/slide25.xml" Id="Rd5c2ec5e94c840ba" /><Relationship Type="http://schemas.openxmlformats.org/officeDocument/2006/relationships/slide" Target="/ppt/slides/slide26.xml" Id="R67c7385972e3472f" /><Relationship Type="http://schemas.openxmlformats.org/officeDocument/2006/relationships/slide" Target="/ppt/slides/slide27.xml" Id="R125eb76cfd0b4a42" /><Relationship Type="http://schemas.openxmlformats.org/officeDocument/2006/relationships/slide" Target="/ppt/slides/slide28.xml" Id="R7462fd7c108e4326" /><Relationship Type="http://schemas.openxmlformats.org/officeDocument/2006/relationships/slide" Target="/ppt/slides/slide29.xml" Id="Reb7087d6f16d4dd7" /><Relationship Type="http://schemas.openxmlformats.org/officeDocument/2006/relationships/slide" Target="/ppt/slides/slide30.xml" Id="R328b67219cc546a6" /><Relationship Type="http://schemas.openxmlformats.org/officeDocument/2006/relationships/slide" Target="/ppt/slides/slide31.xml" Id="R6139e7f13fde4bef" /><Relationship Type="http://schemas.openxmlformats.org/officeDocument/2006/relationships/slide" Target="/ppt/slides/slide32.xml" Id="Rbf09946ae00749f8" /><Relationship Type="http://schemas.openxmlformats.org/officeDocument/2006/relationships/slide" Target="/ppt/slides/slide33.xml" Id="R3b740ccfb8de4ba9" /><Relationship Type="http://schemas.openxmlformats.org/officeDocument/2006/relationships/slide" Target="/ppt/slides/slide34.xml" Id="Ra7430406af474b8d" /><Relationship Type="http://schemas.openxmlformats.org/officeDocument/2006/relationships/slide" Target="/ppt/slides/slide35.xml" Id="R7fd45a7bde554333" /><Relationship Type="http://schemas.openxmlformats.org/officeDocument/2006/relationships/slide" Target="/ppt/slides/slide36.xml" Id="Rc9a45126e7fa4d2b" /><Relationship Type="http://schemas.openxmlformats.org/officeDocument/2006/relationships/slide" Target="/ppt/slides/slide37.xml" Id="R19a7a89323d74513" /><Relationship Type="http://schemas.openxmlformats.org/officeDocument/2006/relationships/slide" Target="/ppt/slides/slide38.xml" Id="Rf7cef45c8d0d4df1" /><Relationship Type="http://schemas.openxmlformats.org/officeDocument/2006/relationships/slide" Target="/ppt/slides/slide39.xml" Id="R39c6fca9156c4e62" /><Relationship Type="http://schemas.openxmlformats.org/officeDocument/2006/relationships/slide" Target="/ppt/slides/slide40.xml" Id="R39547182c1d149ec" /><Relationship Type="http://schemas.openxmlformats.org/officeDocument/2006/relationships/slide" Target="/ppt/slides/slide41.xml" Id="R6a54f929cab84bd6" /><Relationship Type="http://schemas.openxmlformats.org/officeDocument/2006/relationships/slide" Target="/ppt/slides/slide42.xml" Id="R690cfb134562478c" /><Relationship Type="http://schemas.openxmlformats.org/officeDocument/2006/relationships/slide" Target="/ppt/slides/slide43.xml" Id="R9b47c53755f7462c" /><Relationship Type="http://schemas.openxmlformats.org/officeDocument/2006/relationships/slide" Target="/ppt/slides/slide44.xml" Id="R16c3e79a276f4a6c" /><Relationship Type="http://schemas.openxmlformats.org/officeDocument/2006/relationships/slide" Target="/ppt/slides/slide45.xml" Id="R211ce90f5f5e41f6" /><Relationship Type="http://schemas.openxmlformats.org/officeDocument/2006/relationships/slide" Target="/ppt/slides/slide46.xml" Id="R9abd871d362244c9" /><Relationship Type="http://schemas.openxmlformats.org/officeDocument/2006/relationships/slide" Target="/ppt/slides/slide47.xml" Id="Re40c1aeb0c7e42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379f02264e41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cba50424974f28" /><Relationship Type="http://schemas.openxmlformats.org/officeDocument/2006/relationships/notesMaster" Target="/ppt/notesMasters/notesMaster1.xml" Id="R3fe64bbdb17442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1fc8071140480e" /><Relationship Type="http://schemas.openxmlformats.org/officeDocument/2006/relationships/notesMaster" Target="/ppt/notesMasters/notesMaster1.xml" Id="R856b8224473f47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43439885394555" /><Relationship Type="http://schemas.openxmlformats.org/officeDocument/2006/relationships/notesMaster" Target="/ppt/notesMasters/notesMaster1.xml" Id="Rfbae4a2775f343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d1d484f2fb4248" /><Relationship Type="http://schemas.openxmlformats.org/officeDocument/2006/relationships/notesMaster" Target="/ppt/notesMasters/notesMaster1.xml" Id="Rb6f16d7d4e9047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24025de6004a24" /><Relationship Type="http://schemas.openxmlformats.org/officeDocument/2006/relationships/notesMaster" Target="/ppt/notesMasters/notesMaster1.xml" Id="R21e2e3e7e4d645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7bfad21f404a73" /><Relationship Type="http://schemas.openxmlformats.org/officeDocument/2006/relationships/notesMaster" Target="/ppt/notesMasters/notesMaster1.xml" Id="R362a65c29b7f42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9d383d039a436d" /><Relationship Type="http://schemas.openxmlformats.org/officeDocument/2006/relationships/notesMaster" Target="/ppt/notesMasters/notesMaster1.xml" Id="R4debd395dce940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299be200e641f0" /><Relationship Type="http://schemas.openxmlformats.org/officeDocument/2006/relationships/notesMaster" Target="/ppt/notesMasters/notesMaster1.xml" Id="R827ebd7de14d45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920ad41153485f" /><Relationship Type="http://schemas.openxmlformats.org/officeDocument/2006/relationships/notesMaster" Target="/ppt/notesMasters/notesMaster1.xml" Id="R6fba83f7b5cb43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ebfe072a0247e9" /><Relationship Type="http://schemas.openxmlformats.org/officeDocument/2006/relationships/notesMaster" Target="/ppt/notesMasters/notesMaster1.xml" Id="R44451e054e5f4a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1874c73bf643cc" /><Relationship Type="http://schemas.openxmlformats.org/officeDocument/2006/relationships/notesMaster" Target="/ppt/notesMasters/notesMaster1.xml" Id="Rd15d34d7678e48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5af32f7ea744bd" /><Relationship Type="http://schemas.openxmlformats.org/officeDocument/2006/relationships/notesMaster" Target="/ppt/notesMasters/notesMaster1.xml" Id="Rafee6ec154db48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4dd3a8b58449ed" /><Relationship Type="http://schemas.openxmlformats.org/officeDocument/2006/relationships/notesMaster" Target="/ppt/notesMasters/notesMaster1.xml" Id="Rcf6930a2531241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0176088a414c4e" /><Relationship Type="http://schemas.openxmlformats.org/officeDocument/2006/relationships/notesMaster" Target="/ppt/notesMasters/notesMaster1.xml" Id="R974e1bf1ae3d42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2d432122144ac8" /><Relationship Type="http://schemas.openxmlformats.org/officeDocument/2006/relationships/notesMaster" Target="/ppt/notesMasters/notesMaster1.xml" Id="R9f9f8041802246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31721a65564a8a" /><Relationship Type="http://schemas.openxmlformats.org/officeDocument/2006/relationships/notesMaster" Target="/ppt/notesMasters/notesMaster1.xml" Id="Ra031a550bfb54b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326acea6e84213" /><Relationship Type="http://schemas.openxmlformats.org/officeDocument/2006/relationships/notesMaster" Target="/ppt/notesMasters/notesMaster1.xml" Id="R5a63f43829f54d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f04496d4de4f90" /><Relationship Type="http://schemas.openxmlformats.org/officeDocument/2006/relationships/notesMaster" Target="/ppt/notesMasters/notesMaster1.xml" Id="R9d9c9aca07f642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308a79150940fb" /><Relationship Type="http://schemas.openxmlformats.org/officeDocument/2006/relationships/notesMaster" Target="/ppt/notesMasters/notesMaster1.xml" Id="R52621782a82349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91eb323b3c4d5e" /><Relationship Type="http://schemas.openxmlformats.org/officeDocument/2006/relationships/notesMaster" Target="/ppt/notesMasters/notesMaster1.xml" Id="R904375bf56c8442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0c7b78357814e63" /><Relationship Type="http://schemas.openxmlformats.org/officeDocument/2006/relationships/notesMaster" Target="/ppt/notesMasters/notesMaster1.xml" Id="Raf5066bcfc44435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bfbc80a17574921" /><Relationship Type="http://schemas.openxmlformats.org/officeDocument/2006/relationships/notesMaster" Target="/ppt/notesMasters/notesMaster1.xml" Id="R0b5d1f8c4f45411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1928ff96b7478c" /><Relationship Type="http://schemas.openxmlformats.org/officeDocument/2006/relationships/notesMaster" Target="/ppt/notesMasters/notesMaster1.xml" Id="Rce48e502f218482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ea62bbfd77e4426" /><Relationship Type="http://schemas.openxmlformats.org/officeDocument/2006/relationships/notesMaster" Target="/ppt/notesMasters/notesMaster1.xml" Id="R12a6be7a190d409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7c946c335a54c39" /><Relationship Type="http://schemas.openxmlformats.org/officeDocument/2006/relationships/notesMaster" Target="/ppt/notesMasters/notesMaster1.xml" Id="R4fd9ef2b2fdf440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e1dba73d4da46f2" /><Relationship Type="http://schemas.openxmlformats.org/officeDocument/2006/relationships/notesMaster" Target="/ppt/notesMasters/notesMaster1.xml" Id="R584168be642143d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33dda3fc1204ff1" /><Relationship Type="http://schemas.openxmlformats.org/officeDocument/2006/relationships/notesMaster" Target="/ppt/notesMasters/notesMaster1.xml" Id="R0bb112de64c1434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b9d5d3e6bd24eab" /><Relationship Type="http://schemas.openxmlformats.org/officeDocument/2006/relationships/notesMaster" Target="/ppt/notesMasters/notesMaster1.xml" Id="R51fdced5b402446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4b57591bdd344bc" /><Relationship Type="http://schemas.openxmlformats.org/officeDocument/2006/relationships/notesMaster" Target="/ppt/notesMasters/notesMaster1.xml" Id="Rf8707bfd44b74d1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5a921ee190440a3" /><Relationship Type="http://schemas.openxmlformats.org/officeDocument/2006/relationships/notesMaster" Target="/ppt/notesMasters/notesMaster1.xml" Id="Rb64a355e524d4d3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e13257be03e42de" /><Relationship Type="http://schemas.openxmlformats.org/officeDocument/2006/relationships/notesMaster" Target="/ppt/notesMasters/notesMaster1.xml" Id="R3173e8d59009403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3ab7cfb36b74add" /><Relationship Type="http://schemas.openxmlformats.org/officeDocument/2006/relationships/notesMaster" Target="/ppt/notesMasters/notesMaster1.xml" Id="Rffe810f820c74d4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70b32d29eef4878" /><Relationship Type="http://schemas.openxmlformats.org/officeDocument/2006/relationships/notesMaster" Target="/ppt/notesMasters/notesMaster1.xml" Id="R7b25e51d9cac4af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b68c96780524906" /><Relationship Type="http://schemas.openxmlformats.org/officeDocument/2006/relationships/notesMaster" Target="/ppt/notesMasters/notesMaster1.xml" Id="Rb3647dfdaa0d44e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a59fcf63f4042c5" /><Relationship Type="http://schemas.openxmlformats.org/officeDocument/2006/relationships/notesMaster" Target="/ppt/notesMasters/notesMaster1.xml" Id="Rc5d07cb8316c47d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f86653479f34d13" /><Relationship Type="http://schemas.openxmlformats.org/officeDocument/2006/relationships/notesMaster" Target="/ppt/notesMasters/notesMaster1.xml" Id="R227ad93e4d0645c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ce3bfbb225e4f84" /><Relationship Type="http://schemas.openxmlformats.org/officeDocument/2006/relationships/notesMaster" Target="/ppt/notesMasters/notesMaster1.xml" Id="R65afb28c674144f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44f9652c1d94cb2" /><Relationship Type="http://schemas.openxmlformats.org/officeDocument/2006/relationships/notesMaster" Target="/ppt/notesMasters/notesMaster1.xml" Id="Re7caad36793e4ee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2244ef3c5f54440" /><Relationship Type="http://schemas.openxmlformats.org/officeDocument/2006/relationships/notesMaster" Target="/ppt/notesMasters/notesMaster1.xml" Id="Rd3b0dbf4ff6c45c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ff10cfe65954cd1" /><Relationship Type="http://schemas.openxmlformats.org/officeDocument/2006/relationships/notesMaster" Target="/ppt/notesMasters/notesMaster1.xml" Id="R83a330a1b9674bd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3867cd804974787" /><Relationship Type="http://schemas.openxmlformats.org/officeDocument/2006/relationships/notesMaster" Target="/ppt/notesMasters/notesMaster1.xml" Id="R19f98a6bad8f46e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dbf79512ea941e0" /><Relationship Type="http://schemas.openxmlformats.org/officeDocument/2006/relationships/notesMaster" Target="/ppt/notesMasters/notesMaster1.xml" Id="R14c56b2582704d5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27cf941388e4051" /><Relationship Type="http://schemas.openxmlformats.org/officeDocument/2006/relationships/notesMaster" Target="/ppt/notesMasters/notesMaster1.xml" Id="Rf106dd579deb431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a88f461d19f473f" /><Relationship Type="http://schemas.openxmlformats.org/officeDocument/2006/relationships/notesMaster" Target="/ppt/notesMasters/notesMaster1.xml" Id="Radb1b1b9850e4e9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3d143dc640e4ef8" /><Relationship Type="http://schemas.openxmlformats.org/officeDocument/2006/relationships/notesMaster" Target="/ppt/notesMasters/notesMaster1.xml" Id="Rdd8d6a9815434f5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3ddec80bafa426e" /><Relationship Type="http://schemas.openxmlformats.org/officeDocument/2006/relationships/notesMaster" Target="/ppt/notesMasters/notesMaster1.xml" Id="R7e3b7e3b6104438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932e297766f4bbf" /><Relationship Type="http://schemas.openxmlformats.org/officeDocument/2006/relationships/notesMaster" Target="/ppt/notesMasters/notesMaster1.xml" Id="R730b5b4ff78640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 Mathematical insertion points are documented separately; formulas are intentionally absent from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UCI Machine Learning Repository dataset 350, https://archive.ics.uci.edu/dataset/350/default+of+credit+card+clients.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UCI dataset 350 variable documentation and course data dictionary.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711dcfb3a43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de88ab73c44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6b4cd53ec49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7dd2052934d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6e9b5a6eba44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6110ccfce4c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53B0D8-8905-4AA0-AED9-320EC63EB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28A6A5-045A-442D-9D56-F374053720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435C7B-81F4-4583-A966-C1B2CD767B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1F531C-007C-428B-B11F-6737D5599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9790FAE-2F8F-4CC4-A526-758438AF52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136093-2D1A-4D91-B77D-734EF3F57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EA88AD-2FBF-47AA-A10B-40BBE23EE2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9FE44C-3974-4E1B-95EA-E168DEAD25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59E31F-CED6-456E-B735-4B0AF29129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4F9013-962B-40FC-BA41-958E41AB67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b332bb80d74524" /><Relationship Type="http://schemas.openxmlformats.org/officeDocument/2006/relationships/slideLayout" Target="/ppt/slideLayouts/slideLayout1.xml" Id="R0d61d475fec84e13" /><Relationship Type="http://schemas.openxmlformats.org/officeDocument/2006/relationships/slideLayout" Target="/ppt/slideLayouts/slideLayout2.xml" Id="R0435f81a79784bb7" /><Relationship Type="http://schemas.openxmlformats.org/officeDocument/2006/relationships/slideLayout" Target="/ppt/slideLayouts/slideLayout3.xml" Id="R0e5af4afc5b64286" /><Relationship Type="http://schemas.openxmlformats.org/officeDocument/2006/relationships/slideLayout" Target="/ppt/slideLayouts/slideLayout4.xml" Id="R82e680313a114d81" /><Relationship Type="http://schemas.openxmlformats.org/officeDocument/2006/relationships/slideLayout" Target="/ppt/slideLayouts/slideLayout5.xml" Id="R07919edc15614144" /><Relationship Type="http://schemas.openxmlformats.org/officeDocument/2006/relationships/slideLayout" Target="/ppt/slideLayouts/slideLayout6.xml" Id="R9996d53e5bda41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61d475fec84e13"/>
    <p:sldLayoutId xmlns:r="http://schemas.openxmlformats.org/officeDocument/2006/relationships" id="2147483650" r:id="R0435f81a79784bb7"/>
    <p:sldLayoutId xmlns:r="http://schemas.openxmlformats.org/officeDocument/2006/relationships" id="2147483651" r:id="R0e5af4afc5b64286"/>
    <p:sldLayoutId xmlns:r="http://schemas.openxmlformats.org/officeDocument/2006/relationships" id="2147483652" r:id="R82e680313a114d81"/>
    <p:sldLayoutId xmlns:r="http://schemas.openxmlformats.org/officeDocument/2006/relationships" id="2147483653" r:id="R07919edc15614144"/>
    <p:sldLayoutId xmlns:r="http://schemas.openxmlformats.org/officeDocument/2006/relationships" id="2147483654" r:id="R9996d53e5bda41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ba8a126f3d47f0" /><Relationship Type="http://schemas.openxmlformats.org/officeDocument/2006/relationships/notesSlide" Target="/ppt/notesSlides/notesSlide1.xml" Id="Ra29696a76c7244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959b909f14992" /><Relationship Type="http://schemas.openxmlformats.org/officeDocument/2006/relationships/notesSlide" Target="/ppt/notesSlides/notesSlide2.xml" Id="R0270e0a175de4f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6f52a679f64b3b" /><Relationship Type="http://schemas.openxmlformats.org/officeDocument/2006/relationships/notesSlide" Target="/ppt/notesSlides/notesSlide3.xml" Id="Raef9860afaba46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3177b7b4f643c9" /><Relationship Type="http://schemas.openxmlformats.org/officeDocument/2006/relationships/notesSlide" Target="/ppt/notesSlides/notesSlide4.xml" Id="R95c26e586f4942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ca6738c9ec439f" /><Relationship Type="http://schemas.openxmlformats.org/officeDocument/2006/relationships/notesSlide" Target="/ppt/notesSlides/notesSlide5.xml" Id="Rd14991d1445047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e577a5e6704709" /><Relationship Type="http://schemas.openxmlformats.org/officeDocument/2006/relationships/notesSlide" Target="/ppt/notesSlides/notesSlide6.xml" Id="Re831206ca61c45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2aff03babb4031" /><Relationship Type="http://schemas.openxmlformats.org/officeDocument/2006/relationships/notesSlide" Target="/ppt/notesSlides/notesSlide7.xml" Id="R6903db5d614046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1a5ca4f0404e72" /><Relationship Type="http://schemas.openxmlformats.org/officeDocument/2006/relationships/notesSlide" Target="/ppt/notesSlides/notesSlide8.xml" Id="Rd2a5149c9e4b43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5e458abdbf47f1" /><Relationship Type="http://schemas.openxmlformats.org/officeDocument/2006/relationships/notesSlide" Target="/ppt/notesSlides/notesSlide9.xml" Id="R7733bd183d674c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b51bfc27e841d1" /><Relationship Type="http://schemas.openxmlformats.org/officeDocument/2006/relationships/notesSlide" Target="/ppt/notesSlides/notesSlide10.xml" Id="R4de8500ba48d44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ad1d5944bc43a2" /><Relationship Type="http://schemas.openxmlformats.org/officeDocument/2006/relationships/notesSlide" Target="/ppt/notesSlides/notesSlide11.xml" Id="R1b82223ddd8041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ac781df3b4214" /><Relationship Type="http://schemas.openxmlformats.org/officeDocument/2006/relationships/chart" Target="/ppt/slides/charts/chart1.xml" Id="R2408449ef8884b75" /><Relationship Type="http://schemas.openxmlformats.org/officeDocument/2006/relationships/notesSlide" Target="/ppt/notesSlides/notesSlide12.xml" Id="R7e1bcc2377f446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a536526704166" /><Relationship Type="http://schemas.openxmlformats.org/officeDocument/2006/relationships/notesSlide" Target="/ppt/notesSlides/notesSlide13.xml" Id="R71055f60b1e843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026354abd4a7b" /><Relationship Type="http://schemas.openxmlformats.org/officeDocument/2006/relationships/notesSlide" Target="/ppt/notesSlides/notesSlide14.xml" Id="R6d21a65eb1ed4c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a590ae7e4d4e8b" /><Relationship Type="http://schemas.openxmlformats.org/officeDocument/2006/relationships/notesSlide" Target="/ppt/notesSlides/notesSlide15.xml" Id="R1c67aaa8af8646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b2b3274ab54087" /><Relationship Type="http://schemas.openxmlformats.org/officeDocument/2006/relationships/notesSlide" Target="/ppt/notesSlides/notesSlide16.xml" Id="R7e80b19d7af849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c85f1bac1b4e2a" /><Relationship Type="http://schemas.openxmlformats.org/officeDocument/2006/relationships/notesSlide" Target="/ppt/notesSlides/notesSlide17.xml" Id="R1166abb5d03c41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699d6654a0416b" /><Relationship Type="http://schemas.openxmlformats.org/officeDocument/2006/relationships/notesSlide" Target="/ppt/notesSlides/notesSlide18.xml" Id="R6afd64680fca449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8e34b05e1c44ef" /><Relationship Type="http://schemas.openxmlformats.org/officeDocument/2006/relationships/notesSlide" Target="/ppt/notesSlides/notesSlide19.xml" Id="R9599a8938a9b49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2fb152270f4ee1" /><Relationship Type="http://schemas.openxmlformats.org/officeDocument/2006/relationships/notesSlide" Target="/ppt/notesSlides/notesSlide20.xml" Id="R7e0f93dede06459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54daf1f564207" /><Relationship Type="http://schemas.openxmlformats.org/officeDocument/2006/relationships/notesSlide" Target="/ppt/notesSlides/notesSlide21.xml" Id="R9f68e1a0182c44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347b436dee4e60" /><Relationship Type="http://schemas.openxmlformats.org/officeDocument/2006/relationships/notesSlide" Target="/ppt/notesSlides/notesSlide22.xml" Id="Rd9af7b5fc4114cf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1274e4346445f0" /><Relationship Type="http://schemas.openxmlformats.org/officeDocument/2006/relationships/chart" Target="/ppt/slides/charts/chart2.xml" Id="R64a4899a3d97493c" /><Relationship Type="http://schemas.openxmlformats.org/officeDocument/2006/relationships/notesSlide" Target="/ppt/notesSlides/notesSlide23.xml" Id="R891d22edee2c4f8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fe83c38feb4dc1" /><Relationship Type="http://schemas.openxmlformats.org/officeDocument/2006/relationships/notesSlide" Target="/ppt/notesSlides/notesSlide24.xml" Id="Rab5de909be2f43f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8729f657747ed" /><Relationship Type="http://schemas.openxmlformats.org/officeDocument/2006/relationships/chart" Target="/ppt/slides/charts/chart3.xml" Id="Re2b8dde928d64908" /><Relationship Type="http://schemas.openxmlformats.org/officeDocument/2006/relationships/notesSlide" Target="/ppt/notesSlides/notesSlide25.xml" Id="R4787ffb4a6c1401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f17de46c394ed9" /><Relationship Type="http://schemas.openxmlformats.org/officeDocument/2006/relationships/notesSlide" Target="/ppt/notesSlides/notesSlide26.xml" Id="Rda9268dcc3504f6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f1fff0aede466a" /><Relationship Type="http://schemas.openxmlformats.org/officeDocument/2006/relationships/notesSlide" Target="/ppt/notesSlides/notesSlide27.xml" Id="Rb11109490a444ca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ef1959a1d45bc" /><Relationship Type="http://schemas.openxmlformats.org/officeDocument/2006/relationships/notesSlide" Target="/ppt/notesSlides/notesSlide28.xml" Id="Ra332efd80bae488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c37a8a97e74c25" /><Relationship Type="http://schemas.openxmlformats.org/officeDocument/2006/relationships/notesSlide" Target="/ppt/notesSlides/notesSlide29.xml" Id="R4d9acaf4edf94ee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af412d77a94ec6" /><Relationship Type="http://schemas.openxmlformats.org/officeDocument/2006/relationships/notesSlide" Target="/ppt/notesSlides/notesSlide30.xml" Id="R6cdfd29c8a3d49c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e3eecc1f424706" /><Relationship Type="http://schemas.openxmlformats.org/officeDocument/2006/relationships/notesSlide" Target="/ppt/notesSlides/notesSlide31.xml" Id="Rb8b8e2f5e96046f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d11fc3152347c1" /><Relationship Type="http://schemas.openxmlformats.org/officeDocument/2006/relationships/notesSlide" Target="/ppt/notesSlides/notesSlide32.xml" Id="Rcab94d8caaae4e8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aa59cdbce463c" /><Relationship Type="http://schemas.openxmlformats.org/officeDocument/2006/relationships/notesSlide" Target="/ppt/notesSlides/notesSlide33.xml" Id="R91d6d334dece4c8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cb295ee00495c" /><Relationship Type="http://schemas.openxmlformats.org/officeDocument/2006/relationships/notesSlide" Target="/ppt/notesSlides/notesSlide34.xml" Id="R96214d88215747b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cd9260602b4000" /><Relationship Type="http://schemas.openxmlformats.org/officeDocument/2006/relationships/notesSlide" Target="/ppt/notesSlides/notesSlide35.xml" Id="R59524d3e82f44dc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a0acdfb1e34d1e" /><Relationship Type="http://schemas.openxmlformats.org/officeDocument/2006/relationships/notesSlide" Target="/ppt/notesSlides/notesSlide36.xml" Id="R4de46188644a45b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e78546e4194244" /><Relationship Type="http://schemas.openxmlformats.org/officeDocument/2006/relationships/notesSlide" Target="/ppt/notesSlides/notesSlide37.xml" Id="Rb649c6a33eed4fc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b833d384344de" /><Relationship Type="http://schemas.openxmlformats.org/officeDocument/2006/relationships/notesSlide" Target="/ppt/notesSlides/notesSlide38.xml" Id="Reda8522adfe6467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49de3a9c246fd" /><Relationship Type="http://schemas.openxmlformats.org/officeDocument/2006/relationships/notesSlide" Target="/ppt/notesSlides/notesSlide39.xml" Id="Rf2497d3dddc24ba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765b83b1c4d56" /><Relationship Type="http://schemas.openxmlformats.org/officeDocument/2006/relationships/chart" Target="/ppt/slides/charts/chart4.xml" Id="R9fa0ebc27c064ed9" /><Relationship Type="http://schemas.openxmlformats.org/officeDocument/2006/relationships/notesSlide" Target="/ppt/notesSlides/notesSlide40.xml" Id="Rc1ac3ebd2707498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1ec34fea443dd" /><Relationship Type="http://schemas.openxmlformats.org/officeDocument/2006/relationships/notesSlide" Target="/ppt/notesSlides/notesSlide41.xml" Id="R3e230a527473487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590c89738a44ff" /><Relationship Type="http://schemas.openxmlformats.org/officeDocument/2006/relationships/notesSlide" Target="/ppt/notesSlides/notesSlide42.xml" Id="R9d22b7132aa6464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bffccbd6414974" /><Relationship Type="http://schemas.openxmlformats.org/officeDocument/2006/relationships/notesSlide" Target="/ppt/notesSlides/notesSlide43.xml" Id="Re5ce3524c31d4c6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356713eb248bc" /><Relationship Type="http://schemas.openxmlformats.org/officeDocument/2006/relationships/notesSlide" Target="/ppt/notesSlides/notesSlide44.xml" Id="R680c376ccd164d0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459957323145a3" /><Relationship Type="http://schemas.openxmlformats.org/officeDocument/2006/relationships/notesSlide" Target="/ppt/notesSlides/notesSlide45.xml" Id="R60023e8b2107467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a7d0356354112" /><Relationship Type="http://schemas.openxmlformats.org/officeDocument/2006/relationships/notesSlide" Target="/ppt/notesSlides/notesSlide46.xml" Id="R2523b8e58b5a435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50449fd03e4121" /><Relationship Type="http://schemas.openxmlformats.org/officeDocument/2006/relationships/notesSlide" Target="/ppt/notesSlides/notesSlide47.xml" Id="Re2bb26cf2a8e404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Controlled missingness example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Missing cells</c:v>
          </c:tx>
          <c:spPr>
            <a:solidFill xmlns:a="http://schemas.openxmlformats.org/drawingml/2006/main">
              <a:srgbClr val="D77B6D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AGE</c:v>
                </c:pt>
                <c:pt idx="1">
                  <c:v>EDUCATION</c:v>
                </c:pt>
                <c:pt idx="2">
                  <c:v>LIMIT_BAL</c:v>
                </c:pt>
                <c:pt idx="3">
                  <c:v>MARRIAGE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solidFill>
                <a:srgbClr val="D6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6E2E8"/>
          </a:solidFill>
          <a:prstDash val="solid"/>
        </a:ln>
      </c:spPr>
    </c:plotArea>
    <c:plotVisOnly val="1"/>
  </c:chart>
  <c:spPr>
    <a:ln xmlns:a="http://schemas.openxmlformats.org/drawingml/2006/main" w="9525">
      <a:solidFill>
        <a:srgbClr val="D6E2E8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LIMIT_BAL threshold flag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Borrower records</c:v>
          </c:tx>
          <c:spPr>
            <a:solidFill xmlns:a="http://schemas.openxmlformats.org/drawingml/2006/main">
              <a:srgbClr val="2D9DB0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Within 1%–99%</c:v>
                </c:pt>
                <c:pt idx="1">
                  <c:v>Outside 1%–99%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29794</c:v>
                </c:pt>
                <c:pt idx="1">
                  <c:v>206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solidFill>
                <a:srgbClr val="D6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6E2E8"/>
          </a:solidFill>
          <a:prstDash val="solid"/>
        </a:ln>
      </c:spPr>
    </c:plotArea>
    <c:plotVisOnly val="1"/>
  </c:chart>
  <c:spPr>
    <a:ln xmlns:a="http://schemas.openxmlformats.org/drawingml/2006/main" w="9525">
      <a:solidFill>
        <a:srgbClr val="D6E2E8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EDUCATION source codes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Rows</c:v>
          </c:tx>
          <c:spPr>
            <a:solidFill xmlns:a="http://schemas.openxmlformats.org/drawingml/2006/main">
              <a:srgbClr val="72C7C0"/>
            </a:solidFill>
          </c:spPr>
          <c:invertIfNegative val="0"/>
          <c:cat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14</c:v>
                </c:pt>
                <c:pt idx="1">
                  <c:v>10585</c:v>
                </c:pt>
                <c:pt idx="2">
                  <c:v>14030</c:v>
                </c:pt>
                <c:pt idx="3">
                  <c:v>4917</c:v>
                </c:pt>
                <c:pt idx="4">
                  <c:v>123</c:v>
                </c:pt>
                <c:pt idx="5">
                  <c:v>280</c:v>
                </c:pt>
                <c:pt idx="6">
                  <c:v>51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solidFill>
                <a:srgbClr val="D6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6E2E8"/>
          </a:solidFill>
          <a:prstDash val="solid"/>
        </a:ln>
      </c:spPr>
    </c:plotArea>
    <c:plotVisOnly val="1"/>
  </c:chart>
  <c:spPr>
    <a:ln xmlns:a="http://schemas.openxmlformats.org/drawingml/2006/main" w="9525">
      <a:solidFill>
        <a:srgbClr val="D6E2E8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Stratified train/test counts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Rows</c:v>
          </c:tx>
          <c:spPr>
            <a:solidFill xmlns:a="http://schemas.openxmlformats.org/drawingml/2006/main">
              <a:srgbClr val="2D9DB0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Train: no default</c:v>
                </c:pt>
                <c:pt idx="1">
                  <c:v>Train: default</c:v>
                </c:pt>
                <c:pt idx="2">
                  <c:v>Test: no default</c:v>
                </c:pt>
                <c:pt idx="3">
                  <c:v>Test: default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18691</c:v>
                </c:pt>
                <c:pt idx="1">
                  <c:v>5309</c:v>
                </c:pt>
                <c:pt idx="2">
                  <c:v>4673</c:v>
                </c:pt>
                <c:pt idx="3">
                  <c:v>1327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solidFill>
                <a:srgbClr val="D6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6E2E8"/>
          </a:solidFill>
          <a:prstDash val="solid"/>
        </a:ln>
      </c:spPr>
    </c:plotArea>
    <c:plotVisOnly val="1"/>
  </c:chart>
  <c:spPr>
    <a:ln xmlns:a="http://schemas.openxmlformats.org/drawingml/2006/main" w="9525">
      <a:solidFill>
        <a:srgbClr val="D6E2E8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73EE8-2A2F-4A8B-927C-4C202673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24BA6-8364-47A1-87B9-B12B73B0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200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39854-D480-4385-8A4C-809EF35C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CFE1EA"/>
                </a:solidFill>
                <a:latin typeface="Arial"/>
                <a:ea typeface="Arial"/>
                <a:cs typeface="Arial"/>
              </a:rPr>
              <a:t>Lecture 3  |  Data Cleaning and Preprocessing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75C01-EA47-4571-88F7-912DC4AC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FB9C8"/>
                </a:solidFill>
                <a:latin typeface="Arial"/>
                <a:ea typeface="Arial"/>
                <a:cs typeface="Arial"/>
              </a:rPr>
              <a:t>From raw financial records to leakage-safe model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93F04-380F-4189-A068-398393DF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190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D2D4A"/>
          </a:solidFill>
          <a:ln xmlns:a="http://schemas.openxmlformats.org/drawingml/2006/main" w="9525">
            <a:solidFill>
              <a:srgbClr val="0D2D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8A0CE-02F7-49CE-9E33-02CDDFC6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2763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FC2FA-41EB-4111-BB06-9A48899B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430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9525">
            <a:solidFill>
              <a:srgbClr val="061B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137A0-0EAB-4664-BDF5-28DBF7FD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7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defPPr>
            <a:lvl1pPr algn="r">
              <a:defRPr sz="67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1pPr>
            <a:lvl2pPr algn="r">
              <a:defRPr sz="67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2pPr>
            <a:lvl3pPr algn="r">
              <a:defRPr sz="67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3pPr>
            <a:lvl4pPr algn="r">
              <a:defRPr sz="67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4pPr>
            <a:lvl5pPr algn="r">
              <a:defRPr sz="67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5pPr>
            <a:lvl6pPr algn="r">
              <a:defRPr sz="67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6pPr>
            <a:lvl7pPr algn="r">
              <a:defRPr sz="67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7pPr>
            <a:lvl8pPr algn="r">
              <a:defRPr sz="67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8pPr>
            <a:lvl9pPr algn="r">
              <a:defRPr sz="67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pPr>
            <a:r>
              <a:rPr sz="6750" b="1" i="0">
                <a:solidFill>
                  <a:srgbClr val="1438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A29A2-712F-45BD-8C47-DF6871F2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Dr Ferdinantos Kottas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9C4AE-73B5-4A87-B3E7-556F3506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91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9FB9C8"/>
                </a:solidFill>
                <a:latin typeface="Arial"/>
                <a:ea typeface="Arial"/>
                <a:cs typeface="Arial"/>
              </a:rPr>
              <a:t>NKUA MPhil Economics  |  Academic Year 2026–2027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42703-26C6-40A9-9C61-4130784C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FB9C8"/>
                </a:solidFill>
                <a:latin typeface="Arial"/>
                <a:ea typeface="Arial"/>
                <a:cs typeface="Arial"/>
              </a:rPr>
              <a:t>Machine Learning in Finance  |  Week 03  |  NKUA MPhil Economics  |  2026–2027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8877E-4A5A-4D18-9B33-A521204C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FB9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4760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D35E49-D312-41E4-AE9E-1252FB20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3B988-3FF6-42EB-A16A-9345104F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LECTURE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47A9C-807E-4835-8785-CB7E5C40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third lecture protects the model from bad 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EA3F4-253E-42D9-92CA-44CBCD92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A model cannot repair a table whose meaning, completeness, or timing is unclear.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C641C-329E-40C3-B49E-5E8C0D05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B833C-614E-4B1F-8A8F-B4A45EB2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C2A62-D45D-40B0-8481-32F1112F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B431C-AF4A-42C8-A5C0-AE460B10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A0483-510A-4CC8-864D-2E079990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B880B-AC94-4190-9BE6-ED4A6F3B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27241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You explored arrays and DataFrames, documented variables, and identified patterns in the credit 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838E4-0447-4299-BC3D-9B4CAB9E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D6539-49DD-4B70-88B1-84EFE740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26C5E-A183-4674-BC9D-DCA94B51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479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WEEK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2B4CF-9C64-41A3-A669-D9113E7A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43175"/>
            <a:ext cx="27241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You will make data-quality decisions explicit before any estimator is fitted.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DC5D5-22FE-4424-A523-B1D4602E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55510-E31B-4A1B-B3C1-9334237F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D3ECA-91EE-42DE-B9B2-75D9D128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FINANCIAL 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637E9-736B-4CBE-ADE5-9EFD641C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43175"/>
            <a:ext cx="27241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missing value, an outlier, or a leaked future observation can change a credit-risk conclusion.</a:t>
            </a:r>
          </a:p>
        </p:txBody>
      </p:sp>
    </p:spTree>
    <p:extLst>
      <p:ext uri="{BB962C8B-B14F-4D97-AF65-F5344CB8AC3E}">
        <p14:creationId xmlns:p14="http://schemas.microsoft.com/office/powerpoint/2010/main" val="1680281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AEB3A-2B90-4C8E-8888-1875F026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79CA5-EF44-4803-B078-3C6DE619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FD447-BD1A-46D8-B9CC-97B5D1D9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you should be able to do after this lecture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08F07-09BB-45C6-A6BB-8EBC4299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goal is a transparent preprocessing workflow that another analyst can reproduce.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AE456-CD2B-49EA-B4F9-4EE15308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4AA73-586D-4F82-AA71-B17F2CD1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DEDC2-4886-4770-B00E-FA4E818E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FE8B3-B13F-4B52-8276-E7753BB6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975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Separate structural missingness, invalid codes, duplicates, and extreme but plausible financial values.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879CD-1581-4393-A885-C212E642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F23DC-0F56-4481-B88C-3EF8A627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975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Choose an imputation, removal, or flagging rule that matches the variable and the modelling purpose.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7F100-79FD-458E-833C-96958726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B922D-19C1-4A5A-9B7A-93ED9E0A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90850"/>
            <a:ext cx="975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Detect outliers with documented thresholds without silently deleting economically meaningful observations.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BA937-0027-45A6-8D68-3DAF3D93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2B375-C000-4CE1-8E19-504F4F95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86150"/>
            <a:ext cx="975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Encode categorical variables and scale numeric variables with transformations fitted only on training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A2523-0594-48F4-9990-231C072F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28AB3-9FEC-4CFA-B692-C4141F7C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975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Build a ColumnTransformer and Pipeline that keeps preprocessing tied to the model and prevents leakage.</a:t>
            </a:r>
          </a:p>
        </p:txBody>
      </p:sp>
    </p:spTree>
    <p:extLst>
      <p:ext uri="{BB962C8B-B14F-4D97-AF65-F5344CB8AC3E}">
        <p14:creationId xmlns:p14="http://schemas.microsoft.com/office/powerpoint/2010/main" val="1890452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BEE92-5370-4B33-86B2-B8DE3998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2EC89-2B32-4B6A-9385-50581F2A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DATA USED THIS 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71E89-FF8B-4302-969B-15197A4D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same real credit table, a new quality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755DB-86EF-45A8-9BD4-2FFD6188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UCI dataset remains the empirical case. Week 3 asks whether the table can enter a model safely.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C1412-1CCC-4774-8549-60417FAB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87695-86E1-4084-94AF-0696D239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07758-2E4F-4397-89DB-BF5DB82291F9}"/>
              </a:ext>
            </a:extLst>
          </p:cNvPr>
          <p:cNvGraphicFramePr/>
          <p:nvPr/>
        </p:nvGraphicFramePr>
        <p:xfrm>
          <a:off xmlns:a="http://schemas.openxmlformats.org/drawingml/2006/main" x="819150" y="2000250"/>
          <a:ext xmlns:a="http://schemas.openxmlformats.org/drawingml/2006/main" cx="10572750" cy="304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8191500"/>
              </a:tblGrid>
              <a:tr h="43542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Course definition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UCI Machine Learning Repository, dataset 350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3542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Observation unit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One borrower credit-card account record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3542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Rows and columns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30,000 observations, 25 columns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3542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default_next_month: 1 = default, 0 = no default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3542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Monetary unit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New Taiwan dollars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3542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Reuse rule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The notebook reads the validated compressed course copy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DF69F-B471-45EA-B063-D413F3B8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10572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6FD0D-2867-4509-B0C0-4DC099A5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B0167-D2A4-499A-9E35-64F18C78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34025"/>
            <a:ext cx="1015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IMPORTANT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A06B1-B2EF-41C6-AC79-329C2161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dataset reports no blank cells, so the notebook creates small controlled examples to demonstrate cleaning decisions without changing the real-data analysis.</a:t>
            </a:r>
          </a:p>
        </p:txBody>
      </p:sp>
    </p:spTree>
    <p:extLst>
      <p:ext uri="{BB962C8B-B14F-4D97-AF65-F5344CB8AC3E}">
        <p14:creationId xmlns:p14="http://schemas.microsoft.com/office/powerpoint/2010/main" val="1511654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9FBC2-38EC-4C5A-9FE2-A398FC93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E1AD5-347D-4156-8CE4-9C11DDA4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LECTURE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DE4BB-ED79-4A95-B4FA-9DA4E46A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preprocessing 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915FF-D6AF-4157-9331-1B8C93FB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Each step answers a different question and produces evidence for the next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F3BDC-7EA4-471F-9A47-612C8286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A2C99-D769-4EFE-B2D3-0047F656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4A5E0-EA64-432A-A7A0-B9D116C2A04C}"/>
              </a:ext>
            </a:extLst>
          </p:cNvPr>
          <p:cNvGraphicFramePr/>
          <p:nvPr/>
        </p:nvGraphicFramePr>
        <p:xfrm>
          <a:off xmlns:a="http://schemas.openxmlformats.org/drawingml/2006/main" x="819150" y="2000250"/>
          <a:ext xmlns:a="http://schemas.openxmlformats.org/drawingml/2006/main" cx="1057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4762500"/>
                <a:gridCol w="4095750"/>
              </a:tblGrid>
              <a:tr h="4490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Audit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What is present and what is missing?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Counts, types, codes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Clean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Which records or values need a documented rule?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Flags, corrected structure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Represent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How should variables enter an estimator?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Numeric and categorical blocks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Which rows may determine transformation parameters?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Training and test partitions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Transform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How do we apply the same rule to future rows?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Fitted preprocessing object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Verify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Did the transformation preserve the modelling contract?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Feature names, shapes, checks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541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8DC0A-597A-460B-9A1B-41BBC5F1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E8DA1-CA09-48C7-91A6-7F7925D6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PART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F9D53-4E0A-4A42-A7B4-62545FE8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95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Data-quality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63FB1-F43C-40E6-8632-BD606A33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FE1EA"/>
                </a:solidFill>
                <a:latin typeface="Arial"/>
                <a:ea typeface="Arial"/>
                <a:cs typeface="Arial"/>
              </a:rPr>
              <a:t>Cleaning begins with evidence about the table, not with a favourite imputation method.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1F72D-4059-4F8D-BC3A-BCFB4796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00150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defPPr>
            <a:lvl1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1pPr>
            <a:lvl2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2pPr>
            <a:lvl3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3pPr>
            <a:lvl4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4pPr>
            <a:lvl5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5pPr>
            <a:lvl6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6pPr>
            <a:lvl7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7pPr>
            <a:lvl8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8pPr>
            <a:lvl9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pPr>
            <a:r>
              <a:rPr sz="9450" b="1" i="0">
                <a:solidFill>
                  <a:srgbClr val="1438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37FA1-27B9-4F4E-9C62-721775DE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A1D92-BFAC-4BB5-A776-09415824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FB9C8"/>
                </a:solidFill>
                <a:latin typeface="Arial"/>
                <a:ea typeface="Arial"/>
                <a:cs typeface="Arial"/>
              </a:rPr>
              <a:t>Machine Learning in Finance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92853-EC71-4FF2-9757-E9E52816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FB9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31245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114CF-EB05-4271-8FC9-A02D2C9B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03953-A5B9-4F43-93B4-EC6ADCB8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2E78F-1957-489D-988C-5F16D248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can go wrong before modelling?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20CD7-FEF0-4024-A945-0737B178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same table can fail in several different ways. Each failure requires a different response.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0E45C-4858-4EDC-A3DF-A06AFE76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B56D6-5988-41DE-859B-4AB7E8EC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93B94-A50B-40FB-81C7-3334A5668527}"/>
              </a:ext>
            </a:extLst>
          </p:cNvPr>
          <p:cNvGraphicFramePr/>
          <p:nvPr/>
        </p:nvGraphicFramePr>
        <p:xfrm>
          <a:off xmlns:a="http://schemas.openxmlformats.org/drawingml/2006/main" x="819150" y="1952625"/>
          <a:ext xmlns:a="http://schemas.openxmlformats.org/drawingml/2006/main" cx="1057275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5334000"/>
                <a:gridCol w="3143250"/>
              </a:tblGrid>
              <a:tr h="48985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Problem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 in finance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First diagnostic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Missing value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No reported income or payment amount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isna().sum()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Duplicate row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The same transaction imported twice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duplicated()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Invalid code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Education code outside the data dictionary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value_counts()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Extreme value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Very large limit or payment amount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quantiles and plots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Leakage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 future status included in a predictor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timing audit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Type error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Date or category read as a number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dtypes and parsing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31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160D0-8DEB-4E83-9844-391E793F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EBDDF-98B0-4BBD-98D7-43E5D248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0A19F-8064-4515-B4AA-A6B3A07D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Structural and substantive missingness are different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3DEE2-0A0A-413F-B9A9-05096BD6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A blank cell is a storage fact. A special code can be a meaning-bearing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E287D-EA15-4A7A-A11B-CD0045BC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AFAEC-A175-4C36-A7EE-2B1F6856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6614B-0A73-4BA7-A6E7-CFF819EB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4857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0D430-DE5F-4DD3-86AE-9092294A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0E33D-0B88-4C6B-A06C-67713BE9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0275"/>
            <a:ext cx="443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STRUCTURAL MISSINGNESS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F9FCE-5EC7-41AC-9150-4E2D73C8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44386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value was not collected, not available, or lost during extraction. The analyst must decide whether to impute, flag, exclude, or obtain the source again.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BCEE3-FE16-40DB-989E-58F6C6BA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857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A6A05-7AD4-4C2D-8B1D-DA2FE755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4B31B-18F9-427B-A0DF-281A3B0C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0275"/>
            <a:ext cx="443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SUBSTANTIVE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DD86C-6010-4159-A03A-D6877597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44386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value such as -1, 0, or 9 may encode a real category or a repayment state. Replacing it with a median can destroy the source meaning.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41C3A-650C-4C4B-805E-97E64512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02298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9B8EB-53C2-4A47-9DF3-4E6E9DC2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D2390-004B-4E66-A56E-AE72D566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PRACTICAL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3CCFC-CB6C-469A-B80F-2A05246A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0675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Read the data dictionary before writing the cleaning rule. The same number can be a legitimate amount, a category, or a missingness code depending on the variable.</a:t>
            </a:r>
          </a:p>
        </p:txBody>
      </p:sp>
    </p:spTree>
    <p:extLst>
      <p:ext uri="{BB962C8B-B14F-4D97-AF65-F5344CB8AC3E}">
        <p14:creationId xmlns:p14="http://schemas.microsoft.com/office/powerpoint/2010/main" val="20994387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DA789-5642-4361-AE1C-50683997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3C48A-D21B-4766-B045-FE4BBCC9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01A4F-C8A8-404E-970F-A4E5F8AE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Missingness is a modelling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9AEDF-DF3A-4C7B-9B5C-3C31CA4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There is no universally correct response. The choice depends on the variable, the mechanism, and the estimator.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21D94-6F5A-44D8-A513-737BD01A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1F7DD-67F5-4B09-B48F-87AA2910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0DD6C-C16F-4AFE-8C76-841F42B3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C9320-6A77-4E2C-838A-2C4CECAA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975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Drop a row only when the observation is unusable and the exclusion rule is defensible.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12CB6-2A9E-41C0-88F3-7241966D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6B020-F83F-4DBC-A468-87453E64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86025"/>
            <a:ext cx="975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Drop a column when it is unavailable at prediction time, nearly empty, or not part of the question.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994F7-A7E3-4D5D-A1A9-B4F2BB9D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9C8F3-8DCE-4987-B21E-1A948FFF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975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Impute numeric variables with a training-set statistic such as the median when a stable baseline is appropriate.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D9270-D6C8-4F59-812F-401735BB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51845-B0A8-4755-AB05-3005F66E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975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Impute categorical variables with a documented category such as Unknown or the training-set mode.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99813-F002-4EDC-A86C-4028100F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63C63-0349-4193-B37D-E01B5478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975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Add a missingness indicator when the fact that a value is absent may itself carry information.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84521-1CE9-4F66-97B9-9C39F551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18B5F-4385-4C52-B4FB-E05EB86D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29125"/>
            <a:ext cx="975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Never calculate imputation values on the full dataset before the train/test split.</a:t>
            </a:r>
          </a:p>
        </p:txBody>
      </p:sp>
    </p:spTree>
    <p:extLst>
      <p:ext uri="{BB962C8B-B14F-4D97-AF65-F5344CB8AC3E}">
        <p14:creationId xmlns:p14="http://schemas.microsoft.com/office/powerpoint/2010/main" val="16345193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69C32-C9BE-4A3D-9AFF-2BDF0FD6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DF94B-64F9-4EE9-90E9-A3D6F6E6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AUDIT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7AF42-AC9D-481C-A022-2C660F3D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Start with one compact audit 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D128F-0922-4DFC-9AC5-0780A348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first code block records the structure before transformations begin.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0D067-832F-48D9-9AFB-C569FF9B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335A3-5995-47C0-BA25-21A405AD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41167-F393-446A-9B85-79F7DF64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8117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EBEC5-1048-41CF-8486-ACB21A93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5334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0B2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65B1C-E7C7-45B5-A484-B8353C0F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19325"/>
            <a:ext cx="49530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audit = pd.DataFrame({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    'dtype': credit.dtypes.astype(str),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    'missing': credit.isna().sum(),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    'unique': credit.nunique(),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    'min': credit.min(numeric_only=True),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    'max': credit.max(numeric_only=True)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})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audit.head()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378BF-61DC-4DD7-BBB2-87C8D07A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811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08D19-985F-4FAE-8EC0-D34526F2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476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E9D2A-2870-48B6-A936-67D5EF7F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0957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             dtype  missing  unique  min  max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ID           int64        0   30000  1.0  ...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LIMIT_BAL    int64        0      81  10000 ...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SEX          int64        0       2  1.0  2.0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EDUCATION    int64        0       7  0.0  6.0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C00F2-3B84-4CE0-810E-09100AF4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2298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74239-5A75-4635-A8C3-BE2BFBAB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E8F84-D63A-4BC5-B3E0-06D32D5D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769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82EFF-5257-48F4-9BDE-5896FC96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7217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audit is evidence about storage and coverage. It does not yet tell us which variables are safe predictors.</a:t>
            </a:r>
          </a:p>
        </p:txBody>
      </p:sp>
    </p:spTree>
    <p:extLst>
      <p:ext uri="{BB962C8B-B14F-4D97-AF65-F5344CB8AC3E}">
        <p14:creationId xmlns:p14="http://schemas.microsoft.com/office/powerpoint/2010/main" val="20594869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DF591-C1A7-4653-8B37-571A7C65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2FE87-322E-49D6-AE5A-67AFA570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AUDIT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004E7-D01C-4C4C-A64B-741E5641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the UCI audit tells 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5BDAC-4FED-4CF2-A885-CDEC6AE8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A clean blank-cell count is useful, but it is only one dimension of data quality.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ACBD6-B999-4199-97E2-ED79D5BD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8678F-831C-403B-A81E-7AA1B968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DB769-611A-4E4D-AEB3-B6CE1EA83DA8}"/>
              </a:ext>
            </a:extLst>
          </p:cNvPr>
          <p:cNvGraphicFramePr/>
          <p:nvPr/>
        </p:nvGraphicFramePr>
        <p:xfrm>
          <a:off xmlns:a="http://schemas.openxmlformats.org/drawingml/2006/main" x="819150" y="2047875"/>
          <a:ext xmlns:a="http://schemas.openxmlformats.org/drawingml/2006/main" cx="10572750" cy="3190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7000"/>
                <a:gridCol w="2381250"/>
                <a:gridCol w="5524500"/>
              </a:tblGrid>
              <a:tr h="45583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Rows and columns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30,000 × 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The expected course table is loaded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Blank cells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No empty cells in the supplied columns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Duplicate rows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No exact duplicate records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Unique IDs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30,000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One unique ID per row in this file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Target counts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23,364 / 6,636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Class imbalance must be remembered later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Special codes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Present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Education and repayment codes require definitions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0531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6822B-6E61-4D59-9541-5C8FCE6E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013D4-80D8-47A9-A8C2-714C654B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CONTROLLED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C114B-E8AE-4BA0-9BC5-CB2CD74A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teaching example makes missingness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88B08-B1BC-4D52-A2DA-0811D2EA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real UCI file has no blank cells, so we create a small copy with deliberate missing values for the demonstration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A4EE4-E932-44F6-ACAB-3738162D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C8420-3594-4331-8656-5F0A510C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748D296-5E61-46E4-8C54-5580D9B1CDB8}"/>
              </a:ext>
            </a:extLst>
          </p:cNvPr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08449ef8884b7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BCF25-0AE7-469A-BA51-77EEE883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AA419-C2A9-4443-93F4-AE9E495B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667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0B20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05943-E226-4CC9-A9D8-317E5101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2862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demo = credit[['LIMIT_BAL',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    'AGE', 'EDUCATION', 'MARRIAGE']].head(8).copy()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demo.loc[[1, 4], 'AGE'] = np.nan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demo.loc[[2], 'EDUCATION'] = np.nan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demo.isna().sum()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C4848-E294-4747-BEE1-4CD626D9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10229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B7A2D-8095-496A-8BB6-4AFF3449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9F238-FD55-4BB6-8D1A-54E7AB7D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3402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WHY USE A CONTROLLED EXAMPLE?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A0AFD-2CF4-4F8F-90F1-FD98AE8B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Students can test the cleaning rule without pretending that the original source contains missing values that it does not contain.</a:t>
            </a:r>
          </a:p>
        </p:txBody>
      </p:sp>
    </p:spTree>
    <p:extLst>
      <p:ext uri="{BB962C8B-B14F-4D97-AF65-F5344CB8AC3E}">
        <p14:creationId xmlns:p14="http://schemas.microsoft.com/office/powerpoint/2010/main" val="482504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AE25D-15BE-4DE9-959E-DF0FD521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E1936-6EF1-4075-AA30-37189110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MISSINGNESS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76628-3DE3-407D-B755-2EE9C9F4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Measure the rate and preserve the indicator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493A3-222E-4CFD-BD73-DA2B3590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indicator records that a value was absent before an imputation replaces the cell.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2E7F2-F396-4EDD-A323-ACD77B39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EB1A7-7A2E-4095-B4D4-FEF07A5D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9B7CA-D0AD-417C-85E0-AB9A6857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8117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F1509-4BA0-4C57-A298-BF468A11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533400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0B2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5A667-E6FD-4BFB-B1F0-7CA99A2C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19325"/>
            <a:ext cx="4953000" cy="265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missing_rate = demo.isna().mean()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demo['AGE_was_missing'] = demo['AGE'].isna().astype(int)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demo['AGE'] = demo['AGE'].fillna(demo['AGE'].median())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print(missing_rate)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print(demo[['AGE', 'AGE_was_missing']])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243A2-2474-475F-8BF7-7A17330E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811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7F80A-C653-43B6-86E3-D0D5EE6F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47675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DB9B4-A68A-4EDB-AF30-35CD918E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095750" cy="265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AGE          0.25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EDUCATION    0.125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LIMIT_BAL    0.00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MARRIAGE     0.00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AGE  AGE_was_missing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24.0 0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34.0 0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37.0 1</a:t>
            </a:r>
          </a:p>
        </p:txBody>
      </p:sp>
    </p:spTree>
    <p:extLst>
      <p:ext uri="{BB962C8B-B14F-4D97-AF65-F5344CB8AC3E}">
        <p14:creationId xmlns:p14="http://schemas.microsoft.com/office/powerpoint/2010/main" val="6133474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D963E-77E3-40EC-BFAA-C8605E8D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3B365-AAB1-4B59-9345-08950EC7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MISSINGNESS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8BE37-661E-4B19-B76E-F7D78540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Choose the response by variable role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E1B5F-8DA8-4AD2-BC6E-A8BAF924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A policy should be written before the model is fitted and should be reproducible in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7ABCD-E691-435E-93ED-88F494C4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01C27-F673-4E8A-9AE8-AADA3F58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F5187-70C2-49AD-9390-8CA2272DA1D0}"/>
              </a:ext>
            </a:extLst>
          </p:cNvPr>
          <p:cNvGraphicFramePr/>
          <p:nvPr/>
        </p:nvGraphicFramePr>
        <p:xfrm>
          <a:off xmlns:a="http://schemas.openxmlformats.org/drawingml/2006/main" x="819150" y="2047875"/>
          <a:ext xmlns:a="http://schemas.openxmlformats.org/drawingml/2006/main" cx="1057275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3524250"/>
                <a:gridCol w="3905250"/>
              </a:tblGrid>
              <a:tr h="539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 situation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Possible response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 to document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Numeric, modest missingness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Median imputation plus indicator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Robust to skew and preserves missingness information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Categorical, missing category meaningful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Explicit Unknown category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Avoids pretending the mode is the true value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Column unavailable at prediction time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Remove the column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Prevents deployment-time failure and leakage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Row invalid for the study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Exclude with a count and rule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Shows how the sample changed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Source code has meaning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Map using the data dictionary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Avoids replacing a category with a statistic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1379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D6168-9978-49B0-B8EF-6F7F5D2D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82D9E-6B39-47C8-B2A2-1E2C30DC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PART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7D21F-2192-498C-AAB5-21823210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95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Duplicates and identifiers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46EE6-8C02-4057-B777-A8B850CE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FE1EA"/>
                </a:solidFill>
                <a:latin typeface="Arial"/>
                <a:ea typeface="Arial"/>
                <a:cs typeface="Arial"/>
              </a:rPr>
              <a:t>A duplicate check needs both row-level evidence and an understanding of the observation unit.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6D2CB-3CD1-41EF-AF1D-F6BE3097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00150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defPPr>
            <a:lvl1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1pPr>
            <a:lvl2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2pPr>
            <a:lvl3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3pPr>
            <a:lvl4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4pPr>
            <a:lvl5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5pPr>
            <a:lvl6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6pPr>
            <a:lvl7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7pPr>
            <a:lvl8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8pPr>
            <a:lvl9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pPr>
            <a:r>
              <a:rPr sz="9450" b="1" i="0">
                <a:solidFill>
                  <a:srgbClr val="1438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B23C4-2130-4826-BCF2-05AFE0FC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61846-46CD-40C6-9A58-F47CA5C6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FB9C8"/>
                </a:solidFill>
                <a:latin typeface="Arial"/>
                <a:ea typeface="Arial"/>
                <a:cs typeface="Arial"/>
              </a:rPr>
              <a:t>Machine Learning in Finance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EF2AA-FAAE-4C0E-A5BA-63A119D3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FB9C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071509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E4C72-6533-47DF-A165-B9808022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FCC6D-9CAF-4B64-B678-9F89F956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DUPLICATES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93CB0-81CE-482F-B52C-385589CA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An exact duplicate is not the same as a repeated borrower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A0438-1593-49A7-8CA7-D4090C5E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correct check depends on what one row represents.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4CA73-4CB2-4A68-9089-036E8921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73903-1F3F-43A2-8B5B-AAA44C3E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568EF-C344-41DA-BB6D-DDFED58A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50323-C77E-4009-AD68-A445E7C6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D5257-E3A0-405B-98DB-324CF82D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02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EXACT DUPLICATE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E90A1-ABC3-44C5-B811-525D1BE9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27241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Every column matches another row. This may be a repeated import or a legitimate repeated record, depending on the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C803A-B49C-4A2D-87A6-EA8A2A97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47875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0F987-9DC1-4CD8-93BA-71E28114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4787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0C594-C17D-4E4B-99AA-C1652042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002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DUPLICATE 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21E10-6CC2-44D1-9CDC-A2CDEDC8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95550"/>
            <a:ext cx="27241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identifier repeats. That may be an error, or it may be valid when one borrower has several accounts or periods.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F0F68-C3F5-4A61-963A-5DE05201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714F6-F660-4750-B11C-145E99F3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D7758-5E60-4637-92CD-D26D65C6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02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REPEATED 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8D38E-0263-45E7-AD01-1590C55A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27241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borrower may appear in several rows by design. The modelling split must respect the entity and time 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1ABC0-3175-4D2E-977D-A91561D8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0534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458243-EC12-4555-A856-4BCFD837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46E244-63DB-417C-8272-81070C65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1011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FINANCIAL CONSEQUENCE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CD3A8C-D294-48D6-83BE-AF7F12F2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95925"/>
            <a:ext cx="1011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If the same borrower appears in both training and test samples, performance can look stronger than the model’s performance on a new borrower.</a:t>
            </a:r>
          </a:p>
        </p:txBody>
      </p:sp>
    </p:spTree>
    <p:extLst>
      <p:ext uri="{BB962C8B-B14F-4D97-AF65-F5344CB8AC3E}">
        <p14:creationId xmlns:p14="http://schemas.microsoft.com/office/powerpoint/2010/main" val="17444185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8CFB0-583F-4FED-880D-C8D48779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672E8-01D6-41B1-8573-DDA80FE4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DUPLICATE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EB639-52DD-4D31-88B3-E353A15F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Create a small duplicate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2B43B-406C-4C3A-8950-5CC635AD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source file contains no exact duplicates. The code below shows how the diagnostic behaves when one row is repeated.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3282F-682C-4634-9C03-F16B6A92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B8BDE-7139-4ECD-BF9D-BAC74EE6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2EA31-7790-4D9E-AED7-9B35598F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4FF1C-9844-461C-A4B2-C688F44B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3340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0B2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0D007-6976-4CDD-8179-C2EB7F56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9530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small = credit.head(5).copy()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demo_dups = pd.concat([small, small.iloc[[0]]], ignore_index=True)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print(demo_dups.shape)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print(demo_dups.duplicated().sum())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B1F81-11EA-46A6-BF60-345AB893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40990-3F16-453E-BFBE-1C32F532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4767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6B2EF-E5DC-4D83-890E-82FEA31A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40957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(6, 25)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7DDD1-8420-4F66-A9F3-AD6A5042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10229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3ADD2-F18C-463F-91DB-9B4754AE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BFCB5-A550-431B-B36F-016F5D66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864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DO NOT DELETE SILENTLY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C74E6-CFB9-409B-A0C6-C1CD9ECE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8167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Record the number of rows before and after any duplicate rule, and explain why the retained row is appropriate.</a:t>
            </a:r>
          </a:p>
        </p:txBody>
      </p:sp>
    </p:spTree>
    <p:extLst>
      <p:ext uri="{BB962C8B-B14F-4D97-AF65-F5344CB8AC3E}">
        <p14:creationId xmlns:p14="http://schemas.microsoft.com/office/powerpoint/2010/main" val="12282835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78757-FB34-47AA-823A-5BB37F2B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804EC-03DD-4D13-A047-B12DC758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IDENTITY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4FD1E-E583-466C-B7DA-FB2A75E7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the observation unit to choose the duplicate key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67656-AFA2-47A7-932E-B485C27E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same Pandas function can answer different questions depending on the subset of columns.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CEEFC-ECD3-4D70-9DF9-B6582635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FACF4-0082-4D7F-B7F0-9B2D54DA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D86D9-64BF-4DED-8247-AF6787BB9963}"/>
              </a:ext>
            </a:extLst>
          </p:cNvPr>
          <p:cNvGraphicFramePr/>
          <p:nvPr/>
        </p:nvGraphicFramePr>
        <p:xfrm>
          <a:off xmlns:a="http://schemas.openxmlformats.org/drawingml/2006/main" x="819150" y="2047875"/>
          <a:ext xmlns:a="http://schemas.openxmlformats.org/drawingml/2006/main" cx="1057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7000"/>
                <a:gridCol w="4000500"/>
                <a:gridCol w="3905250"/>
              </a:tblGrid>
              <a:tr h="523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Pandas pattern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answered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Exact row duplicate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credit.duplicated().sum()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Is the full record repeated?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Repeated 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credit.ID.duplicated().sum()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Does the identifier repeat?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Repeated borrower-period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credit.duplicated([ID, date]).sum()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Does the same entity-period repeat?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Unique count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credit.ID.nunique()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How many entities are represented?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First occurrence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credit.duplicated(keep="first")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Which rows would be removed by a first-row rule?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7362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5B8CF-59F5-4F06-8C5D-257B498B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828A0-4F17-417F-AEFF-31AB5318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PART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37DF1-FE90-4DB7-988D-13B679F9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95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Outliers and special codes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D65D4-4ECA-4A99-B799-9CD1E2D2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FE1EA"/>
                </a:solidFill>
                <a:latin typeface="Arial"/>
                <a:ea typeface="Arial"/>
                <a:cs typeface="Arial"/>
              </a:rPr>
              <a:t>Unusual observations require a financial interpretation before a mathematical treatment.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66865-A70D-497E-9371-D4E76D38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00150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defPPr>
            <a:lvl1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1pPr>
            <a:lvl2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2pPr>
            <a:lvl3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3pPr>
            <a:lvl4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4pPr>
            <a:lvl5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5pPr>
            <a:lvl6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6pPr>
            <a:lvl7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7pPr>
            <a:lvl8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8pPr>
            <a:lvl9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pPr>
            <a:r>
              <a:rPr sz="9450" b="1" i="0">
                <a:solidFill>
                  <a:srgbClr val="1438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93357-F92E-428C-93B0-279A3D92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1635A-62B2-4CAF-9D3E-F11FA695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FB9C8"/>
                </a:solidFill>
                <a:latin typeface="Arial"/>
                <a:ea typeface="Arial"/>
                <a:cs typeface="Arial"/>
              </a:rPr>
              <a:t>Machine Learning in Finance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2E283-DAA0-429F-A2E0-833F29E9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FB9C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414256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27B36-D77E-4875-A51B-E326EEC3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74809-B95D-4680-A110-97B6DC3C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OUTLIERS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8D865-FA88-4B29-A50A-0C9C2CC8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An outlier is unusual, not automatically wrong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825C5-44E4-4EC7-AA1D-0BEE3C2A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correct response depends on whether the observation is an error, a rare event, or a meaningful tail.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0B669-C416-4BAD-AB5F-632852CC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6BEF0-D122-4CAD-9DB2-1C70AE2A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8CCA3-8C94-473C-96DF-36F81139A1AA}"/>
              </a:ext>
            </a:extLst>
          </p:cNvPr>
          <p:cNvGraphicFramePr/>
          <p:nvPr/>
        </p:nvGraphicFramePr>
        <p:xfrm>
          <a:off xmlns:a="http://schemas.openxmlformats.org/drawingml/2006/main" x="819150" y="2047875"/>
          <a:ext xmlns:a="http://schemas.openxmlformats.org/drawingml/2006/main" cx="1057275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4000500"/>
                <a:gridCol w="4095750"/>
              </a:tblGrid>
              <a:tr h="539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Situation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Potential response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Data-entry error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Negative age or impossible category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Correct from source or exclude with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Rare but valid borrower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Very high credit limit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Keep, flag, transform, or use a robust method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Heavy financial tail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Large payment amount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Report quantiles and consider log scale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Model sensitivity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One observation changes a coefficient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Run a documented sensitivity check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Leakage-like extreme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Future information embedded in a field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Remove at source and redesign timing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6948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E8655-F96B-4A13-A01D-6729D9A8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DE079-C303-4F5B-B7DB-7CD5E313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OUTLIER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B838C-0F1E-4C90-A53D-504AA6E5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UCI variables have very different scales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E6061-E17A-471E-A289-01BB06FD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Quantiles provide a first description before a threshold is chosen.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71758-C1E0-4EC7-9303-99FB5905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BD231-D0E0-419D-84F7-F6360FB0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724A2-172F-4A72-BAE8-493C651F7076}"/>
              </a:ext>
            </a:extLst>
          </p:cNvPr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1333500"/>
                <a:gridCol w="1428750"/>
                <a:gridCol w="1333500"/>
                <a:gridCol w="1428750"/>
                <a:gridCol w="1714500"/>
                <a:gridCol w="1905000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Median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IQR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Minimum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Maximum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LIMIT_BAL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50,000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140,000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240,000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190,000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10,000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1,000,000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BILL_AMT1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3,558.75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22,381.50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67,091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63,532.25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-165,580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964,511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PAY_AMT1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2,100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5,006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4,006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873,552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FF469-D6BC-4D42-AFFC-6F0B657C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9D003-2205-4E32-8EFB-0FBE294B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571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07E25-67EE-47D6-8E40-40EE9B96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38775"/>
            <a:ext cx="1043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37BFC-0B7C-4A8D-9C27-90E44B80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long upper tails are part of the financial data-generating process. A cleaning rule must not confuse skewness with invalidity.</a:t>
            </a:r>
          </a:p>
        </p:txBody>
      </p:sp>
    </p:spTree>
    <p:extLst>
      <p:ext uri="{BB962C8B-B14F-4D97-AF65-F5344CB8AC3E}">
        <p14:creationId xmlns:p14="http://schemas.microsoft.com/office/powerpoint/2010/main" val="12135254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5C1C7-3940-4053-A13E-CF5E3316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3879F-89D7-40E5-AFF8-723D9142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OUTLIER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014DC-4657-40D3-92A0-B21DD93C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quantiles to flag before deciding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FEF8F-5CF4-4E29-ADA6-BEFEDFE8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code creates a flag. It does not delete observations or claim that the flagged values are errors.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EA399-F08D-41FB-914E-3D082BC2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32ED5-637B-44ED-949D-8DA4EC34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0EFA9-28F5-43E6-8FCE-C1743F7C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8117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77301-6B75-4944-93E8-BE625219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5334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0B2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060EB-18C5-49A4-B75B-8BF82D16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19325"/>
            <a:ext cx="49530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lo = credit['LIMIT_BAL'].quantile(0.01)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hi = credit['LIMIT_BAL'].quantile(0.99)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credit['LIMIT_BAL_outlier'] = ((credit['LIMIT_BAL'] &lt; lo) | (credit['LIMIT_BAL'] &gt; hi))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print(lo, hi)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print(credit['LIMIT_BAL_outlier'].value_counts())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F73FE-55FA-446C-BA08-06E06B13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811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1B3C5-6D3B-47FC-8D0B-714D9459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476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46396-1A7E-4778-8BAF-51A12ABA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0957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10,000.0  500,000.0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False    29,794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True        206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E446B-1169-49C9-90E4-1194E0C5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2298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D1E7C-5EBC-4A2D-8498-95CBDFF2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2647E-DCE8-46E1-BED5-D230E24F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292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NEXT 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1EC25-B524-49E4-82B6-BAB6A21C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245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Are the 206 observations invalid, rare but plausible, or informative about the portfolio? The source and financial context decide.</a:t>
            </a:r>
          </a:p>
        </p:txBody>
      </p:sp>
    </p:spTree>
    <p:extLst>
      <p:ext uri="{BB962C8B-B14F-4D97-AF65-F5344CB8AC3E}">
        <p14:creationId xmlns:p14="http://schemas.microsoft.com/office/powerpoint/2010/main" val="3152784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16E00-BC02-4992-8316-990C6213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FD71E-A1B8-4897-864E-7C8146FD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OUTLIER CHART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8E2F7-AAE3-4CB6-ADDD-D60B01DB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flag is easier to review when its size is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311B2-89FE-40E3-BFAE-864F08C1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chart shows how many records a threshold would flag, not how many records should be removed.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B65B9-0DBC-429E-9E24-9DF62AD6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3A0E8-D07B-46E4-BBE3-8D97BADE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9C599BB-D046-4B64-93FE-DFE8EFCD79AD}"/>
              </a:ext>
            </a:extLst>
          </p:cNvPr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6572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a4899a3d97493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344EC-67FC-4C74-94A4-4D713001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ADB75-C30D-41BC-82F8-91AF2DBD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47A73-A2EB-4DA8-9D84-0F92C297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431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CF671-27AC-4692-A601-0BB251E8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38425"/>
            <a:ext cx="27241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Flagging 206 records does not prove that they are errors.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126FD-DC71-4FA6-B789-A978DCB8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3143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EEE91-675D-4F32-B3A3-7645FCEA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6BF45-24E7-4D2A-A78A-E824A3EA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96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06667-55B0-47ED-AA56-9EE8DCD9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14925"/>
            <a:ext cx="27241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Threshold, variable, sample size, and treatment must appear in the notebook.</a:t>
            </a:r>
          </a:p>
        </p:txBody>
      </p:sp>
    </p:spTree>
    <p:extLst>
      <p:ext uri="{BB962C8B-B14F-4D97-AF65-F5344CB8AC3E}">
        <p14:creationId xmlns:p14="http://schemas.microsoft.com/office/powerpoint/2010/main" val="13366830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D991B-35AC-47D9-8E6E-7FD68B71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5BEA7-8136-40C4-B397-2BF3D9CF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OUTLIER TREATMENT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3D0D7-0663-4451-8645-7A1FCA48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Clipping changes the observed variable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D2723-3E81-4C44-A98B-252CCF50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Winsorisation or clipping can improve numerical stability, but it changes the scale and must be reported.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88833-8BFB-4AEB-9E22-AECC9078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044E4-EF32-4D12-88A3-DB416788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2807F-11CE-46AB-A566-FDFA8383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2711F-DFF4-4124-9D64-C7BBEBBE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3340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0B2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982D8-51BC-48A5-B596-2ADAD50F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9530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credit['LIMIT_BAL_clipped'] = credit['LIMIT_BAL'].clip(lo, hi)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credit[['LIMIT_BAL', 'LIMIT_BAL_clipped']].describe().T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D8B8D-C082-4B4E-A058-87FE4C38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ACF7D-7900-4D3D-94C1-177618BC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4767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988C8-342D-4A31-881B-66DB9787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409575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                    min       max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LIMIT_BAL        10000.0  1000000.0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LIMIT_BAL_clipped 10000.0   500000.0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5EA9F-0357-4EBE-A472-4309F3C5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102298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5F82C-5750-4A05-9974-377AEE32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571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15B56-6571-4324-9527-A8529A24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387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FINANCIAL 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80006-79E9-4599-8083-24197B0F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Clipping reduces the influence of the tail but may remove information about high-limit borrowers. Compare results with and without the treatment.</a:t>
            </a:r>
          </a:p>
        </p:txBody>
      </p:sp>
    </p:spTree>
    <p:extLst>
      <p:ext uri="{BB962C8B-B14F-4D97-AF65-F5344CB8AC3E}">
        <p14:creationId xmlns:p14="http://schemas.microsoft.com/office/powerpoint/2010/main" val="956102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A29A8-B75C-4436-B1E7-2D027612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2B42E-7557-480E-9430-75BD686E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SPECIAL CODES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8DFCF-27C9-49D8-85BE-109F2CB3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Codes are categories until the data dictionary says otherwise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2564C-5C55-4516-AEBF-DBB1899D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Education and repayment fields contain integer codes. The integer type does not make the values continuous measurements.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44EE2-D9E2-4583-8788-E3B05881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DF87A-379D-4684-90B5-E11DE885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D59CC974-2AE5-4E6F-B23E-23FB36AA8711}"/>
              </a:ext>
            </a:extLst>
          </p:cNvPr>
          <p:cNvGraphicFramePr/>
          <p:nvPr/>
        </p:nvGraphicFramePr>
        <p:xfrm>
          <a:off xmlns:a="http://schemas.openxmlformats.org/drawingml/2006/main" x="762000" y="2095500"/>
          <a:ext xmlns:a="http://schemas.openxmlformats.org/drawingml/2006/main" cx="6191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b8dde928d6490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9CDD2-5D7B-45D7-B2EF-847967AD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C5507-7386-4476-A94D-8F7C49A9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989B5-003F-40EB-96D3-AA6E6B0E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47900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SOURCE MEANING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411A3-0C28-4982-A57F-732160D2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43175"/>
            <a:ext cx="3295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source dictionary defines 1 as graduate school, 2 as university, 3 as high school, and 4 as others.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6E8B5-EC69-4528-99B0-20B98528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3714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284B3-34D3-48EE-B616-4399E0AC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55B55-FC33-4E6C-86DA-4F4E4D99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1002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QUALITY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94029-C55D-4D3D-941A-112C3307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05300"/>
            <a:ext cx="3295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Codes 0, 5, and 6 appear in this file. Investigate their source meaning before collapsing or recoding them.</a:t>
            </a:r>
          </a:p>
        </p:txBody>
      </p:sp>
    </p:spTree>
    <p:extLst>
      <p:ext uri="{BB962C8B-B14F-4D97-AF65-F5344CB8AC3E}">
        <p14:creationId xmlns:p14="http://schemas.microsoft.com/office/powerpoint/2010/main" val="35477727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8BCD2-A39A-43BE-9459-E54DE1E8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DB0E3-A53F-4EAA-BCC9-64DCB969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CATEGORY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3F427-4CD7-48BB-8D0F-14ACA371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Document category labels before encoding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21B32-1282-4822-9FE2-ACB2DD73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A mapping makes the transformation auditable and prevents a model from treating labels as arbitrary magnitudes.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A46BF-D4FA-4986-B488-93FDE7B4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FF5FF-743C-4079-8E52-EAEB340C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63A37-DFFD-49A0-84A1-9BDD8355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A0AEF-FB3F-4FCF-9A57-990A0FAF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3340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0B2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B3E7C-2197-4EB1-BD0A-E0CFCC36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9530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education_map = {1: "graduate school", 2: "university", 3: "high school", 4: "others"}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credit['education_label'] = credit['EDUCATION'].map(education_map)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credit['education_label'].value_counts(dropna=False)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A9607-3A27-4AC6-B1C0-2551AB42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C877E-17AF-4C76-9EEF-213E01BD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4767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4CE2E-6C80-4019-BA09-BFAA70B4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409575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university        14030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graduate school   10585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high school        4917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NaN                  432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7B76F-6BC4-4139-B5A8-19BFF23C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102298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024E2-E178-41D7-BC53-A035649A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571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45954-A9A3-40BD-9DEA-B8E469A6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387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IMPORTANT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A9D19-01F2-4817-B7BD-9D1A6943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unmapped values are visible as NaN. That is safer than silently assigning an invented label.</a:t>
            </a:r>
          </a:p>
        </p:txBody>
      </p:sp>
    </p:spTree>
    <p:extLst>
      <p:ext uri="{BB962C8B-B14F-4D97-AF65-F5344CB8AC3E}">
        <p14:creationId xmlns:p14="http://schemas.microsoft.com/office/powerpoint/2010/main" val="5451277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9E9BE-04F6-41C9-8BA0-A150CE68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31851-0C0F-4CC3-9B72-E84E43A3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PART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AC022-A70F-4C67-87C0-57A9CFF0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95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Numeric and categorical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2CF13-AA3E-40D3-A90A-84A230B4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FE1EA"/>
                </a:solidFill>
                <a:latin typeface="Arial"/>
                <a:ea typeface="Arial"/>
                <a:cs typeface="Arial"/>
              </a:rPr>
              <a:t>A preprocessing rule should match the type and meaning of each variable.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B3BF2-85E9-4F05-B359-FE878385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00150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defPPr>
            <a:lvl1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1pPr>
            <a:lvl2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2pPr>
            <a:lvl3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3pPr>
            <a:lvl4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4pPr>
            <a:lvl5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5pPr>
            <a:lvl6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6pPr>
            <a:lvl7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7pPr>
            <a:lvl8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8pPr>
            <a:lvl9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pPr>
            <a:r>
              <a:rPr sz="9450" b="1" i="0">
                <a:solidFill>
                  <a:srgbClr val="1438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E1F8D-D9E7-49C9-AB01-D260F248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7FBD9-CE84-436D-BD61-CE3E5E28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FB9C8"/>
                </a:solidFill>
                <a:latin typeface="Arial"/>
                <a:ea typeface="Arial"/>
                <a:cs typeface="Arial"/>
              </a:rPr>
              <a:t>Machine Learning in Finance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AE92B-3062-4646-9C5A-93846286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FB9C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259845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7D5BA-7183-451F-9E7C-5FCF5F8C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CB26C-D45E-4DBA-837A-08BE9184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FEATURE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5A413-DC76-49ED-B552-C9961887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Types determine the transformation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5492E-9363-45CB-B84A-17B10DD5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preprocessing plan separates variables by how an estimator should see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81AD6-7D8F-4678-8D1D-1A6A7B21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1427F-A274-48DD-84CD-90C05C61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5F014-0468-4950-89D8-D18DAFA995A4}"/>
              </a:ext>
            </a:extLst>
          </p:cNvPr>
          <p:cNvGraphicFramePr/>
          <p:nvPr/>
        </p:nvGraphicFramePr>
        <p:xfrm>
          <a:off xmlns:a="http://schemas.openxmlformats.org/drawingml/2006/main" x="819150" y="2047875"/>
          <a:ext xmlns:a="http://schemas.openxmlformats.org/drawingml/2006/main" cx="1057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4286250"/>
                <a:gridCol w="3905250"/>
              </a:tblGrid>
              <a:tr h="523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Examples in this course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Typical transformation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Numeric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LIMIT_BAL, AGE, BILL_AMT1, PAY_AMT1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Impute, scale, inspect tail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Categorical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SEX, EDUCATION, MARRIAGE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Impute, one-hot encode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Ordinal-like code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PAY_0 to PAY_6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Use source meaning and document choice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Identifier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Retain for traceability, exclude from predictors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default_next_month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Keep separate from X and never transform as a feature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6041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3AA7A-ECAA-4160-8FA6-A9424ED0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616DC-0772-4136-AE3F-B0B1174A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ONE-HOT ENCODING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7418D-08EA-4D88-8042-332F509B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Categories become indicator columns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928D5-5BC4-4D95-9366-6B2F33CA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One-hot encoding represents category membership without imposing a false numeric distance between labels.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CD6D5-6AA4-4621-95B9-13698A2F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BA229-19E6-49BD-907B-02EC07FD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4A3DA-9508-44CB-9EAE-E3EA3A9BF112}"/>
              </a:ext>
            </a:extLst>
          </p:cNvPr>
          <p:cNvGraphicFramePr/>
          <p:nvPr/>
        </p:nvGraphicFramePr>
        <p:xfrm>
          <a:off xmlns:a="http://schemas.openxmlformats.org/drawingml/2006/main" x="914400" y="2095500"/>
          <a:ext xmlns:a="http://schemas.openxmlformats.org/drawingml/2006/main" cx="5429250" cy="2190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190625"/>
                <a:gridCol w="1190625"/>
                <a:gridCol w="1190625"/>
              </a:tblGrid>
              <a:tr h="5476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EDUCATION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education_1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education_2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education_3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EE5EC-4C08-4EF2-8A93-159DCE38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4095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0AFB6-B0C1-40B5-AE6F-0AAF8CCF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BACB6-BABE-47EA-B375-42950B9E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47900"/>
            <a:ext cx="3676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WHY IT HELPS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AEC04-74F2-4216-B4CC-8D3F0157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43175"/>
            <a:ext cx="36766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model can estimate a separate contribution for each category. The code must also handle a category that appears later but was not present in the training sample.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36FC0-BA16-4135-AF38-0BA0C2AD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134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C2141-6D6D-4DE9-9046-F2C32813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881D7-D47E-4760-861D-2C7FC669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COURSE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5355E-D013-401F-B877-8A07B6C0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0175"/>
            <a:ext cx="971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handle_unknown="ignore" in the transformation so an unseen test or deployment category does not crash the pipeline.</a:t>
            </a:r>
          </a:p>
        </p:txBody>
      </p:sp>
    </p:spTree>
    <p:extLst>
      <p:ext uri="{BB962C8B-B14F-4D97-AF65-F5344CB8AC3E}">
        <p14:creationId xmlns:p14="http://schemas.microsoft.com/office/powerpoint/2010/main" val="71888546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C0659-D02F-4A86-BEB2-5F2C7E49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F09A0-8C57-4843-9502-BD038ACB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ENCODING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A2C67-5947-4A20-A866-1C486BE6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Run the transformation on a small table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A5407-3E23-4414-B164-A8F1E16A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A small example makes the new columns and their order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B251F-3760-48C8-9836-3DC249F9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3A000-CBF9-4D6D-9DCD-E11C2927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6C65F-260D-4D45-819E-EE5E5200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8E7D6-8C0B-4FC7-8107-C0E3FBA7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3340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0B2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6DBB2-D6A5-4EB9-AFB7-81DADBE4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9530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cats = credit[['SEX', 'EDUCATION', 'MARRIAGE']].head()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encoded = pd.get_dummies(cats.astype('string'), drop_first=False)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print(encoded.shape)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print(encoded.columns.tolist())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2F2DD-75AE-4BD6-BA34-4BA97E33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1686F-F744-41FF-8705-995E4243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4767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7AE8E-E14F-4B5A-8FF7-EFA11EA8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40957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(5, 5)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['SEX_1', 'SEX_2', 'EDUCATION_2', 'MARRIAGE_1', 'MARRIAGE_2']</a:t>
            </a:r>
          </a:p>
        </p:txBody>
      </p:sp>
    </p:spTree>
    <p:extLst>
      <p:ext uri="{BB962C8B-B14F-4D97-AF65-F5344CB8AC3E}">
        <p14:creationId xmlns:p14="http://schemas.microsoft.com/office/powerpoint/2010/main" val="479117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E7151-AE64-45C4-A297-DCC66F0B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F4747-1B21-4728-A697-E41A2AD2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ENCODING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E84CC-D62B-479E-8067-08E13201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Inspect the encoded rows before modelling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22E99-3626-4947-ABF6-62518EA1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transformation should be easy to audit: each row has a clear pattern of category indicators.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67326-1106-4BB4-887A-B6AAAA11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3B09F-FE00-4825-A8F0-1E193EF3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02CCF-E832-4A8B-8B6E-AAF66DEC5BDB}"/>
              </a:ext>
            </a:extLst>
          </p:cNvPr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1057275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24000"/>
                <a:gridCol w="1619250"/>
                <a:gridCol w="1619250"/>
                <a:gridCol w="2095500"/>
                <a:gridCol w="1905000"/>
                <a:gridCol w="1809750"/>
              </a:tblGrid>
              <a:tr h="460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SEX_1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SEX_2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EDUCATION_2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MARRIAGE_1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MARRIAGE_2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31B41-8061-4C6A-A8F8-7CF739D3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10572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D95F7-57F0-4B34-9F23-C90FED0F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915EC-B121-4CBA-B7F2-E2F987ED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86400"/>
            <a:ext cx="1015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3CD02-9579-4D63-B203-7E36F01F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81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columns are not new economic facts. They are a model-friendly representation of the original categories.</a:t>
            </a:r>
          </a:p>
        </p:txBody>
      </p:sp>
    </p:spTree>
    <p:extLst>
      <p:ext uri="{BB962C8B-B14F-4D97-AF65-F5344CB8AC3E}">
        <p14:creationId xmlns:p14="http://schemas.microsoft.com/office/powerpoint/2010/main" val="28135128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C094B-3315-4BE9-9E62-2FD5C9D5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7DA5B-6DCB-450F-A435-75B69484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SCALING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89CDD-2846-41B1-A11B-CB610E52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Scaling puts numeric variables on a comparable numerical basis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492B7-9646-4171-8815-33F2E577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A variable measured in New Taiwan dollars can otherwise dominate a variable measured in years or repayment status.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A7207-A2C1-4FD6-BB55-EDFDBDCF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98821-B6CB-40F6-9FE1-232C8F77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DE54B-F2B6-455A-A89F-11AB6B9E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1B204-118B-4AF3-B25C-BE435A6D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EE8EB-AAB3-473C-8004-0E79424B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02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BEFORE SCALING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D10BA-806D-428E-98A9-74225A18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27241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LIMIT_BAL may range from 10,000 to 1,000,000 while AGE ranges from 21 to 79. A distance-based model will respond to the units.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77CB0-A25F-49D5-9DE7-D1F3FC47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47875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7F959-708E-41BA-AC57-C1380CA4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4787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8A83D-9CC1-4E2D-912F-356E7EB9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002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AFTER SCALING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792A3-F7DA-4FBE-8FB3-0DB9F699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95550"/>
            <a:ext cx="27241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standard scaler centres a training variable and rescales it using its training dispersion. The same fitted rule is applied to validation and test rows.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323EE-7B51-46BB-AAB5-1D430A99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366CB-F3B3-4759-94DB-35BD260A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BBDAA-9529-487A-A164-FE242165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02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STILL INSPECT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B5594-2D8F-4170-808D-CE571B9D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27241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Scaling does not remove skewness, bad codes, leakage, or the need to explain the original financial unit.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12CB0-0215-48BD-8C50-5F097542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0534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F9AA8-6FDA-4A63-A000-CFDEDECB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0AD158-39EB-427E-AEE2-7662FD60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1011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MATHEMATICS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D5357-F669-4657-8CD0-B3C20398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95925"/>
            <a:ext cx="1011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exact standardisation equation and symbol definitions are in the separate mathematics reference for this lecture.</a:t>
            </a:r>
          </a:p>
        </p:txBody>
      </p:sp>
    </p:spTree>
    <p:extLst>
      <p:ext uri="{BB962C8B-B14F-4D97-AF65-F5344CB8AC3E}">
        <p14:creationId xmlns:p14="http://schemas.microsoft.com/office/powerpoint/2010/main" val="4342884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9493A-D507-4EFF-A230-B73D0667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130CC-F21D-4F99-BE25-FE190724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SCALING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CA73D-E3B1-457C-B98A-E62B27D6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Fit the scaler on the training sample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BD0EF-BCDE-41B1-93B2-FDDE3896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transformation object stores the parameters it learned from training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17867-3137-4DE7-92E1-2BEC5D6B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2D7CC-840C-4AF0-B5A9-5D879D1C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934D9-1176-4713-A06A-32E47C70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EE7B4-E3FD-4A54-BC5F-71893326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3340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0B2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0CA11-BA9E-43B9-A9F7-CD7E4565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9530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scaler = StandardScaler()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train_scaled = scaler.fit_transform(X_train[['LIMIT_BAL', 'AGE']])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test_scaled = scaler.transform(X_test[['LIMIT_BAL', 'AGE']])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print(train_scaled.shape)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print(test_scaled.shape)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131F0-4FD6-43BE-BE78-F00B02B5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117EF-4593-4F23-BB9A-189BC008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4767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8AE99-93D1-4E4A-83C6-85CA77A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409575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(24000, 2)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(6000, 2)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593D7-2AB9-4474-8423-EA014880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10229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5F377-C117-4A4A-B6F9-4FD01C0E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BF783-A2ED-4570-A1A5-D021A527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387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LEAKAGE CHECKPOINT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32FFF-682B-417C-B17F-6B130484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test data is transformed with transform(), never fit_transform().</a:t>
            </a:r>
          </a:p>
        </p:txBody>
      </p:sp>
    </p:spTree>
    <p:extLst>
      <p:ext uri="{BB962C8B-B14F-4D97-AF65-F5344CB8AC3E}">
        <p14:creationId xmlns:p14="http://schemas.microsoft.com/office/powerpoint/2010/main" val="160761182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947A9-98B6-4060-878E-87685BD7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8C5D6-2319-4EED-9A2F-3D067B54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SCALING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0DAE4-6DFC-4CEF-9B47-6751D43C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transformed training columns have mean near zero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20950-7858-437E-A24F-DD010375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output is a numerical check, not a replacement for understanding the original units.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87878-6B0D-4DD3-A33D-BB46633F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595A8-E6FF-4F86-9654-9EFB3982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9F368-5E40-42AD-8E91-18C330A4FBA9}"/>
              </a:ext>
            </a:extLst>
          </p:cNvPr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1057275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3429000"/>
                <a:gridCol w="4000500"/>
              </a:tblGrid>
              <a:tr h="460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Training feature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after fit_transform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Std. deviation after fit_transform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LIMIT_BAL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PAY_0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BILL_AMT1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PAY_AMT1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B79C1-DCAE-4E35-9BCB-FDC816CC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10572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1721C-0269-469F-B45D-4E5EF5CE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76347-EA46-459D-911B-6C014544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86400"/>
            <a:ext cx="1015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IMPORTANT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C223C-91B4-4045-B051-65B4131E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81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test sample does not need to have mean zero. It must be transformed using the training parameters.</a:t>
            </a:r>
          </a:p>
        </p:txBody>
      </p:sp>
    </p:spTree>
    <p:extLst>
      <p:ext uri="{BB962C8B-B14F-4D97-AF65-F5344CB8AC3E}">
        <p14:creationId xmlns:p14="http://schemas.microsoft.com/office/powerpoint/2010/main" val="170311712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DF65D-03D8-455A-8BDA-30E739D8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7AC35-6091-4A34-8696-C775599C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PART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3F623-C037-49EC-A1A6-FFF7073B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95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Leakage-safe preprocessing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EF9AA-0DB1-4E0F-B541-82D4B8BA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FE1E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FE1EA"/>
                </a:solidFill>
                <a:latin typeface="Arial"/>
                <a:ea typeface="Arial"/>
                <a:cs typeface="Arial"/>
              </a:rPr>
              <a:t>The order of splitting, fitting, transforming, and evaluating determines whether the result is credible.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1C6DB-0D69-4069-A341-4652F590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00150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defPPr>
            <a:lvl1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1pPr>
            <a:lvl2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2pPr>
            <a:lvl3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3pPr>
            <a:lvl4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4pPr>
            <a:lvl5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5pPr>
            <a:lvl6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6pPr>
            <a:lvl7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7pPr>
            <a:lvl8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8pPr>
            <a:lvl9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450" b="1" i="0">
                <a:solidFill>
                  <a:srgbClr val="143858"/>
                </a:solidFill>
                <a:latin typeface="Arial"/>
                <a:ea typeface="Arial"/>
                <a:cs typeface="Arial"/>
              </a:defRPr>
            </a:pPr>
            <a:r>
              <a:rPr sz="9450" b="1" i="0">
                <a:solidFill>
                  <a:srgbClr val="14385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FD824-5B91-420B-A70B-47EF651E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4B0B9-A4D9-47A9-BA79-494983A7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FB9C8"/>
                </a:solidFill>
                <a:latin typeface="Arial"/>
                <a:ea typeface="Arial"/>
                <a:cs typeface="Arial"/>
              </a:rPr>
              <a:t>Machine Learning in Finance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F0BA6-CB8B-44CB-817D-53B7F8F5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9FB9C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FB9C8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9276507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F5CE8-ECFB-4B72-8372-6A0D3146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1EB9A-FD97-4825-BFAE-E952A481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DATA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B175B-9D27-4826-BD62-27F8FA12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Train, validation, and test rows have different roles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6B80C-7817-4A13-9A44-A6D33162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roles are about information flow, not about giving some rows less importance.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959E8-4164-4FDF-A43A-8D64DEFF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D15E6-EF4B-4933-AFC0-5F8073AC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132C2-9C1A-4836-89CE-4D0242230EC6}"/>
              </a:ext>
            </a:extLst>
          </p:cNvPr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1057275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4476750"/>
                <a:gridCol w="3619500"/>
              </a:tblGrid>
              <a:tr h="619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Used for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Must not do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Learn imputation, scaling, encoding, and model parameters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Treat it as future data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Validation or cross-validation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Choose settings and compare candidate models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Use the final test outcome to choose repeatedly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One final estimate of generalisation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Fit transformations or tune decisions on 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9A299-C2D0-4C09-84BA-7DDF467F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0572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EFB97-900B-438A-990A-85854041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98D6B-CD67-42C8-B2A0-E32FF44E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1015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INFORMATION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1752B-5BCE-4FF3-958B-AFFED795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91175"/>
            <a:ext cx="1015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Any quantity calculated using the full dataset can carry information from the test sample into training. That includes means, medians, category sets, thresholds, and selected features.</a:t>
            </a:r>
          </a:p>
        </p:txBody>
      </p:sp>
    </p:spTree>
    <p:extLst>
      <p:ext uri="{BB962C8B-B14F-4D97-AF65-F5344CB8AC3E}">
        <p14:creationId xmlns:p14="http://schemas.microsoft.com/office/powerpoint/2010/main" val="42677404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A7CD7-47DA-48FD-AF6A-D55BDFA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B142A-C78E-4286-BA3B-B3E28710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FB523-78DC-40E0-87AE-90BB169B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plausible-looking workflow can still be wrong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1415B-770B-4F48-AE08-B359118D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code may run successfully while the evaluation is contaminated.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14B00-D2D3-4ED0-B747-AE4E6122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CAA1F-7B34-45BF-8359-1217AF1D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7D291-7EB5-4EB7-BF3D-40718C78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WRONG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9F5F0-19D6-4990-88B6-B8D08E28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334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0B2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B24C4-A659-477D-9F56-9DBACFCC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9530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# Wrong order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X_scaled = StandardScaler().fit_transform(X)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X_train, X_test, y_train, y_test = train_test_split(X_scaled, y, test_size=0.2)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# The scaler saw the future test rows.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DB463-6DE6-454A-85A0-6E49F1A7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476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0D516-47E0-441A-BAB8-3ADCA919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D94F2-617C-410F-814E-F027585A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WHY IT IS WRONG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17BE5-EFA1-4AF7-A562-66188961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43175"/>
            <a:ext cx="405765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mean and standard deviation used in the transformation include test observations. The test set has influenced the training representation before evaluation.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4005D-8B62-4356-8ACA-DBD20B4C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10229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BA927-9B3B-4C2A-9FFA-D7E0E03C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58318-2037-4199-9BDA-9AE3EE1D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3402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THE ERROR IS METHODOLOGICAL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2A6E22-A14E-43D6-945F-34BDEC15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No syntax error will warn you about this. The notebook must make the information boundary explicit.</a:t>
            </a:r>
          </a:p>
        </p:txBody>
      </p:sp>
    </p:spTree>
    <p:extLst>
      <p:ext uri="{BB962C8B-B14F-4D97-AF65-F5344CB8AC3E}">
        <p14:creationId xmlns:p14="http://schemas.microsoft.com/office/powerpoint/2010/main" val="7111343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71AC9-590D-4DFA-943F-D02106E1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D5854-FDCE-4DF3-AA2B-88CDD96D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14BB9-F6DF-4FFD-9F90-12014AD8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correct order keeps the test set outside fitting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1F60A-5859-47FE-850B-EB1D3B36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Split first. Fit on training data. Transform both partitions with the fitted object.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472DE-3AD0-4752-B140-CCD2F727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CDADF-BB82-412D-9AAB-50A42C4B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4A637-54F1-4911-9379-D9C839D268C9}"/>
              </a:ext>
            </a:extLst>
          </p:cNvPr>
          <p:cNvGraphicFramePr/>
          <p:nvPr/>
        </p:nvGraphicFramePr>
        <p:xfrm>
          <a:off xmlns:a="http://schemas.openxmlformats.org/drawingml/2006/main" x="819150" y="2000250"/>
          <a:ext xmlns:a="http://schemas.openxmlformats.org/drawingml/2006/main" cx="1057275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38250"/>
                <a:gridCol w="4476750"/>
                <a:gridCol w="4857750"/>
              </a:tblGrid>
              <a:tr h="4762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Information available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Separate X and 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All rows, but target is kept apart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Train/test split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Training rows for fitting, test rows held out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preprocessor.fit_transform(X_train)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Training values only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preprocessor.transform(X_test)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The fitted training rule only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Fit model on transformed training data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Training representation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Evaluate once on transformed test data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Held-out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42770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B7442-B7E5-4E1A-859B-16C52236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E0720-3010-4491-A2FD-E5601AE4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SPLIT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72AA4-8D73-447A-BC0A-3C0F8711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Stratification preserves the target proportion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9DC60-AB9E-47E4-9EA0-2531CC9A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For a binary credit-risk target, stratification reduces the chance that a split has a very different class balance.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3B108-CB10-4CAE-B68F-D5ACF8AB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C8696-5B23-4C1C-9A86-D69C21B0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302C0-4BF7-4E91-A8EC-6A0A317D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718CF-2F8F-43B4-B060-1B99C43F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334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0B2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F6790-C225-4828-BF43-46B7A247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9530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X = credit[num_cols + cat_cols]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y = credit['default_next_month']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X_train, X_test, y_train, y_test = train_test_split(X, y, test_size=0.20, random_state=42, stratify=y)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13C1D-892D-4DCF-90BF-01276739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E365B-0E34-40D0-AD6D-67A39462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476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2EB2C-40ED-4035-B1F9-27D8CA5A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40957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X_train: (24000, 8)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X_test:  (6000, 8)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y_train default rate: 0.2212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y_test default rate:  0.2212</a:t>
            </a:r>
          </a:p>
        </p:txBody>
      </p:sp>
    </p:spTree>
    <p:extLst>
      <p:ext uri="{BB962C8B-B14F-4D97-AF65-F5344CB8AC3E}">
        <p14:creationId xmlns:p14="http://schemas.microsoft.com/office/powerpoint/2010/main" val="34334793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2C566-EEAF-4EE1-B97C-FFFFB076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C9B5F-0CD8-49D4-A36F-87B05071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SPLIT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79072-1FAD-4266-B78C-FABEFA0D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split preserves the class balance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BC6C8-7803-40AF-93CB-772CC7C3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counts are an audit of the split, not a performance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7729E-58EF-4C01-BDEB-100DC01E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E4F9F-2D7B-49FE-BA7C-BB61D4CD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4D2A80DE-E396-479A-8BE3-321FFDEAE7F4}"/>
              </a:ext>
            </a:extLst>
          </p:cNvPr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6667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a0ebc27c064ed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2794A-BE3F-4ECE-93FE-3C1B8D48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048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F642F-1854-4B26-84A4-BAF5D52A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46391-6FD7-4920-936C-3F85D692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E0BB4-EEC5-4BCA-8DFF-0215E959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26289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24,000 rows, including 5,309 defaults.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DA8D2-DAEC-4896-8E8C-1B2CFC66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048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D4C59-F86D-4F34-9E95-0A7363B5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22858-78EF-4B4C-B5D2-BBCB5F66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91025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BAEEE-7836-48EA-A57E-297384E6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86300"/>
            <a:ext cx="26289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6,000 held-out rows, including 1,327 defaults.</a:t>
            </a:r>
          </a:p>
        </p:txBody>
      </p:sp>
    </p:spTree>
    <p:extLst>
      <p:ext uri="{BB962C8B-B14F-4D97-AF65-F5344CB8AC3E}">
        <p14:creationId xmlns:p14="http://schemas.microsoft.com/office/powerpoint/2010/main" val="64260163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20F6A-66C3-449F-849E-F5FC318A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A1FA3-494B-4C4B-AF4E-A92C63CA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COLUMNTRANSFORMER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57375-B922-4B1C-9EEA-FF7CBDC1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Different columns can follow different pipelines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82F71-975A-4A54-8AD2-6EDAEE8C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ColumnTransformer gives the table a declared transformation contract.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0F185-EEFA-4941-831C-AC63E241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AF2AA-4204-4725-888B-9950596F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2DEBC-EA88-4CC6-B1D0-40EF9C441507}"/>
              </a:ext>
            </a:extLst>
          </p:cNvPr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1057275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4857750"/>
                <a:gridCol w="3143250"/>
              </a:tblGrid>
              <a:tr h="5143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Column block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Numeric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Median imputer → StandardScaler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Five scaled numeric features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Categorical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Most-frequent imputer → OneHotEncoder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Thirteen indicator features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Identifier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Excluded from 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Retained separately for traceability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Excluded from preprocessing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Used as y after the split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A5343-1A8E-475D-8A3C-E4269448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10572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0BC9-10A9-4917-A7C3-BF74403B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EAC09-EA1E-4DE4-B505-C0A79D0A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48275"/>
            <a:ext cx="1015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WHY THIS IS SAFER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F20C4-3808-441D-B689-37462A17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43550"/>
            <a:ext cx="1015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same object stores the training medians, scale parameters, and category vocabulary. Applying it later uses the same decisions in the same order.</a:t>
            </a:r>
          </a:p>
        </p:txBody>
      </p:sp>
    </p:spTree>
    <p:extLst>
      <p:ext uri="{BB962C8B-B14F-4D97-AF65-F5344CB8AC3E}">
        <p14:creationId xmlns:p14="http://schemas.microsoft.com/office/powerpoint/2010/main" val="44486024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683CD-8B67-4A75-92F7-F002712C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6AF0A-4935-4696-9770-F518C249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PIPELINE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27D8D-0A00-434D-9F76-E858EAAB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Build the preprocessing object once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5ED5B-0294-4F16-871C-D59F8F6C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This is the code pattern that will carry into logistic regression and tree-based models.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B7E15-A3FE-4395-BA27-DA626063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8DC98-18F0-4C95-AAB9-9C98E1B5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6B25C-3567-4963-B74D-6FA9E6B1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E93C7-C637-43A6-9B16-F755DF4D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0B2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AACFF-5859-439D-B49B-4AB87078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6286500" cy="3133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numeric_pipe = Pipeline([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    ("imputer", SimpleImputer(strategy="median")),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    ("scale", StandardScaler())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categorical_pipe = Pipeline([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    ("imputer", SimpleImputer(strategy="most_frequent")),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    ("onehot", OneHotEncoder(handle_unknown="ignore"))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preprocessor = ColumnTransformer([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    ("num", numeric_pipe, num_cols),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    ("cat", categorical_pipe, cat_cols)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])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642A0-39F1-42EC-9080-80924D2B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238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340F5-F9B4-48B4-9A34-635B547C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85A28-0CE6-490E-A422-050F2F8C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NUMERIC 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F9B81-44CB-4DFE-8446-BDA17A84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43175"/>
            <a:ext cx="28194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Median imputation and scaling use training statistics.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1E1FA-6E0D-4728-A55D-7106003B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3238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7A27E-FE5A-421C-B7A8-94C2B2BD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16341-5D0B-49B2-8403-FBBB07C4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529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CATEGORICAL BLOCK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2A060-EF68-4953-886F-BE5ADDDE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48175"/>
            <a:ext cx="28194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Unknown categories are handled without changing the code path.</a:t>
            </a:r>
          </a:p>
        </p:txBody>
      </p:sp>
    </p:spTree>
    <p:extLst>
      <p:ext uri="{BB962C8B-B14F-4D97-AF65-F5344CB8AC3E}">
        <p14:creationId xmlns:p14="http://schemas.microsoft.com/office/powerpoint/2010/main" val="58936095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BB988-BEF1-491B-9A2F-F473C14B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74227-2E68-420E-AA6D-556FC43F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PIPELINE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E466E-B7F9-4B24-9C10-8ECA96B4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transformation creates a model-ready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F2279-808D-4245-9254-4F980A0E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output shape and feature names are part of the quality check.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B4D87-983F-4565-9A14-C54B12C0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0D59A-AA12-4B03-9C17-14752516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589B5-9569-48C9-A21E-19E69211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D2105-C24D-4F4A-81F0-A5F34694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3340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0B2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AC29B-6D6B-44A3-97DB-F66EEADE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9530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X_train_ready = preprocessor.fit_transform(X_train)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X_test_ready = preprocessor.transform(X_test)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print(X_train_ready.shape)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print(X_test_ready.shape)</a:t>
            </a:r>
          </a:p>
          <a:p xmlns:a="http://schemas.openxmlformats.org/drawingml/2006/main">
            <a:pPr algn="l">
              <a:def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E5F4F3"/>
                </a:solidFill>
                <a:latin typeface="Courier New"/>
                <a:ea typeface="Courier New"/>
                <a:cs typeface="Courier New"/>
              </a:rPr>
              <a:t>print(len(preprocessor.get_feature_names_out()))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4DE28-08FE-4C4B-9129-F0639A65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ED52F-63FA-4369-A14C-ED41BC51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4767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8FD33-99C7-4601-961B-FADC2DF6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409575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(24000, 18)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(6000, 18)</a:t>
            </a:r>
          </a:p>
          <a:p xmlns:a="http://schemas.openxmlformats.org/drawingml/2006/main">
            <a:pPr algn="l">
              <a:def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E3C01-6E22-495D-8D07-3966182D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10229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47D34-A297-4D1E-9C19-60C0448D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A025C-0538-4B80-BB80-3DD35355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387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8CBB3-259C-4765-A045-5E3633B7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Eight raw predictor columns become five scaled numeric columns plus thirteen one-hot columns.</a:t>
            </a:r>
          </a:p>
        </p:txBody>
      </p:sp>
    </p:spTree>
    <p:extLst>
      <p:ext uri="{BB962C8B-B14F-4D97-AF65-F5344CB8AC3E}">
        <p14:creationId xmlns:p14="http://schemas.microsoft.com/office/powerpoint/2010/main" val="120367487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78141-9631-4FFA-A3AF-BB08F044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F5A12-D604-4894-835E-3B1AB339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END-TO-END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E7A0A-4D23-4FC2-9895-2C45EA84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Inspect transformed feature names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E8634-F4E5-4028-906E-0D71B8DA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Feature names connect the model matrix back to the original financial variables.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4535F-07ED-454E-9D11-907C8197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EBCFA-CB41-475E-B8CA-BCAFBF82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EADC0-CCCA-430C-8DC8-AF7EDD309F7E}"/>
              </a:ext>
            </a:extLst>
          </p:cNvPr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1057275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8191500"/>
              </a:tblGrid>
              <a:tr h="5143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 output names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Numeric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num__LIMIT_BAL, num__AGE, num__PAY_0, num__BILL_AMT1, num__PAY_AMT1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Sex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cat__SEX_1, cat__SEX_2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Education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cat__EDUCATION_0 through cat__EDUCATION_6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Marriage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cat__MARRIAGE_0 through cat__MARRIAGE_3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F476E-3CED-4BF4-BC81-F3FD0FB3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10572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A081C-E454-4BC7-BC09-8DE73F8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41956-60B4-4493-9254-39B8E17C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48275"/>
            <a:ext cx="1015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MODEL DOCUMENTATION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0D6A2-83F4-45E1-90B9-03E2B149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43550"/>
            <a:ext cx="1015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Keep this list with the fitted model. It tells a reviewer what each coefficient or feature-importance value can mean.</a:t>
            </a:r>
          </a:p>
        </p:txBody>
      </p:sp>
    </p:spTree>
    <p:extLst>
      <p:ext uri="{BB962C8B-B14F-4D97-AF65-F5344CB8AC3E}">
        <p14:creationId xmlns:p14="http://schemas.microsoft.com/office/powerpoint/2010/main" val="27113725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F989E-3D86-438C-AD50-AB9B3B4A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DF102-72D3-4EBB-AA76-FC072145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QUALITY ASSURANCE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1027E-D322-455A-BFFB-E301F708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preprocessing checklist for this course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9BF35-5911-452A-98AC-6FC25DF4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notebook should make every item visible before the next model is fitted.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1513D-FD63-4818-8935-45A1990C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2E4A6-C629-4D58-BDF2-C6A0A1B7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AC620-194E-463E-AC00-313E98CC067A}"/>
              </a:ext>
            </a:extLst>
          </p:cNvPr>
          <p:cNvGraphicFramePr/>
          <p:nvPr/>
        </p:nvGraphicFramePr>
        <p:xfrm>
          <a:off xmlns:a="http://schemas.openxmlformats.org/drawingml/2006/main" x="819150" y="1952625"/>
          <a:ext xmlns:a="http://schemas.openxmlformats.org/drawingml/2006/main" cx="10572750" cy="3619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8001000"/>
              </a:tblGrid>
              <a:tr h="45243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Pass condition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UCI source, licence, observation unit, and target are documented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Structure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Rows, columns, dtypes, missingness, duplicates, and codes are checked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Outliers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Thresholds create flags before any treatment is chosen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Timing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Variables are available at the prediction point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Train/test partition occurs before fitting transformations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Pipeline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Numeric and categorical transformations are declared and reproducible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Feature names, shapes, and category handling are inspected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8"/>
                      </a:solidFill>
                      <a:prstDash val="solid"/>
                    </a:lnR>
                    <a:lnB w="9525">
                      <a:solidFill>
                        <a:srgbClr val="D6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22841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8ED72-ADE6-46A0-9897-0365D0A3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A3122-4725-4612-8232-927C66C6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WEEKLY ASSIGNMENT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BE453-22B2-4F58-A6EA-6B58ED8E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Submit a leakage-safe preprocessing notebook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B05F0-A853-43D9-9405-4F913B08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assignment turns the lecture route into a reproducible artifact.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F254F-7D8D-488F-80D7-83109FEE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520F5-3C29-4D89-92EE-DA92059E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9746C-4F37-45F3-973E-FC3D601F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D2408-71DD-472A-BF53-8D6AD0A6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975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Load the complete UCI credit table and document source, variables, target, and observation unit.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2D511-1D83-40FE-80C5-840A9265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BD270-9926-4046-B210-909A1CD2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975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Produce an audit table covering shape, data types, missingness, duplicates, identifiers, and coded categories.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DA8BD-77B8-48E7-8392-83B327B3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B0D05-C886-4C9B-A931-C888EC7A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975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Create one controlled missingness example and explain the chosen treatment without altering the source file.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E3D2B-3BEE-48B5-90F8-1D19A8FF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FA17F-5DA7-43E6-A878-2C13CE14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975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Flag a documented outlier rule and compare counts before deciding whether any treatment is appropriate.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B25DE-1286-4418-AE62-F7F72A8C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47442-E76C-438A-A417-A4CE265B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975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Build a train/test split and a ColumnTransformer with separate numeric and categorical pipelines.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F9D06-6158-45D5-ACBA-5F80D61A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67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178EB-5D6B-460E-A3B2-4EC82AF9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0"/>
            <a:ext cx="975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Show transformed shapes and feature names, then explain how the workflow prevents leakage.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3F2427-CA10-4A31-BF5B-3398C26B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906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F6ECD-F6AE-453D-BAB5-8BB582A2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40EB1-EA04-47A5-BC4C-EBBDCE07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86400"/>
            <a:ext cx="948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99233-0D9F-43F7-999C-C21100DD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81675"/>
            <a:ext cx="948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Submit the Colab notebook one day before the next course meeting and complete the related DataCamp practice.</a:t>
            </a:r>
          </a:p>
        </p:txBody>
      </p:sp>
    </p:spTree>
    <p:extLst>
      <p:ext uri="{BB962C8B-B14F-4D97-AF65-F5344CB8AC3E}">
        <p14:creationId xmlns:p14="http://schemas.microsoft.com/office/powerpoint/2010/main" val="115139570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9C08EB-6DF7-4945-8055-05F0ED92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EB68C-95D7-4499-9694-CAB2004E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NEXT 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B4C7A-D055-47A6-BF78-D55EDBF4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Week 4 introduces feature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2C25B-8B7F-4B2C-81F6-693F1361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The next lecture creates financial variables while keeping the prediction timestamp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1725C-7B22-4E11-B616-283EAEB9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Machine Learning in Finance  ·  Week 03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20CCA-73EB-4FEB-AAD9-2F136B98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8708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087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D20A5-9811-41FE-9E82-EA27FB3D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1139A-0B93-4CC2-B123-3311BC9F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B0"/>
          </a:solidFill>
          <a:ln xmlns:a="http://schemas.openxmlformats.org/drawingml/2006/main" w="9525">
            <a:solidFill>
              <a:srgbClr val="2D9DB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DD95C-2751-49D5-B80A-C612F712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2D9DB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9DB0"/>
                </a:solidFill>
                <a:latin typeface="Arial"/>
                <a:ea typeface="Arial"/>
                <a:cs typeface="Arial"/>
              </a:rPr>
              <a:t>FEATURE 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128FB-6DE9-46E8-84FF-D979E602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43175"/>
            <a:ext cx="26289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Ratios, lags, rolling summaries, and interactions should represent a financial concept.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692CD-F2D4-40E5-8221-74BFE7C7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F33C8-281A-4209-9D45-5ABE55AA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C0"/>
          </a:solidFill>
          <a:ln xmlns:a="http://schemas.openxmlformats.org/drawingml/2006/main" w="9525">
            <a:solidFill>
              <a:srgbClr val="72C7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B201C-655F-47FA-AC14-6925E4B5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4790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72C7C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2C7C0"/>
                </a:solidFill>
                <a:latin typeface="Arial"/>
                <a:ea typeface="Arial"/>
                <a:cs typeface="Arial"/>
              </a:rPr>
              <a:t>TIMING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1E79E-BD55-44BB-B084-A5C42A7C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43175"/>
            <a:ext cx="26289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feature is valid only when it is known at the prediction point.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B121C-DACE-46A5-9CF8-5A51B9F5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1E83A-F42E-4FC8-B6F1-71A0D19E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9525">
            <a:solidFill>
              <a:srgbClr val="C99A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22901-9A20-43C6-B471-56EB7C49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4790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C99A4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9A45"/>
                </a:solidFill>
                <a:latin typeface="Arial"/>
                <a:ea typeface="Arial"/>
                <a:cs typeface="Arial"/>
              </a:rPr>
              <a:t>SUPERVISED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6559DC-9360-4FC2-8D23-A4C0BF35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43175"/>
            <a:ext cx="26289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engineered variables will feed the first supervised models later in the course.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A951B-1F61-4080-9554-0E1D7428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Keep the Week 3 preprocessing notebook. Week 4 will extend the same pipeline rather than replace it.</a:t>
            </a:r>
          </a:p>
        </p:txBody>
      </p:sp>
    </p:spTree>
    <p:extLst>
      <p:ext uri="{BB962C8B-B14F-4D97-AF65-F5344CB8AC3E}">
        <p14:creationId xmlns:p14="http://schemas.microsoft.com/office/powerpoint/2010/main" val="1710106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2026-10-24T17:44:18.9090000Z</dcterms:created>
  <dcterms:modified xsi:type="dcterms:W3CDTF">2026-10-24T17:44:18.9090000Z</dcterms:modified>
</coreProperties>
</file>