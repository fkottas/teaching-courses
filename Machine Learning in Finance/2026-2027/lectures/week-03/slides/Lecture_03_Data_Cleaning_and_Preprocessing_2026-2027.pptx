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slides/charts/chart4.xml" ContentType="application/vnd.openxmlformats-officedocument.drawingml.chart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slides/charts/chart5.xml" ContentType="application/vnd.openxmlformats-officedocument.drawingml.chart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6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d3004899b8492a" /><Relationship Type="http://schemas.openxmlformats.org/officeDocument/2006/relationships/extended-properties" Target="/docProps/app.xml" Id="Re6c94b1f42764a7f" /><Relationship Type="http://schemas.openxmlformats.org/officeDocument/2006/relationships/officeDocument" Target="/ppt/presentation.xml" Id="R8e8a1b6b319c48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b7b49e5d5349ed"/>
  </p:sldMasterIdLst>
  <p:notesMasterIdLst>
    <p:notesMasterId xmlns:r="http://schemas.openxmlformats.org/officeDocument/2006/relationships" r:id="Rc56d029ea0a5494c"/>
  </p:notesMasterIdLst>
  <p:sldIdLst>
    <p:sldId xmlns:r="http://schemas.openxmlformats.org/officeDocument/2006/relationships" id="256" r:id="R20307c600e19405b"/>
    <p:sldId xmlns:r="http://schemas.openxmlformats.org/officeDocument/2006/relationships" id="257" r:id="Red2007564b984cf5"/>
    <p:sldId xmlns:r="http://schemas.openxmlformats.org/officeDocument/2006/relationships" id="258" r:id="R3ef92061c5164f92"/>
    <p:sldId xmlns:r="http://schemas.openxmlformats.org/officeDocument/2006/relationships" id="259" r:id="R4a8d7f3ca2ad4059"/>
    <p:sldId xmlns:r="http://schemas.openxmlformats.org/officeDocument/2006/relationships" id="260" r:id="Rcb9348580e8c4ff0"/>
    <p:sldId xmlns:r="http://schemas.openxmlformats.org/officeDocument/2006/relationships" id="261" r:id="R6fa4d376389e4f42"/>
    <p:sldId xmlns:r="http://schemas.openxmlformats.org/officeDocument/2006/relationships" id="262" r:id="R8ca9a35b2aa143e3"/>
    <p:sldId xmlns:r="http://schemas.openxmlformats.org/officeDocument/2006/relationships" id="263" r:id="R476c66af35a044cc"/>
    <p:sldId xmlns:r="http://schemas.openxmlformats.org/officeDocument/2006/relationships" id="264" r:id="R1681778044674408"/>
    <p:sldId xmlns:r="http://schemas.openxmlformats.org/officeDocument/2006/relationships" id="265" r:id="Rfac74c5b13364228"/>
    <p:sldId xmlns:r="http://schemas.openxmlformats.org/officeDocument/2006/relationships" id="266" r:id="R8ba2f9b178b04353"/>
    <p:sldId xmlns:r="http://schemas.openxmlformats.org/officeDocument/2006/relationships" id="267" r:id="R924e03de9b834cd8"/>
    <p:sldId xmlns:r="http://schemas.openxmlformats.org/officeDocument/2006/relationships" id="268" r:id="Rd82cc3691f4741fe"/>
    <p:sldId xmlns:r="http://schemas.openxmlformats.org/officeDocument/2006/relationships" id="269" r:id="Rd5c4cb30c29d452a"/>
    <p:sldId xmlns:r="http://schemas.openxmlformats.org/officeDocument/2006/relationships" id="270" r:id="R9e2255d0caf64f51"/>
    <p:sldId xmlns:r="http://schemas.openxmlformats.org/officeDocument/2006/relationships" id="271" r:id="Rb6070a97a6814088"/>
    <p:sldId xmlns:r="http://schemas.openxmlformats.org/officeDocument/2006/relationships" id="272" r:id="R3f89129d9a594828"/>
    <p:sldId xmlns:r="http://schemas.openxmlformats.org/officeDocument/2006/relationships" id="273" r:id="Rd48b0d9170f14a6b"/>
    <p:sldId xmlns:r="http://schemas.openxmlformats.org/officeDocument/2006/relationships" id="274" r:id="Rd99e2337b40b4f34"/>
    <p:sldId xmlns:r="http://schemas.openxmlformats.org/officeDocument/2006/relationships" id="275" r:id="Reb80d37257c34717"/>
    <p:sldId xmlns:r="http://schemas.openxmlformats.org/officeDocument/2006/relationships" id="276" r:id="Rf869a6c1a98a4801"/>
    <p:sldId xmlns:r="http://schemas.openxmlformats.org/officeDocument/2006/relationships" id="277" r:id="R0437b2d9451946d6"/>
    <p:sldId xmlns:r="http://schemas.openxmlformats.org/officeDocument/2006/relationships" id="278" r:id="Rd0726e6585bb4a8c"/>
    <p:sldId xmlns:r="http://schemas.openxmlformats.org/officeDocument/2006/relationships" id="279" r:id="R67347a32078d4d4a"/>
    <p:sldId xmlns:r="http://schemas.openxmlformats.org/officeDocument/2006/relationships" id="280" r:id="Rd3f5a48391644522"/>
    <p:sldId xmlns:r="http://schemas.openxmlformats.org/officeDocument/2006/relationships" id="281" r:id="R8678158506034f4f"/>
    <p:sldId xmlns:r="http://schemas.openxmlformats.org/officeDocument/2006/relationships" id="282" r:id="R2f2f388e44b441f8"/>
    <p:sldId xmlns:r="http://schemas.openxmlformats.org/officeDocument/2006/relationships" id="283" r:id="R7394dba54b284ac8"/>
    <p:sldId xmlns:r="http://schemas.openxmlformats.org/officeDocument/2006/relationships" id="284" r:id="R309bc10e6c3c4c24"/>
    <p:sldId xmlns:r="http://schemas.openxmlformats.org/officeDocument/2006/relationships" id="285" r:id="R7cf1d9c53597462c"/>
    <p:sldId xmlns:r="http://schemas.openxmlformats.org/officeDocument/2006/relationships" id="286" r:id="Rc35777f7e6924cd1"/>
    <p:sldId xmlns:r="http://schemas.openxmlformats.org/officeDocument/2006/relationships" id="287" r:id="R521e7b990d4c468c"/>
    <p:sldId xmlns:r="http://schemas.openxmlformats.org/officeDocument/2006/relationships" id="288" r:id="R1860d47411d04b11"/>
    <p:sldId xmlns:r="http://schemas.openxmlformats.org/officeDocument/2006/relationships" id="289" r:id="Rd9543d7862954a35"/>
    <p:sldId xmlns:r="http://schemas.openxmlformats.org/officeDocument/2006/relationships" id="290" r:id="R1047f93a636e4d85"/>
    <p:sldId xmlns:r="http://schemas.openxmlformats.org/officeDocument/2006/relationships" id="291" r:id="R8e06a21e281a4b7c"/>
    <p:sldId xmlns:r="http://schemas.openxmlformats.org/officeDocument/2006/relationships" id="292" r:id="Rc676717600334265"/>
    <p:sldId xmlns:r="http://schemas.openxmlformats.org/officeDocument/2006/relationships" id="293" r:id="R17a0db4006da481e"/>
    <p:sldId xmlns:r="http://schemas.openxmlformats.org/officeDocument/2006/relationships" id="294" r:id="Re0a7faed8b894f24"/>
    <p:sldId xmlns:r="http://schemas.openxmlformats.org/officeDocument/2006/relationships" id="295" r:id="R67841eaee8ea44ef"/>
    <p:sldId xmlns:r="http://schemas.openxmlformats.org/officeDocument/2006/relationships" id="296" r:id="Rb5d937665ed14116"/>
    <p:sldId xmlns:r="http://schemas.openxmlformats.org/officeDocument/2006/relationships" id="297" r:id="R8dbd2e98608e49ea"/>
    <p:sldId xmlns:r="http://schemas.openxmlformats.org/officeDocument/2006/relationships" id="298" r:id="R3d70b8b38c1e46eb"/>
    <p:sldId xmlns:r="http://schemas.openxmlformats.org/officeDocument/2006/relationships" id="299" r:id="R0fac1c4871674090"/>
    <p:sldId xmlns:r="http://schemas.openxmlformats.org/officeDocument/2006/relationships" id="300" r:id="R215799ce9572424f"/>
    <p:sldId xmlns:r="http://schemas.openxmlformats.org/officeDocument/2006/relationships" id="301" r:id="R0d1f695caf204837"/>
    <p:sldId xmlns:r="http://schemas.openxmlformats.org/officeDocument/2006/relationships" id="302" r:id="R6d0cbc4f6970474f"/>
    <p:sldId xmlns:r="http://schemas.openxmlformats.org/officeDocument/2006/relationships" id="303" r:id="Ra2e1a51ccbae4695"/>
    <p:sldId xmlns:r="http://schemas.openxmlformats.org/officeDocument/2006/relationships" id="304" r:id="R8cc1b688c7ef4fd9"/>
    <p:sldId xmlns:r="http://schemas.openxmlformats.org/officeDocument/2006/relationships" id="305" r:id="R0b127b9757f3413d"/>
    <p:sldId xmlns:r="http://schemas.openxmlformats.org/officeDocument/2006/relationships" id="306" r:id="Rc06394f34bcb453d"/>
    <p:sldId xmlns:r="http://schemas.openxmlformats.org/officeDocument/2006/relationships" id="307" r:id="Rbab5e26714794a45"/>
    <p:sldId xmlns:r="http://schemas.openxmlformats.org/officeDocument/2006/relationships" id="308" r:id="Rd0dbdb929eec4dd7"/>
    <p:sldId xmlns:r="http://schemas.openxmlformats.org/officeDocument/2006/relationships" id="309" r:id="R0e8ed7b92a934f3c"/>
    <p:sldId xmlns:r="http://schemas.openxmlformats.org/officeDocument/2006/relationships" id="310" r:id="R39a4096cf2174bfe"/>
    <p:sldId xmlns:r="http://schemas.openxmlformats.org/officeDocument/2006/relationships" id="311" r:id="Rfccfef712f454881"/>
    <p:sldId xmlns:r="http://schemas.openxmlformats.org/officeDocument/2006/relationships" id="312" r:id="R6e3580d29f0341e6"/>
    <p:sldId xmlns:r="http://schemas.openxmlformats.org/officeDocument/2006/relationships" id="313" r:id="R48cf84a25551427e"/>
    <p:sldId xmlns:r="http://schemas.openxmlformats.org/officeDocument/2006/relationships" id="314" r:id="R6d90a962a58e41fb"/>
    <p:sldId xmlns:r="http://schemas.openxmlformats.org/officeDocument/2006/relationships" id="315" r:id="R040a99d22d8445ae"/>
    <p:sldId xmlns:r="http://schemas.openxmlformats.org/officeDocument/2006/relationships" id="316" r:id="R426da5348a8f4ee1"/>
    <p:sldId xmlns:r="http://schemas.openxmlformats.org/officeDocument/2006/relationships" id="317" r:id="Rc6cdf6be9b414cff"/>
    <p:sldId xmlns:r="http://schemas.openxmlformats.org/officeDocument/2006/relationships" id="318" r:id="R0d5ac4f6ba71412d"/>
    <p:sldId xmlns:r="http://schemas.openxmlformats.org/officeDocument/2006/relationships" id="319" r:id="R4611b5b2e1da41b5"/>
    <p:sldId xmlns:r="http://schemas.openxmlformats.org/officeDocument/2006/relationships" id="320" r:id="R09184db692514518"/>
    <p:sldId xmlns:r="http://schemas.openxmlformats.org/officeDocument/2006/relationships" id="321" r:id="Rf0dfd4d15bf54b37"/>
    <p:sldId xmlns:r="http://schemas.openxmlformats.org/officeDocument/2006/relationships" id="322" r:id="Ree826801948244b8"/>
    <p:sldId xmlns:r="http://schemas.openxmlformats.org/officeDocument/2006/relationships" id="323" r:id="R4491c04fce4c4857"/>
    <p:sldId xmlns:r="http://schemas.openxmlformats.org/officeDocument/2006/relationships" id="324" r:id="R5e79ddaf54154834"/>
    <p:sldId xmlns:r="http://schemas.openxmlformats.org/officeDocument/2006/relationships" id="325" r:id="R93cdab967a9d4037"/>
    <p:sldId xmlns:r="http://schemas.openxmlformats.org/officeDocument/2006/relationships" id="326" r:id="R08600e828fb44fcf"/>
    <p:sldId xmlns:r="http://schemas.openxmlformats.org/officeDocument/2006/relationships" id="327" r:id="R167f0035d27343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91d28a95034ade" /><Relationship Type="http://schemas.openxmlformats.org/officeDocument/2006/relationships/slideMaster" Target="/ppt/slideMasters/slideMaster1.xml" Id="Rd9b7b49e5d5349ed" /><Relationship Type="http://schemas.openxmlformats.org/officeDocument/2006/relationships/notesMaster" Target="/ppt/notesMasters/notesMaster1.xml" Id="Rc56d029ea0a5494c" /><Relationship Type="http://schemas.openxmlformats.org/officeDocument/2006/relationships/presProps" Target="/ppt/presProps.xml" Id="Rcf363b3f09f2480d" /><Relationship Type="http://schemas.openxmlformats.org/officeDocument/2006/relationships/tableStyles" Target="/ppt/tableStyles.xml" Id="R7a5b48fcc286403c" /><Relationship Type="http://schemas.openxmlformats.org/officeDocument/2006/relationships/slide" Target="/ppt/slides/slide1.xml" Id="R20307c600e19405b" /><Relationship Type="http://schemas.openxmlformats.org/officeDocument/2006/relationships/slide" Target="/ppt/slides/slide2.xml" Id="Red2007564b984cf5" /><Relationship Type="http://schemas.openxmlformats.org/officeDocument/2006/relationships/slide" Target="/ppt/slides/slide3.xml" Id="R3ef92061c5164f92" /><Relationship Type="http://schemas.openxmlformats.org/officeDocument/2006/relationships/slide" Target="/ppt/slides/slide4.xml" Id="R4a8d7f3ca2ad4059" /><Relationship Type="http://schemas.openxmlformats.org/officeDocument/2006/relationships/slide" Target="/ppt/slides/slide5.xml" Id="Rcb9348580e8c4ff0" /><Relationship Type="http://schemas.openxmlformats.org/officeDocument/2006/relationships/slide" Target="/ppt/slides/slide6.xml" Id="R6fa4d376389e4f42" /><Relationship Type="http://schemas.openxmlformats.org/officeDocument/2006/relationships/slide" Target="/ppt/slides/slide7.xml" Id="R8ca9a35b2aa143e3" /><Relationship Type="http://schemas.openxmlformats.org/officeDocument/2006/relationships/slide" Target="/ppt/slides/slide8.xml" Id="R476c66af35a044cc" /><Relationship Type="http://schemas.openxmlformats.org/officeDocument/2006/relationships/slide" Target="/ppt/slides/slide9.xml" Id="R1681778044674408" /><Relationship Type="http://schemas.openxmlformats.org/officeDocument/2006/relationships/slide" Target="/ppt/slides/slide10.xml" Id="Rfac74c5b13364228" /><Relationship Type="http://schemas.openxmlformats.org/officeDocument/2006/relationships/slide" Target="/ppt/slides/slide11.xml" Id="R8ba2f9b178b04353" /><Relationship Type="http://schemas.openxmlformats.org/officeDocument/2006/relationships/slide" Target="/ppt/slides/slide12.xml" Id="R924e03de9b834cd8" /><Relationship Type="http://schemas.openxmlformats.org/officeDocument/2006/relationships/slide" Target="/ppt/slides/slide13.xml" Id="Rd82cc3691f4741fe" /><Relationship Type="http://schemas.openxmlformats.org/officeDocument/2006/relationships/slide" Target="/ppt/slides/slide14.xml" Id="Rd5c4cb30c29d452a" /><Relationship Type="http://schemas.openxmlformats.org/officeDocument/2006/relationships/slide" Target="/ppt/slides/slide15.xml" Id="R9e2255d0caf64f51" /><Relationship Type="http://schemas.openxmlformats.org/officeDocument/2006/relationships/slide" Target="/ppt/slides/slide16.xml" Id="Rb6070a97a6814088" /><Relationship Type="http://schemas.openxmlformats.org/officeDocument/2006/relationships/slide" Target="/ppt/slides/slide17.xml" Id="R3f89129d9a594828" /><Relationship Type="http://schemas.openxmlformats.org/officeDocument/2006/relationships/slide" Target="/ppt/slides/slide18.xml" Id="Rd48b0d9170f14a6b" /><Relationship Type="http://schemas.openxmlformats.org/officeDocument/2006/relationships/slide" Target="/ppt/slides/slide19.xml" Id="Rd99e2337b40b4f34" /><Relationship Type="http://schemas.openxmlformats.org/officeDocument/2006/relationships/slide" Target="/ppt/slides/slide20.xml" Id="Reb80d37257c34717" /><Relationship Type="http://schemas.openxmlformats.org/officeDocument/2006/relationships/slide" Target="/ppt/slides/slide21.xml" Id="Rf869a6c1a98a4801" /><Relationship Type="http://schemas.openxmlformats.org/officeDocument/2006/relationships/slide" Target="/ppt/slides/slide22.xml" Id="R0437b2d9451946d6" /><Relationship Type="http://schemas.openxmlformats.org/officeDocument/2006/relationships/slide" Target="/ppt/slides/slide23.xml" Id="Rd0726e6585bb4a8c" /><Relationship Type="http://schemas.openxmlformats.org/officeDocument/2006/relationships/slide" Target="/ppt/slides/slide24.xml" Id="R67347a32078d4d4a" /><Relationship Type="http://schemas.openxmlformats.org/officeDocument/2006/relationships/slide" Target="/ppt/slides/slide25.xml" Id="Rd3f5a48391644522" /><Relationship Type="http://schemas.openxmlformats.org/officeDocument/2006/relationships/slide" Target="/ppt/slides/slide26.xml" Id="R8678158506034f4f" /><Relationship Type="http://schemas.openxmlformats.org/officeDocument/2006/relationships/slide" Target="/ppt/slides/slide27.xml" Id="R2f2f388e44b441f8" /><Relationship Type="http://schemas.openxmlformats.org/officeDocument/2006/relationships/slide" Target="/ppt/slides/slide28.xml" Id="R7394dba54b284ac8" /><Relationship Type="http://schemas.openxmlformats.org/officeDocument/2006/relationships/slide" Target="/ppt/slides/slide29.xml" Id="R309bc10e6c3c4c24" /><Relationship Type="http://schemas.openxmlformats.org/officeDocument/2006/relationships/slide" Target="/ppt/slides/slide30.xml" Id="R7cf1d9c53597462c" /><Relationship Type="http://schemas.openxmlformats.org/officeDocument/2006/relationships/slide" Target="/ppt/slides/slide31.xml" Id="Rc35777f7e6924cd1" /><Relationship Type="http://schemas.openxmlformats.org/officeDocument/2006/relationships/slide" Target="/ppt/slides/slide32.xml" Id="R521e7b990d4c468c" /><Relationship Type="http://schemas.openxmlformats.org/officeDocument/2006/relationships/slide" Target="/ppt/slides/slide33.xml" Id="R1860d47411d04b11" /><Relationship Type="http://schemas.openxmlformats.org/officeDocument/2006/relationships/slide" Target="/ppt/slides/slide34.xml" Id="Rd9543d7862954a35" /><Relationship Type="http://schemas.openxmlformats.org/officeDocument/2006/relationships/slide" Target="/ppt/slides/slide35.xml" Id="R1047f93a636e4d85" /><Relationship Type="http://schemas.openxmlformats.org/officeDocument/2006/relationships/slide" Target="/ppt/slides/slide36.xml" Id="R8e06a21e281a4b7c" /><Relationship Type="http://schemas.openxmlformats.org/officeDocument/2006/relationships/slide" Target="/ppt/slides/slide37.xml" Id="Rc676717600334265" /><Relationship Type="http://schemas.openxmlformats.org/officeDocument/2006/relationships/slide" Target="/ppt/slides/slide38.xml" Id="R17a0db4006da481e" /><Relationship Type="http://schemas.openxmlformats.org/officeDocument/2006/relationships/slide" Target="/ppt/slides/slide39.xml" Id="Re0a7faed8b894f24" /><Relationship Type="http://schemas.openxmlformats.org/officeDocument/2006/relationships/slide" Target="/ppt/slides/slide40.xml" Id="R67841eaee8ea44ef" /><Relationship Type="http://schemas.openxmlformats.org/officeDocument/2006/relationships/slide" Target="/ppt/slides/slide41.xml" Id="Rb5d937665ed14116" /><Relationship Type="http://schemas.openxmlformats.org/officeDocument/2006/relationships/slide" Target="/ppt/slides/slide42.xml" Id="R8dbd2e98608e49ea" /><Relationship Type="http://schemas.openxmlformats.org/officeDocument/2006/relationships/slide" Target="/ppt/slides/slide43.xml" Id="R3d70b8b38c1e46eb" /><Relationship Type="http://schemas.openxmlformats.org/officeDocument/2006/relationships/slide" Target="/ppt/slides/slide44.xml" Id="R0fac1c4871674090" /><Relationship Type="http://schemas.openxmlformats.org/officeDocument/2006/relationships/slide" Target="/ppt/slides/slide45.xml" Id="R215799ce9572424f" /><Relationship Type="http://schemas.openxmlformats.org/officeDocument/2006/relationships/slide" Target="/ppt/slides/slide46.xml" Id="R0d1f695caf204837" /><Relationship Type="http://schemas.openxmlformats.org/officeDocument/2006/relationships/slide" Target="/ppt/slides/slide47.xml" Id="R6d0cbc4f6970474f" /><Relationship Type="http://schemas.openxmlformats.org/officeDocument/2006/relationships/slide" Target="/ppt/slides/slide48.xml" Id="Ra2e1a51ccbae4695" /><Relationship Type="http://schemas.openxmlformats.org/officeDocument/2006/relationships/slide" Target="/ppt/slides/slide49.xml" Id="R8cc1b688c7ef4fd9" /><Relationship Type="http://schemas.openxmlformats.org/officeDocument/2006/relationships/slide" Target="/ppt/slides/slide50.xml" Id="R0b127b9757f3413d" /><Relationship Type="http://schemas.openxmlformats.org/officeDocument/2006/relationships/slide" Target="/ppt/slides/slide51.xml" Id="Rc06394f34bcb453d" /><Relationship Type="http://schemas.openxmlformats.org/officeDocument/2006/relationships/slide" Target="/ppt/slides/slide52.xml" Id="Rbab5e26714794a45" /><Relationship Type="http://schemas.openxmlformats.org/officeDocument/2006/relationships/slide" Target="/ppt/slides/slide53.xml" Id="Rd0dbdb929eec4dd7" /><Relationship Type="http://schemas.openxmlformats.org/officeDocument/2006/relationships/slide" Target="/ppt/slides/slide54.xml" Id="R0e8ed7b92a934f3c" /><Relationship Type="http://schemas.openxmlformats.org/officeDocument/2006/relationships/slide" Target="/ppt/slides/slide55.xml" Id="R39a4096cf2174bfe" /><Relationship Type="http://schemas.openxmlformats.org/officeDocument/2006/relationships/slide" Target="/ppt/slides/slide56.xml" Id="Rfccfef712f454881" /><Relationship Type="http://schemas.openxmlformats.org/officeDocument/2006/relationships/slide" Target="/ppt/slides/slide57.xml" Id="R6e3580d29f0341e6" /><Relationship Type="http://schemas.openxmlformats.org/officeDocument/2006/relationships/slide" Target="/ppt/slides/slide58.xml" Id="R48cf84a25551427e" /><Relationship Type="http://schemas.openxmlformats.org/officeDocument/2006/relationships/slide" Target="/ppt/slides/slide59.xml" Id="R6d90a962a58e41fb" /><Relationship Type="http://schemas.openxmlformats.org/officeDocument/2006/relationships/slide" Target="/ppt/slides/slide60.xml" Id="R040a99d22d8445ae" /><Relationship Type="http://schemas.openxmlformats.org/officeDocument/2006/relationships/slide" Target="/ppt/slides/slide61.xml" Id="R426da5348a8f4ee1" /><Relationship Type="http://schemas.openxmlformats.org/officeDocument/2006/relationships/slide" Target="/ppt/slides/slide62.xml" Id="Rc6cdf6be9b414cff" /><Relationship Type="http://schemas.openxmlformats.org/officeDocument/2006/relationships/slide" Target="/ppt/slides/slide63.xml" Id="R0d5ac4f6ba71412d" /><Relationship Type="http://schemas.openxmlformats.org/officeDocument/2006/relationships/slide" Target="/ppt/slides/slide64.xml" Id="R4611b5b2e1da41b5" /><Relationship Type="http://schemas.openxmlformats.org/officeDocument/2006/relationships/slide" Target="/ppt/slides/slide65.xml" Id="R09184db692514518" /><Relationship Type="http://schemas.openxmlformats.org/officeDocument/2006/relationships/slide" Target="/ppt/slides/slide66.xml" Id="Rf0dfd4d15bf54b37" /><Relationship Type="http://schemas.openxmlformats.org/officeDocument/2006/relationships/slide" Target="/ppt/slides/slide67.xml" Id="Ree826801948244b8" /><Relationship Type="http://schemas.openxmlformats.org/officeDocument/2006/relationships/slide" Target="/ppt/slides/slide68.xml" Id="R4491c04fce4c4857" /><Relationship Type="http://schemas.openxmlformats.org/officeDocument/2006/relationships/slide" Target="/ppt/slides/slide69.xml" Id="R5e79ddaf54154834" /><Relationship Type="http://schemas.openxmlformats.org/officeDocument/2006/relationships/slide" Target="/ppt/slides/slide70.xml" Id="R93cdab967a9d4037" /><Relationship Type="http://schemas.openxmlformats.org/officeDocument/2006/relationships/slide" Target="/ppt/slides/slide71.xml" Id="R08600e828fb44fcf" /><Relationship Type="http://schemas.openxmlformats.org/officeDocument/2006/relationships/slide" Target="/ppt/slides/slide72.xml" Id="R167f0035d27343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5faf9a748f41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b5d45f58564b7a" /><Relationship Type="http://schemas.openxmlformats.org/officeDocument/2006/relationships/notesMaster" Target="/ppt/notesMasters/notesMaster1.xml" Id="R718ebb1ef54949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5e872feb644d02" /><Relationship Type="http://schemas.openxmlformats.org/officeDocument/2006/relationships/notesMaster" Target="/ppt/notesMasters/notesMaster1.xml" Id="R8d0fff782ead45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f37d16b82d42da" /><Relationship Type="http://schemas.openxmlformats.org/officeDocument/2006/relationships/notesMaster" Target="/ppt/notesMasters/notesMaster1.xml" Id="R134faed8801849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20b332bc92497d" /><Relationship Type="http://schemas.openxmlformats.org/officeDocument/2006/relationships/notesMaster" Target="/ppt/notesMasters/notesMaster1.xml" Id="R6868e465bd8d49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ad650da7c74c9a" /><Relationship Type="http://schemas.openxmlformats.org/officeDocument/2006/relationships/notesMaster" Target="/ppt/notesMasters/notesMaster1.xml" Id="Rb6283cc4f57644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b8cef23e19441a" /><Relationship Type="http://schemas.openxmlformats.org/officeDocument/2006/relationships/notesMaster" Target="/ppt/notesMasters/notesMaster1.xml" Id="R180ff51cf8b04c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54922c810f496a" /><Relationship Type="http://schemas.openxmlformats.org/officeDocument/2006/relationships/notesMaster" Target="/ppt/notesMasters/notesMaster1.xml" Id="Rb0950b9d168744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5c27a9fee8488d" /><Relationship Type="http://schemas.openxmlformats.org/officeDocument/2006/relationships/notesMaster" Target="/ppt/notesMasters/notesMaster1.xml" Id="Raa5b812379c54a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3633cd19024376" /><Relationship Type="http://schemas.openxmlformats.org/officeDocument/2006/relationships/notesMaster" Target="/ppt/notesMasters/notesMaster1.xml" Id="R6d641d557e8943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56610b64a04229" /><Relationship Type="http://schemas.openxmlformats.org/officeDocument/2006/relationships/notesMaster" Target="/ppt/notesMasters/notesMaster1.xml" Id="Rb68f9a2e0d4845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1c7faea8104fe1" /><Relationship Type="http://schemas.openxmlformats.org/officeDocument/2006/relationships/notesMaster" Target="/ppt/notesMasters/notesMaster1.xml" Id="Rebbc1f49085443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765892b74947ab" /><Relationship Type="http://schemas.openxmlformats.org/officeDocument/2006/relationships/notesMaster" Target="/ppt/notesMasters/notesMaster1.xml" Id="R1346fc7dbfd341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ed458d108f44c4" /><Relationship Type="http://schemas.openxmlformats.org/officeDocument/2006/relationships/notesMaster" Target="/ppt/notesMasters/notesMaster1.xml" Id="Ra6fc4772c2fd45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849cff367541f5" /><Relationship Type="http://schemas.openxmlformats.org/officeDocument/2006/relationships/notesMaster" Target="/ppt/notesMasters/notesMaster1.xml" Id="R40afa1f22026406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8618374f064c4f" /><Relationship Type="http://schemas.openxmlformats.org/officeDocument/2006/relationships/notesMaster" Target="/ppt/notesMasters/notesMaster1.xml" Id="Rfe4e1b4c779c4c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e19ba09342c42bd" /><Relationship Type="http://schemas.openxmlformats.org/officeDocument/2006/relationships/notesMaster" Target="/ppt/notesMasters/notesMaster1.xml" Id="Rcaa44924a96848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5d3c5eb39845f8" /><Relationship Type="http://schemas.openxmlformats.org/officeDocument/2006/relationships/notesMaster" Target="/ppt/notesMasters/notesMaster1.xml" Id="R682b3c567bfa439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360ef0feff43c9" /><Relationship Type="http://schemas.openxmlformats.org/officeDocument/2006/relationships/notesMaster" Target="/ppt/notesMasters/notesMaster1.xml" Id="R547f2245e9bd46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89071686600452d" /><Relationship Type="http://schemas.openxmlformats.org/officeDocument/2006/relationships/notesMaster" Target="/ppt/notesMasters/notesMaster1.xml" Id="Re76d9ae1b711498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100e618592f44f4" /><Relationship Type="http://schemas.openxmlformats.org/officeDocument/2006/relationships/notesMaster" Target="/ppt/notesMasters/notesMaster1.xml" Id="R9640bf88382241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d89d84b1d754b0c" /><Relationship Type="http://schemas.openxmlformats.org/officeDocument/2006/relationships/notesMaster" Target="/ppt/notesMasters/notesMaster1.xml" Id="R38cc61fd07494da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17b08fa551c4e6f" /><Relationship Type="http://schemas.openxmlformats.org/officeDocument/2006/relationships/notesMaster" Target="/ppt/notesMasters/notesMaster1.xml" Id="Rf95ee5b2b1d6494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e3d1472876046f6" /><Relationship Type="http://schemas.openxmlformats.org/officeDocument/2006/relationships/notesMaster" Target="/ppt/notesMasters/notesMaster1.xml" Id="Rc63e0e63dc50406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6b54a3280b44b2c" /><Relationship Type="http://schemas.openxmlformats.org/officeDocument/2006/relationships/notesMaster" Target="/ppt/notesMasters/notesMaster1.xml" Id="R25bfd7ea657243f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9b043c30a9468c" /><Relationship Type="http://schemas.openxmlformats.org/officeDocument/2006/relationships/notesMaster" Target="/ppt/notesMasters/notesMaster1.xml" Id="R0158d2cbd34f46a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fe7a6f219547cc" /><Relationship Type="http://schemas.openxmlformats.org/officeDocument/2006/relationships/notesMaster" Target="/ppt/notesMasters/notesMaster1.xml" Id="R59486db5c61944a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3bef142abba4b25" /><Relationship Type="http://schemas.openxmlformats.org/officeDocument/2006/relationships/notesMaster" Target="/ppt/notesMasters/notesMaster1.xml" Id="R599acac9350b49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46f8423df504360" /><Relationship Type="http://schemas.openxmlformats.org/officeDocument/2006/relationships/notesMaster" Target="/ppt/notesMasters/notesMaster1.xml" Id="R8c0738fd94ca4c4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fec689b1afa4b65" /><Relationship Type="http://schemas.openxmlformats.org/officeDocument/2006/relationships/notesMaster" Target="/ppt/notesMasters/notesMaster1.xml" Id="Rddf0ad79d36d43a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67f5ce395b84e4a" /><Relationship Type="http://schemas.openxmlformats.org/officeDocument/2006/relationships/notesMaster" Target="/ppt/notesMasters/notesMaster1.xml" Id="Rc41c1135b6c540e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5637b6856664349" /><Relationship Type="http://schemas.openxmlformats.org/officeDocument/2006/relationships/notesMaster" Target="/ppt/notesMasters/notesMaster1.xml" Id="Rc7c72c468026484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5ce3678f1cf4f51" /><Relationship Type="http://schemas.openxmlformats.org/officeDocument/2006/relationships/notesMaster" Target="/ppt/notesMasters/notesMaster1.xml" Id="R08709029de3d46c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f60cfd3ded24a9e" /><Relationship Type="http://schemas.openxmlformats.org/officeDocument/2006/relationships/notesMaster" Target="/ppt/notesMasters/notesMaster1.xml" Id="R1195197fc0f94af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611ed58a19a4415" /><Relationship Type="http://schemas.openxmlformats.org/officeDocument/2006/relationships/notesMaster" Target="/ppt/notesMasters/notesMaster1.xml" Id="Raa40aa2a1108473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6f8c6471e934abb" /><Relationship Type="http://schemas.openxmlformats.org/officeDocument/2006/relationships/notesMaster" Target="/ppt/notesMasters/notesMaster1.xml" Id="R427fc973302f4c7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64f0b936f294392" /><Relationship Type="http://schemas.openxmlformats.org/officeDocument/2006/relationships/notesMaster" Target="/ppt/notesMasters/notesMaster1.xml" Id="Ra16db98952d546b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ebcf24c04e84804" /><Relationship Type="http://schemas.openxmlformats.org/officeDocument/2006/relationships/notesMaster" Target="/ppt/notesMasters/notesMaster1.xml" Id="Rf6fae5244bc14a2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6d3c1d97eb04ed7" /><Relationship Type="http://schemas.openxmlformats.org/officeDocument/2006/relationships/notesMaster" Target="/ppt/notesMasters/notesMaster1.xml" Id="Re6db6ceac9c8451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06f839a38034de4" /><Relationship Type="http://schemas.openxmlformats.org/officeDocument/2006/relationships/notesMaster" Target="/ppt/notesMasters/notesMaster1.xml" Id="R47a8e37208594eb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cfa19d2580e4c77" /><Relationship Type="http://schemas.openxmlformats.org/officeDocument/2006/relationships/notesMaster" Target="/ppt/notesMasters/notesMaster1.xml" Id="R4696ef226755454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cf06d0308874c82" /><Relationship Type="http://schemas.openxmlformats.org/officeDocument/2006/relationships/notesMaster" Target="/ppt/notesMasters/notesMaster1.xml" Id="R03f4d08c0f1541d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8d0fe61a7b54bdb" /><Relationship Type="http://schemas.openxmlformats.org/officeDocument/2006/relationships/notesMaster" Target="/ppt/notesMasters/notesMaster1.xml" Id="Ra6a2228604ff45e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efe12accb6d48c7" /><Relationship Type="http://schemas.openxmlformats.org/officeDocument/2006/relationships/notesMaster" Target="/ppt/notesMasters/notesMaster1.xml" Id="R708451afab2b40d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16b6de82d4041d4" /><Relationship Type="http://schemas.openxmlformats.org/officeDocument/2006/relationships/notesMaster" Target="/ppt/notesMasters/notesMaster1.xml" Id="Rb295362a594f413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c431cc78e834f96" /><Relationship Type="http://schemas.openxmlformats.org/officeDocument/2006/relationships/notesMaster" Target="/ppt/notesMasters/notesMaster1.xml" Id="Rc2342968a25d4cc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a4beca36a77496e" /><Relationship Type="http://schemas.openxmlformats.org/officeDocument/2006/relationships/notesMaster" Target="/ppt/notesMasters/notesMaster1.xml" Id="R1d21acbc519a4be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32b203cd6114f3a" /><Relationship Type="http://schemas.openxmlformats.org/officeDocument/2006/relationships/notesMaster" Target="/ppt/notesMasters/notesMaster1.xml" Id="Rbf11c80d6f984d8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1bb36e982aa4553" /><Relationship Type="http://schemas.openxmlformats.org/officeDocument/2006/relationships/notesMaster" Target="/ppt/notesMasters/notesMaster1.xml" Id="Ra0a68f149546446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455d814c7984212" /><Relationship Type="http://schemas.openxmlformats.org/officeDocument/2006/relationships/notesMaster" Target="/ppt/notesMasters/notesMaster1.xml" Id="R0ca4a26b6dfa481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0e83f74a3c3424b" /><Relationship Type="http://schemas.openxmlformats.org/officeDocument/2006/relationships/notesMaster" Target="/ppt/notesMasters/notesMaster1.xml" Id="Rd6715187735a400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afae615de1654919" /><Relationship Type="http://schemas.openxmlformats.org/officeDocument/2006/relationships/notesMaster" Target="/ppt/notesMasters/notesMaster1.xml" Id="R8264385ca986483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16f3f73d617c4e79" /><Relationship Type="http://schemas.openxmlformats.org/officeDocument/2006/relationships/notesMaster" Target="/ppt/notesMasters/notesMaster1.xml" Id="R0584ac67d4ac423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9578621b41541a2" /><Relationship Type="http://schemas.openxmlformats.org/officeDocument/2006/relationships/notesMaster" Target="/ppt/notesMasters/notesMaster1.xml" Id="R4dbae4f403f045b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11da5707dc0b4aee" /><Relationship Type="http://schemas.openxmlformats.org/officeDocument/2006/relationships/notesMaster" Target="/ppt/notesMasters/notesMaster1.xml" Id="Ra268e580be0f4c1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bba9904abe247b1" /><Relationship Type="http://schemas.openxmlformats.org/officeDocument/2006/relationships/notesMaster" Target="/ppt/notesMasters/notesMaster1.xml" Id="Rf39c795ca05e4b9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1326e117d164f77" /><Relationship Type="http://schemas.openxmlformats.org/officeDocument/2006/relationships/notesMaster" Target="/ppt/notesMasters/notesMaster1.xml" Id="Rf19e36aa6b754e9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3dbff54c3b404bc4" /><Relationship Type="http://schemas.openxmlformats.org/officeDocument/2006/relationships/notesMaster" Target="/ppt/notesMasters/notesMaster1.xml" Id="R0f6a56839aa7452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0c71f3473504201" /><Relationship Type="http://schemas.openxmlformats.org/officeDocument/2006/relationships/notesMaster" Target="/ppt/notesMasters/notesMaster1.xml" Id="R7d4445650539442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3817b6b61d38423a" /><Relationship Type="http://schemas.openxmlformats.org/officeDocument/2006/relationships/notesMaster" Target="/ppt/notesMasters/notesMaster1.xml" Id="Rf8585bc148e84cfd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e7b23fd6feed4fee" /><Relationship Type="http://schemas.openxmlformats.org/officeDocument/2006/relationships/notesMaster" Target="/ppt/notesMasters/notesMaster1.xml" Id="R52169cce5587467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2ed9efc358d44c2" /><Relationship Type="http://schemas.openxmlformats.org/officeDocument/2006/relationships/notesMaster" Target="/ppt/notesMasters/notesMaster1.xml" Id="R2de63c2ae330487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dbbda6c75454865" /><Relationship Type="http://schemas.openxmlformats.org/officeDocument/2006/relationships/notesMaster" Target="/ppt/notesMasters/notesMaster1.xml" Id="R11e44def473348f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1e979ab64f2d404f" /><Relationship Type="http://schemas.openxmlformats.org/officeDocument/2006/relationships/notesMaster" Target="/ppt/notesMasters/notesMaster1.xml" Id="Rdeb41b2fef7f41c9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5692cca9d4e5416f" /><Relationship Type="http://schemas.openxmlformats.org/officeDocument/2006/relationships/notesMaster" Target="/ppt/notesMasters/notesMaster1.xml" Id="R9beb9dcb72654a5a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e7e862439beb4307" /><Relationship Type="http://schemas.openxmlformats.org/officeDocument/2006/relationships/notesMaster" Target="/ppt/notesMasters/notesMaster1.xml" Id="Re737b8b29c2d480d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fe40d896d44f4f4d" /><Relationship Type="http://schemas.openxmlformats.org/officeDocument/2006/relationships/notesMaster" Target="/ppt/notesMasters/notesMaster1.xml" Id="Rc59df99d96a741a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cbe92fe5ace54bec" /><Relationship Type="http://schemas.openxmlformats.org/officeDocument/2006/relationships/notesMaster" Target="/ppt/notesMasters/notesMaster1.xml" Id="R4dd67533b74a4614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b7cadd3845324af9" /><Relationship Type="http://schemas.openxmlformats.org/officeDocument/2006/relationships/notesMaster" Target="/ppt/notesMasters/notesMaster1.xml" Id="Ree7db606b10245fb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320c6b552d744f1" /><Relationship Type="http://schemas.openxmlformats.org/officeDocument/2006/relationships/notesMaster" Target="/ppt/notesMasters/notesMaster1.xml" Id="R9d65223107284045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15db2631488f4cc9" /><Relationship Type="http://schemas.openxmlformats.org/officeDocument/2006/relationships/notesMaster" Target="/ppt/notesMasters/notesMaster1.xml" Id="R719d54b8f99d422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e5145ef38c634230" /><Relationship Type="http://schemas.openxmlformats.org/officeDocument/2006/relationships/notesMaster" Target="/ppt/notesMasters/notesMaster1.xml" Id="R1780b022f0094f3b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b23edaa31df4cab" /><Relationship Type="http://schemas.openxmlformats.org/officeDocument/2006/relationships/notesMaster" Target="/ppt/notesMasters/notesMaster1.xml" Id="Rad29ca8662d74e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 Mathematical insertion points are documented separately; formulas are intentionally absent from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Machine Learning Repository dataset 350, https://archive.ics.uci.edu/dataset/350/default+of+credit+card+clients.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variable documentation and course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Image: Sprinno, "Credit cards.jpeg", Wikimedia Commons, CC0 1.0. Source: https://commons.wikimedia.org/wiki/File:Credit_cards.jpeg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Image: Remyrosenbaum, "Conventional ETL Diagram", Wikimedia Commons, CC BY-SA 4.0. Source: https://commons.wikimedia.org/wiki/File:Conventional_ETL_Diagram.jpg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Image: EpochFail, "Machine learning nutshell — Split into train-test set", Wikimedia Commons, CC BY-SA 4.0. Source: https://commons.wikimedia.org/wiki/File:Machine_learning_nutshell_--_Split_into_train-test_set.svg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073cd783ae494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f2e23a58904e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7424e579d647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796ba7e85e44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44e30ac68146a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9387a63e0944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9F5810-9CBC-448D-82F0-F22D44B943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06DF5E7-AC22-45B9-9349-DA20DA7F22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9DD3DFD-2BED-42AF-AF95-C88E8E1C0F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1428F7-BBF6-42DD-A9DC-C8872C98DB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9088F58-2753-40B3-AA17-5600FC03C2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FFD95D-7181-4FA9-B6E8-D342B1AED1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8035C8F-35EE-472D-80B7-228702A6A1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40DE5F8-FE7A-4886-A307-267433AA34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FA32A0-A700-42D2-A77B-21A538485A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0CB827-913A-4E44-80F9-08504823C6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afeff334424652" /><Relationship Type="http://schemas.openxmlformats.org/officeDocument/2006/relationships/slideLayout" Target="/ppt/slideLayouts/slideLayout1.xml" Id="Rf6a3dc3cc68346c4" /><Relationship Type="http://schemas.openxmlformats.org/officeDocument/2006/relationships/slideLayout" Target="/ppt/slideLayouts/slideLayout2.xml" Id="R56b90831c3934061" /><Relationship Type="http://schemas.openxmlformats.org/officeDocument/2006/relationships/slideLayout" Target="/ppt/slideLayouts/slideLayout3.xml" Id="Rdb1e7b144a694166" /><Relationship Type="http://schemas.openxmlformats.org/officeDocument/2006/relationships/slideLayout" Target="/ppt/slideLayouts/slideLayout4.xml" Id="Ra8ff417f9cab43cd" /><Relationship Type="http://schemas.openxmlformats.org/officeDocument/2006/relationships/slideLayout" Target="/ppt/slideLayouts/slideLayout5.xml" Id="Rc0b8476cd79f4488" /><Relationship Type="http://schemas.openxmlformats.org/officeDocument/2006/relationships/slideLayout" Target="/ppt/slideLayouts/slideLayout6.xml" Id="R48826bba6d5b48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a3dc3cc68346c4"/>
    <p:sldLayoutId xmlns:r="http://schemas.openxmlformats.org/officeDocument/2006/relationships" id="2147483650" r:id="R56b90831c3934061"/>
    <p:sldLayoutId xmlns:r="http://schemas.openxmlformats.org/officeDocument/2006/relationships" id="2147483651" r:id="Rdb1e7b144a694166"/>
    <p:sldLayoutId xmlns:r="http://schemas.openxmlformats.org/officeDocument/2006/relationships" id="2147483652" r:id="Ra8ff417f9cab43cd"/>
    <p:sldLayoutId xmlns:r="http://schemas.openxmlformats.org/officeDocument/2006/relationships" id="2147483653" r:id="Rc0b8476cd79f4488"/>
    <p:sldLayoutId xmlns:r="http://schemas.openxmlformats.org/officeDocument/2006/relationships" id="2147483654" r:id="R48826bba6d5b48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84a0c31eb40c9" /><Relationship Type="http://schemas.openxmlformats.org/officeDocument/2006/relationships/notesSlide" Target="/ppt/notesSlides/notesSlide1.xml" Id="R455fefc8e7854e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bfe2f8192f40e0" /><Relationship Type="http://schemas.openxmlformats.org/officeDocument/2006/relationships/notesSlide" Target="/ppt/notesSlides/notesSlide2.xml" Id="R7ab37e69f6d642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3de341c7544418" /><Relationship Type="http://schemas.openxmlformats.org/officeDocument/2006/relationships/notesSlide" Target="/ppt/notesSlides/notesSlide3.xml" Id="R5430eb91fc1247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2cf3b5d6fa472b" /><Relationship Type="http://schemas.openxmlformats.org/officeDocument/2006/relationships/notesSlide" Target="/ppt/notesSlides/notesSlide4.xml" Id="R2a3f77149e9446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de6fb6ec9c4210" /><Relationship Type="http://schemas.openxmlformats.org/officeDocument/2006/relationships/notesSlide" Target="/ppt/notesSlides/notesSlide5.xml" Id="Rc155541d784244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7b0d031b04d59" /><Relationship Type="http://schemas.openxmlformats.org/officeDocument/2006/relationships/notesSlide" Target="/ppt/notesSlides/notesSlide6.xml" Id="R330fcb4aeb374d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db14b93164cf5" /><Relationship Type="http://schemas.openxmlformats.org/officeDocument/2006/relationships/notesSlide" Target="/ppt/notesSlides/notesSlide7.xml" Id="R310776a1dd9345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8c7490bd644d9f" /><Relationship Type="http://schemas.openxmlformats.org/officeDocument/2006/relationships/notesSlide" Target="/ppt/notesSlides/notesSlide8.xml" Id="R5c3745d8a17247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b8107b0c84ecd" /><Relationship Type="http://schemas.openxmlformats.org/officeDocument/2006/relationships/notesSlide" Target="/ppt/notesSlides/notesSlide9.xml" Id="R3556813df99f41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f624741f38447f" /><Relationship Type="http://schemas.openxmlformats.org/officeDocument/2006/relationships/notesSlide" Target="/ppt/notesSlides/notesSlide10.xml" Id="R6882f1eea60b44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7a9d78ef44e0b" /><Relationship Type="http://schemas.openxmlformats.org/officeDocument/2006/relationships/notesSlide" Target="/ppt/notesSlides/notesSlide11.xml" Id="Rf0cdd3cf9aaf4a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442627753c494f" /><Relationship Type="http://schemas.openxmlformats.org/officeDocument/2006/relationships/chart" Target="/ppt/slides/charts/chart1.xml" Id="Rdf4d8efd24514336" /><Relationship Type="http://schemas.openxmlformats.org/officeDocument/2006/relationships/notesSlide" Target="/ppt/notesSlides/notesSlide12.xml" Id="R6f0645d512394b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708eb63267491d" /><Relationship Type="http://schemas.openxmlformats.org/officeDocument/2006/relationships/notesSlide" Target="/ppt/notesSlides/notesSlide13.xml" Id="R33fd5c143a6e4e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629e6f531945de" /><Relationship Type="http://schemas.openxmlformats.org/officeDocument/2006/relationships/notesSlide" Target="/ppt/notesSlides/notesSlide14.xml" Id="R25c7c95d87a24d1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52c3cf5cc74d27" /><Relationship Type="http://schemas.openxmlformats.org/officeDocument/2006/relationships/notesSlide" Target="/ppt/notesSlides/notesSlide15.xml" Id="R59f1163c432b458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8fd79ca2354e5a" /><Relationship Type="http://schemas.openxmlformats.org/officeDocument/2006/relationships/notesSlide" Target="/ppt/notesSlides/notesSlide16.xml" Id="Rd0e38e9229ba4fd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769f5620e847b4" /><Relationship Type="http://schemas.openxmlformats.org/officeDocument/2006/relationships/notesSlide" Target="/ppt/notesSlides/notesSlide17.xml" Id="R433acab78dfb40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c6a19a956c4b36" /><Relationship Type="http://schemas.openxmlformats.org/officeDocument/2006/relationships/notesSlide" Target="/ppt/notesSlides/notesSlide18.xml" Id="R8d70800b959e490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bdb71598424787" /><Relationship Type="http://schemas.openxmlformats.org/officeDocument/2006/relationships/notesSlide" Target="/ppt/notesSlides/notesSlide19.xml" Id="R6b6d7bc3636040e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9d1d76f045405d" /><Relationship Type="http://schemas.openxmlformats.org/officeDocument/2006/relationships/notesSlide" Target="/ppt/notesSlides/notesSlide20.xml" Id="R99d838989db944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67b63557024b05" /><Relationship Type="http://schemas.openxmlformats.org/officeDocument/2006/relationships/notesSlide" Target="/ppt/notesSlides/notesSlide21.xml" Id="Rd28781e0483641e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528b7a491843cd" /><Relationship Type="http://schemas.openxmlformats.org/officeDocument/2006/relationships/notesSlide" Target="/ppt/notesSlides/notesSlide22.xml" Id="R05f4f20eb5ac48a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7c22349a9f4bd5" /><Relationship Type="http://schemas.openxmlformats.org/officeDocument/2006/relationships/chart" Target="/ppt/slides/charts/chart2.xml" Id="Raa335cd057a848aa" /><Relationship Type="http://schemas.openxmlformats.org/officeDocument/2006/relationships/notesSlide" Target="/ppt/notesSlides/notesSlide23.xml" Id="R00d8b1a392d14f6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cf9b5ee7b14f91" /><Relationship Type="http://schemas.openxmlformats.org/officeDocument/2006/relationships/notesSlide" Target="/ppt/notesSlides/notesSlide24.xml" Id="Rfb8de43b89e944c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a8a20c76de4af1" /><Relationship Type="http://schemas.openxmlformats.org/officeDocument/2006/relationships/chart" Target="/ppt/slides/charts/chart3.xml" Id="Ra626408d986d4b6c" /><Relationship Type="http://schemas.openxmlformats.org/officeDocument/2006/relationships/notesSlide" Target="/ppt/notesSlides/notesSlide25.xml" Id="R1c29a90b06a94ab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f8f777d7b84f76" /><Relationship Type="http://schemas.openxmlformats.org/officeDocument/2006/relationships/notesSlide" Target="/ppt/notesSlides/notesSlide26.xml" Id="R0bb4d7a3ef564e9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4653795e7944f7" /><Relationship Type="http://schemas.openxmlformats.org/officeDocument/2006/relationships/notesSlide" Target="/ppt/notesSlides/notesSlide27.xml" Id="Rdcf413172a6246a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2669de47a84e02" /><Relationship Type="http://schemas.openxmlformats.org/officeDocument/2006/relationships/notesSlide" Target="/ppt/notesSlides/notesSlide28.xml" Id="R9c9d3e50d424417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2dbd66815c4459" /><Relationship Type="http://schemas.openxmlformats.org/officeDocument/2006/relationships/notesSlide" Target="/ppt/notesSlides/notesSlide29.xml" Id="Rec1b7840670d415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dd6191f3c4744" /><Relationship Type="http://schemas.openxmlformats.org/officeDocument/2006/relationships/notesSlide" Target="/ppt/notesSlides/notesSlide30.xml" Id="R956d09856c40495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79598c5a284bb0" /><Relationship Type="http://schemas.openxmlformats.org/officeDocument/2006/relationships/notesSlide" Target="/ppt/notesSlides/notesSlide31.xml" Id="R8aeee76e6c6746b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4cdf9c3f28499a" /><Relationship Type="http://schemas.openxmlformats.org/officeDocument/2006/relationships/notesSlide" Target="/ppt/notesSlides/notesSlide32.xml" Id="R66dbfac553e34bb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b4f322e2844a83" /><Relationship Type="http://schemas.openxmlformats.org/officeDocument/2006/relationships/notesSlide" Target="/ppt/notesSlides/notesSlide33.xml" Id="Rc3b8f59526864ce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5b90ecb60e4e8a" /><Relationship Type="http://schemas.openxmlformats.org/officeDocument/2006/relationships/notesSlide" Target="/ppt/notesSlides/notesSlide34.xml" Id="R44300bd13bd3458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67f5ff5d245ee" /><Relationship Type="http://schemas.openxmlformats.org/officeDocument/2006/relationships/notesSlide" Target="/ppt/notesSlides/notesSlide35.xml" Id="R765cd97db39d47c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7fabf84194580" /><Relationship Type="http://schemas.openxmlformats.org/officeDocument/2006/relationships/notesSlide" Target="/ppt/notesSlides/notesSlide36.xml" Id="Reb0d0a71a80647b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60c0d97cc04708" /><Relationship Type="http://schemas.openxmlformats.org/officeDocument/2006/relationships/notesSlide" Target="/ppt/notesSlides/notesSlide37.xml" Id="Re8455b4ad40b4fc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b06c5296594d1b" /><Relationship Type="http://schemas.openxmlformats.org/officeDocument/2006/relationships/notesSlide" Target="/ppt/notesSlides/notesSlide38.xml" Id="R511a0736e08f4b3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448faff3c74f39" /><Relationship Type="http://schemas.openxmlformats.org/officeDocument/2006/relationships/notesSlide" Target="/ppt/notesSlides/notesSlide39.xml" Id="R24ddc3db99e540f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66d40afadc49d3" /><Relationship Type="http://schemas.openxmlformats.org/officeDocument/2006/relationships/chart" Target="/ppt/slides/charts/chart4.xml" Id="R6cd73248ab1749e8" /><Relationship Type="http://schemas.openxmlformats.org/officeDocument/2006/relationships/notesSlide" Target="/ppt/notesSlides/notesSlide40.xml" Id="R92cf4c924ac34fb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2926e7ff64e80" /><Relationship Type="http://schemas.openxmlformats.org/officeDocument/2006/relationships/notesSlide" Target="/ppt/notesSlides/notesSlide41.xml" Id="R29e7131abbb3442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af73adfd1b4338" /><Relationship Type="http://schemas.openxmlformats.org/officeDocument/2006/relationships/notesSlide" Target="/ppt/notesSlides/notesSlide42.xml" Id="Rf4bfb9eef6294ea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d153bce3e74dbb" /><Relationship Type="http://schemas.openxmlformats.org/officeDocument/2006/relationships/notesSlide" Target="/ppt/notesSlides/notesSlide43.xml" Id="Re9c23162405e4ba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8b73f21ac24f65" /><Relationship Type="http://schemas.openxmlformats.org/officeDocument/2006/relationships/notesSlide" Target="/ppt/notesSlides/notesSlide44.xml" Id="Rbaad4dc8b635405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923b289d3b4293" /><Relationship Type="http://schemas.openxmlformats.org/officeDocument/2006/relationships/notesSlide" Target="/ppt/notesSlides/notesSlide45.xml" Id="R3438c368dd33470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4344a3916d4287" /><Relationship Type="http://schemas.openxmlformats.org/officeDocument/2006/relationships/notesSlide" Target="/ppt/notesSlides/notesSlide46.xml" Id="R65c0df3bde35431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6fafd3262f432e" /><Relationship Type="http://schemas.openxmlformats.org/officeDocument/2006/relationships/notesSlide" Target="/ppt/notesSlides/notesSlide47.xml" Id="R3bce53cd8bff4a2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cc64698d014953" /><Relationship Type="http://schemas.openxmlformats.org/officeDocument/2006/relationships/notesSlide" Target="/ppt/notesSlides/notesSlide48.xml" Id="R27abd25973f4436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ddb2d5d3904635" /><Relationship Type="http://schemas.openxmlformats.org/officeDocument/2006/relationships/chart" Target="/ppt/slides/charts/chart5.xml" Id="Rfe0146e19e5441ff" /><Relationship Type="http://schemas.openxmlformats.org/officeDocument/2006/relationships/notesSlide" Target="/ppt/notesSlides/notesSlide49.xml" Id="R24d9aa65cd094c7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20912bd5b4ef7" /><Relationship Type="http://schemas.openxmlformats.org/officeDocument/2006/relationships/notesSlide" Target="/ppt/notesSlides/notesSlide50.xml" Id="R5e41e6f8d781471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c433e2bcb04d7d" /><Relationship Type="http://schemas.openxmlformats.org/officeDocument/2006/relationships/notesSlide" Target="/ppt/notesSlides/notesSlide51.xml" Id="Re0130cab3e2a4a1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8fc29cf0174c8f" /><Relationship Type="http://schemas.openxmlformats.org/officeDocument/2006/relationships/notesSlide" Target="/ppt/notesSlides/notesSlide52.xml" Id="Rb8e4fa33a7014b6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59f903c66c4cea" /><Relationship Type="http://schemas.openxmlformats.org/officeDocument/2006/relationships/notesSlide" Target="/ppt/notesSlides/notesSlide53.xml" Id="Rd7a671385153479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b997d6be194e97" /><Relationship Type="http://schemas.openxmlformats.org/officeDocument/2006/relationships/chart" Target="/ppt/slides/charts/chart6.xml" Id="R487b25d95df64cd1" /><Relationship Type="http://schemas.openxmlformats.org/officeDocument/2006/relationships/notesSlide" Target="/ppt/notesSlides/notesSlide54.xml" Id="R5ea3dcf50d394dd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2dffacf09e4306" /><Relationship Type="http://schemas.openxmlformats.org/officeDocument/2006/relationships/notesSlide" Target="/ppt/notesSlides/notesSlide55.xml" Id="Rbc8eef3dc1714d4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2e9b4030924878" /><Relationship Type="http://schemas.openxmlformats.org/officeDocument/2006/relationships/notesSlide" Target="/ppt/notesSlides/notesSlide56.xml" Id="R19401c16e5ba44f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5e98edbe074f5b" /><Relationship Type="http://schemas.openxmlformats.org/officeDocument/2006/relationships/notesSlide" Target="/ppt/notesSlides/notesSlide57.xml" Id="R44ddf5da62a5400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3ef4ef1d78466e" /><Relationship Type="http://schemas.openxmlformats.org/officeDocument/2006/relationships/notesSlide" Target="/ppt/notesSlides/notesSlide58.xml" Id="Rabd7f7d85b744cb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06b0a0afba4d8d" /><Relationship Type="http://schemas.openxmlformats.org/officeDocument/2006/relationships/notesSlide" Target="/ppt/notesSlides/notesSlide59.xml" Id="R44f02b5177004da5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cda13b11444a4d" /><Relationship Type="http://schemas.openxmlformats.org/officeDocument/2006/relationships/notesSlide" Target="/ppt/notesSlides/notesSlide60.xml" Id="R744701a955c54a82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0a25eb15c74aca" /><Relationship Type="http://schemas.openxmlformats.org/officeDocument/2006/relationships/notesSlide" Target="/ppt/notesSlides/notesSlide61.xml" Id="Rfb4df76a9bcc4fb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5f785b0dcf4836" /><Relationship Type="http://schemas.openxmlformats.org/officeDocument/2006/relationships/notesSlide" Target="/ppt/notesSlides/notesSlide62.xml" Id="Rdacb43e7b17e4cf1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54cfc7cee847c8" /><Relationship Type="http://schemas.openxmlformats.org/officeDocument/2006/relationships/notesSlide" Target="/ppt/notesSlides/notesSlide63.xml" Id="R0136ebe9910b441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e31689ad0e455e" /><Relationship Type="http://schemas.openxmlformats.org/officeDocument/2006/relationships/notesSlide" Target="/ppt/notesSlides/notesSlide64.xml" Id="R0bf2fde421794fe6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f3dbcb9ef341ac" /><Relationship Type="http://schemas.openxmlformats.org/officeDocument/2006/relationships/notesSlide" Target="/ppt/notesSlides/notesSlide65.xml" Id="R1bfa55f88706408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de422596cb441c" /><Relationship Type="http://schemas.openxmlformats.org/officeDocument/2006/relationships/notesSlide" Target="/ppt/notesSlides/notesSlide66.xml" Id="Rc812d71fd8984304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0ced6a40c4f50" /><Relationship Type="http://schemas.openxmlformats.org/officeDocument/2006/relationships/notesSlide" Target="/ppt/notesSlides/notesSlide67.xml" Id="R169fd2e506cf480b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4105fcb1bc4465" /><Relationship Type="http://schemas.openxmlformats.org/officeDocument/2006/relationships/notesSlide" Target="/ppt/notesSlides/notesSlide68.xml" Id="R688cd9d1e4b54b6e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07aef8f77c4828" /><Relationship Type="http://schemas.openxmlformats.org/officeDocument/2006/relationships/notesSlide" Target="/ppt/notesSlides/notesSlide69.xml" Id="R89d8fe785eda4373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c1eaf99fad43b7" /><Relationship Type="http://schemas.openxmlformats.org/officeDocument/2006/relationships/image" Target="/ppt/media/image.jpeg" Id="R2a8a64143f454b54" /><Relationship Type="http://schemas.openxmlformats.org/officeDocument/2006/relationships/notesSlide" Target="/ppt/notesSlides/notesSlide70.xml" Id="Rc6560ecd652249ac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fb3453ebe14a1f" /><Relationship Type="http://schemas.openxmlformats.org/officeDocument/2006/relationships/image" Target="/ppt/media/image2.jpeg" Id="R370d149a67d24933" /><Relationship Type="http://schemas.openxmlformats.org/officeDocument/2006/relationships/notesSlide" Target="/ppt/notesSlides/notesSlide71.xml" Id="Ra9b546ccf4484714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e99fbd5594586" /><Relationship Type="http://schemas.openxmlformats.org/officeDocument/2006/relationships/image" Target="/ppt/media/image.png" Id="Rc708a9cb90874d80" /><Relationship Type="http://schemas.openxmlformats.org/officeDocument/2006/relationships/image" Target="/ppt/media/image.svg" Id="R1face975eb4e4474" /><Relationship Type="http://schemas.openxmlformats.org/officeDocument/2006/relationships/notesSlide" Target="/ppt/notesSlides/notesSlide72.xml" Id="R37eb571aa2f047a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Controlled missingness example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Missing cells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AGE</c:v>
                </c:pt>
                <c:pt idx="1">
                  <c:v>EDUCATION</c:v>
                </c:pt>
                <c:pt idx="2">
                  <c:v>LIMIT_BAL</c:v>
                </c:pt>
                <c:pt idx="3">
                  <c:v>MARRIAGE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threshold flag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Borrower records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Within 1%–99%</c:v>
                </c:pt>
                <c:pt idx="1">
                  <c:v>Outside 1%–99%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29794</c:v>
                </c:pt>
                <c:pt idx="1">
                  <c:v>206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EDUCATION source codes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72C7C0"/>
            </a:solidFill>
          </c:spPr>
          <c:invertIfNegative val="0"/>
          <c:cat>
            <c:numRef>
              <c:f>'Chart Data'!$A$2:$A$8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14</c:v>
                </c:pt>
                <c:pt idx="1">
                  <c:v>10585</c:v>
                </c:pt>
                <c:pt idx="2">
                  <c:v>14030</c:v>
                </c:pt>
                <c:pt idx="3">
                  <c:v>4917</c:v>
                </c:pt>
                <c:pt idx="4">
                  <c:v>123</c:v>
                </c:pt>
                <c:pt idx="5">
                  <c:v>280</c:v>
                </c:pt>
                <c:pt idx="6">
                  <c:v>51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Stratified train/test counts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Train: no default</c:v>
                </c:pt>
                <c:pt idx="1">
                  <c:v>Train: default</c:v>
                </c:pt>
                <c:pt idx="2">
                  <c:v>Test: no default</c:v>
                </c:pt>
                <c:pt idx="3">
                  <c:v>Test: 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18691</c:v>
                </c:pt>
                <c:pt idx="1">
                  <c:v>5309</c:v>
                </c:pt>
                <c:pt idx="2">
                  <c:v>4673</c:v>
                </c:pt>
                <c:pt idx="3">
                  <c:v>1327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Income after imputation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Imputed income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42000</c:v>
                </c:pt>
                <c:pt idx="1">
                  <c:v>58000</c:v>
                </c:pt>
                <c:pt idx="2">
                  <c:v>58000</c:v>
                </c:pt>
                <c:pt idx="3">
                  <c:v>58000</c:v>
                </c:pt>
                <c:pt idx="4">
                  <c:v>72000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Payment amount before treatment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Payment amount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800</c:v>
                </c:pt>
                <c:pt idx="1">
                  <c:v>950</c:v>
                </c:pt>
                <c:pt idx="2">
                  <c:v>1100</c:v>
                </c:pt>
                <c:pt idx="3">
                  <c:v>1300</c:v>
                </c:pt>
                <c:pt idx="4">
                  <c:v>1500</c:v>
                </c:pt>
                <c:pt idx="5">
                  <c:v>1600</c:v>
                </c:pt>
                <c:pt idx="6">
                  <c:v>180000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23A3C8-25C6-466B-A579-00109DC4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BF1DF-316D-445E-97BF-146EB9DF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62000"/>
            <a:ext cx="619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LEARNING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7AF0D3-D87B-4436-A454-32ECFC27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Lecture 3  |  Data Cleaning and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DE2338-8F0A-47AA-9F00-3539AF3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From raw financial records to leakage-safe model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D49DF-CD15-447C-A7B3-6893FB31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81050"/>
            <a:ext cx="2190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D4A"/>
          </a:solidFill>
          <a:ln xmlns:a="http://schemas.openxmlformats.org/drawingml/2006/main" w="9525">
            <a:solidFill>
              <a:srgbClr val="0D2D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80B79-9A32-47AF-9447-BE9584F4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76350"/>
            <a:ext cx="12001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5D571-B420-4CEA-ADD7-116E89B8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43050"/>
            <a:ext cx="66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61B33"/>
          </a:solidFill>
          <a:ln xmlns:a="http://schemas.openxmlformats.org/drawingml/2006/main" w="9525">
            <a:solidFill>
              <a:srgbClr val="061B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021EB-8CB3-4BB2-95C7-3CA27AB8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337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67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782E1E-524D-404F-AD19-F95556D0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 Ferdinantos Kottas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4DE63-BB9D-4B16-9442-C6E804B9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NKUA MPhil Economics  |  Academic Year 2026–2027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BAD9F-478D-4F51-B120-A378DDEF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  |  Week 03  |  NKUA MPhil Economics  |  2026–2027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879CD-A90C-4288-A075-9D97A833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098545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33B84E-F157-4905-8CB8-AFD1E807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B51B1-3E13-4940-8562-64E33BD2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F6D7D-398C-445E-83BF-9CF39BB9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third lecture protects the model from bad 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4EB68-A024-4635-8B0E-79037758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model cannot repair a table whose meaning, completeness, or timing is unclear.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05508-DB04-4471-ADBF-3C7E6961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02E69-6761-480B-9F54-60025679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FCD3E-5F5A-4514-A70E-0E987A14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0C4AF-C13E-4AFE-8B22-DB97ED98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A9762-BEF7-4B88-A44F-93DA8315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817BA-FA76-4F34-8C4B-97948B20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explored arrays and DataFrames, documented variables, and identified patterns in the credit table.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403928-E98B-4E81-B3C5-6275BC6F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DF0AE-920E-4ECF-B4B2-24DBB688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E9593-FAB6-4238-BE52-8641A73A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A0740-120E-4D6E-8B2A-264E9D43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will make data-quality decisions explicit before any estimator is fitted.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4E450-2548-4929-BE74-5E73B74F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B7DE1-25D8-418D-9595-B3186541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415B11-B69B-474F-A207-F4B1EBAC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4895A8-A90D-419E-B596-3F37BD1C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value, an outlier, or a leaked future observation can change a credit-risk conclusion.</a:t>
            </a:r>
          </a:p>
        </p:txBody>
      </p:sp>
    </p:spTree>
    <p:extLst>
      <p:ext uri="{BB962C8B-B14F-4D97-AF65-F5344CB8AC3E}">
        <p14:creationId xmlns:p14="http://schemas.microsoft.com/office/powerpoint/2010/main" val="1765574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7C511-E2C3-4D7D-BC6A-DC2716C1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9D6DB-41D1-484A-939F-BD25393D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LEARNING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8EDE3-29B2-493D-87CF-2FC25332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you should be able to do after this lecture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1B196-F7A7-4603-B171-8022D1D5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goal is a transparent preprocessing workflow that another analyst can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E96-9A5F-4CA4-8EA4-BBB6CBD0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066739-374C-4FBA-B3E5-16532BC2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E6D1A-9AE3-43F6-8947-EC87FB61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EB509-827C-463C-8BAB-0E0A66FD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structural missingness, invalid codes, duplicates, and extreme but plausible financial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3A6A9-C11C-4A04-AB49-F774BFB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9831F-6AA6-44F3-8D5D-F803DDA5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an imputation, removal, or flagging rule that matches the variable and the modelling purpose.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17867-1A86-45A0-A775-AF87E4F6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4A43F-B9B6-4CE3-9CAD-91DC99B6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Detect outliers with documented thresholds without silently deleting economically meaningful observations.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2BD75-DCC8-4804-9DDB-8EA19392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4933A-5CFD-490F-931F-6BC4D630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Encode categorical variables and scale numeric variables with transformations fitted only on training data.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8EC20-1DD3-400C-895D-B290A4F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10D090-71A1-486F-8BB9-536B2C0C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ColumnTransformer and Pipeline that keeps preprocessing tied to the model and prevents leakage.</a:t>
            </a:r>
          </a:p>
        </p:txBody>
      </p:sp>
    </p:spTree>
    <p:extLst>
      <p:ext uri="{BB962C8B-B14F-4D97-AF65-F5344CB8AC3E}">
        <p14:creationId xmlns:p14="http://schemas.microsoft.com/office/powerpoint/2010/main" val="12502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9EBB9-D128-4A2A-8794-F3B53120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52CB6-4ECD-4923-A3FA-5B07EF8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USED THIS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C877E-0666-4D3B-844C-1FADEAF6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real credit table, a new quality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D9A3D-2EFE-41D3-A30E-50E17817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UCI dataset remains the empirical case. Week 3 asks whether the table can enter a model safely.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E1F6E-BAB4-4460-82E9-B245C027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CDBF5-33ED-40BC-B4EF-06D8C2D8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763E4-DF25-4CE2-97CA-ED38E76EBCC8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048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43542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Course definition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Machine Learning Repository, dataset 350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Observation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borrower credit-card account record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observations, 25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default_next_month: 1 = default, 0 = no default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Monetary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Reuse rule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notebook reads the validated compressed course copy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CA6FB-1CD1-4C0A-97FA-6C268627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E1AD7-8921-4398-81D8-7D40800A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B6B47-FA2F-431E-A739-A6F88C37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8EF6A-0461-4826-A685-3D19E1A2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dataset reports no blank cells, so the notebook creates small controlled examples to demonstrate cleaning decisions without changing the real-data analysis.</a:t>
            </a:r>
          </a:p>
        </p:txBody>
      </p:sp>
    </p:spTree>
    <p:extLst>
      <p:ext uri="{BB962C8B-B14F-4D97-AF65-F5344CB8AC3E}">
        <p14:creationId xmlns:p14="http://schemas.microsoft.com/office/powerpoint/2010/main" val="21054459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7AFB8-A243-4C5D-8661-B5DB23AE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4A6C6-DC3F-4951-B0C1-418A1E9B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D17D2-3FDA-4BD0-8182-89B78765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preprocessing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55720-9807-4A8D-9A5B-34415FCD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step answers a different question and produces evidence for the next step.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C8384-D249-46DE-913E-D48E2179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B9DA6-2FE8-45C1-849A-F23C6493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91487-E071-4DA5-9AB8-F24A8E05ED1A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4762500"/>
                <a:gridCol w="4095750"/>
              </a:tblGrid>
              <a:tr h="4490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Audit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is present and what is missing?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Counts, types, codes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Clean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records or values need a documented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Flags, corrected structure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Represent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should variables enter an estimator?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blocks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may determine transformation parameters?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and test partitions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we apply the same rule to future rows?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Fitted preprocessing object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Verify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the transformation preserve the modelling contract?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50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3B067-2853-4875-A204-335688D9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8A7A7-B006-42FC-B97F-CF9CF8A9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06D35-EA71-44C6-91F6-894DBC96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Data-quality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68F51-EC9C-423A-BE93-34B9D447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Cleaning begins with evidence about the table, not with a favourite imputation method.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793CD-924A-431A-9414-A40F7015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7136C-FE04-4716-9FBF-FFD152D7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FA4EB-33AE-4F80-96D9-3128AEA2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71DD3-3E8A-4FF2-B988-7D18C82E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982498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8A284-8EF5-46EC-9A0E-D4058939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60926-A585-4E03-A752-61F6B141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0AE6E-A2AC-4275-8AF2-D065B351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can go wrong before modelling?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847E5-5DA9-450B-A42C-600BDC41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table can fail in several different ways. Each failure requires a different response.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6F31E-D6DB-4D0A-BCEC-61DC751E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19BA3-D432-4849-8748-FEF1357F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CEC2C-B94E-41A2-90F7-47CA656D4026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5334000"/>
                <a:gridCol w="3143250"/>
              </a:tblGrid>
              <a:tr h="48985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Problem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in finance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First diagnostic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reported income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isna().sum()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transaction imported twice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duplicated()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Invalid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code outside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value_counts()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large limit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quantiles and plots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future status included in a predictor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 audit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Type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Date or category read as a number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dtypes and parsing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05916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2BEF5-C91A-40B0-BA8A-19C87C86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19C30-FD3A-44D1-A433-5D8C07D8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8C2B0-1F52-4BB3-8FC7-AE60AEDD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Structural and substantive missingness are different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4B355-4713-4A0C-9065-C68B1E3D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blank cell is a storage fact. A special code can be a meaning-bearing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22B7A-CE2F-4A68-A178-E0BAC4AF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39BB7-C344-4B13-8363-B5A692B6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93706-D5AC-464E-B108-59436EF2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C02CA-6C4A-4490-BA99-8B812033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77785-6EAF-4657-B591-C9778D3F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STRUCTURAL MISSINGNESS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7A466-434B-4B55-928C-965725C8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value was not collected, not available, or lost during extraction. The analyst must decide whether to impute, flag, exclude, or obtain the source again.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6CACCE-0390-42A7-88D2-29302EA9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386DB-172C-44B8-AA90-0FCC1FEB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13287-5CFC-4E18-9EA7-EF5E385C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SUBSTANTIVE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B7AC7-821A-4BED-97D3-17E3FA6B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value such as -1, 0, or 9 may encode a real category or a repayment state. Replacing it with a median can destroy the source meaning.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21FBDF-889D-4A91-992A-77499AB8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E3ECF-F55C-430A-AD24-4D9F50DE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C449C5-2022-4309-A0E3-C6491A99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A75CFD-6B46-43A9-AA5D-F65846D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00675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Read the data dictionary before writing the cleaning rule. The same number can be a legitimate amount, a category, or a missingness code depending on the variable.</a:t>
            </a:r>
          </a:p>
        </p:txBody>
      </p:sp>
    </p:spTree>
    <p:extLst>
      <p:ext uri="{BB962C8B-B14F-4D97-AF65-F5344CB8AC3E}">
        <p14:creationId xmlns:p14="http://schemas.microsoft.com/office/powerpoint/2010/main" val="2931212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0ED6C-F194-4BF2-8B96-09BD1C99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77ADA-029B-4B78-9FBB-B7D03B96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FB146-A87D-48C8-B124-AEA89AE4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Missingness is a modelling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CF078-5612-4427-92DA-559A365E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There is no universally correct response. The choice depends on the variable, the mechanism, and the estimator.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2CC3B-3520-4952-B171-22DE4238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A787C-89D9-4CC6-B06D-CC3DDAF5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61731-A200-4FE8-8D37-DABFD25D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86B66-E604-4183-92AC-207B0D78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row only when the observation is unusable and the exclusion rule is defensible.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49BB87-77E6-4FF9-8470-055872C2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61623-0682-4BA0-AAC5-8D56AE10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860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column when it is unavailable at prediction time, nearly empty, or not part of the question.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91840-110F-41B8-92F1-5E191195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57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DEE95-D517-45D9-B910-D66134B2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7180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numeric variables with a training-set statistic such as the median when a stable baseline is appropriate.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518D8F-931B-49DF-A44B-0E157075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6235A-B219-48A1-9AA7-D1D032F5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categorical variables with a documented category such as Unknown or the training-set mode.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006C1-2C2B-4CFE-85DC-D863DD19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B28F4-47D2-4A4A-8D69-4477D17A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Add a missingness indicator when the fact that a value is absent may itself carry information.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D2C578-AAF9-4FE2-9B78-5028A2E0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BE6E4-0DE7-4914-A407-B0E993FF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291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calculate imputation values on the full dataset before the train/test split.</a:t>
            </a:r>
          </a:p>
        </p:txBody>
      </p:sp>
    </p:spTree>
    <p:extLst>
      <p:ext uri="{BB962C8B-B14F-4D97-AF65-F5344CB8AC3E}">
        <p14:creationId xmlns:p14="http://schemas.microsoft.com/office/powerpoint/2010/main" val="12169101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70C4C-EFAC-48B0-B49D-026EC2CB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75054-C39E-410B-BA1D-E3941B9A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FC09E-262E-4320-98D1-17E04498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Start with one compact audit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CB17C-61F5-4113-900C-2B205204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first code block records the structure before transformations begin.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41449-96D7-4E75-B837-D38B4729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E9064-CD86-4D10-9ACA-FF6CAB25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386EB-79E1-43CB-9758-9784412E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91E7F-878B-4BF8-A35F-4ACF2D96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845D0-93A3-4EC9-B471-559DD941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 = pd.DataFrame({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'dtype': credit.dtypes.astype(str),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'missing': credit.isna().sum(),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'unique': credit.nunique(),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'min': credit.min(numeric_only=True),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'max': credit.max(numeric_only=True)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audit.head()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4086B-493A-4B62-867D-3EED0550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9A05E-5F74-46DB-BA62-2502D0D5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E320C-9861-4D35-9E76-0367A83C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dtype  missing  unique  min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ID           int64        0   30000  1.0 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int64        0      81  10000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SEX          int64        0       2  1.0  2.0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int64        0       7  0.0  6.0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57AB6-66F0-4398-B11E-907276E4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C7487-7020-401B-9F1D-37C10AE4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7ECAE-0728-4832-B93D-8A7C922C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5A2944-DB91-43AE-9068-7038B653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721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audit is evidence about storage and coverage. It does not yet tell us which variables are safe predictors.</a:t>
            </a:r>
          </a:p>
        </p:txBody>
      </p:sp>
    </p:spTree>
    <p:extLst>
      <p:ext uri="{BB962C8B-B14F-4D97-AF65-F5344CB8AC3E}">
        <p14:creationId xmlns:p14="http://schemas.microsoft.com/office/powerpoint/2010/main" val="16908097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5AA4E-0AB9-4D12-AB2F-9E7286C0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A4812-AC9A-4C8B-A8D3-A3334CA6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47848-93AA-4C5F-A03A-3D28910A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the UCI audit tells 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EA6A7-822E-485C-853B-30206638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clean blank-cell count is useful, but it is only one dimension of data quality.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8A75C-A80E-4EAA-8099-4A6BF0F5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9559A-4E8C-44AE-BFBC-D9E595FF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624AA-A7FB-4F20-B44B-7955CBFE0021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90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381250"/>
                <a:gridCol w="5524500"/>
              </a:tblGrid>
              <a:tr h="45583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× 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expected course table is loaded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Blank cells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empty cells in the supplied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exact duplicate records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IDs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unique ID per row in this file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 counts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23,364 / 6,636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Class imbalance must be remembered later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Special codes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Present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and repayment codes require definitions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30539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5B51E-3EAD-46CA-BD2B-0E53FE0B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6C79C-66ED-4458-9227-DFC51650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CONTROLLED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D2A0B-F0FF-4182-9C36-C692A10B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teaching example makes missingness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43C869-0FB2-4DF2-B5AF-60BD4A7F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real UCI file has no blank cells, so we create a small copy with deliberate missing values for the demonstration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D8741-EE34-4305-9D75-44EB09BD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285F4-FD4E-48C6-AAE6-2FD6F64F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89C74D4-841C-4EA9-A6CB-85CA3EA4F742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4d8efd2451433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14AB9-2B83-492A-8F73-6C573731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648DC9-9B9B-4B98-9DA7-D946DAAA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A2A4D-D5E5-431D-8346-32504FB9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 = credit[['LIMIT_BAL',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'AGE', 'EDUCATION', 'MARRIAGE']].head(8).copy()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demo.loc[[1, 4], 'AGE']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demo.loc[[2], 'EDUCATION']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demo.isna().sum()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96B11-8D36-46F1-BE97-D53B4AF0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EF25A-0F35-4E37-9448-8104083E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4BEEC-DFF5-4ED7-9879-64806DDA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USE A CONTROLLED EXAMPLE?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FF0FA-1299-41DC-8D1A-2E97E48B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Students can test the cleaning rule without pretending that the original source contains missing values that it does not contain.</a:t>
            </a:r>
          </a:p>
        </p:txBody>
      </p:sp>
    </p:spTree>
    <p:extLst>
      <p:ext uri="{BB962C8B-B14F-4D97-AF65-F5344CB8AC3E}">
        <p14:creationId xmlns:p14="http://schemas.microsoft.com/office/powerpoint/2010/main" val="16223594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47D43-2026-4D20-89F9-1A3F3C3B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9B47C-C42B-43FB-9BDB-C89FF836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7DE77-1E04-4155-8C5F-7E06873E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Measure the rate and preserve the indicator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2E2D3-2AE5-4A43-B519-FB35BF4A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indicator records that a value was absent before an imputation replaces the cell.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C0F7C5-12E5-4899-886B-76E2E6BC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68AE0-830B-45EA-99AF-7CB9ECAA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B91C6-E552-4E99-866D-5AAEA74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AA9A4-13B1-4AAA-9B81-D4091875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151A5-9F9B-4E1D-88B7-AEF38DF9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missing_rate = demo.isna().mean()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demo['AGE_was_missing'] = demo['AGE'].isna().astype(int)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demo['AGE'] = demo['AGE'].fillna(demo['AGE'].median())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print(missing_rate)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print(demo[['AGE', 'AGE_was_missing']])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0BA11-C896-482B-940C-981F6540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2A265D-61C8-46AC-AE6C-FA3A2D5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09297-17CD-48D7-856B-6A48D293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        0.25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0.125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MARRIAGE 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AGE_was_missing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37.0 1</a:t>
            </a:r>
          </a:p>
        </p:txBody>
      </p:sp>
    </p:spTree>
    <p:extLst>
      <p:ext uri="{BB962C8B-B14F-4D97-AF65-F5344CB8AC3E}">
        <p14:creationId xmlns:p14="http://schemas.microsoft.com/office/powerpoint/2010/main" val="8232918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662CE-31A1-4A13-A5EF-626DC754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E33ED-B8D1-4AC3-AC40-06A50F17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023D5-DC3E-4008-925A-C40A11D7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the response by variable role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61A27-6E2D-430D-98A8-59797173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policy should be written before the model is fitted and should be reproducible in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51F1B-0226-4506-BB52-63E34CAB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D7587-1B9A-4545-8937-298C6687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CEDC-D0F9-436C-808B-D0F84FF75E71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524250"/>
                <a:gridCol w="39052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 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Reason to document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Numeric, modest missingness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plus indicator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Robust to skew and preserves missingness information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Categorical, missing category meaningful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Explicit Unknown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pretending the mode is the true value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Column unavailable at prediction time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the column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Prevents deployment-time failure and leakage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 invalid for the study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 with a count and rule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Shows how the sample changed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 code has meaning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Map using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replacing a category with a statistic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21370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20A3B-7854-4185-B55C-BCDB8C26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CC3FE-5068-4761-A3C2-4DBDFDD6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5D0D7-FF6F-4F14-8D74-43D85144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Duplicates and identifiers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0586D-562D-4070-AB31-C3014B16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duplicate check needs both row-level evidence and an understanding of the observation unit.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86719-CC43-4E00-A82F-640C7E26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E1574-4362-4D49-853D-A56C5882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E9670-717C-4818-8A99-EE305B05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C53C1-3BC8-4305-914A-06F9479A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896610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EEF234-C344-4D1C-803B-D8D7CA8E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38ACE-6EF2-43A2-B0DA-E6B8F1E1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D4FD9-37EF-4BC2-A081-14753517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exact duplicate is not the same as a repeated borrower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D4E0C-F3F5-43E1-9565-5161749A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check depends on what one row represents.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89F39-B642-4E16-997F-98B26A32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AEB08-B4DB-4519-A820-116BCD0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F7840-3537-44C8-9811-028E8F5D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5FAEC-1148-4CB8-9FFE-016BADCA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FD38D-4DB5-4277-9F26-4441F846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677B4-652C-4823-A446-E90D3824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column matches another row. This may be a repeated import or a legitimate repeated record, depending on the source.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75D3F-6328-4C80-B4FF-AB18BFAD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D7654-4376-4706-98D2-ADC56926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9C294-6C61-444D-9312-C5F8A245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DUPLICATE 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335E5-5999-4DE1-B98D-BBB5B2E8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identifier repeats. That may be an error, or it may be valid when one borrower has several accounts or periods.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126FC9-9341-48EF-9BED-A97D2D9B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D23D8-A6C7-456C-8018-64050720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01EECC-2F87-40E1-88AA-48D3AEB9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REPEATED 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D94D4-9C8C-47CD-88E3-25C87E9D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may appear in several rows by design. The modelling split must respect the entity and time structure.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06B65-51E5-45AB-B6F9-62024719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E32E69-D4C0-4894-B679-D27949D7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3DEBB4-1842-42B3-97A8-41ADF00E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16F8A3-45DC-4D96-9271-C9BEC45B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If the same borrower appears in both training and test samples, performance can look stronger than the model’s performance on a new borrower.</a:t>
            </a:r>
          </a:p>
        </p:txBody>
      </p:sp>
    </p:spTree>
    <p:extLst>
      <p:ext uri="{BB962C8B-B14F-4D97-AF65-F5344CB8AC3E}">
        <p14:creationId xmlns:p14="http://schemas.microsoft.com/office/powerpoint/2010/main" val="15555551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9C8F2-26BF-4481-8749-575C8FB9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9FD86-96B7-4F64-B222-84CCB983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7DA92-7A28-494E-9530-A346ABCA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small duplicate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EC848-D438-48AC-8267-2139C80E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source file contains no exact duplicates. The code below shows how the diagnostic behaves when one row is repeated.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46EC3-D3AD-45E8-AC6B-0C4265E8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27652B-03D7-4DF9-9BE5-4EF54A8E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FC0D6-CF05-479D-A66F-890C931B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7A669-24F8-4167-859B-A7DC8AB1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C80A5-19F7-4E26-BE62-1C20B62F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small = credit.head(5).copy()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demo_dups = pd.concat([small, small.iloc[[0]]], ignore_index=True)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print(demo_dups.duplicated().sum())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3FCBE-C41D-44FB-93E1-6097B393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C0FBC0-E24C-406E-AC54-02D75836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88F17-C870-45E1-A2A1-2E6FD458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(6, 25)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D2EF8-0D68-47DC-B4E3-E550DB29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586F0-3176-4DD3-9AAA-EEE3F0E3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CEF937-3656-44A3-BDC4-5E9BBBB5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DO NOT DELETE SILENTLY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B0E0F3-260B-4D43-A1FB-3AC619AD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Record the number of rows before and after any duplicate rule, and explain why the retained row is appropriate.</a:t>
            </a:r>
          </a:p>
        </p:txBody>
      </p:sp>
    </p:spTree>
    <p:extLst>
      <p:ext uri="{BB962C8B-B14F-4D97-AF65-F5344CB8AC3E}">
        <p14:creationId xmlns:p14="http://schemas.microsoft.com/office/powerpoint/2010/main" val="9180337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665E1-8AC0-4ADD-8CB4-CD92855B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5A0B2-0AE0-4911-985B-9033F712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IDENTITY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27F9F-AE2E-4FD2-9DAB-AFE82B5F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the observation unit to choose the duplicate key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0EA3B-95BB-499F-8BD1-A6D93EA2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Pandas function can answer different questions depending on the subset of columns.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49D14-18D2-4802-A507-15DDA0DD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879EA-54EE-4866-B58D-639FA343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B4A23-8A3B-4ECE-9F58-322067DBC6A8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400050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Pandas pattern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answered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 row duplicate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full record repeated?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identifier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borrower-period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credit.duplicated([ID, date]).sum()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same entity-period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credit.ID.nunique()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many entities are represented?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First occurrence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credit.duplicated(keep="first")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would be removed by a first-row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06189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06018-A5B6-471D-8C46-F015BB3D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2DF3F-4FC4-4266-B7CC-162A9D65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B6516-4963-43E0-A00E-9C858CF7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Outliers and special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307B0-29AC-44A2-A064-B105ED27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Unusual observations require a financial interpretation before a mathematical treatment.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B26D0-BF3B-443C-8AAA-494D7BDA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540F3-B90C-44EB-9A24-ADCE2A81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4BBC93-1E55-4670-8274-906E5C30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89528-E683-473C-A3F7-08E07139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516519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33F5C-0EC9-4EB5-99D0-67606776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5AAD9-ED7F-4340-A100-7489BC64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B398-F336-4CB1-8BC1-E0C492D7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outlier is unusual, not automatically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70F58-509E-460A-87E3-19800949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response depends on whether the observation is an error, a rare event, or a meaningful tail.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88F93-CA0D-4BF9-8CBE-6EBFA2B8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0028A-BDD7-476F-B23E-335D8D39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73452-488B-495A-B396-E3453BA97609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000500"/>
                <a:gridCol w="40957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Potential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Data-entry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Negative age or impossible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 from source or exclude with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Rare but valid 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high credit limit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Keep, flag, transform, or use a robust method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Heavy financial tail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Large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Report quantiles and consider log scale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Model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observation changes a coefficient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Run a documented sensitivity check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Leakage-like extreme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Future information embedded in a field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at source and redesign timing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8824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F7DD3-4880-4272-BFAA-F857178D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980EF-D6B4-48D7-A205-725D4B87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4F883-331D-4E78-81C1-02D9DADD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UCI variables have very different scales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AC923-9DFF-4F6A-8EB2-7B922393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Quantiles provide a first description before a threshold is chosen.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2D636-2F76-4233-97C3-A414CCE0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1D272-4E4F-4114-B38A-E5D20DA4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3E394-B4A7-4622-86C6-BE8DE5B01849}"/>
              </a:ext>
            </a:extLst>
          </p:cNvPr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333500"/>
                <a:gridCol w="1428750"/>
                <a:gridCol w="1333500"/>
                <a:gridCol w="1428750"/>
                <a:gridCol w="1714500"/>
                <a:gridCol w="1905000"/>
              </a:tblGrid>
              <a:tr h="571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IQR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Minimum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Maximum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190,000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3,558.75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22,381.50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67,091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63,532.25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-165,580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964,511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873,552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EF899-DCCF-4FA2-89D8-09E4F22E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5850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1712E-5595-46CF-B375-015AD8EC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2C4FB-6050-4BB3-AEDF-FA14E148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1043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0CA13-6313-43AE-B281-9DBCBCAD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long upper tails are part of the financial data-generating process. A cleaning rule must not confuse skewness with invalidity.</a:t>
            </a:r>
          </a:p>
        </p:txBody>
      </p:sp>
    </p:spTree>
    <p:extLst>
      <p:ext uri="{BB962C8B-B14F-4D97-AF65-F5344CB8AC3E}">
        <p14:creationId xmlns:p14="http://schemas.microsoft.com/office/powerpoint/2010/main" val="9763652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38A9FF-FE6E-4269-A6CE-3F062A2A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AD94B-47CE-48BA-9AD2-1C641460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A19E0-EFE6-43E8-AF9A-D1474AA7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quantiles to flag before deciding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8DB30-01CB-4AC8-B55B-7DD477A7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creates a flag. It does not delete observations or claim that the flagged values are errors.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AEA60-329B-4D1B-80B7-FE68E297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989DB-64C3-464B-93A7-9CC38DF9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7B985-9D11-493E-A481-5319CE85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FF159-3559-4984-BA6F-1D0A03E2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67669-28CA-49D3-8FCE-468476F5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lo = credit['LIMIT_BAL'].quantile(0.01)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hi = credit['LIMIT_BAL'].quantile(0.99)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credit['LIMIT_BAL_outlier'] = ((credit['LIMIT_BAL'] &lt; lo) | (credit['LIMIT_BAL'] &gt; hi))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print(credit['LIMIT_BAL_outlier'].value_counts())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F79C6-4576-4A3C-839F-2058B321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880FC-5E29-4806-8CD9-D1677EB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6BEE5-FFFB-4C7C-8AE0-3261D605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10,000.0  500,000.0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False    29,794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True        206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A0558-A532-4473-B337-F934C856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51580D-D64B-4F3B-BF0B-F3FFBF6E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13924-9B08-47D0-A976-BBF78747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E1A24-7F13-4110-918C-7A8D0385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Are the 206 observations invalid, rare but plausible, or informative about the portfolio? The source and financial context decide.</a:t>
            </a:r>
          </a:p>
        </p:txBody>
      </p:sp>
    </p:spTree>
    <p:extLst>
      <p:ext uri="{BB962C8B-B14F-4D97-AF65-F5344CB8AC3E}">
        <p14:creationId xmlns:p14="http://schemas.microsoft.com/office/powerpoint/2010/main" val="14288138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7620A-55BA-4240-8626-AC48FEC5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D17DD-9082-40BE-847D-62D8450F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5C168-6A4F-4620-9990-8BC94B9E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flag is easier to review when its size is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C1AC7-7BF8-4BDC-B617-3EB9F101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chart shows how many records a threshold would flag, not how many records should be removed.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DB341-A7E5-4291-9E48-44E85A0A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321CD-D84D-4C18-8E6D-23B42904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84D8277-48A7-49D5-B833-32DE13872E84}"/>
              </a:ext>
            </a:extLst>
          </p:cNvPr>
          <p:cNvGraphicFramePr/>
          <p:nvPr/>
        </p:nvGraphicFramePr>
        <p:xfrm>
          <a:off xmlns:a="http://schemas.openxmlformats.org/drawingml/2006/main" x="857250" y="2095500"/>
          <a:ext xmlns:a="http://schemas.openxmlformats.org/drawingml/2006/main" cx="6572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335cd057a848a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6E863-B2F4-48F1-BFCA-2084A025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B0774-062F-4FC7-8B46-899E212C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F1F43-E780-45BD-8DC5-B66224A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431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655D1-75AD-4F5E-BE61-6BC83F9B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3842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Flagging 206 records does not prove that they are errors.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98BCC-1B75-40DF-A126-07ABFAA6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F36D62-D86F-4032-80F8-12432CDB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F0E77-A3DB-405D-9A05-72A116DE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196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DOCUMENT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EBC8A-06B4-488C-ADDD-E784046B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14925"/>
            <a:ext cx="27241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Threshold, variable, sample size, and treatment must appear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4305138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F6BF4-1E43-4F23-A4B8-E02E2EB4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150329-E89B-4728-B56A-BEF8F582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TREATMENT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AFE91-13C2-43AD-BF49-F94E4859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changes the observed variable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42CCE-E07D-405D-AFE4-322DB6FB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Winsorisation or clipping can improve numerical stability, but it changes the scale and must be reported.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E2E4E-586E-45C5-9833-89D7B76C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5AD62-375E-4C6D-8790-6543F968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5C610-E5D6-41CE-B03E-A66BE91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1D30A0-9CD3-4DAD-8335-901B0F1A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47EAE-45B0-42FB-87E7-BCDB56CA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credit['LIMIT_BAL_clipped'] = credit['LIMIT_BAL'].clip(lo,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credit[['LIMIT_BAL', 'LIMIT_BAL_clipped']].describe().T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DA463-5B59-4358-BB8A-EEF5A71A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8AB70-CD80-4F17-8039-C061703D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C660FC-013A-4410-A619-36D77BEE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       min     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    10000.0  1000000.0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LIMIT_BAL_clipped 10000.0   500000.0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C8E1C-5382-4E86-959B-94B49D57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96EF5-98E1-40C0-9752-26CD8022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7F567-5BA4-4827-8398-72EF4245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222321-39C6-4D77-B0BB-114D7A9F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reduces the influence of the tail but may remove information about high-limit borrowers. Compare results with and without the treatment.</a:t>
            </a:r>
          </a:p>
        </p:txBody>
      </p:sp>
    </p:spTree>
    <p:extLst>
      <p:ext uri="{BB962C8B-B14F-4D97-AF65-F5344CB8AC3E}">
        <p14:creationId xmlns:p14="http://schemas.microsoft.com/office/powerpoint/2010/main" val="10365278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070177-E5C7-4F0C-B285-CB426822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3961F-88D9-4666-AA28-F38AC2DA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SPECIAL CODES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D1D3C-0734-484B-A3AF-ED48F0EB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are categories until the data dictionary says otherwise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ED5AF-EB91-41B5-8F6B-A45D6854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Education and repayment fields contain integer codes. The integer type does not make the values continuous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69391-8FA3-4B8B-A30D-A81B7F2C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D8143-494B-4E21-BDF0-9067FD05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E02A3F6-6BDE-432A-87FE-D242EDB38295}"/>
              </a:ext>
            </a:extLst>
          </p:cNvPr>
          <p:cNvGraphicFramePr/>
          <p:nvPr/>
        </p:nvGraphicFramePr>
        <p:xfrm>
          <a:off xmlns:a="http://schemas.openxmlformats.org/drawingml/2006/main" x="762000" y="2095500"/>
          <a:ext xmlns:a="http://schemas.openxmlformats.org/drawingml/2006/main" cx="6191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26408d986d4b6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0BB72-8404-4E96-AE9E-E22CC2FC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C6045-466D-4D3D-9CE0-46AD6CE2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71FF7-9C48-4FFD-90F3-4BF7E5AF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47900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SOURCE MEANING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2C2DC-6E6A-4879-BC38-BCAAC5ED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43175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source dictionary defines 1 as graduate school, 2 as university, 3 as high school, and 4 as others.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9A31D-253E-47E5-A85F-D32BC2DA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296E3-83B9-4AF8-A4B3-71087D9E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18653-935A-46D4-898A-AA9EF259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1002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QUALITY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E405E-70C8-46A6-BDBF-E7A03FDA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0, 5, and 6 appear in this file. Investigate their source meaning before collapsing or recoding them.</a:t>
            </a:r>
          </a:p>
        </p:txBody>
      </p:sp>
    </p:spTree>
    <p:extLst>
      <p:ext uri="{BB962C8B-B14F-4D97-AF65-F5344CB8AC3E}">
        <p14:creationId xmlns:p14="http://schemas.microsoft.com/office/powerpoint/2010/main" val="11983433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C81F6-46D9-43EE-A034-4110F02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ED507-7939-4ACA-9382-F263397E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CATEGORY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46BD3-AB4B-449C-983B-F7121D96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Document category labels before encoding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1E7BB-53D0-4A0A-99CF-2FD46D02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mapping makes the transformation auditable and prevents a model from treating labels as arbitrary magnitudes.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328E1-95A5-4405-AC71-A64127B9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0ED84-4BEA-48C0-9BF1-53B068EC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35000-1A39-4187-A7AE-7131AFE0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27F8F-6CF6-4711-965F-20A580C2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E1CA3-A4B5-4AF1-A8BE-47C20153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education_map = {1: "graduate school", 2: "university", 3: "high school", 4: "others"}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 = credit['EDUCATION'].map(education_map)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credit['education_label'].value_counts(dropna=False)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47B1B-8477-49E1-8863-2BC9F81D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BB45A-1062-4A64-9F67-9464825D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F5F70-4FB4-4A06-8E90-26C29D1C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university        14030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graduate school   10585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high school        4917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NaN                  432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54C6D-CEA6-4F97-85A4-7A4292A1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0FEA3-6A8C-4190-87B1-C3216601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32C159-49D7-4402-8E83-B0A7C66F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F6E90-8D32-437B-83D6-B282D328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unmapped values are visible as NaN. That is safer than silently assigning an invented label.</a:t>
            </a:r>
          </a:p>
        </p:txBody>
      </p:sp>
    </p:spTree>
    <p:extLst>
      <p:ext uri="{BB962C8B-B14F-4D97-AF65-F5344CB8AC3E}">
        <p14:creationId xmlns:p14="http://schemas.microsoft.com/office/powerpoint/2010/main" val="395902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0503E-8447-47A7-825F-515D3A43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7F573-FFF2-49A9-BE9B-C0BCAEBB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1BF61-880D-4D9F-B8B4-5FF08470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Numeric and categorical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8A5A1-C503-49CE-90D8-C5560E94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preprocessing rule should match the type and meaning of each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EE995-8EE6-4E18-A729-71A9658A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57326-AC77-443F-947B-4BF5736F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ADE41-1641-419C-B80F-EFC4EA61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6AAC0-E6AB-46F4-8EF3-83BC8C40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08237298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73519-14F9-4C7B-AD6E-7F175960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3DDEC-6438-4442-8036-88214236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86037-9A67-4560-92D3-DC63F39E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Types determine the transformation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A2FEA-6206-4C54-809F-59453B0D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preprocessing plan separates variables by how an estimator should see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0B3C2-7E92-4BC9-8EB5-15DEF75C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81BD0-93F6-4661-89E7-7603EB1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18609-2BC4-443B-B4D2-7AE6ABE4DD25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428625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Examples in this course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LIMIT_BAL, AGE, BILL_AMT1, 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scale, inspect tail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one-hot encode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Ordinal-like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 to PAY_6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source meaning and document choice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for traceability, exclude from predictors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separate from X and never transform as a feature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51141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0C373-6F80-41EF-B4F1-329AEAEB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6E64C-833F-4F67-9400-6343D8C5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ONE-HOT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3E638-1B2B-457D-90C2-F269893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Categories become indicator columns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5B587E-477A-4410-AC2C-B3B93DE0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One-hot encoding represents category membership without imposing a false numeric distance between labels.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9FD4F-7EB5-48F5-8BDF-F6B84709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5BDFB-7D88-4B5E-926D-9C0294F4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E3805-92C0-4D5C-9108-C0238D0EF80F}"/>
              </a:ext>
            </a:extLst>
          </p:cNvPr>
          <p:cNvGraphicFramePr/>
          <p:nvPr/>
        </p:nvGraphicFramePr>
        <p:xfrm>
          <a:off xmlns:a="http://schemas.openxmlformats.org/drawingml/2006/main" x="914400" y="2095500"/>
          <a:ext xmlns:a="http://schemas.openxmlformats.org/drawingml/2006/main" cx="5429250" cy="2190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1190625"/>
                <a:gridCol w="1190625"/>
                <a:gridCol w="1190625"/>
              </a:tblGrid>
              <a:tr h="5476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19877-C12C-4263-8629-A433CAFB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4095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8FD1C-27DB-4728-A65F-36DF5058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D78C8-5422-4B7A-BE95-6213E04F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47900"/>
            <a:ext cx="3676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WHY IT HELPS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C9DB9-59C4-442C-BAEB-7BA6FCC1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43175"/>
            <a:ext cx="36766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model can estimate a separate contribution for each category. The code must also handle a category that appears later but was not present in the training sample.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3B7C8-36A7-49A6-8FA4-09DAFD87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134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C8F70E-388C-4C9B-A615-A2419BF0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CDE58-4024-4786-BAC2-7F7AA85A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971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COURSE RULE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5110A-0DFE-4896-823F-584D25CB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handle_unknown="ignore" in the transformation so an unseen test or deployment category does not crash the pipeline.</a:t>
            </a:r>
          </a:p>
        </p:txBody>
      </p:sp>
    </p:spTree>
    <p:extLst>
      <p:ext uri="{BB962C8B-B14F-4D97-AF65-F5344CB8AC3E}">
        <p14:creationId xmlns:p14="http://schemas.microsoft.com/office/powerpoint/2010/main" val="10661322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663A9-3A6E-4133-ABC4-75B2228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05502-46A9-44F5-AC0A-3EC7CFFC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7A040-983A-47F4-BE8D-B0EA1E95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transformation on a small table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F398B-FDFB-487D-ACB9-0F869711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small example makes the new columns and their order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A733C-BB54-4B9B-B739-9C64C9C1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6EA34-7F45-4C82-944A-B9DB543F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3053D-0645-4C55-AC50-210337B9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DC23A-7AF9-4351-9DC3-E9D2059C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AF217-32F1-44E1-9E60-FBE2EA54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cats = credit[['SEX', 'EDUCATION', 'MARRIAGE']].head()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encoded = pd.get_dummies(cats.astype('string'), drop_first=False)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print(encoded.columns.tolist())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5FB88-E18A-4DA8-BC0F-C3F5DF5E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B8564-2613-4AF0-89BE-89856D8B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877A9-7891-45A2-891A-146E9D8C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(5, 5)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['SEX_1', 'SEX_2', 'EDUCATION_2', 'MARRIAGE_1', 'MARRIAGE_2']</a:t>
            </a:r>
          </a:p>
        </p:txBody>
      </p:sp>
    </p:spTree>
    <p:extLst>
      <p:ext uri="{BB962C8B-B14F-4D97-AF65-F5344CB8AC3E}">
        <p14:creationId xmlns:p14="http://schemas.microsoft.com/office/powerpoint/2010/main" val="102776750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45E175-B5BC-49B3-9AA8-0D3DBD18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09C24-E1E2-4FF2-86FD-CF32D6C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61316-E8F3-42D9-B55A-90BF5B89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the encoded rows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17FF0-11A9-402C-8471-E59BF3B0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should be easy to audit: each row has a clear pattern of category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D0949-9D92-408F-9259-DF60724A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E92DAE-0E52-49DC-B713-1BEF37DA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36816-05F1-4AC5-B3B9-23A80775252F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1619250"/>
                <a:gridCol w="1619250"/>
                <a:gridCol w="2095500"/>
                <a:gridCol w="1905000"/>
                <a:gridCol w="180975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B8D7E-ED5F-420A-A5E2-5204FD15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70C5A-A2C2-474B-9C6E-91D08098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05A5D-3418-450E-8BCF-F0AED412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A6FD4-1F8C-48CC-9FCC-4DA392D1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columns are not new economic facts. They are a model-friendly representation of the original categories.</a:t>
            </a:r>
          </a:p>
        </p:txBody>
      </p:sp>
    </p:spTree>
    <p:extLst>
      <p:ext uri="{BB962C8B-B14F-4D97-AF65-F5344CB8AC3E}">
        <p14:creationId xmlns:p14="http://schemas.microsoft.com/office/powerpoint/2010/main" val="7440331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705DF4-0E75-49A6-AC5C-2444E1AF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C784D-F1C2-4EF2-ADAD-CBF90E72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799A3-1C3A-43C9-9D40-E58783EE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puts numeric variables on a comparable numerical basis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7C8F3-B173-496B-ADE2-F8921669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variable measured in New Taiwan dollars can otherwise dominate a variable measured in years or repayment status.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0EB4F-E102-4E16-B0B2-329CA259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D7FAA-9EA8-4CDE-968D-43706820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9C516-4E11-427B-8EE3-073D6892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E7318-7A9B-47E8-838D-182CB1A4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C4F16-816C-42CE-ABEE-02EE86D7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BEFORE SCALING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E0B5A-CA54-469C-A103-DA571402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may range from 10,000 to 1,000,000 while AGE ranges from 21 to 79. A distance-based model will respond to the units.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C0CD2-8959-4E41-8D64-94B83CF2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58D4B-64E2-4DD6-944C-5740D0D3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9D111-BC8F-49D7-B552-C8C96A7A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AFTER SCALING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0A478-E532-4801-8E35-BB2B81A1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standard scaler centres a training variable and rescales it using its training dispersion. The same fitted rule is applied to validation and test 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975BD6-5AD4-4B56-9643-1F10729F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C6AED8-BBCA-4294-97F9-1B7ED4FF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5CD13-9DAA-4426-8398-A6B6F570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STILL INSPECT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4FB25A-867C-40A8-9863-5DFCA8DA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does not remove skewness, bad codes, leakage, or the need to explain the original financial unit.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ED7FA3-AEFF-4F7A-B9A3-830AD21B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BFBB5-374F-4232-AA4F-3D752BD0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FB493C-4872-4497-8FEF-EF3B4237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MATHEMATICS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CFD662-22CE-4CF4-AA4E-D0D2BBA6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exact standardisation equation and symbol definitions are in the separate mathematics reference for this lecture.</a:t>
            </a:r>
          </a:p>
        </p:txBody>
      </p:sp>
    </p:spTree>
    <p:extLst>
      <p:ext uri="{BB962C8B-B14F-4D97-AF65-F5344CB8AC3E}">
        <p14:creationId xmlns:p14="http://schemas.microsoft.com/office/powerpoint/2010/main" val="1811292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0D9A5D-6F61-49F5-B93C-4DB6E910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763D9-3F05-4F89-9513-E67B8106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F189F-9CF9-4204-A303-A7688BBF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Fit the scaler on the training sample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56C91-1CAF-422B-8F7A-20288DD6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object stores the parameters it learned from training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B193D-ADE1-474D-9F84-F128FE58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EB539-D5BA-45D1-9F65-285D0CDB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A3E51-0A70-4732-BF30-ED4360EB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C3C9E-F34D-4F2C-AECE-7E3858E2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D6E06-4A3E-4053-962C-686108C2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scaler = StandardScaler()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train_scaled = scaler.fit_transform(X_train[['LIMIT_BAL',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test_scaled = scaler.transform(X_test[['LIMIT_BAL',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print(train_scaled.shape)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print(test_scaled.shape)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55030-2B88-4CEA-8FB9-4DC15D60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B73A0-C55F-4BAD-9E1E-B2EC7E04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B7119-4240-4E36-AF06-8ADDA0EE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(24000, 2)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(6000, 2)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1DAA8-5E84-4982-8520-DF62A8DB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5C11E-F95D-4C14-AB8D-18682698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ECBBF6-6752-4CBD-8DA8-D3192157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LEAKAGE CHECKPOINT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CC88D-9344-4E5A-A36C-9D3CB1BB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data is transformed with transform(), never fit_transform().</a:t>
            </a:r>
          </a:p>
        </p:txBody>
      </p:sp>
    </p:spTree>
    <p:extLst>
      <p:ext uri="{BB962C8B-B14F-4D97-AF65-F5344CB8AC3E}">
        <p14:creationId xmlns:p14="http://schemas.microsoft.com/office/powerpoint/2010/main" val="142558845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9E96C0-2030-482F-B67A-3CB39647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59614-5FB4-4A44-815A-2E54A080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0CC17-3DA1-4051-BCBA-81FE7F67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transformed training columns have mean near 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73FC7-890F-430F-A0A4-09D3FA45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a numerical check, not a replacement for understanding the original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DF18A-5ED6-41BB-818B-8AF57C5E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D787F-3D56-40D3-9972-35C8EFB7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99684-954E-4EFA-B1CF-766A5A539B20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429000"/>
                <a:gridCol w="400050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feature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Std. deviation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28A75-FCA9-4DAF-B491-44319B59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A0AA2-E30B-4735-893E-A4D219E3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64EF9E-0704-4BBB-AA6B-268C15DE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480C5-36D3-4B15-874C-24DA6EEC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sample does not need to have mean zero. It must be transformed using the training parameters.</a:t>
            </a:r>
          </a:p>
        </p:txBody>
      </p:sp>
    </p:spTree>
    <p:extLst>
      <p:ext uri="{BB962C8B-B14F-4D97-AF65-F5344CB8AC3E}">
        <p14:creationId xmlns:p14="http://schemas.microsoft.com/office/powerpoint/2010/main" val="91732987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6D7ED-5B9C-4315-9863-6B148C10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33141-BAC6-446A-9CC4-9F0D5C6F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DEFE4-2F5C-476C-A477-3837AE1F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Leakage-safe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4CCA9-AB07-4C39-A8A7-BD211622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order of splitting, fitting, transforming, and evaluating determines whether the result is credible.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A9BF4-3F9E-4DA0-9778-5FAED9AA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AE105-9208-4D39-ACD3-AE712382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421A6-554A-40D7-B109-2DACE372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BCE43-8067-4A4A-AC83-97C3A2D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56471770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0B8B33-115D-469D-B1C7-ED7F1A1C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D03BB-9DA8-41CB-A153-D0E5EFAB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SPLIT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F8834-BEE2-4130-B189-AC4B956C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Train, validation, and test rows have different roles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531A2-4D87-4D10-94D8-ACD8D7CB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roles are about information flow, not about giving some rows less importance.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1C269-8F62-4041-85BC-69AE485D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E7099-C9AF-4386-9054-05EC1C0E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8B19B-2DE2-4CA9-B8C4-15A1B32C3C1F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476750"/>
                <a:gridCol w="361950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Used for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Must not 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Learn imputation, scaling, encoding, and model parameters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Treat it as future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Validation or cross-validation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Choose settings and compare candidate models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the final test outcome to choose repeatedly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final estimate of generalisation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transformations or tune decisions on 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13C4B-9C23-4CB8-8441-FCEDD4AB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60035-053A-4DFA-9C51-2264C74D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96304B-C814-4768-A4D6-B1DB614C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BB13E-2AE6-4C75-A33D-10364AD4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Any quantity calculated using the full dataset can carry information from the test sample into training. That includes means, medians, category sets, thresholds, and selected features.</a:t>
            </a:r>
          </a:p>
        </p:txBody>
      </p:sp>
    </p:spTree>
    <p:extLst>
      <p:ext uri="{BB962C8B-B14F-4D97-AF65-F5344CB8AC3E}">
        <p14:creationId xmlns:p14="http://schemas.microsoft.com/office/powerpoint/2010/main" val="84325793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8C0D1-8F2C-44CF-903D-F87514E0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05A1D-1F65-42DC-BC2C-C8EDCF5B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937B6-CE84-4C11-94D4-839A381E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plausible-looking workflow can still be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11081-FF2D-469D-9CD5-B9E12496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may run successfully while the evaluation is contaminated.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7BDE6-826B-48DE-AE54-C63A59D5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7D12F-85F1-458C-AB8F-EF4F7BED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96E10-3575-43C4-8A94-72B3D7A4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75DB2-2D3E-416A-9E80-EF394326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64C34-4825-464E-96B6-058D0DFE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Wrong order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X_scaled = StandardScaler().fit_transform(X)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train_test_split(X_scaled, y, test_size=0.2)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The scaler saw the future test rows.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B2DD9-DBF9-44D8-B11C-00E4B194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7551B-9558-4AFD-A4AA-EA4BD5C4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6AEAC-6EE9-4279-91D6-AFF7C6F8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05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IT IS WRONG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4FE95E-5A55-40F1-94F0-EFF3B52E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43175"/>
            <a:ext cx="405765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mean and standard deviation used in the transformation include test observations. The test set has influenced the training representation before evaluation.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3B2BB-FB66-46F3-84AB-A8B3DBEE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74D39F-AE1C-4528-84B6-0E9EF2DB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5C3EB-56B9-401F-B512-D586BBB4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THE ERROR IS METHODOLOGICAL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CB497-1986-4DE0-A9F6-8F504368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No syntax error will warn you about this. The notebook must make the information boundary explicit.</a:t>
            </a:r>
          </a:p>
        </p:txBody>
      </p:sp>
    </p:spTree>
    <p:extLst>
      <p:ext uri="{BB962C8B-B14F-4D97-AF65-F5344CB8AC3E}">
        <p14:creationId xmlns:p14="http://schemas.microsoft.com/office/powerpoint/2010/main" val="26773637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E2329-F608-4E29-A35B-A2546E31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54E09-A844-483F-8D7A-BBBEE728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CEEA1-2C57-4B98-AF38-0FAFE9F7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correct order keeps the test set outside fitting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193FF-6B0E-4616-86C0-1698F910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Split first. Fit on training data. Transform both partitions with the fitted object.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1C234-D428-4DEB-B8CC-655A4EF9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EB617-9C91-4DD0-B535-C77E2C94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7D2D5-2E51-45BE-A073-3A674838CAC0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38250"/>
                <a:gridCol w="4476750"/>
                <a:gridCol w="4857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available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Separate X and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All rows, but target is kept apart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rows for fitting, test rows held 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preprocessor.fit_transform(X_train)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values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preprocessor.transform(X_test)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fitted training rule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model on transformed training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representation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Evaluate once on transformed test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Held-out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941006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5B0F9C-4891-45F8-A397-44EADC3A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C6BB0-A2BF-4AFE-B55B-5319E94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33DB8-EE23-4F40-8369-9DC3A8EB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Stratification preserves the target proportion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B9490-DFB9-4BBD-AA03-DCA3E6BB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For a binary credit-risk target, stratification reduces the chance that a split has a very different class balance.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B668F-6359-4D63-BFCE-8D07643B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03FC9-01D0-48FD-9560-C92073CC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7677D-4CFF-4C68-911A-23BF4DD5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641EB-3FDE-4E49-A755-5C81F616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7E1E3-6678-4867-B08C-56D0897D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 = credit[num_cols + cat_cols]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y = credit['default_next_month']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train_test_split(X, y, test_size=0.20, random_state=42, stratify=y)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77F24-DA9A-4709-B389-91C85EB5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2F16D-D364-460F-A5CD-D7C7202C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022E2B-4826-4A90-9E06-47C71AED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X_train: (24000,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X_test:  (6000,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y_train default rate: 0.2212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y_test default rate:  0.2212</a:t>
            </a:r>
          </a:p>
        </p:txBody>
      </p:sp>
    </p:spTree>
    <p:extLst>
      <p:ext uri="{BB962C8B-B14F-4D97-AF65-F5344CB8AC3E}">
        <p14:creationId xmlns:p14="http://schemas.microsoft.com/office/powerpoint/2010/main" val="125693798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50777F-C968-4CCB-A2CD-A5D51F15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11368-31A9-49C8-A18F-A7C5A522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9612F-7DE5-412E-A4DB-3E4EF83F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split preserves the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6F1B2-D156-4C69-858D-EFBC7F89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counts are an audit of the split, not a performance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E6D2E-6916-408E-97FA-FF39F386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7B5800-8C55-4193-83C9-6C7FC2BD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566D6D9-AC12-4834-822A-2F6453540FA3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d73248ab1749e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8BC47-893C-481B-8CCD-2E996FA0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94923-C7DE-47C7-BF89-DF10C86A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91DE2-B3B9-45ED-8D5A-C98DC924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4315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TRAINING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B555F-AB3A-4B43-BF4C-6B1CD783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24,000 rows, including 5,309 defaults.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59B9B-8626-445C-9149-88BBF5B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477B5-3F90-4511-AFF3-03D94DAE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52691-DF77-46FB-BE8A-080A3345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91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FDB8C2-A0A1-41E8-80E4-5F88657E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6,000 held-out rows, including 1,327 defaults.</a:t>
            </a:r>
          </a:p>
        </p:txBody>
      </p:sp>
    </p:spTree>
    <p:extLst>
      <p:ext uri="{BB962C8B-B14F-4D97-AF65-F5344CB8AC3E}">
        <p14:creationId xmlns:p14="http://schemas.microsoft.com/office/powerpoint/2010/main" val="81172236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5EF7E-1A0D-4F73-9F0C-8115595E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DA0EEC-FE58-4493-833A-D442AFE9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COLUMNTRANSFORMER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B484BE-DC6A-476C-BE2A-C3CFA9A0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Different columns can follow different pipelines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8C6AB-47EC-42CB-8371-A1E30C9B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ColumnTransformer gives the table a declared transformation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6BB4C-7F21-4F9A-8015-15FC4199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3ED88-5F3F-4985-986D-A41EB0CA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35147-A292-4CB4-ACBC-E37DEF64A0B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4857750"/>
                <a:gridCol w="314325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 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imputer → StandardScaler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Five scaled numeric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Most-frequent imputer → OneHotEncoder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Thirteen indicator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Retained separately for traceability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preprocessing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Used as y after the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BDD60-4AB1-4F59-BE23-112F6FCD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CB265-FCA0-46F5-A619-2E152972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A9727-20DD-40C1-9ACE-4497B7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IS SAFER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FD50C-1CB1-4029-832F-0A8BCE55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object stores the training medians, scale parameters, and category vocabulary. Applying it later uses the same decisions in the same order.</a:t>
            </a:r>
          </a:p>
        </p:txBody>
      </p:sp>
    </p:spTree>
    <p:extLst>
      <p:ext uri="{BB962C8B-B14F-4D97-AF65-F5344CB8AC3E}">
        <p14:creationId xmlns:p14="http://schemas.microsoft.com/office/powerpoint/2010/main" val="138097518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17FDF4-1866-496E-91EF-EE458F7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7DE51-DCFC-49B8-92F9-168A50D4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B621EE-BCBD-4B40-BBE5-9A64057E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the preprocessing object once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E2E40-B3F9-45CB-81B8-71CF6C2F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This is the code pattern that will carry into logistic regression and tree-based models.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69F94-5AD8-43C9-8930-6D6580F2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1D7BD-8F24-4F71-B8C0-B56E4F06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4CD60-DC5B-4F96-A958-05C5EB88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CEE20-1C32-4EC2-A96A-C82740B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76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EB9BCA-6CCB-4B6B-9142-3EEC7999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13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numeric_pipe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SimpleImputer(strategy="median")),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("scale", StandardScaler())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categorical_pipe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SimpleImputer(strategy="most_frequent")),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("onehot", OneHotEncoder(handle_unknown="ignore"))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D4981-B502-4F61-BA02-53CFA266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D9DFC-FE13-4AC0-9A9D-302594D9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24974-07E5-4DB1-8CA0-A012A70B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BLOCK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D784A-3BB7-427C-B207-C88111E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scaling use training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ED504-8059-4612-89CE-5B79ACD7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1891B5-7E07-496D-A8C7-9F11D283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D84EF-92B9-4745-83EE-7CAF37CF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152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BLOCK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CD272C-EBFE-496C-8FA6-BAB581F1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48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Unknown categories are handled without changing the code path.</a:t>
            </a:r>
          </a:p>
        </p:txBody>
      </p:sp>
    </p:spTree>
    <p:extLst>
      <p:ext uri="{BB962C8B-B14F-4D97-AF65-F5344CB8AC3E}">
        <p14:creationId xmlns:p14="http://schemas.microsoft.com/office/powerpoint/2010/main" val="18222868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ADDE6-CAF6-4DCA-9136-8A496AA6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62176-3FE2-4D10-BDB1-133F3C47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2145B-12F1-4F31-88B0-D360B53E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transformation creates a model-ready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18D51-91C7-46D4-AAF0-3E9D8ADE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shape and feature names are part of the quality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48BCA-522D-4A9D-868C-886CF42D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F804B6-FCA6-4C57-A265-48D2E8B1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92E5E9-5569-46F5-BAEF-CD6ED79F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6470-9518-4C36-A54B-CA8DD4D8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FB55F-CE97-47B9-99F6-F9B32E68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print(X_train_ready.shape)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print(X_test_ready.shape)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print(len(preprocessor.get_feature_names_out()))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3A503F-4026-4DEB-BD68-CF99D95C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ABAE9-C614-4728-B0BF-631F49A3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64297-D97A-4EE4-AE38-D68941C7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C0577-0359-4D75-A144-6E2E6C7A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9B47B-742F-4574-8AE4-6FC65C93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1F483-65C2-4ED2-A209-941D29FE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E29D3-364D-4836-A89B-DFD2187E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five scaled numeric columns plus thirteen one-hot columns.</a:t>
            </a:r>
          </a:p>
        </p:txBody>
      </p:sp>
    </p:spTree>
    <p:extLst>
      <p:ext uri="{BB962C8B-B14F-4D97-AF65-F5344CB8AC3E}">
        <p14:creationId xmlns:p14="http://schemas.microsoft.com/office/powerpoint/2010/main" val="192642875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2C899A-4F59-42FA-A760-3CCD00BE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A679B-4FCD-49C9-A438-1B6B5152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END-TO-END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C8A4C-1D0D-4A17-9A4D-C2818BD8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transformed feature names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7494E-76A3-4B05-9FF8-A227B301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Feature names connect the model matrix back to the original financial variables.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B8EDC-0BF9-44EC-8767-1BE09BFE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7DF71-0140-4A49-8B3E-33CA0BF1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D8BE3-420A-4666-83E3-248F6BA98A82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output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num__LIMIT_BAL, num__AGE, num__PAY_0, num__BILL_AMT1, num__PAY_AMT1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cat__SEX_1, cat__SEX_2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cat__EDUCATION_0 through cat__EDUCATION_6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Marriage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cat__MARRIAGE_0 through cat__MARRIAGE_3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27E10-5528-4D84-B57E-CEE8FDC4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62102-86C4-428B-A50D-50830AE3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468BC-1B8C-4AA0-8E81-51C9696B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MODEL DOCUMENTATION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59E55-6729-4586-982D-F2182A86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this list with the fitted model. It tells a reviewer what each coefficient or feature-importance value can mean.</a:t>
            </a:r>
          </a:p>
        </p:txBody>
      </p:sp>
    </p:spTree>
    <p:extLst>
      <p:ext uri="{BB962C8B-B14F-4D97-AF65-F5344CB8AC3E}">
        <p14:creationId xmlns:p14="http://schemas.microsoft.com/office/powerpoint/2010/main" val="58940050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182803-0DBE-4BE9-9CC8-D052A743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308DB-8C65-40B6-854E-ECEBEDB3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E267C-4B17-4973-BA9C-75C8D116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Worked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DF4F2-E81E-4040-92B5-7686D042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These small cases make the cleaning decisions concrete before the full pipeline is used on the UCI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4C78D-5308-47F0-885C-33D1F2B9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06AD2-3697-459F-9A93-FC99B66F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3C511-9ED5-45E8-B1BB-76DC60E7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5ADAC-97DA-4496-B583-E9FCEC63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87700620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D129C6-20A5-45B9-9862-F3132B59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72E9F-C204-4FEB-AC6B-F2C1C35C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STUDIES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2A08F-F4FC-4C18-BDC0-8549433F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short cases connect the rule to a financial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C6AAE-3B92-4A24-8D99-91BB5F77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case uses a small table so the result can be inspected by hand and reproduced in the notebook.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672EC-FBEC-44D6-9247-B2B38359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954B7-C37C-443E-A284-385467C0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C70A0-DE44-4B23-975C-BA565A98272C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4476750"/>
                <a:gridCol w="400050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produced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· Missing income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does an absent value mean for a borrower?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Imputed value plus missingness flag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 · Duplicate transaction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repeated row a second event or a duplicate import?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Exact-row and identifier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 · Large payment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Should an extreme amount be removed?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Threshold, flag, and treatment decision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 · New category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happens when a new channel appears?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One-hot output with unknown handling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 · 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much can a test observation change a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Training-only versus full-sample parameter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 · Full 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the pieces work together?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model-ready features from the real 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695675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CC30A-702B-45D6-8C4F-417CDF67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6445F-505B-4CEE-B813-97E1740C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MISSINGNESS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5550C3-B8E9-4EDE-A5D4-AC682320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income value can carry information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69B9D-D6F5-4192-AC1B-967108CB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median imputation can hide a useful operational signal if the analyst discards the fact that the value was absent.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566D5-FC45-4DDA-9316-071310C7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F48D8-1C9C-4FC0-874D-59AB1617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68F16-F40A-4C82-98FD-9F5CA8AC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05928-63B6-4165-B991-9D32F6CC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F4018-E127-42EF-AD3B-9CDFBE11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28019-6396-4767-9292-6AD7ADF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who does not report income may differ systematically from a borrower whose reported income is low. The code should preserve that distinction for later analysis.</a:t>
            </a:r>
          </a:p>
        </p:txBody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0B494-8C39-4BDA-9D70-1F91C23088ED}"/>
              </a:ext>
            </a:extLst>
          </p:cNvPr>
          <p:cNvGraphicFramePr/>
          <p:nvPr/>
        </p:nvGraphicFramePr>
        <p:xfrm>
          <a:off xmlns:a="http://schemas.openxmlformats.org/drawingml/2006/main" x="6191250" y="2095500"/>
          <a:ext xmlns:a="http://schemas.openxmlformats.org/drawingml/2006/main" cx="4857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619250"/>
                <a:gridCol w="1524000"/>
              </a:tblGrid>
              <a:tr h="396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Income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Reported?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58,000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0566F-9FAB-49B0-8C4A-DF487B2A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9200A4-5459-442C-ADE4-6F82FC6F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FFA97-700E-4ECD-9B67-6EE9B5A8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F9B36-31D9-4BE2-BC76-62037102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the numeric value for the estimator, retain an indicator for the missingness event, and explain that the indicator is a modelling feature rather than a replacement for source recovery.</a:t>
            </a:r>
          </a:p>
        </p:txBody>
      </p:sp>
    </p:spTree>
    <p:extLst>
      <p:ext uri="{BB962C8B-B14F-4D97-AF65-F5344CB8AC3E}">
        <p14:creationId xmlns:p14="http://schemas.microsoft.com/office/powerpoint/2010/main" val="162038548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21A63-FCAD-4B89-9216-FA0B40DC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E98A6-2E04-4445-ACBC-02F48278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77AA6B-C88A-4637-BC3D-1A41E1CD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an indicator produce two pieces of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410F2-3485-4855-9C2A-41C33A08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value supports the numerical pipeline. The indicator preserves the data-collection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4ADEC-E7B6-4F09-80A6-37332540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DC974-4996-48D3-AEA7-4E9B2A52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B422-C8B8-49AD-91B1-D5AC61AF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7EB58E-BC87-4847-9997-2E58E564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50E960-49A0-4015-BE8C-04183653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case_a["income_was_missing"] = case_a["income"].isna().astype(int)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median_income = case_a["income"].median()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case_a["income"] = case_a["income"].fillna(median_income)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FA5BB-DF4F-42AF-A594-EFCB29FD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64A71-3BCF-4E19-AA9F-D9A60DEB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7093A-A39D-4317-B7A4-8F54AF71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median_income: 58000.0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borrower  income  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          42000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          58000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          72000       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146DAB-6FC4-41B9-A76E-546D121F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626CBD-B7CF-4768-85A7-003BE45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0E3FF7-3D1D-4E8A-A354-4B17690C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92162-C2A6-4E95-A740-0877636D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receive the same numerical value as the median, but the indicator keeps their original status visible.</a:t>
            </a:r>
          </a:p>
        </p:txBody>
      </p:sp>
    </p:spTree>
    <p:extLst>
      <p:ext uri="{BB962C8B-B14F-4D97-AF65-F5344CB8AC3E}">
        <p14:creationId xmlns:p14="http://schemas.microsoft.com/office/powerpoint/2010/main" val="106868465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D927E-1C2C-447C-AEA5-78AE3B71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E0B26-59E1-4DEC-9F17-F13CA95D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E542E-36EA-4A95-852D-CF83C347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missingness indicator changes the 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161E2-1CF8-4252-BEA3-D6E2850E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income alone suggests that B and D look like median-income borrowers. The flag tells us that the source did not report the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BC957-82FB-4665-BA86-F04EB0C6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EB93B-BAE7-436D-9497-0F9EFF16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A5BC435-18A1-4BEF-B541-634F4EF4E6D9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5905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0146e19e5441f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23FDC0-66FE-4776-9D12-282F86D2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493CB-1CF6-45CC-8444-1AEAC47C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D3131-7ACB-4612-BA24-AB5BA20E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90775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37064-76AF-46B2-B652-30A614DB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86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row now has a value that a numeric transformer can process.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67E26-061B-42B4-8550-F787311D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6CE88-F4CD-4ABF-A99F-E42741CB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6ED91-DA99-4322-BF03-114ED5A9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FLAG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10EC7-B41B-46EA-BC81-45B6ACA1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52925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retain a separate indicator equal to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17149-A0B4-4E48-8267-EFC23F4C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B202C-7E76-4641-AEB3-051A61C5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FB930-6314-4262-B87C-5145C033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306AFC-B6EE-42A4-8A9D-BA61600C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indicator may be useful, but the analyst must test whether it improves the model and whether it is available at prediction time.</a:t>
            </a:r>
          </a:p>
        </p:txBody>
      </p:sp>
    </p:spTree>
    <p:extLst>
      <p:ext uri="{BB962C8B-B14F-4D97-AF65-F5344CB8AC3E}">
        <p14:creationId xmlns:p14="http://schemas.microsoft.com/office/powerpoint/2010/main" val="151158477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C2196-33E7-49EA-9199-8A8C0A96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A5BAA-30EA-49E5-9662-7FE24526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35220-1D6F-411E-87B8-F8155145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repeated transaction requires an identity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79702-609C-43CB-980E-87C57760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duplicate row can inflate frequency, amount, and risk estimates. A repeated identifier may also represent a legitimate second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2D5D9-333A-4F75-8A05-529AF9C2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30DA50-FCA3-41FD-A40E-4889CDAB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E2DF5-4C59-421C-8CB7-19258103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707B9-CC60-4064-B169-AF1E1AAA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593AB-769C-452A-A646-913C376C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B6861-07CF-4DD1-8ACC-833A5E3A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All stored fields match. This often points to an import or append error, but the source system should be checked before deletion.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588E0-D3DA-4811-ABEE-BEEEDEEC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FE547-18AE-4C05-8C7F-84086495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BEBB5-681C-417F-BA70-338E97F8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REPEATED IDENTIFIER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43174-5206-450E-95EB-561DB799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transaction ID appears again. The amounts, timestamps, or status fields decide whether it is a repeated event or a duplicate record.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6D32E-D9E5-40DC-AC18-58E57B87F2DC}"/>
              </a:ext>
            </a:extLst>
          </p:cNvPr>
          <p:cNvGraphicFramePr/>
          <p:nvPr/>
        </p:nvGraphicFramePr>
        <p:xfrm>
          <a:off xmlns:a="http://schemas.openxmlformats.org/drawingml/2006/main" x="819150" y="4953000"/>
          <a:ext xmlns:a="http://schemas.openxmlformats.org/drawingml/2006/main" cx="10229850" cy="952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2476500"/>
                <a:gridCol w="2190750"/>
                <a:gridCol w="4133850"/>
              </a:tblGrid>
              <a:tr h="190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Transaction 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Merchant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51136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31E711-2A8A-4B95-89B0-F049867E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9241F-8DFA-4FDA-9BC6-098AD071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57F7C-C638-4BBA-BF9F-DCB96834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the row and identifier separately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9DE69-4860-42DF-AD1E-2F6B57D7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small example contains one exact duplicate and one repeated identifier. The two counts agree here, but they answer different questions.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BC39F-43BD-40C0-9A70-5168A78E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32C87-C784-419C-9F8B-0BCBF3AD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5065EF-93E8-4484-B6EF-E43B79FA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1F399-4550-4763-A145-1DF4F552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2A32E-0573-477B-981E-CAFEBB60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exact = transactions.duplicated()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same_id = transactions["transaction_id"].duplicated()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print(exact.sum())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print(same_id.sum())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9E23D-5554-410E-A396-5937EA2F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A227C-E90B-4D37-A013-D90EB542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54F8D-8487-489E-B112-6802259F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exact duplicate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repeated transaction IDs: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 2 and 3 are identical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review before deleting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6F2DAF-20F0-47D8-A18D-FC36CE3D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A64C26-9524-4AA9-8A8C-CF29FA6E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01A1C6-3BED-46E8-ADF8-82E1A278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08E7DE-9149-4DB7-8333-BAF480FD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use ID uniqueness as a substitute for comparing the fields that define an event.</a:t>
            </a:r>
          </a:p>
        </p:txBody>
      </p:sp>
    </p:spTree>
    <p:extLst>
      <p:ext uri="{BB962C8B-B14F-4D97-AF65-F5344CB8AC3E}">
        <p14:creationId xmlns:p14="http://schemas.microsoft.com/office/powerpoint/2010/main" val="234245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6C05-BFA0-4520-A8D3-316B061B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5ED7E-E49B-41D3-B022-B88C85D5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EXTREME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32B5B-81D5-4A46-9087-A6D35D9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extreme payment can be valid, erroneous, or economically important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AD981-9A4B-4AA0-B5C8-CFD6BC95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threshold creates a review list. It does not decide the treatment by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FDB644-5748-49A9-873A-E807432E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FB401-791F-450E-87D7-C64C1234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98D79-E028-41CC-B767-FD47ED40F103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86000"/>
                <a:gridCol w="2476500"/>
                <a:gridCol w="5810250"/>
              </a:tblGrid>
              <a:tr h="3929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Payment record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Initial 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1,500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1,600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 requiring source 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37F443-A46A-4FE8-A787-B3F93B88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3FFE66-D600-4129-981E-A20CFDA6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13658-800B-41DA-8DCA-0A3ADAAE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34DEB-98C1-44BE-B83D-1072B500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Was the payment genuinely large, recorded in a different unit, or duplicated during extraction?</a:t>
            </a:r>
          </a:p>
        </p:txBody>
      </p:sp>
    </p:spTree>
    <p:extLst>
      <p:ext uri="{BB962C8B-B14F-4D97-AF65-F5344CB8AC3E}">
        <p14:creationId xmlns:p14="http://schemas.microsoft.com/office/powerpoint/2010/main" val="120635827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97665-E9A7-4E2E-8106-39148D6D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1FF25-F9A4-42C6-B497-A9B78F78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10E65-82B6-47F1-A128-7F62F062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IQR rule flags the large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E506F-3EBE-4C30-AD0E-CB47FFA3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example shows the mechanics of a flag. The final treatment must follow the source definition and the modelling objective.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0DBF8-9F3D-44A8-9C19-CBC1FF58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44A0C-CCA9-4946-B61C-90E9B9E9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A7D53-24E9-4075-BE8D-08958E97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23E7C-CBB9-4A50-AC47-7C448F62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DD0F8-E264-485E-9A3A-7EFB5C1C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q1 = payments["amount"].quantile(0.25)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q3 = payments["amount"].quantile(0.75)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iqr = q3 - q1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upper = q3 + 1.5 * iqr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payments["outlier_flag"] = payments["amount"] &gt; upper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F3361D-E79A-457D-A97D-65954513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CD5E3-7A29-4CBC-9557-9852D41D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947D0-F560-48DB-8AAD-D6171ADB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q1: 975.0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q3: 1500.0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upper fence: 2337.5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amount: 180000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E7F28-46BF-47F9-9C73-27139CAB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F69D6-EFEA-4A99-9C79-C9D1509D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13EE6-01BA-4780-B9CE-01033059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POSSIBLE TREATMENTS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60AD87-0AA6-4162-9A24-D4795003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Verify, cap, transform, keep with a flag, or remove only with a documented reason.</a:t>
            </a:r>
          </a:p>
        </p:txBody>
      </p:sp>
    </p:spTree>
    <p:extLst>
      <p:ext uri="{BB962C8B-B14F-4D97-AF65-F5344CB8AC3E}">
        <p14:creationId xmlns:p14="http://schemas.microsoft.com/office/powerpoint/2010/main" val="8139911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A04BA-E596-42A9-AC0A-D3D48767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B6A8F3-5A42-4908-BADD-3677845A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92342-7C63-4DED-A073-0F11E0C8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plot shows why a flag is useful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0ADB8-BA26-46E1-A0A1-C72359A4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extreme value is visible immediately. The chart does not claim that the record is wrong.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20707-6A64-4330-8702-280FF1A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FD1AB-0FF7-4BA9-A710-245BFCA4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D421464-4D39-4CA8-B01F-E7D2B00D8B7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7b25d95df64cd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DB259-0FA1-4D77-86CD-0D2A92FE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B4E86-27CC-465A-B778-0EF0CBF9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3B917-01A9-4796-81DD-2F09980B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90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REVIEW THE 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605892-A77C-437B-B529-C5BF46F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currency, units, timestamp, and transaction status before changing the value.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6AA5E-7040-4F8C-8735-BC7B29D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4EE9B-F6AD-4D4F-BCB3-0084B75F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C5534-494D-4C6E-A571-705E10FB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005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KEEP THE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6E867-CA79-40FE-80C2-84B979DC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9580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Store the threshold, flag count, and treatment decision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59996944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13F3D-0B88-4B72-A1B7-6BE57EA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E3DAF-72C7-4649-BCDE-D688B687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NEW CATEGORIES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13F16-C460-4E92-AF6A-79CF2555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deployment table can contain a category unseen during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758CD-76E1-460D-AB84-D4AC2F16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encoder must handle a new channel without changing the transformation contract or crashing the prediction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877CD-8670-4759-95DF-46DB3459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F5C45-4233-4CFB-8CE4-57A93DBD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4C544-3B6F-4025-9D6A-2CE614AD6285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2857500"/>
                <a:gridCol w="4857750"/>
              </a:tblGrid>
              <a:tr h="59531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channels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New test channel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behaviour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mobile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Unknown category is ignored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web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Known categories retain their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 shape stays stable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96A7D-5621-44FB-BD64-54667B3F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F8051-C386-4DE9-BB9F-22F49EA5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624E2-B490-4AE3-A7B8-99BB7F9F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53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7C855-C56D-4B9D-9696-5122CB1D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4830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Financial institutions add products, channels, or status codes. The preprocessing object should expose the issue for review while keeping the pipeline operational.</a:t>
            </a:r>
          </a:p>
        </p:txBody>
      </p:sp>
    </p:spTree>
    <p:extLst>
      <p:ext uri="{BB962C8B-B14F-4D97-AF65-F5344CB8AC3E}">
        <p14:creationId xmlns:p14="http://schemas.microsoft.com/office/powerpoint/2010/main" val="167217814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ABE25-054A-4B12-A4E5-F1EA0876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EACCD1-8B2D-403C-9DAE-120578F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22538-E56B-474E-825E-CB114207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encoder preserves the feature layout for a new category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CCAA16-80A8-4AFA-A09D-C6ECAB57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unseen mobile category contributes zeros to the existing one-hot columns. A separate monitoring rule should still record that it appeared.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B6388-2402-464F-AF93-4F2EE2EE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41409-B8DB-4848-838E-0DD1793C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382C5E-3379-4D35-87D6-7009F219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CEEBF-BD1E-41EC-B459-9BC3EAEB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0638E-FFFD-477E-B2E3-2D4FCB31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 = OneHotEncoder(handle_unknown="ignore", sparse_output=False)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encoder.fit(pd.DataFrame({"channel": ["branch", "web"]}))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encoder.transform(pd.DataFrame({"channel": ["mobile", "web"]}))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176A0-FCA2-4448-A09A-FBF63480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22731-6C51-4DD7-B4C8-12FCFA45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6AB8C-1EB3-46B9-BAC0-0B60471F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feature names: channel_branch, channel_web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mobile -&gt; [0.0, 0.0]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web    -&gt; [0.0, 1.0]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unknown-category warning: mobile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5CF6A-C7CB-4AE4-B0B0-1F40EE1D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229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1DEDAE-F317-4374-A5DC-81701FE9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C891B6-8A01-4B42-9074-56397C1F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640B7-3040-4197-B223-D2CF587C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Monitor the new category separately. Operational robustness does not remove the business change.</a:t>
            </a:r>
          </a:p>
        </p:txBody>
      </p:sp>
    </p:spTree>
    <p:extLst>
      <p:ext uri="{BB962C8B-B14F-4D97-AF65-F5344CB8AC3E}">
        <p14:creationId xmlns:p14="http://schemas.microsoft.com/office/powerpoint/2010/main" val="2656499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B54CDC-7ED4-4E90-8405-FC8E970F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5E8AA7-2F5F-43BD-837F-7D751A6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B83C9-639B-4F69-B788-3929F96A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transformation can use information from the future without obvious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45F66-392D-465E-B90F-34A35539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wrong workflow often looks reasonable because every line executes successfully.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14A71-1863-452E-A3D0-23A0DFA0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F1660-CFB6-4DF7-87B8-7168DD67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2D457-B416-4E50-ABE7-3D4F9D23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501A7-A78D-46C6-8DFF-84DA16CB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813B2-BCD8-4C94-9BEB-1DAD9B3B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AEC41-5113-46C6-9C57-D19EC68F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Compute a mean or scale using all rows, then split the data. The held-out sample has already influenced the representation used for training.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3789F9-22C7-4177-A9EE-172BC9A8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CEABA-FCB7-46BB-843A-011F11F2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3B2B3-11C5-4007-8D9B-1C4AA091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CORRECT WORKFLOW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F1E4E-4A9E-4BC3-8F59-D8B68130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first. Learn the transformation on training rows. Reuse the stored parameters on test rows without fitting again.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9AA49-2B51-4988-9B99-86EB4E57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1022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information boundary is part of the model design.</a:t>
            </a:r>
          </a:p>
        </p:txBody>
      </p:sp>
    </p:spTree>
    <p:extLst>
      <p:ext uri="{BB962C8B-B14F-4D97-AF65-F5344CB8AC3E}">
        <p14:creationId xmlns:p14="http://schemas.microsoft.com/office/powerpoint/2010/main" val="42171647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EFCD8-01F5-4369-B7F4-1D4766F3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91C54-6BE8-4A57-9C06-4F59158C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7C8B3-4D56-4348-AA2B-F24312DE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One future observation can change the scaling parameters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0F61FF-E5BA-4BDB-B9E4-5FDCAB0C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toy example isolates the logic. The difference becomes larger when the test sample contains a regime shift or an unusual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B7E1E-0A57-42AF-94FA-F3F9AF7E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B7979-FED8-4CA7-971E-94EA406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55649-BEBE-48E3-AAEA-1BBD6A2F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CEED7-9553-42D5-B0B2-93C91D89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64B147-07A8-4D4B-812C-32A4CE00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 = np.array([10., 20., 30.])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 = np.array([1000.])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wrong_mean = np.concatenate([train, test]).mean()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right_mean = train.mean()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print(wrong_mean, right_mean)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CF143-8036-4D1B-84B7-EDBEBDA5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FC0C6-F9F2-4A5D-9438-6413724B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D4B55-9BF3-4CEC-8A4B-7ECFD94B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wrong full-sample mean: 265.0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training-only mean: 20.0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 test row changes the centre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transform(X_test)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F821D-CFA8-4555-841F-B7E89A06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1F3DA-CC58-431E-A64D-F3E503CF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275846-E0E9-4DBC-ABB7-A9631930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LESSON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A1631-563C-47F6-A1EC-2ADC8981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set should measure generalisation, not help define the representation being evaluated.</a:t>
            </a:r>
          </a:p>
        </p:txBody>
      </p:sp>
    </p:spTree>
    <p:extLst>
      <p:ext uri="{BB962C8B-B14F-4D97-AF65-F5344CB8AC3E}">
        <p14:creationId xmlns:p14="http://schemas.microsoft.com/office/powerpoint/2010/main" val="80085719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0DBFF-DF19-47C2-AE05-80A1F2C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D3066-2F61-4B39-B62C-683E1BF5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0C65D-1F39-486E-8690-F47D081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leakage error changes the meaning of the transformed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D0C7C-C915-48D2-9D2D-829DD10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test value receives different transformed values depending on whether the full sample was used to fit the scaler.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0FF9F-50A1-456F-B485-CF3FBD0E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ABDCB-32D1-48F4-B93D-7E747C9E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59867-5658-41B1-9D4B-3AEC490CF41C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286000"/>
                <a:gridCol w="3429000"/>
                <a:gridCol w="219075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Workflow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used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 value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Full sample before 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265.0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the test row to define the centre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training information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 fit on 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Stored training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Applies the stored rule to test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1F9FC-54E2-4C92-9B3A-32BC0CCD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33842-325D-4E29-BD9B-DAE3BC17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07E1C-C5A1-495B-88FF-9C02D55C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REVIEW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708DE-CCCF-40BC-BD89-474BC351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When you see fit_transform in a notebook, ask which rows are inside the object at that moment.</a:t>
            </a:r>
          </a:p>
        </p:txBody>
      </p:sp>
    </p:spTree>
    <p:extLst>
      <p:ext uri="{BB962C8B-B14F-4D97-AF65-F5344CB8AC3E}">
        <p14:creationId xmlns:p14="http://schemas.microsoft.com/office/powerpoint/2010/main" val="186049195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1BF5E-F9E3-4DFF-B963-5A6E53BF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53853-9E10-4A35-8F34-16C12FF2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FULL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EC2A3-F593-49BF-83BA-523F9020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real table needs one declared transformation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29277-DD87-47D6-BDBD-B6E4493B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final case combines the earlier decisions on the UCI credit dataset. The target and identifier remain outside the predictor matrix.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8D14F-0BF3-4647-A05D-219F4446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D8975-D502-407E-82E3-52149720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171E8-AFCB-422A-AB5B-97475BED2796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2857500"/>
                <a:gridCol w="3810000"/>
                <a:gridCol w="1809750"/>
              </a:tblGrid>
              <a:tr h="5524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Raw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variables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and scaling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 imputation and one-hot encoding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separately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as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57D7B-23C0-4AB5-9272-62398774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7D9A4-F094-4223-BC43-4811C944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75480-77AC-4681-991C-BBB647DB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ADC17-8935-4A64-95DD-0A71BEE2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eighteen model-ready features.</a:t>
            </a:r>
          </a:p>
        </p:txBody>
      </p:sp>
    </p:spTree>
    <p:extLst>
      <p:ext uri="{BB962C8B-B14F-4D97-AF65-F5344CB8AC3E}">
        <p14:creationId xmlns:p14="http://schemas.microsoft.com/office/powerpoint/2010/main" val="1860694878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A61BF-AB49-4D5F-95B0-EB94914A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00FC4-AAC7-4489-B27D-2018D6C0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D7F54-46E7-4716-9B8D-52BD9643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pipeline keeps the rules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27DCF-5487-4216-9F55-97C9F6FA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single fitted object can be saved, reviewed, and reused when the next supervised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7BA83-63F6-4F29-95CC-BF40F86E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368CEB-465C-4EC4-8B79-2D3CB97F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2BCF3-9366-4339-A140-B88C50E1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B9D7A-626F-4A07-B6F7-C017BB29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298A4-69CF-4338-A49F-BF86F0D4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names = preprocessor.get_feature_names_out()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E27BD-B8B8-4916-9A3B-0FC26D1B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1DDEB-F700-489C-9A5B-22EA4572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291BD3-B56A-43D1-8B29-685424E7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08936-9B4B-4464-A1E5-89651865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scaled columns retain their source names.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F291E3-63EB-413C-B429-206EACF3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6F0F0-F61C-4B6E-8A46-B1514922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7A5B3-89FC-4A3A-A047-461F6A73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0025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2204E-2508-4AB1-892A-B39F5B79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05300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Thirteen indicators record category membership.</a:t>
            </a:r>
          </a:p>
        </p:txBody>
      </p:sp>
    </p:spTree>
    <p:extLst>
      <p:ext uri="{BB962C8B-B14F-4D97-AF65-F5344CB8AC3E}">
        <p14:creationId xmlns:p14="http://schemas.microsoft.com/office/powerpoint/2010/main" val="1455760300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E5DC6-2E11-4AF3-BBB6-D05B4235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CC709-D90C-41B9-AE1F-C9597E1B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711D9-47F7-4F9B-BFBD-3B25D394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output provides an auditable bridge to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F7C21-1769-457A-8628-9DD6172F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fitting logistic regression or a tree, confirm the dimensions and feature names.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19F7E-6F7F-4CB3-95BB-724532C1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057BE-1D67-44E5-B779-90160CCD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25A95-9781-4AE9-AB03-BC5EB9BDE438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2952750"/>
                <a:gridCol w="5238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(24,000, 18)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transformation ran on every training row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(6,000, 18)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output layout reaches held-out rows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selected numeric block is visible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category vocabulary is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Feature-name list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Later coefficients can be traced back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24FFC-202D-4B86-9DAE-F9980578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A5677-802C-4579-98EB-17D979C2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246C54-5F58-47ED-ABBA-1B3BE177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MODEL HANDOFF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DE893-2FD5-4010-AACB-9755B483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next lecture can extend this object with financial feature engineering without rewriting the data-quality contract.</a:t>
            </a:r>
          </a:p>
        </p:txBody>
      </p:sp>
    </p:spTree>
    <p:extLst>
      <p:ext uri="{BB962C8B-B14F-4D97-AF65-F5344CB8AC3E}">
        <p14:creationId xmlns:p14="http://schemas.microsoft.com/office/powerpoint/2010/main" val="17557360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AF72D3-4912-4172-B5B7-DEE37FC9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220D2-3980-4C77-8770-6D233865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B9C91-B13E-40B9-B7A4-E7874815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good preprocessing notebook explains each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C0422-7EBF-4232-B9D0-C5E4DAB7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useful only when the reader can connect it to a data decision and a financial meaning.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0612F-FD5E-4C8D-8584-464D4403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AF0EC-5291-4E2C-A62B-02C5629B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914EE-E8D6-4A1E-B36A-D5CE2490C3D8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76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7715250"/>
              </a:tblGrid>
              <a:tr h="49666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to answer in writing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Missingness rate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Why could the value be absent, and is the absence available at prediction time?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defines the event, and is deletion supported by the source system?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 flag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Are the flagged values errors, rare valid cases, or a different unit?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Encoded feature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categories created the columns and what happens to new categories?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Transformed shape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 the number and order of features match the modelling plan?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comparison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any test information influence the fitted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7519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41A02D-2810-41E5-B5E9-15A33FBF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4E2D7-1587-4D8A-9F91-B6D89CA9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PRACTICE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AE02A-964A-480F-9E0A-CDEF5DC2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one case yourself before submitting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AC549-C06F-4932-92E2-9BF4F3BA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Choose one variable and write the decision as if you were documenting a production data-quality rule.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2394AB-5848-49BB-9AC0-29A5E0FC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2194D-1695-4A28-84E8-B87FF2A3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368EB-D85C-403F-AD2B-FC4715D4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8A3F-6691-48DC-A7EC-538E7BEB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Select one numeric variable from the UCI table and report its 1st, 50th, and 99th percentiles.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7A310-6539-4700-9403-92CCB92A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AE574-409A-409B-93A2-7786C98E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431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flag with a threshold that you can explain in one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EDE747-02E6-4D53-954E-EAE8BBEA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922DB-1684-45FD-86A7-6EA729EB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384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a controlled copy to introduce one missing value and preserve an indicator.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F809F-12DA-495A-822C-995D00E3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1693D-A714-43BA-A29E-8997E5C8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small categorical example with one unseen test category.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C0562-8FA9-4252-ABD2-ACDEC97F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28550-35FD-4C0B-B49E-A784C1BD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pipeline from the notebook and report the output shape and feature names.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E8260E-92EE-4622-A956-2532AA78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3EEF6C-F852-48B3-8A57-8A3DF015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AA558D-1073-4522-899E-BC203A13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SUBMISSION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9AE95-7D71-4CC2-AF6C-26AFB6C5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Include the code, the output, and a short interpretation. A code cell without an explanation is incomplete for this course.</a:t>
            </a:r>
          </a:p>
        </p:txBody>
      </p:sp>
    </p:spTree>
    <p:extLst>
      <p:ext uri="{BB962C8B-B14F-4D97-AF65-F5344CB8AC3E}">
        <p14:creationId xmlns:p14="http://schemas.microsoft.com/office/powerpoint/2010/main" val="107769216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749FDE-5E5B-4B19-B866-6F0B4DE5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722CE-C874-425C-8DA4-B91230E7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EAC8E-5B8A-4B7E-9B05-A4ACAB85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3 closes the gap between a table and 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F9174-154D-4F87-BEA3-8837F0BF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supervised-learning lecture can begin only after the data contract is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57407-8E58-45C5-A33C-A07E3BB7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01C91-8605-4D48-B3F5-18050E6B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0E9FF-3B82-48A0-BD13-0C42E1A5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8C5BE-8DC2-4CA3-9781-C6ABCD78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Audit the source before changing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BEF73-6E62-4906-8D65-59E315EF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513C74-6D46-40AB-8FE5-66078782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05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Preserve missingness and duplicate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210CD-B7E8-4F18-B3DC-1C5E6D6C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C963D-2AEA-4D55-8428-6080F13E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622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extreme values before deciding on treatment.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01E03-1AC1-446E-93E6-6818B94C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F4AA7-77E7-4B79-A70A-F8F1890A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numeric, categorical, identifier, and target roles.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B1066-15F0-475E-B418-545068F9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A64B9B-EBD5-43DB-A569-6ED392F6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766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before fitting transformations.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1A9EE-7F0C-4FA8-A7BC-3D56A581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F86ED4-EEEA-4B8C-B988-DAE20B17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33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one ColumnTransformer so the rules are reproducible.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44192-9374-4491-A57C-2196E2DB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A5567E-83D4-43C7-827A-6E5CFECC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Carry the data dictionary and feature-name list into the model report.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C0990F-9816-40FA-9F1B-0FA01FD9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0A162D-255A-4AAE-B8A6-B7F35573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454F6D-1C0B-4FFE-AF90-F7582B4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NEXT LECTURE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D83AA-39E7-4B8D-AAE8-3F9552B8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uses this pipeline to construct financial features while keeping the prediction timestamp explicit.</a:t>
            </a:r>
          </a:p>
        </p:txBody>
      </p:sp>
    </p:spTree>
    <p:extLst>
      <p:ext uri="{BB962C8B-B14F-4D97-AF65-F5344CB8AC3E}">
        <p14:creationId xmlns:p14="http://schemas.microsoft.com/office/powerpoint/2010/main" val="986869526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E0D20-71FF-4035-9894-F2DD435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42CD8-0CBF-496B-8CD5-DAB4352B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QUALITY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BECE2-ADF6-4423-86C3-06297E7C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preprocessing checklist for this course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FFDF5-23E3-42D4-9F1B-F5E03E29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notebook should make every item visible before the next model is fitted.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49438-4569-4266-B251-12461C79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60443-BF5A-4339-A86C-D0A0FC1B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AFD93-922A-485D-B58D-E24D0DAEADA2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8001000"/>
              </a:tblGrid>
              <a:tr h="452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 condition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source, licence, observation unit, and target are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Structure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Rows, columns, dtypes, missingness, duplicates, and codes are checked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Thresholds create flags before any treatment is chosen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Variables are available at the prediction point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partition occurs before fitting transformations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transformations are declared and reproducible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and category handling are inspected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3858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1FC38-52CC-4972-8B97-CB92A502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79AF1-D681-4E07-8C54-1EC445AA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WEEKLY ASSIGNMENT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1F3DC-C59C-4DFB-B09F-FC269131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a leakage-safe preprocessing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BC2BA-25E4-435F-9FA6-91BAED80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assignment turns the lecture route into a reproducible artifact.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3C82A-2A8C-4FF2-9B57-FA73CB7D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ED2AA-A92F-49BC-B4AC-E3063A45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44918-6B74-4670-A16F-B83A1983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C95C63-82AF-4304-8711-3F5A1BAC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the complete UCI credit table and document source, variables, target, and observation unit.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40162-D75B-47C9-8D87-6D333507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90989-EFF6-4C54-92E4-7D030526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Produce an audit table covering shape, data types, missingness, duplicates, identifiers, and coded categories.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D4975-5044-4EBE-BBE5-41DFDB08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724A64-C06D-47B8-91C7-93073741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527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one controlled missingness example and explain the chosen treatment without altering the source file.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0645E-6CC0-4E9B-BD26-B7F204BF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E581D-8520-4276-8C27-B559AED3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a documented outlier rule and compare counts before deciding whether any treatment is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F0D35-3877-438A-A5AF-AD056A45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423A6-DC81-4BBE-A613-56D9D10E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train/test split and a ColumnTransformer with separate numeric and categorical pipelines.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4DD10-5A1B-45C0-A041-37A5D992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7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9DBA79-23BE-4D80-8074-7BE269F8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Show transformed shapes and feature names, then explain how the workflow prevents leakage.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0B54EC-D8A6-4691-8D60-11A28C36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9906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827A1-5607-4F4E-9D2C-A10E6230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838881-88A3-4188-BCE0-776A4D87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948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DEADLINE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22B7D1-51C7-4FA0-88CD-4A8F866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81675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the Colab notebook one day before the next course meeting and complete the related DataCamp practice.</a:t>
            </a:r>
          </a:p>
        </p:txBody>
      </p:sp>
    </p:spTree>
    <p:extLst>
      <p:ext uri="{BB962C8B-B14F-4D97-AF65-F5344CB8AC3E}">
        <p14:creationId xmlns:p14="http://schemas.microsoft.com/office/powerpoint/2010/main" val="344632860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A59D81-9F7A-4B71-9C8B-961D22D8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91C6B-5C91-4EF9-AE75-9C1470FD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EC8AD-5A98-4447-BADE-CA8E6B68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introduces feature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EA36B-F86A-462B-8C43-050D6231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lecture creates financial variables while keeping the prediction timestamp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2F79A4-3C2B-4571-9DC2-C9A89153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43FFD-EDAC-4B2B-803A-4F4D37A0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84A613-5783-4AC1-9681-F2C9F6A5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447919-E9AB-424E-B4AA-E3141990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CCBC1-F3E2-4A89-BFEF-361CC5F3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1EE37-9BC6-4169-820D-9D5856D4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Ratios, lags, rolling summaries, and interactions should represent a financial concept.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00630-239C-480E-A438-2E6D315D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B4F5A-C12B-4862-B111-88D7B125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6556C-5E00-4D3D-AFA6-B51D83E7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37848-63E5-4A55-A9D5-0B0F8286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feature is valid only when it is known at the prediction point.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8E5BC-1112-486D-B030-B09A2669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873A3-65F6-4EBF-BB49-061BA06F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A545FA-A6B3-4983-BFBA-A9B37C20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SUPERVISED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B01CD-91B6-4397-B6AC-968C4DA0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engineered variables will feed the first supervised models later in the course.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49CBE-AB62-45FA-8502-613154BA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the Week 3 preprocessing notebook. Week 4 will extend the same pipeline rather than replace it.</a:t>
            </a:r>
          </a:p>
        </p:txBody>
      </p:sp>
    </p:spTree>
    <p:extLst>
      <p:ext uri="{BB962C8B-B14F-4D97-AF65-F5344CB8AC3E}">
        <p14:creationId xmlns:p14="http://schemas.microsoft.com/office/powerpoint/2010/main" val="915186181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B26EC-F755-4D25-BBCA-74A88509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969DF-A455-484A-A188-2A7696FF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4CFC1-E39C-47B6-B5C5-62802429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Visual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A198E-7E55-42A9-B362-3533B1C6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figures below connect the code to the financial records and information flow that the pipeline represents.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F633E-0FED-4FB8-8DB8-ECF6615E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0403C-6818-4AEB-88CA-818B2030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8C16F-2FA3-4D3A-B9B2-4F22001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5B75C-3B7A-4C3B-B77A-11A6088F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69</a:t>
            </a:r>
          </a:p>
        </p:txBody>
      </p:sp>
    </p:spTree>
    <p:extLst>
      <p:ext uri="{BB962C8B-B14F-4D97-AF65-F5344CB8AC3E}">
        <p14:creationId xmlns:p14="http://schemas.microsoft.com/office/powerpoint/2010/main" val="138512560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D9F9F-5DFB-449D-A774-538B0609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3AEEE-35EA-4DD8-84D1-7CB688FC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B1A76-CCF2-4356-B86F-F447769E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Credit-risk data begins with real borrower activity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C4CFD-0499-4DC9-9644-81C4A2F8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table in this course is a structured record of credit-card accounts. The model does not see a photograph. It sees the variables created by the financial process behind the record.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EB4FB-CB32-48A0-ABFE-C79485FA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3DA62-A47E-4A74-9059-47F1C6BD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921A3-A9DD-43BB-AEF0-F3C083A729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a64143f454b54"/>
          <a:stretch xmlns:a="http://schemas.openxmlformats.org/drawingml/2006/main"/>
        </p:blipFill>
        <p:spPr>
          <a:xfrm xmlns:a="http://schemas.openxmlformats.org/drawingml/2006/main">
            <a:off x="7401252" y="1828800"/>
            <a:ext cx="2628246" cy="3714750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FE696-DB23-4206-923B-B4B53A7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92D0E-776D-45D7-AAC1-7FEF69DB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14713-9474-4E45-9128-28CA053F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91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OBSERVATION UNIT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99C1E-A5CD-4999-9994-38A4B8E9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914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One row represents one borrower account record. The columns describe credit limit, repayment status, bills, payments, and the next-month outcome.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BA31A-4D6C-4DE7-9E07-4BB5310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533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A15F0-3041-4EA5-B4F4-0CBF722C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2143C-20B3-48A2-BA0B-C3AFC706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71900"/>
            <a:ext cx="491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THE IMAGE HELPS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7130B-B0A0-4F1F-BC74-A7C6859D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67175"/>
            <a:ext cx="4914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It anchors the abstract table in an ordinary financial interaction. The model-quality work begins after the transaction or account process produces the record.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0F0627-E815-4113-93EA-C8A3EC02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6262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Image: Sprinno, "Credit cards.jpeg", Wikimedia Commons, CC0 1.0</a:t>
            </a:r>
          </a:p>
        </p:txBody>
      </p:sp>
    </p:spTree>
    <p:extLst>
      <p:ext uri="{BB962C8B-B14F-4D97-AF65-F5344CB8AC3E}">
        <p14:creationId xmlns:p14="http://schemas.microsoft.com/office/powerpoint/2010/main" val="1962079776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BB154E-2F47-4E84-9690-88BA0742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27ECBD-BE50-4053-9776-A3F10404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WORKFLOW FIGURE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27C3C-7C0C-4FC7-9215-0CD8B6AB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preprocessing workflow is a sequence of transformations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76B40-C3B8-4D1D-9E24-335A1DA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ETL idea helps distinguish the source record from the model-ready representation. Each step can change structure or values, so each step needs an audit trail.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0D105-4B36-42EA-B43F-8CCB17B3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3C550-8E99-47A8-8AA4-2EE2F4A1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71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8B5B7-4275-4593-9ECB-FA4BD99ED6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d149a67d24933"/>
          <a:stretch xmlns:a="http://schemas.openxmlformats.org/drawingml/2006/main"/>
        </p:blipFill>
        <p:spPr>
          <a:xfrm xmlns:a="http://schemas.openxmlformats.org/drawingml/2006/main">
            <a:off x="5827760" y="1952625"/>
            <a:ext cx="5394229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CC4D5-6ADC-42F3-9547-AB8795F5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873F9-7A28-4BF2-ABED-8BCAEE8B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3125"/>
            <a:ext cx="4229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Extract: load the complete source table and preserve the original fields.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CA4E9-3997-4898-B928-1633DE67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CDE8E-0E32-4EC9-884B-02B1A396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71775"/>
            <a:ext cx="4229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Transform: audit, flag, impute, encode, and scale according to the documented rule.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1AFD7-4106-43AE-B49F-9E143EDA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CD50C5-B8C5-42B6-9E04-D636005E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00425"/>
            <a:ext cx="4229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or hand off: pass the resulting feature matrix to a supervised model.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15265-1850-4C5A-9CDD-CE359B74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93AE72-1130-4D90-BC15-3107563E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29075"/>
            <a:ext cx="4229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Review: retain the source, transformation object, feature names, and quality checks.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E4B71-3B19-4E56-B530-66C53146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197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Image: Remyrosenbaum, "Conventional ETL Diagram", Wikimedia Commons,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155157700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5A1E6C-F845-49A0-9279-6C51FEE0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6BE9A0-8DD5-44E0-8BC7-36A776DA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INFORMATION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8B1DC-054B-4548-913C-5C83626C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valid split separates learning from 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D5794-CF79-4D64-A199-5A5A225E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train/test picture is a reminder that the preprocessing parameters belong to the training partition. The test partition provides held-out evidence after the rule has been fixed.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D7B52E-FB4B-40F6-B023-05CBA03C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7A918-4148-4249-9E5B-0A06447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5DD64B-76D4-4669-BCB3-F73CE1FEE0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8a9cb90874d80">
            <a:extLst>
              <a:ext uri="{96DAC541-7B7A-43D3-8B79-37D633B846F1}">
                <asvg:svgBlip xmlns:asvg="http://schemas.microsoft.com/office/drawing/2016/SVG/main" r:embed="R1face975eb4e44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2000" y="2047875"/>
            <a:ext cx="6667500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51F73-2F0B-4B6D-839C-5A930E5B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143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F4D7B-42DC-4F91-835B-4246820A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5E6E2-5C03-4D4A-B98B-A7C63B78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TRAINING PARTITION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E7CA4-34BD-45B0-A3AA-B8A09E09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43175"/>
            <a:ext cx="2724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Learns medians, scales, category vocabulary, and model parameters.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0CD97-0667-4F6B-BEC0-EB335079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3143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EB39B-AB54-4C17-AE11-1E290016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B04B9-8621-4295-A214-D01424C6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00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TEST PARTITION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E136B7-114F-4970-97FD-4BE949B1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05300"/>
            <a:ext cx="2724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Receives the fitted transformation and measures generalisation.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B94FE-A74B-4DE4-85FB-4E0F7DB3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67375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Image: EpochFail, "Machine learning nutshell — Split into train-test set", Wikimedia Commons,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8600992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2026-10-24T19:29:25.1890000Z</dcterms:created>
  <dcterms:modified xsi:type="dcterms:W3CDTF">2026-10-24T19:29:25.1890000Z</dcterms:modified>
</coreProperties>
</file>