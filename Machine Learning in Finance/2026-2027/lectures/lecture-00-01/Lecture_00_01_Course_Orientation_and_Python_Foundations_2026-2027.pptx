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r>
              <a:t>Cover visual generated for this course deck. The lecture content follows the official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r>
              <a:t>UCI Machine Learning Repository: https://archive.ics.uci.edu/dataset/350/default+of+credit+card+clients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Descriptive-statistics theory slide. The definitions and library functions are based on standard pandas and NumPy APIs. The following slides run the functions on the included Apple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plotly/datasets finance-charts-apple.csv, included in the course package.</a:t>
            </a:r>
          </a:p>
          <a:p>
            <a:endParaRPr/>
          </a:p>
          <a:p>
            <a:r>
              <a:t>The chart uses the included finance-charts-apple.csv file. It is an evidence plot for the preceding code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plotly/datasets finance-charts-apple.csv, included in the course package.</a:t>
            </a:r>
          </a:p>
          <a:p>
            <a:endParaRPr/>
          </a:p>
          <a:p>
            <a:r>
              <a:t>The chart uses the included finance-charts-apple.csv file. It is an evidence plot for the preceding code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plotly/datasets finance-charts-apple.csv, included in the course package. This slide replaces the less interpretable price-volume scatter example with an annual grouped-return comparison. The grouped averages are descriptive and are not a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plotly/datasets finance-charts-apple.csv, included in the course package. Daily simple returns are computed from consecutive closing prices; volume is shown in million shares. The scatter plot is descriptive and does not establish causality.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r>
              <a:t>Public teaching data: https://github.com/plotly/datasets/blob/master/finance-charts-apple.csv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r>
              <a:t>Source: plotly/datasets finance-charts-apple.csv | 506 rows | one daily Apple observation | https://github.com/plotly/datasets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r>
              <a:t>Official download: https://archive.ics.uci.edu/static/public/350/default+of+credit+card+clients.zip | Accessed for this package: 2026-10-03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r>
              <a:t>Interpretation follows the official UCI variable documentation. Check coding values and possible out-of-range codes during Week 2 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r>
              <a:t>Source definition: UCI Default of Credit Card Clients, Additional Variable Information. Do not silently relabel coded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r>
              <a:t>Units and month definitions: UCI official documentation | Amounts are not percentages | Target must not be used as an input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NKUA Machine Learning in Finance syllabus, academic year 2026–2027.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executed Lecture 0–1 Colab, additional worked case.</a:t>
            </a:r>
          </a:p>
          <a:p>
            <a:endParaRPr/>
          </a:p>
          <a:p>
            <a:r>
              <a:t>This worked case is also included in the executed Colab notebook. The slide shows the code pattern, a compact output, and the interpretation a student should write after running the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finance-charts-apple.csv; output calculated from the included public file.</a:t>
            </a:r>
          </a:p>
          <a:p>
            <a:endParaRPr/>
          </a:p>
          <a:p>
            <a:r>
              <a:t>This worked case is also included in the executed Colab notebook. The slide shows the code pattern, a compact output, and the interpretation a student should write after running the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finance-charts-apple.csv; the output is generated from the included public file.</a:t>
            </a:r>
          </a:p>
          <a:p>
            <a:endParaRPr/>
          </a:p>
          <a:p>
            <a:r>
              <a:t>This worked case is also included in the executed Colab notebook. The slide shows the code pattern, a compact output, and the interpretation a student should write after running the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UCI Default of Credit Card Clients, dataset 350; included CSV and data dictionary.</a:t>
            </a:r>
          </a:p>
          <a:p>
            <a:endParaRPr/>
          </a:p>
          <a:p>
            <a:r>
              <a:t>This worked case is also included in the executed Colab notebook. The slide shows the code pattern, a compact output, and the interpretation a student should write after running the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UCI Default of Credit Card Clients, dataset 350; included CSV and data dictionary.</a:t>
            </a:r>
          </a:p>
          <a:p>
            <a:endParaRPr/>
          </a:p>
          <a:p>
            <a:r>
              <a:t>This worked case is also included in the executed Colab notebook. The slide shows the code pattern, a compact output, and the interpretation a student should write after running the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UCI Default of Credit Card Clients, dataset 350; included CSV and data dictionary.</a:t>
            </a:r>
          </a:p>
          <a:p>
            <a:endParaRPr/>
          </a:p>
          <a:p>
            <a:r>
              <a:t>This worked case is also included in the executed Colab notebook. The slide shows the code pattern, a compact output, and the interpretation a student should write after running the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5AA5A81A-52D5-4658-8098-51543E5F8420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6750176-0678-47EF-A2CA-E69F3D350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0F60764-BD00-43B9-8D7E-18192B905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4EBF981E-1399-4376-90AE-9CF247611D1A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C49421AA-6510-4007-AAB6-E61438634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2B339582-E7E0-4671-A8E5-386F221CC21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F404247-7B59-4BE0-988D-DCE6B1B6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57746A03-0347-411D-B551-A8D0622E0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B9F444D3-E3D8-4E6D-8305-40A50EDF671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FEB4667-582A-4943-85C5-603D4A5BC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84CB7DB8-07FF-4932-8EB7-B4BB1186D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B1435E12-196B-4C3D-A91B-FD5681D4995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7C2CECD7-6001-4255-BD07-9C2C835EF49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9C68004-818A-4C5D-B747-944B72ED1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7313370D-9DB0-486F-A8F7-8DD8622A8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3e98dbab73554cdf" Type="http://schemas.openxmlformats.org/officeDocument/2006/relationships/image" Target="../media/image2.sv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4.xml"/><Relationship Id="R212f62fb926c4c86" Type="http://schemas.openxmlformats.org/officeDocument/2006/relationships/image" Target="../media/image3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67F4D89-8071-416E-885F-9964210F0A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334250" cy="6858000"/>
          </a:xfrm>
          <a:prstGeom prst="rect">
            <a:avLst/>
          </a:prstGeom>
          <a:gradFill>
            <a:gsLst>
              <a:gs pos="0">
                <a:srgbClr val="061426"/>
              </a:gs>
              <a:gs pos="100000">
                <a:srgbClr val="061426">
                  <a:alpha val="80000"/>
                </a:srgbClr>
              </a:gs>
            </a:gsLst>
            <a:lin ang="0"/>
          </a:gra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F74009-A6D7-432A-9F58-3CE41D6801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1B7C5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AB9481-138C-4B22-97E7-827BCAC12F54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65722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</a:t>
            </a:r>
          </a:p>
          <a:p>
            <a:pPr algn="l">
              <a:buNone/>
              <a:defRPr sz="36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 FINANCE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6AE3E9-8870-4234-AE14-2163343ACD7B}"/>
              </a:ext>
            </a:extLst>
          </p:cNvPr>
          <p:cNvSpPr>
            <a:spLocks noGrp="1"/>
          </p:cNvSpPr>
          <p:nvPr/>
        </p:nvSpPr>
        <p:spPr>
          <a:xfrm>
            <a:off x="781050" y="3028950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0" i="0">
                <a:solidFill>
                  <a:srgbClr val="D7E9F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D7E9F6"/>
                </a:solidFill>
                <a:latin typeface="Aptos"/>
                <a:ea typeface="Aptos"/>
                <a:cs typeface="Aptos"/>
              </a:rPr>
              <a:t>Lecture 1  |  Python Foundations 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2C0540-0DB5-4301-B459-97CA0DBE2A47}"/>
              </a:ext>
            </a:extLst>
          </p:cNvPr>
          <p:cNvSpPr>
            <a:spLocks noGrp="1"/>
          </p:cNvSpPr>
          <p:nvPr/>
        </p:nvSpPr>
        <p:spPr>
          <a:xfrm>
            <a:off x="781050" y="3543300"/>
            <a:ext cx="6286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A9C4D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9C4DB"/>
                </a:solidFill>
                <a:latin typeface="Aptos"/>
                <a:ea typeface="Aptos"/>
                <a:cs typeface="Aptos"/>
              </a:rPr>
              <a:t>From a blank notebook to a first financial data analysis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9F7B42-E672-42C8-A239-88AA61C5E8A3}"/>
              </a:ext>
            </a:extLst>
          </p:cNvPr>
          <p:cNvSpPr>
            <a:spLocks noGrp="1"/>
          </p:cNvSpPr>
          <p:nvPr/>
        </p:nvSpPr>
        <p:spPr>
          <a:xfrm>
            <a:off x="781050" y="4238625"/>
            <a:ext cx="1257300" cy="57150"/>
          </a:xfrm>
          <a:prstGeom prst="rect">
            <a:avLst/>
          </a:prstGeom>
          <a:solidFill>
            <a:srgbClr val="11B7C5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EDB926-7A2E-4D0C-909D-AB84496AEF49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Dr Ferdinantos Kottas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457CC0-027C-4B23-91F0-24B09050772A}"/>
              </a:ext>
            </a:extLst>
          </p:cNvPr>
          <p:cNvSpPr>
            <a:spLocks noGrp="1"/>
          </p:cNvSpPr>
          <p:nvPr/>
        </p:nvSpPr>
        <p:spPr>
          <a:xfrm>
            <a:off x="781050" y="4914900"/>
            <a:ext cx="5905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A9C4D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9C4DB"/>
                </a:solidFill>
                <a:latin typeface="Aptos"/>
                <a:ea typeface="Aptos"/>
                <a:cs typeface="Aptos"/>
              </a:rPr>
              <a:t>NKUA MPhil Economics  |  Academic Year 2026–2027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5BE034-FFD8-4737-92B0-ABB8E28B4D4D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525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|  Week 01  |  NKUA MPhil Economics  |  2026–2027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9E291A-E921-4CF2-9F8F-7CC9A126C477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64901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0D9AFBD-B68C-4EAC-9D46-B1D8A209C5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C89EB0-77B4-4091-8F76-61B4C58D400F}"/>
              </a:ext>
            </a:extLst>
          </p:cNvPr>
          <p:cNvSpPr>
            <a:spLocks noGrp="1"/>
          </p:cNvSpPr>
          <p:nvPr/>
        </p:nvSpPr>
        <p:spPr>
          <a:xfrm>
            <a:off x="7715250" y="800100"/>
            <a:ext cx="314325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2750" b="1" i="0">
                <a:solidFill>
                  <a:srgbClr val="102D49"/>
                </a:solidFill>
                <a:latin typeface="Aptos"/>
                <a:ea typeface="Aptos"/>
                <a:cs typeface="Aptos"/>
              </a:defRPr>
            </a:pPr>
            <a:r>
              <a:rPr sz="12750" b="1" i="0">
                <a:solidFill>
                  <a:srgbClr val="102D49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E85F6C-3F97-4BEC-BB89-55F4E3595A9A}"/>
              </a:ext>
            </a:extLst>
          </p:cNvPr>
          <p:cNvSpPr>
            <a:spLocks noGrp="1"/>
          </p:cNvSpPr>
          <p:nvPr/>
        </p:nvSpPr>
        <p:spPr>
          <a:xfrm>
            <a:off x="762000" y="1200150"/>
            <a:ext cx="876300" cy="47625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4FF82F-D746-45ED-A76D-C80CCE6B5B81}"/>
              </a:ext>
            </a:extLst>
          </p:cNvPr>
          <p:cNvSpPr>
            <a:spLocks noGrp="1"/>
          </p:cNvSpPr>
          <p:nvPr/>
        </p:nvSpPr>
        <p:spPr>
          <a:xfrm>
            <a:off x="762000" y="1485900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LECTURE 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7AB02-1412-41D7-B434-C3E7F2F0B0A9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239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Course orientation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A6E6A4-A920-4D1C-B1AC-D177A23205AE}"/>
              </a:ext>
            </a:extLst>
          </p:cNvPr>
          <p:cNvSpPr>
            <a:spLocks noGrp="1"/>
          </p:cNvSpPr>
          <p:nvPr/>
        </p:nvSpPr>
        <p:spPr>
          <a:xfrm>
            <a:off x="781050" y="3314700"/>
            <a:ext cx="6286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BFD0D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BFD0DF"/>
                </a:solidFill>
                <a:latin typeface="Aptos"/>
                <a:ea typeface="Aptos"/>
                <a:cs typeface="Aptos"/>
              </a:rPr>
              <a:t>A short map of the 13-week journey before the official Week 1 material begins.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A183C9-D0D5-4120-AB1F-24125A4DA7C9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FA9385-83F4-4BBB-BE46-50E08A911616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204915-71C9-4092-97B5-662B1DF5BEE9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8193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4F8DFC4-8851-48F7-84B7-C95828D917AF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9F8898-73EB-475B-9C4F-C23253C3DD19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LECTURE 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6C699C-04B3-4B8D-8023-1110F6546341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this course is designed to produce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1772C2-58B9-42FB-AAFE-29884FD8478C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course connects programming, statistics, machine learning, and financial decisions.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2A898D-8BB8-4EA9-B69F-7CD84651DE6E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E933A7-5E2E-489B-A663-2AA6BA1B02C6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F1313B-23CF-4700-B002-1A8DEAAC39CF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E61890-5B81-4FC9-91EC-6EA36F8447AB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THE END POINT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38B0C4-9DC5-40BB-9ED8-101EAD676D78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reproducible workflow that can move from raw financial data to a validated, interpretable decision.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356C27-8FD8-458E-A444-15DC12AC1AC1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5C05D-8609-4F59-965F-D732D18AC4BC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THE THROUGHLINE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488394-B4DB-4F93-B061-7840A8FD2EFB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Credit-risk examples anchor the course. Fraud, forecasting, asset pricing, and portfolio applications show how the workflow transfers.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ACE412-73BC-4CC8-AC50-D484CA08DF35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49A53B-7AAF-422C-B5AD-06903668A2CD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Each week adds a method, a diagnostic, and a financial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905200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16D9F7AF-C80D-4F32-B063-ACA6C9C87FB6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9FF37A-360A-41DA-97E4-85FE6161DC9A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ASSESSMENT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5600F4-F6D8-4442-AC34-B1FCCB0C5463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How the course is assessed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DCDC7B-6FA5-404B-8DCF-8C42CC2A1DD0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official syllabus assigns 20% to weekly exercises, 40% to the capstone, and 40% to the exam. A 10% bonus exercise is available.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5FE7CE-2B7B-4A00-8DDB-C7F04FBE45D4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142290-B055-40D2-B005-8737599FF3F1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FED1A9-CC26-4C48-80C9-71C6DBD934D8}"/>
              </a:ext>
            </a:extLst>
          </p:cNvPr>
          <p:cNvSpPr>
            <a:spLocks noGrp="1"/>
          </p:cNvSpPr>
          <p:nvPr/>
        </p:nvSpPr>
        <p:spPr>
          <a:xfrm>
            <a:off x="552450" y="2324100"/>
            <a:ext cx="3315080" cy="476250"/>
          </a:xfrm>
          <a:prstGeom prst="rect">
            <a:avLst/>
          </a:prstGeom>
          <a:solidFill>
            <a:srgbClr val="071A30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5D7BF0-AD96-4C19-953C-75AB50D3408D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304838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407865-209D-495F-AE54-6514FF83E84A}"/>
              </a:ext>
            </a:extLst>
          </p:cNvPr>
          <p:cNvSpPr>
            <a:spLocks noGrp="1"/>
          </p:cNvSpPr>
          <p:nvPr/>
        </p:nvSpPr>
        <p:spPr>
          <a:xfrm>
            <a:off x="3867530" y="2324100"/>
            <a:ext cx="1289198" cy="476250"/>
          </a:xfrm>
          <a:prstGeom prst="rect">
            <a:avLst/>
          </a:prstGeom>
          <a:solidFill>
            <a:srgbClr val="071A30"/>
          </a:solidFill>
          <a:ln w="9525">
            <a:solidFill>
              <a:srgbClr val="C9D7E2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2BBFB7-BCA6-4751-AB73-F4E596D8813D}"/>
              </a:ext>
            </a:extLst>
          </p:cNvPr>
          <p:cNvSpPr>
            <a:spLocks noGrp="1"/>
          </p:cNvSpPr>
          <p:nvPr/>
        </p:nvSpPr>
        <p:spPr>
          <a:xfrm>
            <a:off x="4000880" y="2476500"/>
            <a:ext cx="1022498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Weight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AE4335-A556-4EA8-A2EE-B143077DECA3}"/>
              </a:ext>
            </a:extLst>
          </p:cNvPr>
          <p:cNvSpPr>
            <a:spLocks noGrp="1"/>
          </p:cNvSpPr>
          <p:nvPr/>
        </p:nvSpPr>
        <p:spPr>
          <a:xfrm>
            <a:off x="5156727" y="2324100"/>
            <a:ext cx="6482823" cy="476250"/>
          </a:xfrm>
          <a:prstGeom prst="rect">
            <a:avLst/>
          </a:prstGeom>
          <a:solidFill>
            <a:srgbClr val="071A30"/>
          </a:solidFill>
          <a:ln w="9525">
            <a:solidFill>
              <a:srgbClr val="C9D7E2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2E43D5-B232-4D7D-A0AF-1A88A34B56D7}"/>
              </a:ext>
            </a:extLst>
          </p:cNvPr>
          <p:cNvSpPr>
            <a:spLocks noGrp="1"/>
          </p:cNvSpPr>
          <p:nvPr/>
        </p:nvSpPr>
        <p:spPr>
          <a:xfrm>
            <a:off x="5290077" y="2476500"/>
            <a:ext cx="6216123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is submitted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E1B04A-EAA8-4A07-A140-22AEBC52FBEC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33150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570E75-233F-4FBD-ACC3-49D6C3E4ADFA}"/>
              </a:ext>
            </a:extLst>
          </p:cNvPr>
          <p:cNvSpPr>
            <a:spLocks noGrp="1"/>
          </p:cNvSpPr>
          <p:nvPr/>
        </p:nvSpPr>
        <p:spPr>
          <a:xfrm>
            <a:off x="685800" y="2962275"/>
            <a:ext cx="304838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Weekly exercises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A5CDDC-58E4-4925-AB7F-0600C526BDA9}"/>
              </a:ext>
            </a:extLst>
          </p:cNvPr>
          <p:cNvSpPr>
            <a:spLocks noGrp="1"/>
          </p:cNvSpPr>
          <p:nvPr/>
        </p:nvSpPr>
        <p:spPr>
          <a:xfrm>
            <a:off x="3867530" y="2800350"/>
            <a:ext cx="1289198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CF1DE1-A854-4A67-8121-6514456136F7}"/>
              </a:ext>
            </a:extLst>
          </p:cNvPr>
          <p:cNvSpPr>
            <a:spLocks noGrp="1"/>
          </p:cNvSpPr>
          <p:nvPr/>
        </p:nvSpPr>
        <p:spPr>
          <a:xfrm>
            <a:off x="4000880" y="2962275"/>
            <a:ext cx="1022498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988F81-C827-4DF6-AE3D-937F053B4182}"/>
              </a:ext>
            </a:extLst>
          </p:cNvPr>
          <p:cNvSpPr>
            <a:spLocks noGrp="1"/>
          </p:cNvSpPr>
          <p:nvPr/>
        </p:nvSpPr>
        <p:spPr>
          <a:xfrm>
            <a:off x="5156727" y="2800350"/>
            <a:ext cx="6482823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858C32-05EB-40F3-B18F-3381300989BC}"/>
              </a:ext>
            </a:extLst>
          </p:cNvPr>
          <p:cNvSpPr>
            <a:spLocks noGrp="1"/>
          </p:cNvSpPr>
          <p:nvPr/>
        </p:nvSpPr>
        <p:spPr>
          <a:xfrm>
            <a:off x="5290077" y="2962275"/>
            <a:ext cx="6216123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DataCamp Python practice plus the weekly Colab notebook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B898C5-4C9E-4121-BD73-263E8D25D786}"/>
              </a:ext>
            </a:extLst>
          </p:cNvPr>
          <p:cNvSpPr>
            <a:spLocks noGrp="1"/>
          </p:cNvSpPr>
          <p:nvPr/>
        </p:nvSpPr>
        <p:spPr>
          <a:xfrm>
            <a:off x="552450" y="3314700"/>
            <a:ext cx="3315080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8ADBDA-2AA8-4B44-95A6-0B25D014A970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304838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Capstone project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0C6EA0-B0BF-4F2F-8394-42B491EC984D}"/>
              </a:ext>
            </a:extLst>
          </p:cNvPr>
          <p:cNvSpPr>
            <a:spLocks noGrp="1"/>
          </p:cNvSpPr>
          <p:nvPr/>
        </p:nvSpPr>
        <p:spPr>
          <a:xfrm>
            <a:off x="3867530" y="3314700"/>
            <a:ext cx="1289198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7E7907-5BBF-4835-BF30-0E17481349E6}"/>
              </a:ext>
            </a:extLst>
          </p:cNvPr>
          <p:cNvSpPr>
            <a:spLocks noGrp="1"/>
          </p:cNvSpPr>
          <p:nvPr/>
        </p:nvSpPr>
        <p:spPr>
          <a:xfrm>
            <a:off x="4000880" y="3476625"/>
            <a:ext cx="1022498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E373C7-415D-4D1F-98C3-AF373E18B556}"/>
              </a:ext>
            </a:extLst>
          </p:cNvPr>
          <p:cNvSpPr>
            <a:spLocks noGrp="1"/>
          </p:cNvSpPr>
          <p:nvPr/>
        </p:nvSpPr>
        <p:spPr>
          <a:xfrm>
            <a:off x="5156727" y="3314700"/>
            <a:ext cx="6482823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C9728F-C351-48AA-83DF-1F6C46DF8EC2}"/>
              </a:ext>
            </a:extLst>
          </p:cNvPr>
          <p:cNvSpPr>
            <a:spLocks noGrp="1"/>
          </p:cNvSpPr>
          <p:nvPr/>
        </p:nvSpPr>
        <p:spPr>
          <a:xfrm>
            <a:off x="5290077" y="3476625"/>
            <a:ext cx="6216123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Notebook, technical report, supporting code, and 10-minute presentation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0CFA46-8155-4514-AF23-73C2D985FB59}"/>
              </a:ext>
            </a:extLst>
          </p:cNvPr>
          <p:cNvSpPr>
            <a:spLocks noGrp="1"/>
          </p:cNvSpPr>
          <p:nvPr/>
        </p:nvSpPr>
        <p:spPr>
          <a:xfrm>
            <a:off x="552450" y="3829050"/>
            <a:ext cx="33150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5B7ACA7-5409-4B29-9274-73FAFC91011D}"/>
              </a:ext>
            </a:extLst>
          </p:cNvPr>
          <p:cNvSpPr>
            <a:spLocks noGrp="1"/>
          </p:cNvSpPr>
          <p:nvPr/>
        </p:nvSpPr>
        <p:spPr>
          <a:xfrm>
            <a:off x="685800" y="3990975"/>
            <a:ext cx="304838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Final exam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C6D7E6-656F-4219-BF97-39EF31D068A9}"/>
              </a:ext>
            </a:extLst>
          </p:cNvPr>
          <p:cNvSpPr>
            <a:spLocks noGrp="1"/>
          </p:cNvSpPr>
          <p:nvPr/>
        </p:nvSpPr>
        <p:spPr>
          <a:xfrm>
            <a:off x="3867530" y="3829050"/>
            <a:ext cx="1289198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265875-7F8E-4559-81BE-AD825BBF5A46}"/>
              </a:ext>
            </a:extLst>
          </p:cNvPr>
          <p:cNvSpPr>
            <a:spLocks noGrp="1"/>
          </p:cNvSpPr>
          <p:nvPr/>
        </p:nvSpPr>
        <p:spPr>
          <a:xfrm>
            <a:off x="4000880" y="3990975"/>
            <a:ext cx="1022498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4687310-903B-40E8-838E-428138616691}"/>
              </a:ext>
            </a:extLst>
          </p:cNvPr>
          <p:cNvSpPr>
            <a:spLocks noGrp="1"/>
          </p:cNvSpPr>
          <p:nvPr/>
        </p:nvSpPr>
        <p:spPr>
          <a:xfrm>
            <a:off x="5156727" y="3829050"/>
            <a:ext cx="6482823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3698F1-3174-4F67-B7C2-271400694F9B}"/>
              </a:ext>
            </a:extLst>
          </p:cNvPr>
          <p:cNvSpPr>
            <a:spLocks noGrp="1"/>
          </p:cNvSpPr>
          <p:nvPr/>
        </p:nvSpPr>
        <p:spPr>
          <a:xfrm>
            <a:off x="5290077" y="3990975"/>
            <a:ext cx="6216123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Conceptual, mathematical, and applied understanding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54B752E-A704-42AC-8A15-214C7B1C31C6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3315080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3114F8-1180-4CCE-AD30-40CE811C33EF}"/>
              </a:ext>
            </a:extLst>
          </p:cNvPr>
          <p:cNvSpPr>
            <a:spLocks noGrp="1"/>
          </p:cNvSpPr>
          <p:nvPr/>
        </p:nvSpPr>
        <p:spPr>
          <a:xfrm>
            <a:off x="685800" y="4505325"/>
            <a:ext cx="304838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Excellence bonus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E8D97A-58F6-4FB9-A578-6CA7D320DCAB}"/>
              </a:ext>
            </a:extLst>
          </p:cNvPr>
          <p:cNvSpPr>
            <a:spLocks noGrp="1"/>
          </p:cNvSpPr>
          <p:nvPr/>
        </p:nvSpPr>
        <p:spPr>
          <a:xfrm>
            <a:off x="3867530" y="4343400"/>
            <a:ext cx="1289198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10BE77F-939F-45F7-8B53-F99C6B56DCE5}"/>
              </a:ext>
            </a:extLst>
          </p:cNvPr>
          <p:cNvSpPr>
            <a:spLocks noGrp="1"/>
          </p:cNvSpPr>
          <p:nvPr/>
        </p:nvSpPr>
        <p:spPr>
          <a:xfrm>
            <a:off x="4000880" y="4505325"/>
            <a:ext cx="1022498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+10%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6A4B81-C8FA-46F1-AFA2-BA749CDD88E1}"/>
              </a:ext>
            </a:extLst>
          </p:cNvPr>
          <p:cNvSpPr>
            <a:spLocks noGrp="1"/>
          </p:cNvSpPr>
          <p:nvPr/>
        </p:nvSpPr>
        <p:spPr>
          <a:xfrm>
            <a:off x="5156727" y="4343400"/>
            <a:ext cx="6482823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91283B2-52CA-4DEE-8319-ADC0943D02ED}"/>
              </a:ext>
            </a:extLst>
          </p:cNvPr>
          <p:cNvSpPr>
            <a:spLocks noGrp="1"/>
          </p:cNvSpPr>
          <p:nvPr/>
        </p:nvSpPr>
        <p:spPr>
          <a:xfrm>
            <a:off x="5290077" y="4505325"/>
            <a:ext cx="6216123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Best assignments, project or presentation, or top DataCamp performance</a:t>
            </a:r>
          </a:p>
        </p:txBody>
      </p:sp>
    </p:spTree>
    <p:extLst>
      <p:ext uri="{BB962C8B-B14F-4D97-AF65-F5344CB8AC3E}">
        <p14:creationId xmlns:p14="http://schemas.microsoft.com/office/powerpoint/2010/main" val="985579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9CB06FC-1DC9-4A20-A8F5-AF4B5A652F67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C046C9-D685-4DA5-B314-6354B0D48AD4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ASSESSMENT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8D51B5-9DEA-4D76-9CA6-14C3642A269A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bonus rewards exceptional 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6C9EC2-E5E4-4FAF-BC3F-C4ACF9352008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bonus is not another compulsory assessment component.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2B4B33-F049-4054-8EFB-19D28690695F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66C533-5ED3-46C7-BEE8-16C6868B9001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86E942-04C0-44BB-9D06-F14DEF444C97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D2FD54-BA11-479C-B3D1-297B1A247BE6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HOW IT MAY BE EARNED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7EC1DD-1AA7-44E3-B748-2A90FDBE25B0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Exceptional weekly assignments, the strongest capstone or presentation, or outstanding DataCamp performance may receive the bonus.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C58519-FBA2-4674-9424-C924DF56CA2F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CE2233-A73E-447B-9F6D-3D6674F4F2AE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MAXIMUM TOTAL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E2D2A7-618B-449F-8038-A15E6B3DB527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regular assessment totals 100%. The excellence bonus can increase the final total to 110%.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2AB434-5632-4E25-8D08-30573D261F60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07C506-BA1C-49E7-AB80-642B1E520C3D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bonus recognises quality, consistency, and clear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1764918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B2F559E-329B-4BC9-893A-E7CE81D01217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121BA-EC2D-4215-B102-6EBBC7527B63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WEEKLY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791FF7-9B4D-43BC-9712-F0FCC08DAFBA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Two small submissions keep the work continuous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47D040-DBB9-4595-A621-192E20B82CAF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weekly rhythm is designed to make the next lecture easier, not to create a single high-stakes deadline.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4DAA98-2194-4666-9CB2-88541D2D2CEE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E5EBF7-B4F6-41EB-B61E-0EF03ED16EB9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73B44E-44E9-4E1A-92C5-0EF572DEEC01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AD0009-040E-440A-8DC8-6A5372C38E26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DATACAMP PRACTICE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BB1901-C9FF-4064-A2F5-C93F5D3A0751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Complete the assigned Python exercises during the week. These tasks reinforce syntax, control flow, collections, and data manipulation.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9005B8-20D6-4B9A-BD8C-3A7221B31274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E32DE6-B354-465B-A8AA-0105AD36451E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COLAB ASSIGNMENT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669775-3A61-49CB-AA1E-DA8163924C96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Submit the weekly notebook one day before the next course meeting. It should run from a clean session and include a short interpretation.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F1F869-70C7-433D-A3F2-0F1CA964E60F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09D55F-A55C-4C1E-A4EE-7E8152539CC5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deadline is part of the workflow: submit before the next class so feedback can inform the next topic.</a:t>
            </a:r>
          </a:p>
        </p:txBody>
      </p:sp>
    </p:spTree>
    <p:extLst>
      <p:ext uri="{BB962C8B-B14F-4D97-AF65-F5344CB8AC3E}">
        <p14:creationId xmlns:p14="http://schemas.microsoft.com/office/powerpoint/2010/main" val="820012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679601D5-2AF4-4925-B509-BE8316D26999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B782AF-C552-4566-91FF-0EA1D18BD96D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MAIN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600D7C-B5D5-458E-807C-5CA82A0BEC5C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the 40% project grade measures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C1C11F-D5CE-43C7-A000-395A33758065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project grade reflects the complete research workflow, not only the final score of the model.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5E905C-5F96-47D5-8274-DB8F86DF97C8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31C914-008B-45AE-9841-CA7E72695F8C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B5992C-E5D2-47FB-A803-705E29551D9C}"/>
              </a:ext>
            </a:extLst>
          </p:cNvPr>
          <p:cNvSpPr>
            <a:spLocks noGrp="1"/>
          </p:cNvSpPr>
          <p:nvPr/>
        </p:nvSpPr>
        <p:spPr>
          <a:xfrm>
            <a:off x="552450" y="2324100"/>
            <a:ext cx="3315080" cy="476250"/>
          </a:xfrm>
          <a:prstGeom prst="rect">
            <a:avLst/>
          </a:prstGeom>
          <a:solidFill>
            <a:srgbClr val="071A30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E2A6EB-6C11-4783-84D3-21100799B1EC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304838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B0F493-4F2B-4508-A388-3715B5926F63}"/>
              </a:ext>
            </a:extLst>
          </p:cNvPr>
          <p:cNvSpPr>
            <a:spLocks noGrp="1"/>
          </p:cNvSpPr>
          <p:nvPr/>
        </p:nvSpPr>
        <p:spPr>
          <a:xfrm>
            <a:off x="3867530" y="2324100"/>
            <a:ext cx="1565454" cy="476250"/>
          </a:xfrm>
          <a:prstGeom prst="rect">
            <a:avLst/>
          </a:prstGeom>
          <a:solidFill>
            <a:srgbClr val="071A30"/>
          </a:solidFill>
          <a:ln w="9525">
            <a:solidFill>
              <a:srgbClr val="C9D7E2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650289-FCF3-4A73-9A50-976747334440}"/>
              </a:ext>
            </a:extLst>
          </p:cNvPr>
          <p:cNvSpPr>
            <a:spLocks noGrp="1"/>
          </p:cNvSpPr>
          <p:nvPr/>
        </p:nvSpPr>
        <p:spPr>
          <a:xfrm>
            <a:off x="4000880" y="2476500"/>
            <a:ext cx="1298754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Indicative share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B66324-E019-4055-8919-0BC60058DFEB}"/>
              </a:ext>
            </a:extLst>
          </p:cNvPr>
          <p:cNvSpPr>
            <a:spLocks noGrp="1"/>
          </p:cNvSpPr>
          <p:nvPr/>
        </p:nvSpPr>
        <p:spPr>
          <a:xfrm>
            <a:off x="5432984" y="2324100"/>
            <a:ext cx="6206566" cy="476250"/>
          </a:xfrm>
          <a:prstGeom prst="rect">
            <a:avLst/>
          </a:prstGeom>
          <a:solidFill>
            <a:srgbClr val="071A30"/>
          </a:solidFill>
          <a:ln w="9525">
            <a:solidFill>
              <a:srgbClr val="C9D7E2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A7CB12-9217-422F-B6A3-85F7DFBA4894}"/>
              </a:ext>
            </a:extLst>
          </p:cNvPr>
          <p:cNvSpPr>
            <a:spLocks noGrp="1"/>
          </p:cNvSpPr>
          <p:nvPr/>
        </p:nvSpPr>
        <p:spPr>
          <a:xfrm>
            <a:off x="5566334" y="2476500"/>
            <a:ext cx="5939866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FA16B3-C50E-4131-B413-3B43259237EB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33150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50903F-6D3F-408F-A0A2-3F4AE546623C}"/>
              </a:ext>
            </a:extLst>
          </p:cNvPr>
          <p:cNvSpPr>
            <a:spLocks noGrp="1"/>
          </p:cNvSpPr>
          <p:nvPr/>
        </p:nvSpPr>
        <p:spPr>
          <a:xfrm>
            <a:off x="685800" y="2962275"/>
            <a:ext cx="304838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Question and 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9A1F97-62F9-496C-B682-7CF1BC83B055}"/>
              </a:ext>
            </a:extLst>
          </p:cNvPr>
          <p:cNvSpPr>
            <a:spLocks noGrp="1"/>
          </p:cNvSpPr>
          <p:nvPr/>
        </p:nvSpPr>
        <p:spPr>
          <a:xfrm>
            <a:off x="3867530" y="2800350"/>
            <a:ext cx="1565454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B70C21-CF3F-423F-82B1-F48D420D5883}"/>
              </a:ext>
            </a:extLst>
          </p:cNvPr>
          <p:cNvSpPr>
            <a:spLocks noGrp="1"/>
          </p:cNvSpPr>
          <p:nvPr/>
        </p:nvSpPr>
        <p:spPr>
          <a:xfrm>
            <a:off x="4000880" y="2962275"/>
            <a:ext cx="1298754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4C24D7-E38A-4B58-B292-84A97CE125F9}"/>
              </a:ext>
            </a:extLst>
          </p:cNvPr>
          <p:cNvSpPr>
            <a:spLocks noGrp="1"/>
          </p:cNvSpPr>
          <p:nvPr/>
        </p:nvSpPr>
        <p:spPr>
          <a:xfrm>
            <a:off x="5432984" y="2800350"/>
            <a:ext cx="6206566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F24CC0-2231-4117-BFFD-009F7B9AB961}"/>
              </a:ext>
            </a:extLst>
          </p:cNvPr>
          <p:cNvSpPr>
            <a:spLocks noGrp="1"/>
          </p:cNvSpPr>
          <p:nvPr/>
        </p:nvSpPr>
        <p:spPr>
          <a:xfrm>
            <a:off x="5566334" y="2962275"/>
            <a:ext cx="5939866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Clear target, source, observation unit, time period, and limitations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A2E941-884E-495D-BCC7-460229E8FDD9}"/>
              </a:ext>
            </a:extLst>
          </p:cNvPr>
          <p:cNvSpPr>
            <a:spLocks noGrp="1"/>
          </p:cNvSpPr>
          <p:nvPr/>
        </p:nvSpPr>
        <p:spPr>
          <a:xfrm>
            <a:off x="552450" y="3314700"/>
            <a:ext cx="3315080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387B84-9189-41FF-9A43-29453CC5181B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304838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Modelling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DA814D-41AE-4653-A229-D47D33025CF3}"/>
              </a:ext>
            </a:extLst>
          </p:cNvPr>
          <p:cNvSpPr>
            <a:spLocks noGrp="1"/>
          </p:cNvSpPr>
          <p:nvPr/>
        </p:nvSpPr>
        <p:spPr>
          <a:xfrm>
            <a:off x="3867530" y="3314700"/>
            <a:ext cx="1565454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4A89EC-2B58-4D15-AAE2-BC751AF0354E}"/>
              </a:ext>
            </a:extLst>
          </p:cNvPr>
          <p:cNvSpPr>
            <a:spLocks noGrp="1"/>
          </p:cNvSpPr>
          <p:nvPr/>
        </p:nvSpPr>
        <p:spPr>
          <a:xfrm>
            <a:off x="4000880" y="3476625"/>
            <a:ext cx="1298754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59810D-1D94-455E-B4EB-C76755D9C7D0}"/>
              </a:ext>
            </a:extLst>
          </p:cNvPr>
          <p:cNvSpPr>
            <a:spLocks noGrp="1"/>
          </p:cNvSpPr>
          <p:nvPr/>
        </p:nvSpPr>
        <p:spPr>
          <a:xfrm>
            <a:off x="5432984" y="3314700"/>
            <a:ext cx="6206566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F0300A-2B28-4958-A438-4F9397BB3181}"/>
              </a:ext>
            </a:extLst>
          </p:cNvPr>
          <p:cNvSpPr>
            <a:spLocks noGrp="1"/>
          </p:cNvSpPr>
          <p:nvPr/>
        </p:nvSpPr>
        <p:spPr>
          <a:xfrm>
            <a:off x="5566334" y="3476625"/>
            <a:ext cx="5939866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Baseline, supervised models, reproducible code, and justified choices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6FD176-E765-4909-A939-B8713218F1F0}"/>
              </a:ext>
            </a:extLst>
          </p:cNvPr>
          <p:cNvSpPr>
            <a:spLocks noGrp="1"/>
          </p:cNvSpPr>
          <p:nvPr/>
        </p:nvSpPr>
        <p:spPr>
          <a:xfrm>
            <a:off x="552450" y="3829050"/>
            <a:ext cx="33150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6B052E6-EC95-4872-9F1B-56C8AB34FC78}"/>
              </a:ext>
            </a:extLst>
          </p:cNvPr>
          <p:cNvSpPr>
            <a:spLocks noGrp="1"/>
          </p:cNvSpPr>
          <p:nvPr/>
        </p:nvSpPr>
        <p:spPr>
          <a:xfrm>
            <a:off x="685800" y="3990975"/>
            <a:ext cx="304838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Validation and metrics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71A953-D0EE-4BD1-B03E-F9B43F1E7D04}"/>
              </a:ext>
            </a:extLst>
          </p:cNvPr>
          <p:cNvSpPr>
            <a:spLocks noGrp="1"/>
          </p:cNvSpPr>
          <p:nvPr/>
        </p:nvSpPr>
        <p:spPr>
          <a:xfrm>
            <a:off x="3867530" y="3829050"/>
            <a:ext cx="1565454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E78CCE4-E82F-42D5-B233-9A75B5FB3A0B}"/>
              </a:ext>
            </a:extLst>
          </p:cNvPr>
          <p:cNvSpPr>
            <a:spLocks noGrp="1"/>
          </p:cNvSpPr>
          <p:nvPr/>
        </p:nvSpPr>
        <p:spPr>
          <a:xfrm>
            <a:off x="4000880" y="3990975"/>
            <a:ext cx="1298754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30CC06-96B8-4586-86BE-C2C02899A4BF}"/>
              </a:ext>
            </a:extLst>
          </p:cNvPr>
          <p:cNvSpPr>
            <a:spLocks noGrp="1"/>
          </p:cNvSpPr>
          <p:nvPr/>
        </p:nvSpPr>
        <p:spPr>
          <a:xfrm>
            <a:off x="5432984" y="3829050"/>
            <a:ext cx="6206566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4EC0EC-ACE7-46BC-90F6-23F597EEF545}"/>
              </a:ext>
            </a:extLst>
          </p:cNvPr>
          <p:cNvSpPr>
            <a:spLocks noGrp="1"/>
          </p:cNvSpPr>
          <p:nvPr/>
        </p:nvSpPr>
        <p:spPr>
          <a:xfrm>
            <a:off x="5566334" y="3990975"/>
            <a:ext cx="5939866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Out-of-sample design, ML metrics, and financial metrics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AD0280-4FD8-489F-BC7F-0FD4FED36150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3315080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D8A8F0-3F59-4367-A87D-46A02B0B8ABA}"/>
              </a:ext>
            </a:extLst>
          </p:cNvPr>
          <p:cNvSpPr>
            <a:spLocks noGrp="1"/>
          </p:cNvSpPr>
          <p:nvPr/>
        </p:nvSpPr>
        <p:spPr>
          <a:xfrm>
            <a:off x="685800" y="4505325"/>
            <a:ext cx="304838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4CC6C9B-7F24-4E14-B673-A6C79285B6BF}"/>
              </a:ext>
            </a:extLst>
          </p:cNvPr>
          <p:cNvSpPr>
            <a:spLocks noGrp="1"/>
          </p:cNvSpPr>
          <p:nvPr/>
        </p:nvSpPr>
        <p:spPr>
          <a:xfrm>
            <a:off x="3867530" y="4343400"/>
            <a:ext cx="1565454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777F45-59A8-4125-9C3E-312B3BC9B6A8}"/>
              </a:ext>
            </a:extLst>
          </p:cNvPr>
          <p:cNvSpPr>
            <a:spLocks noGrp="1"/>
          </p:cNvSpPr>
          <p:nvPr/>
        </p:nvSpPr>
        <p:spPr>
          <a:xfrm>
            <a:off x="4000880" y="4505325"/>
            <a:ext cx="1298754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210E55E-8309-4575-8311-5C1EDF7298A4}"/>
              </a:ext>
            </a:extLst>
          </p:cNvPr>
          <p:cNvSpPr>
            <a:spLocks noGrp="1"/>
          </p:cNvSpPr>
          <p:nvPr/>
        </p:nvSpPr>
        <p:spPr>
          <a:xfrm>
            <a:off x="5432984" y="4343400"/>
            <a:ext cx="6206566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A2DF7B-429C-40F7-9A9C-57354FADD2D5}"/>
              </a:ext>
            </a:extLst>
          </p:cNvPr>
          <p:cNvSpPr>
            <a:spLocks noGrp="1"/>
          </p:cNvSpPr>
          <p:nvPr/>
        </p:nvSpPr>
        <p:spPr>
          <a:xfrm>
            <a:off x="5566334" y="4505325"/>
            <a:ext cx="5939866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What the results mean for the financial decision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3AC6A29-EFD8-4945-971C-3D1CAA82BE68}"/>
              </a:ext>
            </a:extLst>
          </p:cNvPr>
          <p:cNvSpPr>
            <a:spLocks noGrp="1"/>
          </p:cNvSpPr>
          <p:nvPr/>
        </p:nvSpPr>
        <p:spPr>
          <a:xfrm>
            <a:off x="552450" y="4857750"/>
            <a:ext cx="33150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64BF2B9-B240-4698-8095-CF878E67AE85}"/>
              </a:ext>
            </a:extLst>
          </p:cNvPr>
          <p:cNvSpPr>
            <a:spLocks noGrp="1"/>
          </p:cNvSpPr>
          <p:nvPr/>
        </p:nvSpPr>
        <p:spPr>
          <a:xfrm>
            <a:off x="685800" y="5019675"/>
            <a:ext cx="304838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Communication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CF329A7-27FF-42AE-9887-312FF25B94F4}"/>
              </a:ext>
            </a:extLst>
          </p:cNvPr>
          <p:cNvSpPr>
            <a:spLocks noGrp="1"/>
          </p:cNvSpPr>
          <p:nvPr/>
        </p:nvSpPr>
        <p:spPr>
          <a:xfrm>
            <a:off x="3867530" y="4857750"/>
            <a:ext cx="1565454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5C36CF0-4BD2-48EC-A1B8-F43BD1688983}"/>
              </a:ext>
            </a:extLst>
          </p:cNvPr>
          <p:cNvSpPr>
            <a:spLocks noGrp="1"/>
          </p:cNvSpPr>
          <p:nvPr/>
        </p:nvSpPr>
        <p:spPr>
          <a:xfrm>
            <a:off x="4000880" y="5019675"/>
            <a:ext cx="1298754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C99A1F1-6C01-4298-8CB3-C0701D03554B}"/>
              </a:ext>
            </a:extLst>
          </p:cNvPr>
          <p:cNvSpPr>
            <a:spLocks noGrp="1"/>
          </p:cNvSpPr>
          <p:nvPr/>
        </p:nvSpPr>
        <p:spPr>
          <a:xfrm>
            <a:off x="5432984" y="4857750"/>
            <a:ext cx="6206566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870AB80-76B0-4FFC-8179-B3BEA3CF2A26}"/>
              </a:ext>
            </a:extLst>
          </p:cNvPr>
          <p:cNvSpPr>
            <a:spLocks noGrp="1"/>
          </p:cNvSpPr>
          <p:nvPr/>
        </p:nvSpPr>
        <p:spPr>
          <a:xfrm>
            <a:off x="5566334" y="5019675"/>
            <a:ext cx="5939866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Professional presentation and ability to defend the analysis</a:t>
            </a:r>
          </a:p>
        </p:txBody>
      </p:sp>
    </p:spTree>
    <p:extLst>
      <p:ext uri="{BB962C8B-B14F-4D97-AF65-F5344CB8AC3E}">
        <p14:creationId xmlns:p14="http://schemas.microsoft.com/office/powerpoint/2010/main" val="162706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CF1F58F-97EB-4510-B4D8-6F1553703F6E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A23AA6-921A-4175-A231-BF6AE5E71EB5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ASSESSMENT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68BA18-6607-4161-A4FB-F8AD7CD19E02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AI use is allowed with responsibility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82DC14-D4D3-40F7-AB26-0378214B6ADA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AI can support learning, but the submitted analysis must remain understandable, reproducible, and defensible.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D8244F-8584-4355-B2B9-B1E02E30E3BE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AF6781-6BEC-48EB-AB63-84C7C8B5817C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FEB6A9-2C14-4C58-81BD-A1FB91D86D84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B57505-D9CA-4922-B8A6-59C86C2E9599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PERMITTED USE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0E6CDE-073D-4927-A8EC-0F47BFD8F0C3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Use AI to explain a concept, suggest debugging steps, improve documentation, or help compare modelling choices.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32208D-DD1D-43CB-A3E0-2F490F8A5A05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92F83E-1110-4F9D-A019-38BACB685BC5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REQUIRED STANDARD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7BECE8-0E9E-4D4D-B662-7F2E707FC8E9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Check every generated claim and code cell. Disclose material AI assistance. Do not submit fabricated data, citations, or results.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19FC21-718F-4AD3-BF52-93138ED1F354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4A8E1B-C468-4F55-A93D-F8BFD8575C7B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You must be able to explain every submitted line of code and every reported result.</a:t>
            </a:r>
          </a:p>
        </p:txBody>
      </p:sp>
    </p:spTree>
    <p:extLst>
      <p:ext uri="{BB962C8B-B14F-4D97-AF65-F5344CB8AC3E}">
        <p14:creationId xmlns:p14="http://schemas.microsoft.com/office/powerpoint/2010/main" val="348381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F4B8B6D-AAA0-40A6-83CD-54E9E0C133DA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56105E-F24A-4E5F-8158-F67DB8F94C7A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MAIN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61F6C7-B661-4D94-A356-38413E74F284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One project, four supervised-learning routes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F6A277-6053-454A-88B6-F7E2E675A11A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Choose a financial question that can be expressed as a supervised prediction problem and supported by data.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047217-CC7B-4D06-9A1B-DC2B3B1E3969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AA68CF-6A58-4647-A4AF-85D9C40EC3EC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F2427C-E0C4-4C79-8D46-2C8E79CD68DF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BC5CFB-564F-4523-B08D-31466BA9C792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POSSIBLE TOPICS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6FE9D4-9DD2-4588-A543-F1AF0B3BD020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Credit-risk default prediction, fraud-risk classification, stock-return or direction prediction, or portfolio decisions supported by return or risk forecasts.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F1C3B1-1A53-4730-AFE9-CE1FD41662B7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7C7C4C-D507-47F2-AD91-6FA8E26107BF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DATA OPTIONS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048635-5DD1-419D-AFC3-A2C164B0280E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Use a public dataset from Yahoo Finance, Kaggle, or another approved source. Record the source, time period, variables, target, and access date.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C786AA-7F43-4436-BE91-37C2DB7D7DB1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654BC6-0F69-4981-A598-4285B91DA822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project may be completed individually or by a team of two.</a:t>
            </a:r>
          </a:p>
        </p:txBody>
      </p:sp>
    </p:spTree>
    <p:extLst>
      <p:ext uri="{BB962C8B-B14F-4D97-AF65-F5344CB8AC3E}">
        <p14:creationId xmlns:p14="http://schemas.microsoft.com/office/powerpoint/2010/main" val="300330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4A44B29E-693F-4F60-B59A-467AC7A4ABA1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8BA938-E147-4E7B-A4D8-3267643E8552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MAIN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517FA0-3005-402B-B698-F8A9521BD0CF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project can start immediately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79FFBE-9345-4204-9CEE-D919BBBDB343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final week is reserved for completion, unresolved material, and project presentations.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F54038-40DB-4D34-AE50-80DEC9C40B36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48BA75-E998-4E79-B884-B5C66260DF60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DC1205-6927-4A02-95BC-23060533A307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737CD0-9F72-4361-B027-F17886004F01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476500" cy="76200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5BFAED-54A3-4AE1-A7BA-28DA5DBF329F}"/>
              </a:ext>
            </a:extLst>
          </p:cNvPr>
          <p:cNvSpPr>
            <a:spLocks noGrp="1"/>
          </p:cNvSpPr>
          <p:nvPr/>
        </p:nvSpPr>
        <p:spPr>
          <a:xfrm>
            <a:off x="723900" y="2800350"/>
            <a:ext cx="400050" cy="400050"/>
          </a:xfrm>
          <a:prstGeom prst="ellipse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95AD2C-9765-4AE0-BE27-112F6EB50BB4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AB78E6-E9B7-44A8-BC45-1F4FD837A1F9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Choose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A1E93EEE-907A-40C3-88D4-54CDC96A42F2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1017E3-CCDA-4094-89A5-30CD50D326C7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Question and 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C8F162-6A44-4026-ABC3-0C85EBEF6731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5DE47B-E9A0-4594-8434-BB40426422D8}"/>
              </a:ext>
            </a:extLst>
          </p:cNvPr>
          <p:cNvSpPr>
            <a:spLocks noGrp="1"/>
          </p:cNvSpPr>
          <p:nvPr/>
        </p:nvSpPr>
        <p:spPr>
          <a:xfrm>
            <a:off x="72390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predict whether a borrower defaults next month.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A5E1C7-FA22-4F92-8FDA-814BA92832DD}"/>
              </a:ext>
            </a:extLst>
          </p:cNvPr>
          <p:cNvSpPr>
            <a:spLocks noGrp="1"/>
          </p:cNvSpPr>
          <p:nvPr/>
        </p:nvSpPr>
        <p:spPr>
          <a:xfrm>
            <a:off x="320040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F83E68-3C64-4E5A-B4BD-56A9F9BEAEEE}"/>
              </a:ext>
            </a:extLst>
          </p:cNvPr>
          <p:cNvSpPr>
            <a:spLocks noGrp="1"/>
          </p:cNvSpPr>
          <p:nvPr/>
        </p:nvSpPr>
        <p:spPr>
          <a:xfrm>
            <a:off x="3200400" y="2571750"/>
            <a:ext cx="2476500" cy="762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A635E1F-D2FE-4E8E-8178-46376F438A7A}"/>
              </a:ext>
            </a:extLst>
          </p:cNvPr>
          <p:cNvSpPr>
            <a:spLocks noGrp="1"/>
          </p:cNvSpPr>
          <p:nvPr/>
        </p:nvSpPr>
        <p:spPr>
          <a:xfrm>
            <a:off x="3371850" y="2800350"/>
            <a:ext cx="400050" cy="400050"/>
          </a:xfrm>
          <a:prstGeom prst="ellipse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60A74B-3A8E-4119-872A-B19EF55F22ED}"/>
              </a:ext>
            </a:extLst>
          </p:cNvPr>
          <p:cNvSpPr>
            <a:spLocks noGrp="1"/>
          </p:cNvSpPr>
          <p:nvPr/>
        </p:nvSpPr>
        <p:spPr>
          <a:xfrm>
            <a:off x="337185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098BF8-3718-46AA-BC27-3A0391A3AE0A}"/>
              </a:ext>
            </a:extLst>
          </p:cNvPr>
          <p:cNvSpPr>
            <a:spLocks noGrp="1"/>
          </p:cNvSpPr>
          <p:nvPr/>
        </p:nvSpPr>
        <p:spPr>
          <a:xfrm>
            <a:off x="390525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3DDD2913-5277-4149-9B73-AFA1EDB55CD9}"/>
              </a:ext>
            </a:extLst>
          </p:cNvPr>
          <p:cNvSpPr>
            <a:spLocks noGrp="1"/>
          </p:cNvSpPr>
          <p:nvPr/>
        </p:nvSpPr>
        <p:spPr>
          <a:xfrm>
            <a:off x="337185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8FB643-2802-4684-BFA5-F9651A723934}"/>
              </a:ext>
            </a:extLst>
          </p:cNvPr>
          <p:cNvSpPr>
            <a:spLocks noGrp="1"/>
          </p:cNvSpPr>
          <p:nvPr/>
        </p:nvSpPr>
        <p:spPr>
          <a:xfrm>
            <a:off x="337185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First supervised model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249931-B2F9-4309-8478-92A3E6E70C69}"/>
              </a:ext>
            </a:extLst>
          </p:cNvPr>
          <p:cNvSpPr>
            <a:spLocks noGrp="1"/>
          </p:cNvSpPr>
          <p:nvPr/>
        </p:nvSpPr>
        <p:spPr>
          <a:xfrm>
            <a:off x="337185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397470-7B80-40F5-B01A-CA2A0639057A}"/>
              </a:ext>
            </a:extLst>
          </p:cNvPr>
          <p:cNvSpPr>
            <a:spLocks noGrp="1"/>
          </p:cNvSpPr>
          <p:nvPr/>
        </p:nvSpPr>
        <p:spPr>
          <a:xfrm>
            <a:off x="337185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start with logistic regression and a documented target.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A29E37-9239-49C1-A820-9BBAF5E380F7}"/>
              </a:ext>
            </a:extLst>
          </p:cNvPr>
          <p:cNvSpPr>
            <a:spLocks noGrp="1"/>
          </p:cNvSpPr>
          <p:nvPr/>
        </p:nvSpPr>
        <p:spPr>
          <a:xfrm>
            <a:off x="584835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445F17-950A-485A-AB62-E9911420B6D1}"/>
              </a:ext>
            </a:extLst>
          </p:cNvPr>
          <p:cNvSpPr>
            <a:spLocks noGrp="1"/>
          </p:cNvSpPr>
          <p:nvPr/>
        </p:nvSpPr>
        <p:spPr>
          <a:xfrm>
            <a:off x="5848350" y="2571750"/>
            <a:ext cx="2476500" cy="762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CE81D89-D37D-461C-AEF0-F023B68CEB65}"/>
              </a:ext>
            </a:extLst>
          </p:cNvPr>
          <p:cNvSpPr>
            <a:spLocks noGrp="1"/>
          </p:cNvSpPr>
          <p:nvPr/>
        </p:nvSpPr>
        <p:spPr>
          <a:xfrm>
            <a:off x="6019800" y="2800350"/>
            <a:ext cx="400050" cy="400050"/>
          </a:xfrm>
          <a:prstGeom prst="ellipse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217FC6-479D-41DE-994F-CC978040D19B}"/>
              </a:ext>
            </a:extLst>
          </p:cNvPr>
          <p:cNvSpPr>
            <a:spLocks noGrp="1"/>
          </p:cNvSpPr>
          <p:nvPr/>
        </p:nvSpPr>
        <p:spPr>
          <a:xfrm>
            <a:off x="601980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0C10FBC-3DF5-4A3E-9F2D-336FC7231F31}"/>
              </a:ext>
            </a:extLst>
          </p:cNvPr>
          <p:cNvSpPr>
            <a:spLocks noGrp="1"/>
          </p:cNvSpPr>
          <p:nvPr/>
        </p:nvSpPr>
        <p:spPr>
          <a:xfrm>
            <a:off x="655320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Develop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683AE005-64D9-499C-8EFB-709CC250E086}"/>
              </a:ext>
            </a:extLst>
          </p:cNvPr>
          <p:cNvSpPr>
            <a:spLocks noGrp="1"/>
          </p:cNvSpPr>
          <p:nvPr/>
        </p:nvSpPr>
        <p:spPr>
          <a:xfrm>
            <a:off x="601980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5D2FEFA-6128-471E-8719-B8E43085C9FF}"/>
              </a:ext>
            </a:extLst>
          </p:cNvPr>
          <p:cNvSpPr>
            <a:spLocks noGrp="1"/>
          </p:cNvSpPr>
          <p:nvPr/>
        </p:nvSpPr>
        <p:spPr>
          <a:xfrm>
            <a:off x="601980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Validate and compare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C8D19A5-3539-44BA-A187-99BCD8CF22BF}"/>
              </a:ext>
            </a:extLst>
          </p:cNvPr>
          <p:cNvSpPr>
            <a:spLocks noGrp="1"/>
          </p:cNvSpPr>
          <p:nvPr/>
        </p:nvSpPr>
        <p:spPr>
          <a:xfrm>
            <a:off x="601980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FFEF027-85C3-40D3-9E7F-E5D6E650BC03}"/>
              </a:ext>
            </a:extLst>
          </p:cNvPr>
          <p:cNvSpPr>
            <a:spLocks noGrp="1"/>
          </p:cNvSpPr>
          <p:nvPr/>
        </p:nvSpPr>
        <p:spPr>
          <a:xfrm>
            <a:off x="601980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compare models using ROC-AUC, recall, calibration, and cost.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BE2129B-EABC-4D3A-A56A-C22A0180AB01}"/>
              </a:ext>
            </a:extLst>
          </p:cNvPr>
          <p:cNvSpPr>
            <a:spLocks noGrp="1"/>
          </p:cNvSpPr>
          <p:nvPr/>
        </p:nvSpPr>
        <p:spPr>
          <a:xfrm>
            <a:off x="849630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EF606E-5E29-4DAD-B066-CAFE3BCBF4A0}"/>
              </a:ext>
            </a:extLst>
          </p:cNvPr>
          <p:cNvSpPr>
            <a:spLocks noGrp="1"/>
          </p:cNvSpPr>
          <p:nvPr/>
        </p:nvSpPr>
        <p:spPr>
          <a:xfrm>
            <a:off x="8496300" y="2571750"/>
            <a:ext cx="2476500" cy="76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3F32CD0-2003-4D86-9E28-E4073A179572}"/>
              </a:ext>
            </a:extLst>
          </p:cNvPr>
          <p:cNvSpPr>
            <a:spLocks noGrp="1"/>
          </p:cNvSpPr>
          <p:nvPr/>
        </p:nvSpPr>
        <p:spPr>
          <a:xfrm>
            <a:off x="8667750" y="2800350"/>
            <a:ext cx="400050" cy="400050"/>
          </a:xfrm>
          <a:prstGeom prst="ellipse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62C3E0C-49A1-41EB-9645-FA7785CFE286}"/>
              </a:ext>
            </a:extLst>
          </p:cNvPr>
          <p:cNvSpPr>
            <a:spLocks noGrp="1"/>
          </p:cNvSpPr>
          <p:nvPr/>
        </p:nvSpPr>
        <p:spPr>
          <a:xfrm>
            <a:off x="866775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42DD6B-2F7F-4D1A-BD47-4DBC609A3DF8}"/>
              </a:ext>
            </a:extLst>
          </p:cNvPr>
          <p:cNvSpPr>
            <a:spLocks noGrp="1"/>
          </p:cNvSpPr>
          <p:nvPr/>
        </p:nvSpPr>
        <p:spPr>
          <a:xfrm>
            <a:off x="920115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Present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B21E06D3-3AA0-4008-9FAB-186BCF74C6BE}"/>
              </a:ext>
            </a:extLst>
          </p:cNvPr>
          <p:cNvSpPr>
            <a:spLocks noGrp="1"/>
          </p:cNvSpPr>
          <p:nvPr/>
        </p:nvSpPr>
        <p:spPr>
          <a:xfrm>
            <a:off x="866775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D7ABDB-63F6-49D7-95E3-0CF070B8678D}"/>
              </a:ext>
            </a:extLst>
          </p:cNvPr>
          <p:cNvSpPr>
            <a:spLocks noGrp="1"/>
          </p:cNvSpPr>
          <p:nvPr/>
        </p:nvSpPr>
        <p:spPr>
          <a:xfrm>
            <a:off x="866775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Code and conclusions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1437E26-92D7-4935-8BD9-E5EF5156481B}"/>
              </a:ext>
            </a:extLst>
          </p:cNvPr>
          <p:cNvSpPr>
            <a:spLocks noGrp="1"/>
          </p:cNvSpPr>
          <p:nvPr/>
        </p:nvSpPr>
        <p:spPr>
          <a:xfrm>
            <a:off x="866775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7E62C9A-95B8-4B38-88E5-D6E1924AD5CD}"/>
              </a:ext>
            </a:extLst>
          </p:cNvPr>
          <p:cNvSpPr>
            <a:spLocks noGrp="1"/>
          </p:cNvSpPr>
          <p:nvPr/>
        </p:nvSpPr>
        <p:spPr>
          <a:xfrm>
            <a:off x="866775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submit the notebook, results table, limitations, and presentation.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DA4401-FB84-4DE7-876C-E746938FEA0B}"/>
              </a:ext>
            </a:extLst>
          </p:cNvPr>
          <p:cNvSpPr>
            <a:spLocks noGrp="1"/>
          </p:cNvSpPr>
          <p:nvPr/>
        </p:nvSpPr>
        <p:spPr>
          <a:xfrm>
            <a:off x="552450" y="5162550"/>
            <a:ext cx="11087100" cy="51435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DC38AE1-EAD8-4EE4-AC9A-0736EC23FF4C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10706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A short project proposal can be discussed at any point. Do not wait until Week 12 to discover a data problem.</a:t>
            </a:r>
          </a:p>
        </p:txBody>
      </p:sp>
    </p:spTree>
    <p:extLst>
      <p:ext uri="{BB962C8B-B14F-4D97-AF65-F5344CB8AC3E}">
        <p14:creationId xmlns:p14="http://schemas.microsoft.com/office/powerpoint/2010/main" val="692680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56A3BD7-1B8B-4177-A0BA-E01DAC214E24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624B97-3873-4A74-B365-AD3991977DF0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MATHEMATICS ROADMAP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10A385-90A8-4A44-999D-A2689163C31E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mathematics will support each modelling decision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A13929-9155-451B-8D80-8F34F5FA471E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Every formula will be followed by symbol definitions, a numerical interpretation, and a financial use case.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0CFB49-04A5-49E4-8B78-0F2D5696CB19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402003-4806-49D8-89BA-1B54294DAFA6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86525C-C697-4AA8-ACE7-3AB62F80AFFA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B39D03-1500-4133-AF32-2AD77F87AA76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EARLY FOUNDATION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285D9E-48F7-4021-AE72-7DDD2EACCF91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Means, medians, variance, standardisation, returns, and correlation describe the data before modelling.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63D1B5-E67D-4EC8-B868-3120C4DF7423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315FCD-FFCE-4D5A-BE16-8A8E769C6805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LATER MODELS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B5BD06-6BAC-4C6C-8FB4-DEA3D52AD761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Logistic likelihood, regularisation, tree impurity, boosting updates, SVM margins, calibration, and neural-network layers explain how models learn.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C0DC59-9BAC-4D51-9DB2-16D17E273AA6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AFD04B-B078-4CFA-810D-67A8A4BCB590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equation is only the starting point. The interpretation explains why it matters.</a:t>
            </a:r>
          </a:p>
        </p:txBody>
      </p:sp>
    </p:spTree>
    <p:extLst>
      <p:ext uri="{BB962C8B-B14F-4D97-AF65-F5344CB8AC3E}">
        <p14:creationId xmlns:p14="http://schemas.microsoft.com/office/powerpoint/2010/main" val="578299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28C90135-5629-4997-B68C-00751D7FA890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159576-AFBA-4B4A-8D6E-42F5D6373422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13-WEEK ROADMAP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4CDBA7-B6CF-447B-BC88-0DAEB91F8141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Weeks 1–6: foundations, preprocessing, and evaluation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449C37-B187-4770-93CB-863F20183E83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early weeks follow the syllabus from Python foundations to a reliable classification evaluation toolkit.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819661-46A8-46C7-8CD3-6AFAD8F811A8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6C02F8-9F19-4AE2-A923-32D1478164BD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34416E-D1F9-4886-A015-CA1EF39631CE}"/>
              </a:ext>
            </a:extLst>
          </p:cNvPr>
          <p:cNvSpPr>
            <a:spLocks noGrp="1"/>
          </p:cNvSpPr>
          <p:nvPr/>
        </p:nvSpPr>
        <p:spPr>
          <a:xfrm>
            <a:off x="552450" y="2324100"/>
            <a:ext cx="1381283" cy="476250"/>
          </a:xfrm>
          <a:prstGeom prst="rect">
            <a:avLst/>
          </a:prstGeom>
          <a:solidFill>
            <a:srgbClr val="071A30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29790F-ED7A-46B7-920B-17BBDE8FAABB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114583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4C8EE2-9DE3-4C27-A4F9-BDCAEC8F502F}"/>
              </a:ext>
            </a:extLst>
          </p:cNvPr>
          <p:cNvSpPr>
            <a:spLocks noGrp="1"/>
          </p:cNvSpPr>
          <p:nvPr/>
        </p:nvSpPr>
        <p:spPr>
          <a:xfrm>
            <a:off x="1933733" y="2324100"/>
            <a:ext cx="4235935" cy="476250"/>
          </a:xfrm>
          <a:prstGeom prst="rect">
            <a:avLst/>
          </a:prstGeom>
          <a:solidFill>
            <a:srgbClr val="071A30"/>
          </a:solidFill>
          <a:ln w="9525">
            <a:solidFill>
              <a:srgbClr val="C9D7E2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9C6928-85A0-4808-99B7-3F65E4985AE9}"/>
              </a:ext>
            </a:extLst>
          </p:cNvPr>
          <p:cNvSpPr>
            <a:spLocks noGrp="1"/>
          </p:cNvSpPr>
          <p:nvPr/>
        </p:nvSpPr>
        <p:spPr>
          <a:xfrm>
            <a:off x="2067083" y="2476500"/>
            <a:ext cx="396923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Focus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6CFCC7-1EEE-4463-BFA8-A9FEDD0573D2}"/>
              </a:ext>
            </a:extLst>
          </p:cNvPr>
          <p:cNvSpPr>
            <a:spLocks noGrp="1"/>
          </p:cNvSpPr>
          <p:nvPr/>
        </p:nvSpPr>
        <p:spPr>
          <a:xfrm>
            <a:off x="6169668" y="2324100"/>
            <a:ext cx="5469882" cy="476250"/>
          </a:xfrm>
          <a:prstGeom prst="rect">
            <a:avLst/>
          </a:prstGeom>
          <a:solidFill>
            <a:srgbClr val="071A30"/>
          </a:solidFill>
          <a:ln w="9525">
            <a:solidFill>
              <a:srgbClr val="C9D7E2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73AF3F-24D4-4F4B-B80E-CFA65D9302A9}"/>
              </a:ext>
            </a:extLst>
          </p:cNvPr>
          <p:cNvSpPr>
            <a:spLocks noGrp="1"/>
          </p:cNvSpPr>
          <p:nvPr/>
        </p:nvSpPr>
        <p:spPr>
          <a:xfrm>
            <a:off x="6303018" y="2476500"/>
            <a:ext cx="5203182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 output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8B8C85-39A2-4C66-A26C-D8424F4CD805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381283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CFE114-D0E4-4015-883F-C7B2FDC046B1}"/>
              </a:ext>
            </a:extLst>
          </p:cNvPr>
          <p:cNvSpPr>
            <a:spLocks noGrp="1"/>
          </p:cNvSpPr>
          <p:nvPr/>
        </p:nvSpPr>
        <p:spPr>
          <a:xfrm>
            <a:off x="685800" y="2962275"/>
            <a:ext cx="1114583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C789B0-E662-404B-98BB-382EE2ADB703}"/>
              </a:ext>
            </a:extLst>
          </p:cNvPr>
          <p:cNvSpPr>
            <a:spLocks noGrp="1"/>
          </p:cNvSpPr>
          <p:nvPr/>
        </p:nvSpPr>
        <p:spPr>
          <a:xfrm>
            <a:off x="1933733" y="2800350"/>
            <a:ext cx="423593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F4824A-1E5E-41C3-8E6C-D6E5E0E47193}"/>
              </a:ext>
            </a:extLst>
          </p:cNvPr>
          <p:cNvSpPr>
            <a:spLocks noGrp="1"/>
          </p:cNvSpPr>
          <p:nvPr/>
        </p:nvSpPr>
        <p:spPr>
          <a:xfrm>
            <a:off x="2067083" y="2962275"/>
            <a:ext cx="396923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72603" lnSpcReduction="20000"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Python Foundations I: Colab, syntax, functions, files, descriptive statistics, visualisation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AFCE16-30EF-4B31-BF32-D4987F073AAF}"/>
              </a:ext>
            </a:extLst>
          </p:cNvPr>
          <p:cNvSpPr>
            <a:spLocks noGrp="1"/>
          </p:cNvSpPr>
          <p:nvPr/>
        </p:nvSpPr>
        <p:spPr>
          <a:xfrm>
            <a:off x="6169668" y="2800350"/>
            <a:ext cx="5469882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CF24C8-982A-46E6-8B59-2A1B8CF1335C}"/>
              </a:ext>
            </a:extLst>
          </p:cNvPr>
          <p:cNvSpPr>
            <a:spLocks noGrp="1"/>
          </p:cNvSpPr>
          <p:nvPr/>
        </p:nvSpPr>
        <p:spPr>
          <a:xfrm>
            <a:off x="6303018" y="2962275"/>
            <a:ext cx="5203182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Notebook with basic programming and financial-data analysis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2E81BF-1089-4539-B3A7-1A5CD8D66A7D}"/>
              </a:ext>
            </a:extLst>
          </p:cNvPr>
          <p:cNvSpPr>
            <a:spLocks noGrp="1"/>
          </p:cNvSpPr>
          <p:nvPr/>
        </p:nvSpPr>
        <p:spPr>
          <a:xfrm>
            <a:off x="552450" y="3314700"/>
            <a:ext cx="1381283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8F204D-C813-48F0-9788-C534A46E3F5C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1114583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5215ED-112A-476A-A7F4-E57BC344A494}"/>
              </a:ext>
            </a:extLst>
          </p:cNvPr>
          <p:cNvSpPr>
            <a:spLocks noGrp="1"/>
          </p:cNvSpPr>
          <p:nvPr/>
        </p:nvSpPr>
        <p:spPr>
          <a:xfrm>
            <a:off x="1933733" y="3314700"/>
            <a:ext cx="4235935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77B605-186B-4D78-BE53-29E2C764DD0F}"/>
              </a:ext>
            </a:extLst>
          </p:cNvPr>
          <p:cNvSpPr>
            <a:spLocks noGrp="1"/>
          </p:cNvSpPr>
          <p:nvPr/>
        </p:nvSpPr>
        <p:spPr>
          <a:xfrm>
            <a:off x="2067083" y="3476625"/>
            <a:ext cx="396923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69163" lnSpcReduction="20000"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Python Foundations II: NumPy, Pandas, joins, grouping, missing values, correlations, EDA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D54833-BBD5-4D4A-B54B-2974D4FEEF50}"/>
              </a:ext>
            </a:extLst>
          </p:cNvPr>
          <p:cNvSpPr>
            <a:spLocks noGrp="1"/>
          </p:cNvSpPr>
          <p:nvPr/>
        </p:nvSpPr>
        <p:spPr>
          <a:xfrm>
            <a:off x="6169668" y="3314700"/>
            <a:ext cx="5469882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F78ED5-D117-4103-8439-861672CBE699}"/>
              </a:ext>
            </a:extLst>
          </p:cNvPr>
          <p:cNvSpPr>
            <a:spLocks noGrp="1"/>
          </p:cNvSpPr>
          <p:nvPr/>
        </p:nvSpPr>
        <p:spPr>
          <a:xfrm>
            <a:off x="6303018" y="3476625"/>
            <a:ext cx="5203182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Credit-risk EDA and documented data-quality findings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E02B57-825E-48F3-B43B-9920C7B35BF1}"/>
              </a:ext>
            </a:extLst>
          </p:cNvPr>
          <p:cNvSpPr>
            <a:spLocks noGrp="1"/>
          </p:cNvSpPr>
          <p:nvPr/>
        </p:nvSpPr>
        <p:spPr>
          <a:xfrm>
            <a:off x="552450" y="3829050"/>
            <a:ext cx="1381283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02CBD7-C9E6-4564-9387-6361E04A7B54}"/>
              </a:ext>
            </a:extLst>
          </p:cNvPr>
          <p:cNvSpPr>
            <a:spLocks noGrp="1"/>
          </p:cNvSpPr>
          <p:nvPr/>
        </p:nvSpPr>
        <p:spPr>
          <a:xfrm>
            <a:off x="685800" y="3990975"/>
            <a:ext cx="1114583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674FC7-815E-4CD8-AFFE-1A725AED9442}"/>
              </a:ext>
            </a:extLst>
          </p:cNvPr>
          <p:cNvSpPr>
            <a:spLocks noGrp="1"/>
          </p:cNvSpPr>
          <p:nvPr/>
        </p:nvSpPr>
        <p:spPr>
          <a:xfrm>
            <a:off x="1933733" y="3829050"/>
            <a:ext cx="423593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E3B57E-A9EB-4395-BD94-7B27E9D66131}"/>
              </a:ext>
            </a:extLst>
          </p:cNvPr>
          <p:cNvSpPr>
            <a:spLocks noGrp="1"/>
          </p:cNvSpPr>
          <p:nvPr/>
        </p:nvSpPr>
        <p:spPr>
          <a:xfrm>
            <a:off x="2067083" y="3990975"/>
            <a:ext cx="396923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68611" lnSpcReduction="20000"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Data cleaning and preprocessing: duplicates, outliers, scaling, encoding, pipelines, ColumnTransformer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1D53B2-E7B7-4F34-890D-0C1DACE58E54}"/>
              </a:ext>
            </a:extLst>
          </p:cNvPr>
          <p:cNvSpPr>
            <a:spLocks noGrp="1"/>
          </p:cNvSpPr>
          <p:nvPr/>
        </p:nvSpPr>
        <p:spPr>
          <a:xfrm>
            <a:off x="6169668" y="3829050"/>
            <a:ext cx="5469882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6793DC-2AF8-4941-A447-2833A307C038}"/>
              </a:ext>
            </a:extLst>
          </p:cNvPr>
          <p:cNvSpPr>
            <a:spLocks noGrp="1"/>
          </p:cNvSpPr>
          <p:nvPr/>
        </p:nvSpPr>
        <p:spPr>
          <a:xfrm>
            <a:off x="6303018" y="3990975"/>
            <a:ext cx="5203182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Reproducible preprocessing pipeline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FDA0A1-645F-45F0-8E93-A3AF707DCBB1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1381283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30A2E89-4EAD-484B-8325-B6A2AB84F9E3}"/>
              </a:ext>
            </a:extLst>
          </p:cNvPr>
          <p:cNvSpPr>
            <a:spLocks noGrp="1"/>
          </p:cNvSpPr>
          <p:nvPr/>
        </p:nvSpPr>
        <p:spPr>
          <a:xfrm>
            <a:off x="685800" y="4505325"/>
            <a:ext cx="1114583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8049CE2-092C-4973-9C52-798D58EA80C8}"/>
              </a:ext>
            </a:extLst>
          </p:cNvPr>
          <p:cNvSpPr>
            <a:spLocks noGrp="1"/>
          </p:cNvSpPr>
          <p:nvPr/>
        </p:nvSpPr>
        <p:spPr>
          <a:xfrm>
            <a:off x="1933733" y="4343400"/>
            <a:ext cx="4235935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2B6679D-74EB-4B8C-A50F-051A5833ED76}"/>
              </a:ext>
            </a:extLst>
          </p:cNvPr>
          <p:cNvSpPr>
            <a:spLocks noGrp="1"/>
          </p:cNvSpPr>
          <p:nvPr/>
        </p:nvSpPr>
        <p:spPr>
          <a:xfrm>
            <a:off x="2067083" y="4505325"/>
            <a:ext cx="396923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68123" lnSpcReduction="20000"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Feature engineering: ratios, interactions, nonlinear transforms, selection, leakage prevention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1E3CA7-EF7F-4A48-8A82-2CB249FE5CF9}"/>
              </a:ext>
            </a:extLst>
          </p:cNvPr>
          <p:cNvSpPr>
            <a:spLocks noGrp="1"/>
          </p:cNvSpPr>
          <p:nvPr/>
        </p:nvSpPr>
        <p:spPr>
          <a:xfrm>
            <a:off x="6169668" y="4343400"/>
            <a:ext cx="5469882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C14FC57-FCAE-41D3-9EEF-5F5FACBC92E1}"/>
              </a:ext>
            </a:extLst>
          </p:cNvPr>
          <p:cNvSpPr>
            <a:spLocks noGrp="1"/>
          </p:cNvSpPr>
          <p:nvPr/>
        </p:nvSpPr>
        <p:spPr>
          <a:xfrm>
            <a:off x="6303018" y="4505325"/>
            <a:ext cx="5203182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Six to ten defensible predictive variables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730207-A18B-41CA-8BFC-F2D44B345E26}"/>
              </a:ext>
            </a:extLst>
          </p:cNvPr>
          <p:cNvSpPr>
            <a:spLocks noGrp="1"/>
          </p:cNvSpPr>
          <p:nvPr/>
        </p:nvSpPr>
        <p:spPr>
          <a:xfrm>
            <a:off x="552450" y="4857750"/>
            <a:ext cx="1381283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14F5ADF-9816-4652-86B7-A3159724E482}"/>
              </a:ext>
            </a:extLst>
          </p:cNvPr>
          <p:cNvSpPr>
            <a:spLocks noGrp="1"/>
          </p:cNvSpPr>
          <p:nvPr/>
        </p:nvSpPr>
        <p:spPr>
          <a:xfrm>
            <a:off x="685800" y="5019675"/>
            <a:ext cx="1114583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13DF44C-06C3-47CF-98F9-92BFAF24D667}"/>
              </a:ext>
            </a:extLst>
          </p:cNvPr>
          <p:cNvSpPr>
            <a:spLocks noGrp="1"/>
          </p:cNvSpPr>
          <p:nvPr/>
        </p:nvSpPr>
        <p:spPr>
          <a:xfrm>
            <a:off x="1933733" y="4857750"/>
            <a:ext cx="423593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1BA4520-B8B9-493A-8A92-5C6E4878508F}"/>
              </a:ext>
            </a:extLst>
          </p:cNvPr>
          <p:cNvSpPr>
            <a:spLocks noGrp="1"/>
          </p:cNvSpPr>
          <p:nvPr/>
        </p:nvSpPr>
        <p:spPr>
          <a:xfrm>
            <a:off x="2067083" y="5019675"/>
            <a:ext cx="396923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70937" lnSpcReduction="20000"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Logistic regression for credit risk: imbalance, class weights, L1/L2/Elastic Net, calibration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CEA9EDA-FAF2-4E6C-BB19-597BC20FF6A8}"/>
              </a:ext>
            </a:extLst>
          </p:cNvPr>
          <p:cNvSpPr>
            <a:spLocks noGrp="1"/>
          </p:cNvSpPr>
          <p:nvPr/>
        </p:nvSpPr>
        <p:spPr>
          <a:xfrm>
            <a:off x="6169668" y="4857750"/>
            <a:ext cx="5469882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24B469-D526-4B0F-ABB1-557283E14B3F}"/>
              </a:ext>
            </a:extLst>
          </p:cNvPr>
          <p:cNvSpPr>
            <a:spLocks noGrp="1"/>
          </p:cNvSpPr>
          <p:nvPr/>
        </p:nvSpPr>
        <p:spPr>
          <a:xfrm>
            <a:off x="6303018" y="5019675"/>
            <a:ext cx="5203182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Regularised Probability of Default baseline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ED281E9-B15F-4191-9A38-4A0180B7664A}"/>
              </a:ext>
            </a:extLst>
          </p:cNvPr>
          <p:cNvSpPr>
            <a:spLocks noGrp="1"/>
          </p:cNvSpPr>
          <p:nvPr/>
        </p:nvSpPr>
        <p:spPr>
          <a:xfrm>
            <a:off x="552450" y="5372100"/>
            <a:ext cx="1381283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D0842F3-A21A-44C7-BB02-F104A4EE272D}"/>
              </a:ext>
            </a:extLst>
          </p:cNvPr>
          <p:cNvSpPr>
            <a:spLocks noGrp="1"/>
          </p:cNvSpPr>
          <p:nvPr/>
        </p:nvSpPr>
        <p:spPr>
          <a:xfrm>
            <a:off x="685800" y="5534025"/>
            <a:ext cx="1114583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0DCD2FB-18A0-45B8-9D9A-96B4410A952B}"/>
              </a:ext>
            </a:extLst>
          </p:cNvPr>
          <p:cNvSpPr>
            <a:spLocks noGrp="1"/>
          </p:cNvSpPr>
          <p:nvPr/>
        </p:nvSpPr>
        <p:spPr>
          <a:xfrm>
            <a:off x="1933733" y="5372100"/>
            <a:ext cx="4235935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1D0C063-1E64-4488-B5A5-5444CB93846B}"/>
              </a:ext>
            </a:extLst>
          </p:cNvPr>
          <p:cNvSpPr>
            <a:spLocks noGrp="1"/>
          </p:cNvSpPr>
          <p:nvPr/>
        </p:nvSpPr>
        <p:spPr>
          <a:xfrm>
            <a:off x="2067083" y="5534025"/>
            <a:ext cx="396923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68963" lnSpcReduction="20000"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Model evaluation: confusion matrix, ROC/PR, KS, Gini, log-loss, Brier, lift, gains, calibration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E65C76C-A341-48A1-844C-82481443A7D9}"/>
              </a:ext>
            </a:extLst>
          </p:cNvPr>
          <p:cNvSpPr>
            <a:spLocks noGrp="1"/>
          </p:cNvSpPr>
          <p:nvPr/>
        </p:nvSpPr>
        <p:spPr>
          <a:xfrm>
            <a:off x="6169668" y="5372100"/>
            <a:ext cx="5469882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2202440-75E9-4827-8C1A-1F3A85178822}"/>
              </a:ext>
            </a:extLst>
          </p:cNvPr>
          <p:cNvSpPr>
            <a:spLocks noGrp="1"/>
          </p:cNvSpPr>
          <p:nvPr/>
        </p:nvSpPr>
        <p:spPr>
          <a:xfrm>
            <a:off x="6303018" y="5534025"/>
            <a:ext cx="5203182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Reusable evaluation toolkit</a:t>
            </a:r>
          </a:p>
        </p:txBody>
      </p:sp>
    </p:spTree>
    <p:extLst>
      <p:ext uri="{BB962C8B-B14F-4D97-AF65-F5344CB8AC3E}">
        <p14:creationId xmlns:p14="http://schemas.microsoft.com/office/powerpoint/2010/main" val="84563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04D99009-C894-4753-A734-5ACDB41AFB65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140535-A406-4B66-A7CC-53EBE9B2BF34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13-WEEK ROADMAP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4720DD-489D-4B50-A920-3401023A9AB7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Weeks 7–13: supervised models and the capstone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F2F9-ACB8-4394-AEED-85B3BA0E32FF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later weeks follow the syllabus sequence. Unsupervised learning is outside this course structure.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9E216D-6104-4E07-9118-5BC77A34986F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EA7401-1C44-49EF-A482-FE0B6021E8C9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BFBF5A-F414-448A-8E2B-8EAC779C4BEB}"/>
              </a:ext>
            </a:extLst>
          </p:cNvPr>
          <p:cNvSpPr>
            <a:spLocks noGrp="1"/>
          </p:cNvSpPr>
          <p:nvPr/>
        </p:nvSpPr>
        <p:spPr>
          <a:xfrm>
            <a:off x="552450" y="2324100"/>
            <a:ext cx="1381283" cy="476250"/>
          </a:xfrm>
          <a:prstGeom prst="rect">
            <a:avLst/>
          </a:prstGeom>
          <a:solidFill>
            <a:srgbClr val="071A30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CD3A0B-EE67-4A87-9693-DA9CE5807F86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114583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D35E23-E656-46C0-8355-C1309F4EC2A0}"/>
              </a:ext>
            </a:extLst>
          </p:cNvPr>
          <p:cNvSpPr>
            <a:spLocks noGrp="1"/>
          </p:cNvSpPr>
          <p:nvPr/>
        </p:nvSpPr>
        <p:spPr>
          <a:xfrm>
            <a:off x="1933733" y="2324100"/>
            <a:ext cx="3315080" cy="476250"/>
          </a:xfrm>
          <a:prstGeom prst="rect">
            <a:avLst/>
          </a:prstGeom>
          <a:solidFill>
            <a:srgbClr val="071A30"/>
          </a:solidFill>
          <a:ln w="9525">
            <a:solidFill>
              <a:srgbClr val="C9D7E2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D7863C-7D9A-4819-A38A-4158788C5F0A}"/>
              </a:ext>
            </a:extLst>
          </p:cNvPr>
          <p:cNvSpPr>
            <a:spLocks noGrp="1"/>
          </p:cNvSpPr>
          <p:nvPr/>
        </p:nvSpPr>
        <p:spPr>
          <a:xfrm>
            <a:off x="2067083" y="2476500"/>
            <a:ext cx="304838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Focus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CAE5E3-3CC6-4B92-9502-B50062A39069}"/>
              </a:ext>
            </a:extLst>
          </p:cNvPr>
          <p:cNvSpPr>
            <a:spLocks noGrp="1"/>
          </p:cNvSpPr>
          <p:nvPr/>
        </p:nvSpPr>
        <p:spPr>
          <a:xfrm>
            <a:off x="5248813" y="2324100"/>
            <a:ext cx="6390737" cy="476250"/>
          </a:xfrm>
          <a:prstGeom prst="rect">
            <a:avLst/>
          </a:prstGeom>
          <a:solidFill>
            <a:srgbClr val="071A30"/>
          </a:solidFill>
          <a:ln w="9525">
            <a:solidFill>
              <a:srgbClr val="C9D7E2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620AAF-9C48-44E4-A01F-6133179EC5C2}"/>
              </a:ext>
            </a:extLst>
          </p:cNvPr>
          <p:cNvSpPr>
            <a:spLocks noGrp="1"/>
          </p:cNvSpPr>
          <p:nvPr/>
        </p:nvSpPr>
        <p:spPr>
          <a:xfrm>
            <a:off x="5382163" y="2476500"/>
            <a:ext cx="6124037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 output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DF057F-F51A-4074-8906-8A763706CF62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381283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37905F-BD21-4143-B079-8AC7B8591E5E}"/>
              </a:ext>
            </a:extLst>
          </p:cNvPr>
          <p:cNvSpPr>
            <a:spLocks noGrp="1"/>
          </p:cNvSpPr>
          <p:nvPr/>
        </p:nvSpPr>
        <p:spPr>
          <a:xfrm>
            <a:off x="685800" y="2962275"/>
            <a:ext cx="1114583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9E4145-3C85-4EF4-99EB-75F5E1024A2E}"/>
              </a:ext>
            </a:extLst>
          </p:cNvPr>
          <p:cNvSpPr>
            <a:spLocks noGrp="1"/>
          </p:cNvSpPr>
          <p:nvPr/>
        </p:nvSpPr>
        <p:spPr>
          <a:xfrm>
            <a:off x="1933733" y="2800350"/>
            <a:ext cx="33150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5D9B73-90B9-49C7-B339-5D059D7ABE45}"/>
              </a:ext>
            </a:extLst>
          </p:cNvPr>
          <p:cNvSpPr>
            <a:spLocks noGrp="1"/>
          </p:cNvSpPr>
          <p:nvPr/>
        </p:nvSpPr>
        <p:spPr>
          <a:xfrm>
            <a:off x="2067083" y="2962275"/>
            <a:ext cx="304838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Decision trees and random forests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D2DB20-F867-46A1-B750-3E1D1E4CE907}"/>
              </a:ext>
            </a:extLst>
          </p:cNvPr>
          <p:cNvSpPr>
            <a:spLocks noGrp="1"/>
          </p:cNvSpPr>
          <p:nvPr/>
        </p:nvSpPr>
        <p:spPr>
          <a:xfrm>
            <a:off x="5248813" y="2800350"/>
            <a:ext cx="6390737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E3B3D7-E0D8-4EE0-BB6F-457800F74170}"/>
              </a:ext>
            </a:extLst>
          </p:cNvPr>
          <p:cNvSpPr>
            <a:spLocks noGrp="1"/>
          </p:cNvSpPr>
          <p:nvPr/>
        </p:nvSpPr>
        <p:spPr>
          <a:xfrm>
            <a:off x="5382163" y="2962275"/>
            <a:ext cx="6124037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Nonlinear benchmark and feature importance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A0E5BE-A1C4-4B3A-B218-52D153A8ACA9}"/>
              </a:ext>
            </a:extLst>
          </p:cNvPr>
          <p:cNvSpPr>
            <a:spLocks noGrp="1"/>
          </p:cNvSpPr>
          <p:nvPr/>
        </p:nvSpPr>
        <p:spPr>
          <a:xfrm>
            <a:off x="552450" y="3314700"/>
            <a:ext cx="1381283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458094-4FB1-4808-B26E-FEDDC0957D0A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1114583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BFB6BA-835B-4C63-873F-AF70AE6E0F5E}"/>
              </a:ext>
            </a:extLst>
          </p:cNvPr>
          <p:cNvSpPr>
            <a:spLocks noGrp="1"/>
          </p:cNvSpPr>
          <p:nvPr/>
        </p:nvSpPr>
        <p:spPr>
          <a:xfrm>
            <a:off x="1933733" y="3314700"/>
            <a:ext cx="3315080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CB25C6-B37A-4FF4-9B85-7F5E1A364898}"/>
              </a:ext>
            </a:extLst>
          </p:cNvPr>
          <p:cNvSpPr>
            <a:spLocks noGrp="1"/>
          </p:cNvSpPr>
          <p:nvPr/>
        </p:nvSpPr>
        <p:spPr>
          <a:xfrm>
            <a:off x="2067083" y="3476625"/>
            <a:ext cx="304838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Model validation and generalisation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F486AE-EF0D-44E8-8345-201FE4CE5853}"/>
              </a:ext>
            </a:extLst>
          </p:cNvPr>
          <p:cNvSpPr>
            <a:spLocks noGrp="1"/>
          </p:cNvSpPr>
          <p:nvPr/>
        </p:nvSpPr>
        <p:spPr>
          <a:xfrm>
            <a:off x="5248813" y="3314700"/>
            <a:ext cx="6390737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395669-25DD-4697-955C-9A179A968E71}"/>
              </a:ext>
            </a:extLst>
          </p:cNvPr>
          <p:cNvSpPr>
            <a:spLocks noGrp="1"/>
          </p:cNvSpPr>
          <p:nvPr/>
        </p:nvSpPr>
        <p:spPr>
          <a:xfrm>
            <a:off x="5382163" y="3476625"/>
            <a:ext cx="6124037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Cross-validation, learning curves, and leakage control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F4ADBE-1DB7-433B-AA8A-3F3E3AAC6F25}"/>
              </a:ext>
            </a:extLst>
          </p:cNvPr>
          <p:cNvSpPr>
            <a:spLocks noGrp="1"/>
          </p:cNvSpPr>
          <p:nvPr/>
        </p:nvSpPr>
        <p:spPr>
          <a:xfrm>
            <a:off x="552450" y="3829050"/>
            <a:ext cx="1381283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D34E5B-3524-4CCD-9258-2395C1F00372}"/>
              </a:ext>
            </a:extLst>
          </p:cNvPr>
          <p:cNvSpPr>
            <a:spLocks noGrp="1"/>
          </p:cNvSpPr>
          <p:nvPr/>
        </p:nvSpPr>
        <p:spPr>
          <a:xfrm>
            <a:off x="685800" y="3990975"/>
            <a:ext cx="1114583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A10367-B2EB-4D54-996B-4A041564C8BE}"/>
              </a:ext>
            </a:extLst>
          </p:cNvPr>
          <p:cNvSpPr>
            <a:spLocks noGrp="1"/>
          </p:cNvSpPr>
          <p:nvPr/>
        </p:nvSpPr>
        <p:spPr>
          <a:xfrm>
            <a:off x="1933733" y="3829050"/>
            <a:ext cx="33150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E1B7E7-8237-451D-B524-97D1E4E0CEED}"/>
              </a:ext>
            </a:extLst>
          </p:cNvPr>
          <p:cNvSpPr>
            <a:spLocks noGrp="1"/>
          </p:cNvSpPr>
          <p:nvPr/>
        </p:nvSpPr>
        <p:spPr>
          <a:xfrm>
            <a:off x="2067083" y="3990975"/>
            <a:ext cx="304838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Gradient boosting methods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B3C3BE8-DCCB-4CED-B021-FE375ADDA8A0}"/>
              </a:ext>
            </a:extLst>
          </p:cNvPr>
          <p:cNvSpPr>
            <a:spLocks noGrp="1"/>
          </p:cNvSpPr>
          <p:nvPr/>
        </p:nvSpPr>
        <p:spPr>
          <a:xfrm>
            <a:off x="5248813" y="3829050"/>
            <a:ext cx="6390737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6EA221-C993-4665-BDFD-4EF2F245ECBD}"/>
              </a:ext>
            </a:extLst>
          </p:cNvPr>
          <p:cNvSpPr>
            <a:spLocks noGrp="1"/>
          </p:cNvSpPr>
          <p:nvPr/>
        </p:nvSpPr>
        <p:spPr>
          <a:xfrm>
            <a:off x="5382163" y="3990975"/>
            <a:ext cx="6124037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Boosted model with tuned hyperparameters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D26063-8775-4760-AA13-E37EBB0250B3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1381283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253E0D-4BCE-4E38-BE5C-BB4607AA3A12}"/>
              </a:ext>
            </a:extLst>
          </p:cNvPr>
          <p:cNvSpPr>
            <a:spLocks noGrp="1"/>
          </p:cNvSpPr>
          <p:nvPr/>
        </p:nvSpPr>
        <p:spPr>
          <a:xfrm>
            <a:off x="685800" y="4505325"/>
            <a:ext cx="1114583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1AA1E9-2E90-4C99-A732-32AF966EBE54}"/>
              </a:ext>
            </a:extLst>
          </p:cNvPr>
          <p:cNvSpPr>
            <a:spLocks noGrp="1"/>
          </p:cNvSpPr>
          <p:nvPr/>
        </p:nvSpPr>
        <p:spPr>
          <a:xfrm>
            <a:off x="1933733" y="4343400"/>
            <a:ext cx="3315080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C907C5C-1D8E-4819-A447-7990CC7B418D}"/>
              </a:ext>
            </a:extLst>
          </p:cNvPr>
          <p:cNvSpPr>
            <a:spLocks noGrp="1"/>
          </p:cNvSpPr>
          <p:nvPr/>
        </p:nvSpPr>
        <p:spPr>
          <a:xfrm>
            <a:off x="2067083" y="4505325"/>
            <a:ext cx="304838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Alternative machine-learning algorithms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2277A0A-B6BD-47E2-BC22-D8C52F3A754D}"/>
              </a:ext>
            </a:extLst>
          </p:cNvPr>
          <p:cNvSpPr>
            <a:spLocks noGrp="1"/>
          </p:cNvSpPr>
          <p:nvPr/>
        </p:nvSpPr>
        <p:spPr>
          <a:xfrm>
            <a:off x="5248813" y="4343400"/>
            <a:ext cx="6390737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439C121-529B-4596-A9BC-74D55631D797}"/>
              </a:ext>
            </a:extLst>
          </p:cNvPr>
          <p:cNvSpPr>
            <a:spLocks noGrp="1"/>
          </p:cNvSpPr>
          <p:nvPr/>
        </p:nvSpPr>
        <p:spPr>
          <a:xfrm>
            <a:off x="5382163" y="4505325"/>
            <a:ext cx="6124037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SVM, kNN, and Naive Bayes comparison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1378BC9-78D4-4537-8A66-84818CE35619}"/>
              </a:ext>
            </a:extLst>
          </p:cNvPr>
          <p:cNvSpPr>
            <a:spLocks noGrp="1"/>
          </p:cNvSpPr>
          <p:nvPr/>
        </p:nvSpPr>
        <p:spPr>
          <a:xfrm>
            <a:off x="552450" y="4857750"/>
            <a:ext cx="1381283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052C476-2023-4247-9FC5-81E49CA2F578}"/>
              </a:ext>
            </a:extLst>
          </p:cNvPr>
          <p:cNvSpPr>
            <a:spLocks noGrp="1"/>
          </p:cNvSpPr>
          <p:nvPr/>
        </p:nvSpPr>
        <p:spPr>
          <a:xfrm>
            <a:off x="685800" y="5019675"/>
            <a:ext cx="1114583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101298F-85F5-4A7E-AA19-0EE4B7AAEA51}"/>
              </a:ext>
            </a:extLst>
          </p:cNvPr>
          <p:cNvSpPr>
            <a:spLocks noGrp="1"/>
          </p:cNvSpPr>
          <p:nvPr/>
        </p:nvSpPr>
        <p:spPr>
          <a:xfrm>
            <a:off x="1933733" y="4857750"/>
            <a:ext cx="33150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465A9B6-E1D4-4E28-9DF8-4676619BA063}"/>
              </a:ext>
            </a:extLst>
          </p:cNvPr>
          <p:cNvSpPr>
            <a:spLocks noGrp="1"/>
          </p:cNvSpPr>
          <p:nvPr/>
        </p:nvSpPr>
        <p:spPr>
          <a:xfrm>
            <a:off x="2067083" y="5019675"/>
            <a:ext cx="304838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Calibration and explainable AI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9F94D09-080B-47F3-91D4-75A8CF111714}"/>
              </a:ext>
            </a:extLst>
          </p:cNvPr>
          <p:cNvSpPr>
            <a:spLocks noGrp="1"/>
          </p:cNvSpPr>
          <p:nvPr/>
        </p:nvSpPr>
        <p:spPr>
          <a:xfrm>
            <a:off x="5248813" y="4857750"/>
            <a:ext cx="6390737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AEA63CB-7889-4DF6-89D6-804ACEB9D238}"/>
              </a:ext>
            </a:extLst>
          </p:cNvPr>
          <p:cNvSpPr>
            <a:spLocks noGrp="1"/>
          </p:cNvSpPr>
          <p:nvPr/>
        </p:nvSpPr>
        <p:spPr>
          <a:xfrm>
            <a:off x="5382163" y="5019675"/>
            <a:ext cx="6124037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Reliable probabilities and SHAP explanations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1DF45E9-7BA8-4D6A-A3B2-3FE544210B08}"/>
              </a:ext>
            </a:extLst>
          </p:cNvPr>
          <p:cNvSpPr>
            <a:spLocks noGrp="1"/>
          </p:cNvSpPr>
          <p:nvPr/>
        </p:nvSpPr>
        <p:spPr>
          <a:xfrm>
            <a:off x="552450" y="5372100"/>
            <a:ext cx="1381283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5F70710-C2A8-4A01-A583-7DC14CEE02FB}"/>
              </a:ext>
            </a:extLst>
          </p:cNvPr>
          <p:cNvSpPr>
            <a:spLocks noGrp="1"/>
          </p:cNvSpPr>
          <p:nvPr/>
        </p:nvSpPr>
        <p:spPr>
          <a:xfrm>
            <a:off x="685800" y="5534025"/>
            <a:ext cx="1114583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FDBA3CC-648B-4765-BFBB-50F72F973E85}"/>
              </a:ext>
            </a:extLst>
          </p:cNvPr>
          <p:cNvSpPr>
            <a:spLocks noGrp="1"/>
          </p:cNvSpPr>
          <p:nvPr/>
        </p:nvSpPr>
        <p:spPr>
          <a:xfrm>
            <a:off x="1933733" y="5372100"/>
            <a:ext cx="3315080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5079374-BDF4-4170-8BF5-BA1F3ECB8224}"/>
              </a:ext>
            </a:extLst>
          </p:cNvPr>
          <p:cNvSpPr>
            <a:spLocks noGrp="1"/>
          </p:cNvSpPr>
          <p:nvPr/>
        </p:nvSpPr>
        <p:spPr>
          <a:xfrm>
            <a:off x="2067083" y="5534025"/>
            <a:ext cx="304838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Introduction to neural networks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0F4A180-9966-43D5-800C-427C7FCC355B}"/>
              </a:ext>
            </a:extLst>
          </p:cNvPr>
          <p:cNvSpPr>
            <a:spLocks noGrp="1"/>
          </p:cNvSpPr>
          <p:nvPr/>
        </p:nvSpPr>
        <p:spPr>
          <a:xfrm>
            <a:off x="5248813" y="5372100"/>
            <a:ext cx="6390737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D1B7DA4-2167-41DF-9F1C-BF727E06CA48}"/>
              </a:ext>
            </a:extLst>
          </p:cNvPr>
          <p:cNvSpPr>
            <a:spLocks noGrp="1"/>
          </p:cNvSpPr>
          <p:nvPr/>
        </p:nvSpPr>
        <p:spPr>
          <a:xfrm>
            <a:off x="5382163" y="5534025"/>
            <a:ext cx="6124037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MLP model and comparison with traditional models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2DACA45-899F-4CBB-ACD4-3EF13E0F9111}"/>
              </a:ext>
            </a:extLst>
          </p:cNvPr>
          <p:cNvSpPr>
            <a:spLocks noGrp="1"/>
          </p:cNvSpPr>
          <p:nvPr/>
        </p:nvSpPr>
        <p:spPr>
          <a:xfrm>
            <a:off x="552450" y="5886450"/>
            <a:ext cx="1381283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337A58-B24B-4004-9FA7-B2136580546D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1114583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FD40110-CE3D-4AC2-8C95-BBA3EBBC4571}"/>
              </a:ext>
            </a:extLst>
          </p:cNvPr>
          <p:cNvSpPr>
            <a:spLocks noGrp="1"/>
          </p:cNvSpPr>
          <p:nvPr/>
        </p:nvSpPr>
        <p:spPr>
          <a:xfrm>
            <a:off x="1933733" y="5886450"/>
            <a:ext cx="33150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D809F37-A10B-4D1B-A963-9F0C98D21818}"/>
              </a:ext>
            </a:extLst>
          </p:cNvPr>
          <p:cNvSpPr>
            <a:spLocks noGrp="1"/>
          </p:cNvSpPr>
          <p:nvPr/>
        </p:nvSpPr>
        <p:spPr>
          <a:xfrm>
            <a:off x="2067083" y="6048375"/>
            <a:ext cx="304838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Capstone project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8E62E8F-2A17-4FDF-B5BD-822B8CC495E0}"/>
              </a:ext>
            </a:extLst>
          </p:cNvPr>
          <p:cNvSpPr>
            <a:spLocks noGrp="1"/>
          </p:cNvSpPr>
          <p:nvPr/>
        </p:nvSpPr>
        <p:spPr>
          <a:xfrm>
            <a:off x="5248813" y="5886450"/>
            <a:ext cx="6390737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D66F793-FA5E-4F1A-998B-56BB98437D4B}"/>
              </a:ext>
            </a:extLst>
          </p:cNvPr>
          <p:cNvSpPr>
            <a:spLocks noGrp="1"/>
          </p:cNvSpPr>
          <p:nvPr/>
        </p:nvSpPr>
        <p:spPr>
          <a:xfrm>
            <a:off x="5382163" y="6048375"/>
            <a:ext cx="6124037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Complete solution, report, code, and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907325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E0E46402-063B-48C7-AAFF-34D5D85BA599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15BE20-436A-467E-84CE-F20231BB46D3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WEEKLY RHYTHM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EB8B2F-DE9E-4776-890C-43D52DA4C6E0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How each week will 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4107F3-5972-4C72-956C-24FD6C4E3436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same rhythm makes the material easier to study and apply.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2CF74B-22B1-4793-94A6-4EAB19E1A7BE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D7A885-D197-4048-BCBF-CD98AA4C5A0D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289E2B-F61B-4174-9A4C-4CE141CE0BB5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3462D1-1727-4F5A-BB03-15F944EFFA4F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476500" cy="76200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EC23DB3-2B93-405F-A149-BECCB76B6B6F}"/>
              </a:ext>
            </a:extLst>
          </p:cNvPr>
          <p:cNvSpPr>
            <a:spLocks noGrp="1"/>
          </p:cNvSpPr>
          <p:nvPr/>
        </p:nvSpPr>
        <p:spPr>
          <a:xfrm>
            <a:off x="723900" y="2800350"/>
            <a:ext cx="400050" cy="400050"/>
          </a:xfrm>
          <a:prstGeom prst="ellipse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57DE80-4CB0-4314-978A-F5FD72B5D1A0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E062CE-79DB-4CE5-9976-E4AEA9A2AC03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Concept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C792DE92-3415-4DFE-8905-5490E7867E6C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3C2861-C45E-4F81-9CAF-D40715D24D7D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Theory and notation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D8A887-BC82-47CC-B998-C57E0F5D908F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527A96-5BB7-4E55-8027-5D02A210BA5B}"/>
              </a:ext>
            </a:extLst>
          </p:cNvPr>
          <p:cNvSpPr>
            <a:spLocks noGrp="1"/>
          </p:cNvSpPr>
          <p:nvPr/>
        </p:nvSpPr>
        <p:spPr>
          <a:xfrm>
            <a:off x="72390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define precision before looking at a precision score.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84BFC0-AA8F-4546-839D-6B28FF591228}"/>
              </a:ext>
            </a:extLst>
          </p:cNvPr>
          <p:cNvSpPr>
            <a:spLocks noGrp="1"/>
          </p:cNvSpPr>
          <p:nvPr/>
        </p:nvSpPr>
        <p:spPr>
          <a:xfrm>
            <a:off x="320040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9907DE-291F-4BE0-B3FC-21784580B2EF}"/>
              </a:ext>
            </a:extLst>
          </p:cNvPr>
          <p:cNvSpPr>
            <a:spLocks noGrp="1"/>
          </p:cNvSpPr>
          <p:nvPr/>
        </p:nvSpPr>
        <p:spPr>
          <a:xfrm>
            <a:off x="3200400" y="2571750"/>
            <a:ext cx="2476500" cy="762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8CB14F1-2F94-4C72-BA07-5E54E6001C95}"/>
              </a:ext>
            </a:extLst>
          </p:cNvPr>
          <p:cNvSpPr>
            <a:spLocks noGrp="1"/>
          </p:cNvSpPr>
          <p:nvPr/>
        </p:nvSpPr>
        <p:spPr>
          <a:xfrm>
            <a:off x="3371850" y="2800350"/>
            <a:ext cx="400050" cy="400050"/>
          </a:xfrm>
          <a:prstGeom prst="ellipse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32F5E4-1603-4D87-8DFC-0E3B708D7CFC}"/>
              </a:ext>
            </a:extLst>
          </p:cNvPr>
          <p:cNvSpPr>
            <a:spLocks noGrp="1"/>
          </p:cNvSpPr>
          <p:nvPr/>
        </p:nvSpPr>
        <p:spPr>
          <a:xfrm>
            <a:off x="337185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C0EBBA-78A3-4E4D-9E6E-361FAAE90D8C}"/>
              </a:ext>
            </a:extLst>
          </p:cNvPr>
          <p:cNvSpPr>
            <a:spLocks noGrp="1"/>
          </p:cNvSpPr>
          <p:nvPr/>
        </p:nvSpPr>
        <p:spPr>
          <a:xfrm>
            <a:off x="390525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48816900-01A7-49E1-B368-2CB574327916}"/>
              </a:ext>
            </a:extLst>
          </p:cNvPr>
          <p:cNvSpPr>
            <a:spLocks noGrp="1"/>
          </p:cNvSpPr>
          <p:nvPr/>
        </p:nvSpPr>
        <p:spPr>
          <a:xfrm>
            <a:off x="337185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AD5A3D-5913-49DD-ADEC-28062ADE41D3}"/>
              </a:ext>
            </a:extLst>
          </p:cNvPr>
          <p:cNvSpPr>
            <a:spLocks noGrp="1"/>
          </p:cNvSpPr>
          <p:nvPr/>
        </p:nvSpPr>
        <p:spPr>
          <a:xfrm>
            <a:off x="337185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Runnable Colab cells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BBD55F-8E74-48AC-804D-84172F1C1379}"/>
              </a:ext>
            </a:extLst>
          </p:cNvPr>
          <p:cNvSpPr>
            <a:spLocks noGrp="1"/>
          </p:cNvSpPr>
          <p:nvPr/>
        </p:nvSpPr>
        <p:spPr>
          <a:xfrm>
            <a:off x="337185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4B1E4D-C3D5-4601-B00F-A9E68E1ADEC3}"/>
              </a:ext>
            </a:extLst>
          </p:cNvPr>
          <p:cNvSpPr>
            <a:spLocks noGrp="1"/>
          </p:cNvSpPr>
          <p:nvPr/>
        </p:nvSpPr>
        <p:spPr>
          <a:xfrm>
            <a:off x="337185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run pd.read_csv(...) and inspect the returned table.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44CEEC-FA60-4CCF-A01C-2D0BF1CECDFA}"/>
              </a:ext>
            </a:extLst>
          </p:cNvPr>
          <p:cNvSpPr>
            <a:spLocks noGrp="1"/>
          </p:cNvSpPr>
          <p:nvPr/>
        </p:nvSpPr>
        <p:spPr>
          <a:xfrm>
            <a:off x="584835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ADE173-9422-44A2-B615-61154FDE5C60}"/>
              </a:ext>
            </a:extLst>
          </p:cNvPr>
          <p:cNvSpPr>
            <a:spLocks noGrp="1"/>
          </p:cNvSpPr>
          <p:nvPr/>
        </p:nvSpPr>
        <p:spPr>
          <a:xfrm>
            <a:off x="5848350" y="2571750"/>
            <a:ext cx="2476500" cy="762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7E4B393-9DCB-4A5F-84F3-20D22E5E01F3}"/>
              </a:ext>
            </a:extLst>
          </p:cNvPr>
          <p:cNvSpPr>
            <a:spLocks noGrp="1"/>
          </p:cNvSpPr>
          <p:nvPr/>
        </p:nvSpPr>
        <p:spPr>
          <a:xfrm>
            <a:off x="6019800" y="2800350"/>
            <a:ext cx="400050" cy="400050"/>
          </a:xfrm>
          <a:prstGeom prst="ellipse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4CB8EB-81FC-4AC7-B048-5A6347A95BB4}"/>
              </a:ext>
            </a:extLst>
          </p:cNvPr>
          <p:cNvSpPr>
            <a:spLocks noGrp="1"/>
          </p:cNvSpPr>
          <p:nvPr/>
        </p:nvSpPr>
        <p:spPr>
          <a:xfrm>
            <a:off x="601980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1ED47F-AAA8-42E4-AC83-F2743CA7A4F8}"/>
              </a:ext>
            </a:extLst>
          </p:cNvPr>
          <p:cNvSpPr>
            <a:spLocks noGrp="1"/>
          </p:cNvSpPr>
          <p:nvPr/>
        </p:nvSpPr>
        <p:spPr>
          <a:xfrm>
            <a:off x="655320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Lab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DE7A2987-2154-4EEC-B849-25373F1737F3}"/>
              </a:ext>
            </a:extLst>
          </p:cNvPr>
          <p:cNvSpPr>
            <a:spLocks noGrp="1"/>
          </p:cNvSpPr>
          <p:nvPr/>
        </p:nvSpPr>
        <p:spPr>
          <a:xfrm>
            <a:off x="601980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D49C267-BAE5-4336-BF6D-D7ED6AECBE61}"/>
              </a:ext>
            </a:extLst>
          </p:cNvPr>
          <p:cNvSpPr>
            <a:spLocks noGrp="1"/>
          </p:cNvSpPr>
          <p:nvPr/>
        </p:nvSpPr>
        <p:spPr>
          <a:xfrm>
            <a:off x="601980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Modify the example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76F8AE-E623-423D-B1FD-A3F2F5C6CC8A}"/>
              </a:ext>
            </a:extLst>
          </p:cNvPr>
          <p:cNvSpPr>
            <a:spLocks noGrp="1"/>
          </p:cNvSpPr>
          <p:nvPr/>
        </p:nvSpPr>
        <p:spPr>
          <a:xfrm>
            <a:off x="601980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6A2C24D-DF83-47BC-A8AA-C36DEDDC440A}"/>
              </a:ext>
            </a:extLst>
          </p:cNvPr>
          <p:cNvSpPr>
            <a:spLocks noGrp="1"/>
          </p:cNvSpPr>
          <p:nvPr/>
        </p:nvSpPr>
        <p:spPr>
          <a:xfrm>
            <a:off x="601980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change one parameter and explain how the output changes.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EB8FB4-6B30-4F39-BCE5-5A2F22C7B26F}"/>
              </a:ext>
            </a:extLst>
          </p:cNvPr>
          <p:cNvSpPr>
            <a:spLocks noGrp="1"/>
          </p:cNvSpPr>
          <p:nvPr/>
        </p:nvSpPr>
        <p:spPr>
          <a:xfrm>
            <a:off x="849630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D11F995-56C0-4F53-89B5-1C5DD98A54C5}"/>
              </a:ext>
            </a:extLst>
          </p:cNvPr>
          <p:cNvSpPr>
            <a:spLocks noGrp="1"/>
          </p:cNvSpPr>
          <p:nvPr/>
        </p:nvSpPr>
        <p:spPr>
          <a:xfrm>
            <a:off x="8496300" y="2571750"/>
            <a:ext cx="2476500" cy="76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BCE294B-47CD-44D2-AB7B-AAEAE9C9DFD3}"/>
              </a:ext>
            </a:extLst>
          </p:cNvPr>
          <p:cNvSpPr>
            <a:spLocks noGrp="1"/>
          </p:cNvSpPr>
          <p:nvPr/>
        </p:nvSpPr>
        <p:spPr>
          <a:xfrm>
            <a:off x="8667750" y="2800350"/>
            <a:ext cx="400050" cy="400050"/>
          </a:xfrm>
          <a:prstGeom prst="ellipse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5CE8416-5520-406F-9EB8-EE0373BD071C}"/>
              </a:ext>
            </a:extLst>
          </p:cNvPr>
          <p:cNvSpPr>
            <a:spLocks noGrp="1"/>
          </p:cNvSpPr>
          <p:nvPr/>
        </p:nvSpPr>
        <p:spPr>
          <a:xfrm>
            <a:off x="866775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0808E94-53E7-4F3E-816C-9CCB12E5CC26}"/>
              </a:ext>
            </a:extLst>
          </p:cNvPr>
          <p:cNvSpPr>
            <a:spLocks noGrp="1"/>
          </p:cNvSpPr>
          <p:nvPr/>
        </p:nvSpPr>
        <p:spPr>
          <a:xfrm>
            <a:off x="920115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Exercise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E2594F9D-9028-4B4E-9EAD-AFBA958E9810}"/>
              </a:ext>
            </a:extLst>
          </p:cNvPr>
          <p:cNvSpPr>
            <a:spLocks noGrp="1"/>
          </p:cNvSpPr>
          <p:nvPr/>
        </p:nvSpPr>
        <p:spPr>
          <a:xfrm>
            <a:off x="866775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588D491-A71F-49C2-A45B-697E57D6923B}"/>
              </a:ext>
            </a:extLst>
          </p:cNvPr>
          <p:cNvSpPr>
            <a:spLocks noGrp="1"/>
          </p:cNvSpPr>
          <p:nvPr/>
        </p:nvSpPr>
        <p:spPr>
          <a:xfrm>
            <a:off x="866775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Submit a small artefact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0464A9B-071C-4D94-919B-43BC249465B8}"/>
              </a:ext>
            </a:extLst>
          </p:cNvPr>
          <p:cNvSpPr>
            <a:spLocks noGrp="1"/>
          </p:cNvSpPr>
          <p:nvPr/>
        </p:nvSpPr>
        <p:spPr>
          <a:xfrm>
            <a:off x="866775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EEDF7B5-73EF-4D1C-B944-51A6C1FE0EED}"/>
              </a:ext>
            </a:extLst>
          </p:cNvPr>
          <p:cNvSpPr>
            <a:spLocks noGrp="1"/>
          </p:cNvSpPr>
          <p:nvPr/>
        </p:nvSpPr>
        <p:spPr>
          <a:xfrm>
            <a:off x="866775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submit a clean Colab one day before the next class.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A8AECA1-6A1C-4E53-BC2D-5C02A868E054}"/>
              </a:ext>
            </a:extLst>
          </p:cNvPr>
          <p:cNvSpPr>
            <a:spLocks noGrp="1"/>
          </p:cNvSpPr>
          <p:nvPr/>
        </p:nvSpPr>
        <p:spPr>
          <a:xfrm>
            <a:off x="552450" y="5162550"/>
            <a:ext cx="11087100" cy="51435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1250823-BF82-4BE1-A2FE-B4E26AB3CAB9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10706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Keep the notebook from each week. Later lectures will extend earlier work.</a:t>
            </a:r>
          </a:p>
        </p:txBody>
      </p:sp>
    </p:spTree>
    <p:extLst>
      <p:ext uri="{BB962C8B-B14F-4D97-AF65-F5344CB8AC3E}">
        <p14:creationId xmlns:p14="http://schemas.microsoft.com/office/powerpoint/2010/main" val="1071715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978E24A-1834-484D-B216-DF73B2982723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D1876E-3DF7-4815-A7E0-BA6F1A4DB1AD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WORKING IN COLAB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6D5A4F-5B96-4083-A0BD-732041F547CB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code is meant to be run, inspected, and changed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5DDDF5-31FE-446D-AB0A-F53A8A0F4519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slides show the minimum code needed to make the analytical idea concrete.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A296A2-E1FE-4D37-93D9-58C5722F5976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76946E-0FC1-4A7B-A7A3-EE1BF109E47B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EBF636-D609-44D4-AB5F-CD6CC7F9D2A2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F89701-EE9E-42EF-92C2-2676FD99EDDC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IN COLAB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D3C914-1EC8-446A-B502-BF3889FC27BE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Run each cell from top to bottom. Read the output before changing the next cell.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A6EFD3-B4C5-44D2-84E7-CCDA8B8BE37E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D06CA1-4A18-49B6-A951-4240F9C549D8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WHEN STUDYING AT HOME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AD1729-8D5C-4358-ADA7-ADFE4796153F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Change one input, rerun the cell, and explain how the output changes. That is where the method becomes understanding.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2958C7-3314-4EE0-9720-036DE22CA245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B91DC8-2F5A-4543-A7B7-995465740403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copied output is not evidence until the calculation has been rerun.</a:t>
            </a:r>
          </a:p>
        </p:txBody>
      </p:sp>
    </p:spTree>
    <p:extLst>
      <p:ext uri="{BB962C8B-B14F-4D97-AF65-F5344CB8AC3E}">
        <p14:creationId xmlns:p14="http://schemas.microsoft.com/office/powerpoint/2010/main" val="1722939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212D373-C613-4332-951E-1D11306D4682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401E08-5780-4ECA-8630-CC54AF6567A0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 AND EVIDENCE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659086-51CF-4218-AEC6-7661EE08F19A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Open data, explicit sources, visible assumptions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DE5EDA-1F43-49B2-AC95-30C29488CE6F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course examples will use public data that can be downloaded directly from Colab.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D72633-68BD-4E0E-AC69-C52377C37EB1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3CDDFD-BB32-4EBB-AC52-C8CC20DAF1D3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B609E8-93ED-4E5F-A3D6-92FFF254ADE4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30FF54-FF88-4447-A389-62E65FB5F85B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 RULE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385677-50C0-42DA-8C9A-C7B3910E966D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Every dataset will have a source URL, a row definition, a time period, and a clear variable description.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A824B7-FA73-4BB5-99A2-31E0525B1FD4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7EE118-B6A4-4958-9BA6-6BFB0D564263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EVIDENCE RULE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B2F89A-79E2-4242-A1A4-C87D8C18E373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result should be traceable from source to code to output. If a definition changes, the interpretation must change with it.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98C164-5D06-4B41-81D2-AF15B00537BB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41B4C4-06A7-47B5-87C4-A2FF4EA6100F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first dataset in this lecture is a public Apple price and volume CSV.</a:t>
            </a:r>
          </a:p>
        </p:txBody>
      </p:sp>
    </p:spTree>
    <p:extLst>
      <p:ext uri="{BB962C8B-B14F-4D97-AF65-F5344CB8AC3E}">
        <p14:creationId xmlns:p14="http://schemas.microsoft.com/office/powerpoint/2010/main" val="1540665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D1136E04-7114-4E61-B9AC-B1CB4AAD11E1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0CCFD3-7254-4618-9319-DD31B3849157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BEFORE WEEK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5018FC-F64B-4147-BD49-A17AC4C7B7B2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to expect from the material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BF0AE5-157E-4996-A0E0-DA8D6AD721ED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You will see the same structure repeatedly across the course.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4A51EB-5994-46C1-A41A-EF09C0C35F48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90EF37-C519-49A2-8283-BE9880B2B56D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634745-87D9-4E85-AA2F-CCA851B5B5C0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E18D72-4E5B-4A68-A036-8A0AAE434C39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476500" cy="76200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7E6296-6BC9-4EBA-BC6C-B6BB50391B18}"/>
              </a:ext>
            </a:extLst>
          </p:cNvPr>
          <p:cNvSpPr>
            <a:spLocks noGrp="1"/>
          </p:cNvSpPr>
          <p:nvPr/>
        </p:nvSpPr>
        <p:spPr>
          <a:xfrm>
            <a:off x="723900" y="2800350"/>
            <a:ext cx="400050" cy="400050"/>
          </a:xfrm>
          <a:prstGeom prst="ellipse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027644-7D0E-434E-B610-29D1B72A8A40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980F47-CC08-480B-A6AC-9DC7ACA32FAF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7B5A5983-5201-477A-9247-EF235076931A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654B7-C50B-47E1-BC31-A82E1096F629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0F1932-C4AB-4B51-9889-BFBAF84C905A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336B82-87B1-4DDD-A762-87C75BEC86C7}"/>
              </a:ext>
            </a:extLst>
          </p:cNvPr>
          <p:cNvSpPr>
            <a:spLocks noGrp="1"/>
          </p:cNvSpPr>
          <p:nvPr/>
        </p:nvSpPr>
        <p:spPr>
          <a:xfrm>
            <a:off x="72390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identify the target, predictors, row unit, and source.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45A60C-0E9D-4B19-B04B-6B372D07BEED}"/>
              </a:ext>
            </a:extLst>
          </p:cNvPr>
          <p:cNvSpPr>
            <a:spLocks noGrp="1"/>
          </p:cNvSpPr>
          <p:nvPr/>
        </p:nvSpPr>
        <p:spPr>
          <a:xfrm>
            <a:off x="320040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209AC6-6AF8-4EBC-8A7B-8B96E6CD6AC2}"/>
              </a:ext>
            </a:extLst>
          </p:cNvPr>
          <p:cNvSpPr>
            <a:spLocks noGrp="1"/>
          </p:cNvSpPr>
          <p:nvPr/>
        </p:nvSpPr>
        <p:spPr>
          <a:xfrm>
            <a:off x="3200400" y="2571750"/>
            <a:ext cx="2476500" cy="762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6684992-CC96-4053-A99A-A22E53CD6AF9}"/>
              </a:ext>
            </a:extLst>
          </p:cNvPr>
          <p:cNvSpPr>
            <a:spLocks noGrp="1"/>
          </p:cNvSpPr>
          <p:nvPr/>
        </p:nvSpPr>
        <p:spPr>
          <a:xfrm>
            <a:off x="3371850" y="2800350"/>
            <a:ext cx="400050" cy="400050"/>
          </a:xfrm>
          <a:prstGeom prst="ellipse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D247DC-152D-47F1-ABA7-22B3A24BCEA8}"/>
              </a:ext>
            </a:extLst>
          </p:cNvPr>
          <p:cNvSpPr>
            <a:spLocks noGrp="1"/>
          </p:cNvSpPr>
          <p:nvPr/>
        </p:nvSpPr>
        <p:spPr>
          <a:xfrm>
            <a:off x="337185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FF727A-D10E-4BF6-AE31-B0ED8E9FC343}"/>
              </a:ext>
            </a:extLst>
          </p:cNvPr>
          <p:cNvSpPr>
            <a:spLocks noGrp="1"/>
          </p:cNvSpPr>
          <p:nvPr/>
        </p:nvSpPr>
        <p:spPr>
          <a:xfrm>
            <a:off x="390525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93CE7BD-7EBD-4CA0-A96E-221D11235E74}"/>
              </a:ext>
            </a:extLst>
          </p:cNvPr>
          <p:cNvSpPr>
            <a:spLocks noGrp="1"/>
          </p:cNvSpPr>
          <p:nvPr/>
        </p:nvSpPr>
        <p:spPr>
          <a:xfrm>
            <a:off x="337185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B57630-A61F-43DE-8C03-F59DAECBB217}"/>
              </a:ext>
            </a:extLst>
          </p:cNvPr>
          <p:cNvSpPr>
            <a:spLocks noGrp="1"/>
          </p:cNvSpPr>
          <p:nvPr/>
        </p:nvSpPr>
        <p:spPr>
          <a:xfrm>
            <a:off x="337185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Execute the code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9F7140-FC57-42E6-A8B6-8900B283DF36}"/>
              </a:ext>
            </a:extLst>
          </p:cNvPr>
          <p:cNvSpPr>
            <a:spLocks noGrp="1"/>
          </p:cNvSpPr>
          <p:nvPr/>
        </p:nvSpPr>
        <p:spPr>
          <a:xfrm>
            <a:off x="337185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431B87-40F1-4ED0-86B2-F0B3E881DE67}"/>
              </a:ext>
            </a:extLst>
          </p:cNvPr>
          <p:cNvSpPr>
            <a:spLocks noGrp="1"/>
          </p:cNvSpPr>
          <p:nvPr/>
        </p:nvSpPr>
        <p:spPr>
          <a:xfrm>
            <a:off x="337185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execute every cell from a fresh Colab runtime.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D159529-778C-43BA-ACCB-08E52645D649}"/>
              </a:ext>
            </a:extLst>
          </p:cNvPr>
          <p:cNvSpPr>
            <a:spLocks noGrp="1"/>
          </p:cNvSpPr>
          <p:nvPr/>
        </p:nvSpPr>
        <p:spPr>
          <a:xfrm>
            <a:off x="584835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392105-2B3A-4759-AEDC-527749645563}"/>
              </a:ext>
            </a:extLst>
          </p:cNvPr>
          <p:cNvSpPr>
            <a:spLocks noGrp="1"/>
          </p:cNvSpPr>
          <p:nvPr/>
        </p:nvSpPr>
        <p:spPr>
          <a:xfrm>
            <a:off x="5848350" y="2571750"/>
            <a:ext cx="2476500" cy="762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FCD12EB-0D8B-414F-9752-3506CC3C9EB9}"/>
              </a:ext>
            </a:extLst>
          </p:cNvPr>
          <p:cNvSpPr>
            <a:spLocks noGrp="1"/>
          </p:cNvSpPr>
          <p:nvPr/>
        </p:nvSpPr>
        <p:spPr>
          <a:xfrm>
            <a:off x="6019800" y="2800350"/>
            <a:ext cx="400050" cy="400050"/>
          </a:xfrm>
          <a:prstGeom prst="ellipse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D11E46-40D7-4BED-BE62-671C1FA80487}"/>
              </a:ext>
            </a:extLst>
          </p:cNvPr>
          <p:cNvSpPr>
            <a:spLocks noGrp="1"/>
          </p:cNvSpPr>
          <p:nvPr/>
        </p:nvSpPr>
        <p:spPr>
          <a:xfrm>
            <a:off x="601980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C69D37C-5FD3-42B2-A163-B15BBACDB1D7}"/>
              </a:ext>
            </a:extLst>
          </p:cNvPr>
          <p:cNvSpPr>
            <a:spLocks noGrp="1"/>
          </p:cNvSpPr>
          <p:nvPr/>
        </p:nvSpPr>
        <p:spPr>
          <a:xfrm>
            <a:off x="655320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53DBE874-39DC-4C2E-BD3C-F3BD4ADCFBFA}"/>
              </a:ext>
            </a:extLst>
          </p:cNvPr>
          <p:cNvSpPr>
            <a:spLocks noGrp="1"/>
          </p:cNvSpPr>
          <p:nvPr/>
        </p:nvSpPr>
        <p:spPr>
          <a:xfrm>
            <a:off x="601980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BA679-4FBA-4F67-B1B2-A385EAF9945C}"/>
              </a:ext>
            </a:extLst>
          </p:cNvPr>
          <p:cNvSpPr>
            <a:spLocks noGrp="1"/>
          </p:cNvSpPr>
          <p:nvPr/>
        </p:nvSpPr>
        <p:spPr>
          <a:xfrm>
            <a:off x="601980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Inspect the output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79DA06-D33B-4295-9B97-0277ED1D99CC}"/>
              </a:ext>
            </a:extLst>
          </p:cNvPr>
          <p:cNvSpPr>
            <a:spLocks noGrp="1"/>
          </p:cNvSpPr>
          <p:nvPr/>
        </p:nvSpPr>
        <p:spPr>
          <a:xfrm>
            <a:off x="601980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48BBA95-7D2C-4D6A-AEA7-0DEF133BDF48}"/>
              </a:ext>
            </a:extLst>
          </p:cNvPr>
          <p:cNvSpPr>
            <a:spLocks noGrp="1"/>
          </p:cNvSpPr>
          <p:nvPr/>
        </p:nvSpPr>
        <p:spPr>
          <a:xfrm>
            <a:off x="601980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inspect shape, types, missingness, and plausible values.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653C00D-A867-4C11-A992-14EE5EBD32CD}"/>
              </a:ext>
            </a:extLst>
          </p:cNvPr>
          <p:cNvSpPr>
            <a:spLocks noGrp="1"/>
          </p:cNvSpPr>
          <p:nvPr/>
        </p:nvSpPr>
        <p:spPr>
          <a:xfrm>
            <a:off x="849630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E532209-3840-4F22-8771-DBDA15C15252}"/>
              </a:ext>
            </a:extLst>
          </p:cNvPr>
          <p:cNvSpPr>
            <a:spLocks noGrp="1"/>
          </p:cNvSpPr>
          <p:nvPr/>
        </p:nvSpPr>
        <p:spPr>
          <a:xfrm>
            <a:off x="8496300" y="2571750"/>
            <a:ext cx="2476500" cy="76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D24D6D0-EF8B-4CCF-8745-6D8D3C5C0238}"/>
              </a:ext>
            </a:extLst>
          </p:cNvPr>
          <p:cNvSpPr>
            <a:spLocks noGrp="1"/>
          </p:cNvSpPr>
          <p:nvPr/>
        </p:nvSpPr>
        <p:spPr>
          <a:xfrm>
            <a:off x="8667750" y="2800350"/>
            <a:ext cx="400050" cy="400050"/>
          </a:xfrm>
          <a:prstGeom prst="ellipse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3BCE412-B955-48A6-A756-BBEB4CF94C09}"/>
              </a:ext>
            </a:extLst>
          </p:cNvPr>
          <p:cNvSpPr>
            <a:spLocks noGrp="1"/>
          </p:cNvSpPr>
          <p:nvPr/>
        </p:nvSpPr>
        <p:spPr>
          <a:xfrm>
            <a:off x="866775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FE1D9E-6B3C-45B6-842C-E613CE1ED258}"/>
              </a:ext>
            </a:extLst>
          </p:cNvPr>
          <p:cNvSpPr>
            <a:spLocks noGrp="1"/>
          </p:cNvSpPr>
          <p:nvPr/>
        </p:nvSpPr>
        <p:spPr>
          <a:xfrm>
            <a:off x="920115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2FB08B95-B895-4BE6-BFAF-7CF560F98CFD}"/>
              </a:ext>
            </a:extLst>
          </p:cNvPr>
          <p:cNvSpPr>
            <a:spLocks noGrp="1"/>
          </p:cNvSpPr>
          <p:nvPr/>
        </p:nvSpPr>
        <p:spPr>
          <a:xfrm>
            <a:off x="866775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900974A-0164-4751-8703-62199FFEBCCB}"/>
              </a:ext>
            </a:extLst>
          </p:cNvPr>
          <p:cNvSpPr>
            <a:spLocks noGrp="1"/>
          </p:cNvSpPr>
          <p:nvPr/>
        </p:nvSpPr>
        <p:spPr>
          <a:xfrm>
            <a:off x="866775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Connect to finance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DDB4658-C40B-4905-A637-8ABA357976E9}"/>
              </a:ext>
            </a:extLst>
          </p:cNvPr>
          <p:cNvSpPr>
            <a:spLocks noGrp="1"/>
          </p:cNvSpPr>
          <p:nvPr/>
        </p:nvSpPr>
        <p:spPr>
          <a:xfrm>
            <a:off x="866775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3B3A35A-E612-4BF8-955B-7D971F828CFC}"/>
              </a:ext>
            </a:extLst>
          </p:cNvPr>
          <p:cNvSpPr>
            <a:spLocks noGrp="1"/>
          </p:cNvSpPr>
          <p:nvPr/>
        </p:nvSpPr>
        <p:spPr>
          <a:xfrm>
            <a:off x="866775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state what the result means for a financial decision.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9243813-5299-4FBE-A1D2-B3B0315F5D52}"/>
              </a:ext>
            </a:extLst>
          </p:cNvPr>
          <p:cNvSpPr>
            <a:spLocks noGrp="1"/>
          </p:cNvSpPr>
          <p:nvPr/>
        </p:nvSpPr>
        <p:spPr>
          <a:xfrm>
            <a:off x="552450" y="5162550"/>
            <a:ext cx="11087100" cy="51435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72F7729-43FB-4E18-B85F-049F4786CAF7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10706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Week 1 now starts with the official Python foundations material.</a:t>
            </a:r>
          </a:p>
        </p:txBody>
      </p:sp>
    </p:spTree>
    <p:extLst>
      <p:ext uri="{BB962C8B-B14F-4D97-AF65-F5344CB8AC3E}">
        <p14:creationId xmlns:p14="http://schemas.microsoft.com/office/powerpoint/2010/main" val="1499119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46D0761-E970-4D71-99F0-58594FF8F8A5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382315-453B-46A9-B967-EEB4232F3ED7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LECTURE FOCUS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19784E-F931-4402-BD56-33A0A2779161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first lecture builds the analytical foundation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65F94A-0ABC-444E-A9B8-44B3D6A425D2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work begins with Python, data structure, and a disciplined way to inspect financial information.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3476FA-A6E4-4BD4-945A-7B8E80FD9ABB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C445BB-9C36-4881-84B1-92A2D4319272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E5274D-53E8-45E3-86C1-EDD76EF9E4C4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39C2C0-D429-4D3E-8422-1802D926D50B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THIS LECTURE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1DFF15-FF54-4ACD-AAE0-A00511957979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Build a clean notebook that moves from setup to a first financial-data analysis.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5F59C4-EF43-44E8-BBB2-E7E8787CAF70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67BBA7-A788-4815-B1FA-3F87C5119122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BY THE END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2DCAF8-BAE0-4E68-9F27-3C1C01354B1A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You can read a dataset, calculate transparent summaries, and produce labelled visual evidence.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1D756E-8AAC-4CBA-A5B0-E51C5C0E10CF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47AD81-B594-4763-A752-83BD0D26A953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first model comes later. The first control is understanding the data.</a:t>
            </a:r>
          </a:p>
        </p:txBody>
      </p:sp>
    </p:spTree>
    <p:extLst>
      <p:ext uri="{BB962C8B-B14F-4D97-AF65-F5344CB8AC3E}">
        <p14:creationId xmlns:p14="http://schemas.microsoft.com/office/powerpoint/2010/main" val="1013426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C4EA6954-8D0D-4E47-BEAF-674A152939A6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46BFB0-D7CD-4CE6-89A7-DEC539E5A3E3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COURSE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7E0457-013A-40A6-A362-F9ED36B1EE45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From financial question to evidence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F0C3C6-9F1B-4AC4-BB8F-661555380A05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13-week course adds one layer at a time to the same workflow.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C068EA-4160-4AEB-A9B6-10AFD09596D6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4A94FF-6AB4-4D7D-9765-B49954EE442E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54A8C3-65E8-4B7E-A7BC-DCFCF4DD1F41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072A0B-1725-4894-A4BF-4B5D51D015D1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476500" cy="76200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6EFF6E-7DA2-40BA-9695-7421723EC2A4}"/>
              </a:ext>
            </a:extLst>
          </p:cNvPr>
          <p:cNvSpPr>
            <a:spLocks noGrp="1"/>
          </p:cNvSpPr>
          <p:nvPr/>
        </p:nvSpPr>
        <p:spPr>
          <a:xfrm>
            <a:off x="723900" y="2800350"/>
            <a:ext cx="400050" cy="400050"/>
          </a:xfrm>
          <a:prstGeom prst="ellipse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4665A9-53C9-43EA-B560-418736E39D8A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0737AC-4790-45FF-BFED-C61E6290C705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A2B9F008-4475-4C9D-8A8F-7C811BDF049D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200281-FA8F-443F-916B-1621FD294C51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Define the decision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89A79E-3573-4B34-A392-240D8BCC5729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97473-27A8-4F50-9B15-1E0BE50C6222}"/>
              </a:ext>
            </a:extLst>
          </p:cNvPr>
          <p:cNvSpPr>
            <a:spLocks noGrp="1"/>
          </p:cNvSpPr>
          <p:nvPr/>
        </p:nvSpPr>
        <p:spPr>
          <a:xfrm>
            <a:off x="72390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should a lender flag this application for review?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5F0D55-7069-47FA-9C65-9629D5B58B17}"/>
              </a:ext>
            </a:extLst>
          </p:cNvPr>
          <p:cNvSpPr>
            <a:spLocks noGrp="1"/>
          </p:cNvSpPr>
          <p:nvPr/>
        </p:nvSpPr>
        <p:spPr>
          <a:xfrm>
            <a:off x="320040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B3131D-4366-46DD-BD07-577AA7A9E5F3}"/>
              </a:ext>
            </a:extLst>
          </p:cNvPr>
          <p:cNvSpPr>
            <a:spLocks noGrp="1"/>
          </p:cNvSpPr>
          <p:nvPr/>
        </p:nvSpPr>
        <p:spPr>
          <a:xfrm>
            <a:off x="3200400" y="2571750"/>
            <a:ext cx="2476500" cy="762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7D633F7-5297-4BBE-AD8A-9BCB0DDE2F9B}"/>
              </a:ext>
            </a:extLst>
          </p:cNvPr>
          <p:cNvSpPr>
            <a:spLocks noGrp="1"/>
          </p:cNvSpPr>
          <p:nvPr/>
        </p:nvSpPr>
        <p:spPr>
          <a:xfrm>
            <a:off x="3371850" y="2800350"/>
            <a:ext cx="400050" cy="400050"/>
          </a:xfrm>
          <a:prstGeom prst="ellipse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6F0ABF-667F-41CE-9E58-146ACE22D16C}"/>
              </a:ext>
            </a:extLst>
          </p:cNvPr>
          <p:cNvSpPr>
            <a:spLocks noGrp="1"/>
          </p:cNvSpPr>
          <p:nvPr/>
        </p:nvSpPr>
        <p:spPr>
          <a:xfrm>
            <a:off x="337185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CAEFA4-197C-4BEB-8E20-ABC7A8859B4A}"/>
              </a:ext>
            </a:extLst>
          </p:cNvPr>
          <p:cNvSpPr>
            <a:spLocks noGrp="1"/>
          </p:cNvSpPr>
          <p:nvPr/>
        </p:nvSpPr>
        <p:spPr>
          <a:xfrm>
            <a:off x="390525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3396732-7AA2-48BF-BA80-12DB84065003}"/>
              </a:ext>
            </a:extLst>
          </p:cNvPr>
          <p:cNvSpPr>
            <a:spLocks noGrp="1"/>
          </p:cNvSpPr>
          <p:nvPr/>
        </p:nvSpPr>
        <p:spPr>
          <a:xfrm>
            <a:off x="337185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2E4F37-120E-4F4C-8C3B-B64CFB2BBB20}"/>
              </a:ext>
            </a:extLst>
          </p:cNvPr>
          <p:cNvSpPr>
            <a:spLocks noGrp="1"/>
          </p:cNvSpPr>
          <p:nvPr/>
        </p:nvSpPr>
        <p:spPr>
          <a:xfrm>
            <a:off x="337185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Inspect the observations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54C5D2-85D2-4F32-A281-55B1EDE0FC1B}"/>
              </a:ext>
            </a:extLst>
          </p:cNvPr>
          <p:cNvSpPr>
            <a:spLocks noGrp="1"/>
          </p:cNvSpPr>
          <p:nvPr/>
        </p:nvSpPr>
        <p:spPr>
          <a:xfrm>
            <a:off x="337185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1867130-56AE-4772-8E21-72B280BA8294}"/>
              </a:ext>
            </a:extLst>
          </p:cNvPr>
          <p:cNvSpPr>
            <a:spLocks noGrp="1"/>
          </p:cNvSpPr>
          <p:nvPr/>
        </p:nvSpPr>
        <p:spPr>
          <a:xfrm>
            <a:off x="337185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use borrower characteristics and a next-month default flag.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589F1AA-5B01-4888-9CED-3A7220AE422C}"/>
              </a:ext>
            </a:extLst>
          </p:cNvPr>
          <p:cNvSpPr>
            <a:spLocks noGrp="1"/>
          </p:cNvSpPr>
          <p:nvPr/>
        </p:nvSpPr>
        <p:spPr>
          <a:xfrm>
            <a:off x="584835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307639-9038-48DB-B0A8-56826ACC09A0}"/>
              </a:ext>
            </a:extLst>
          </p:cNvPr>
          <p:cNvSpPr>
            <a:spLocks noGrp="1"/>
          </p:cNvSpPr>
          <p:nvPr/>
        </p:nvSpPr>
        <p:spPr>
          <a:xfrm>
            <a:off x="5848350" y="2571750"/>
            <a:ext cx="2476500" cy="762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CFB322F-7D60-443A-BCAA-A55C04FA570F}"/>
              </a:ext>
            </a:extLst>
          </p:cNvPr>
          <p:cNvSpPr>
            <a:spLocks noGrp="1"/>
          </p:cNvSpPr>
          <p:nvPr/>
        </p:nvSpPr>
        <p:spPr>
          <a:xfrm>
            <a:off x="6019800" y="2800350"/>
            <a:ext cx="400050" cy="400050"/>
          </a:xfrm>
          <a:prstGeom prst="ellipse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9694A1-CEBA-4F18-9FA1-D724F23A0302}"/>
              </a:ext>
            </a:extLst>
          </p:cNvPr>
          <p:cNvSpPr>
            <a:spLocks noGrp="1"/>
          </p:cNvSpPr>
          <p:nvPr/>
        </p:nvSpPr>
        <p:spPr>
          <a:xfrm>
            <a:off x="601980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F68F35-D5DB-4AAC-A37D-61D3B085281F}"/>
              </a:ext>
            </a:extLst>
          </p:cNvPr>
          <p:cNvSpPr>
            <a:spLocks noGrp="1"/>
          </p:cNvSpPr>
          <p:nvPr/>
        </p:nvSpPr>
        <p:spPr>
          <a:xfrm>
            <a:off x="655320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18462765-22AB-4DFD-BE80-F046379C1A99}"/>
              </a:ext>
            </a:extLst>
          </p:cNvPr>
          <p:cNvSpPr>
            <a:spLocks noGrp="1"/>
          </p:cNvSpPr>
          <p:nvPr/>
        </p:nvSpPr>
        <p:spPr>
          <a:xfrm>
            <a:off x="601980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6C744A-BCCC-49EA-B718-C2117DD6B99E}"/>
              </a:ext>
            </a:extLst>
          </p:cNvPr>
          <p:cNvSpPr>
            <a:spLocks noGrp="1"/>
          </p:cNvSpPr>
          <p:nvPr/>
        </p:nvSpPr>
        <p:spPr>
          <a:xfrm>
            <a:off x="601980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Estimate and validate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C2D8274-FDD4-405F-B5E4-8911351766A5}"/>
              </a:ext>
            </a:extLst>
          </p:cNvPr>
          <p:cNvSpPr>
            <a:spLocks noGrp="1"/>
          </p:cNvSpPr>
          <p:nvPr/>
        </p:nvSpPr>
        <p:spPr>
          <a:xfrm>
            <a:off x="601980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B761426-4554-4479-A53D-B392779CDD89}"/>
              </a:ext>
            </a:extLst>
          </p:cNvPr>
          <p:cNvSpPr>
            <a:spLocks noGrp="1"/>
          </p:cNvSpPr>
          <p:nvPr/>
        </p:nvSpPr>
        <p:spPr>
          <a:xfrm>
            <a:off x="601980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estimate, validate, and compare supervised models.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5AE3BDA-BB8C-4C0E-B892-7DD5E92C94E3}"/>
              </a:ext>
            </a:extLst>
          </p:cNvPr>
          <p:cNvSpPr>
            <a:spLocks noGrp="1"/>
          </p:cNvSpPr>
          <p:nvPr/>
        </p:nvSpPr>
        <p:spPr>
          <a:xfrm>
            <a:off x="849630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6241BE8-1328-447E-A3E5-BB30A0C05A1F}"/>
              </a:ext>
            </a:extLst>
          </p:cNvPr>
          <p:cNvSpPr>
            <a:spLocks noGrp="1"/>
          </p:cNvSpPr>
          <p:nvPr/>
        </p:nvSpPr>
        <p:spPr>
          <a:xfrm>
            <a:off x="8496300" y="2571750"/>
            <a:ext cx="2476500" cy="76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6A8A0AB-812F-48BF-B509-88D119BD2852}"/>
              </a:ext>
            </a:extLst>
          </p:cNvPr>
          <p:cNvSpPr>
            <a:spLocks noGrp="1"/>
          </p:cNvSpPr>
          <p:nvPr/>
        </p:nvSpPr>
        <p:spPr>
          <a:xfrm>
            <a:off x="8667750" y="2800350"/>
            <a:ext cx="400050" cy="400050"/>
          </a:xfrm>
          <a:prstGeom prst="ellipse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438FD35-587F-463C-A034-B54407151F15}"/>
              </a:ext>
            </a:extLst>
          </p:cNvPr>
          <p:cNvSpPr>
            <a:spLocks noGrp="1"/>
          </p:cNvSpPr>
          <p:nvPr/>
        </p:nvSpPr>
        <p:spPr>
          <a:xfrm>
            <a:off x="866775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5E59580-45DE-48B6-B416-C7B656E0D2E1}"/>
              </a:ext>
            </a:extLst>
          </p:cNvPr>
          <p:cNvSpPr>
            <a:spLocks noGrp="1"/>
          </p:cNvSpPr>
          <p:nvPr/>
        </p:nvSpPr>
        <p:spPr>
          <a:xfrm>
            <a:off x="920115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0A8EAC63-EC3B-4FEB-BAB5-26822E71BD4E}"/>
              </a:ext>
            </a:extLst>
          </p:cNvPr>
          <p:cNvSpPr>
            <a:spLocks noGrp="1"/>
          </p:cNvSpPr>
          <p:nvPr/>
        </p:nvSpPr>
        <p:spPr>
          <a:xfrm>
            <a:off x="866775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5263B21-753E-47D4-ADF6-F229F1AC0523}"/>
              </a:ext>
            </a:extLst>
          </p:cNvPr>
          <p:cNvSpPr>
            <a:spLocks noGrp="1"/>
          </p:cNvSpPr>
          <p:nvPr/>
        </p:nvSpPr>
        <p:spPr>
          <a:xfrm>
            <a:off x="866775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Interpret and monitor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15D1B32-C4C7-4AAD-B170-C6B5DB3FD1F3}"/>
              </a:ext>
            </a:extLst>
          </p:cNvPr>
          <p:cNvSpPr>
            <a:spLocks noGrp="1"/>
          </p:cNvSpPr>
          <p:nvPr/>
        </p:nvSpPr>
        <p:spPr>
          <a:xfrm>
            <a:off x="866775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EF375A3-89B6-4E93-8488-CF93F71A0248}"/>
              </a:ext>
            </a:extLst>
          </p:cNvPr>
          <p:cNvSpPr>
            <a:spLocks noGrp="1"/>
          </p:cNvSpPr>
          <p:nvPr/>
        </p:nvSpPr>
        <p:spPr>
          <a:xfrm>
            <a:off x="866775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choose a review threshold that reflects the cost of errors.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1CD4C8F-9E29-4C36-AF71-A0C325A5EB55}"/>
              </a:ext>
            </a:extLst>
          </p:cNvPr>
          <p:cNvSpPr>
            <a:spLocks noGrp="1"/>
          </p:cNvSpPr>
          <p:nvPr/>
        </p:nvSpPr>
        <p:spPr>
          <a:xfrm>
            <a:off x="552450" y="5162550"/>
            <a:ext cx="11087100" cy="51435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7EEFDE-F9AE-40C4-A310-91CCB0D4A8EE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10706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Week 1 focuses on the first two steps: question and data.</a:t>
            </a:r>
          </a:p>
        </p:txBody>
      </p:sp>
    </p:spTree>
    <p:extLst>
      <p:ext uri="{BB962C8B-B14F-4D97-AF65-F5344CB8AC3E}">
        <p14:creationId xmlns:p14="http://schemas.microsoft.com/office/powerpoint/2010/main" val="65034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885948A8-8FDA-49E0-AA90-6B0ED1F66803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1DF0A4-8808-4F70-ABE0-A9D6C90A8A05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WEEK 1 OUTCOMES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5557F4-5EFA-47BA-A581-E910E13A6B58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you should be able to do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A1FAF7-C74D-4F5B-AF73-BB00D86A3091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lecture stays close to the workflow you will use in later weeks.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B134D8-F37A-4FDC-A967-94788D4CF2D3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42FA29-F864-4175-9E8B-F8771EB0F7D9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8EB8A3-B4FD-4EEA-89AC-57AFD98996A3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43996F-AA37-49B8-AB30-7FE857C687AD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476500" cy="76200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CA9CD4D-3B52-4AE7-99D9-C6FE9C9C664F}"/>
              </a:ext>
            </a:extLst>
          </p:cNvPr>
          <p:cNvSpPr>
            <a:spLocks noGrp="1"/>
          </p:cNvSpPr>
          <p:nvPr/>
        </p:nvSpPr>
        <p:spPr>
          <a:xfrm>
            <a:off x="723900" y="2800350"/>
            <a:ext cx="400050" cy="400050"/>
          </a:xfrm>
          <a:prstGeom prst="ellipse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16BAFD-48E5-4EA0-ACCA-34FE079A26C5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6A7112-B6E4-4AAF-9982-EC1DF626D60E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46265464-2136-4D48-81A8-6EB02D7A0A12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FED069-BC67-4DDE-93F2-002DA9BFC269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Open a clean notebook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29A1C1-AC9B-497E-A1A4-F495C7CE1917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3254C-5F86-4EE3-BC89-E41BBF7BAAA1}"/>
              </a:ext>
            </a:extLst>
          </p:cNvPr>
          <p:cNvSpPr>
            <a:spLocks noGrp="1"/>
          </p:cNvSpPr>
          <p:nvPr/>
        </p:nvSpPr>
        <p:spPr>
          <a:xfrm>
            <a:off x="72390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execute every cell from a fresh Colab runtime.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7BE28-1640-411A-8468-FDD7842D286B}"/>
              </a:ext>
            </a:extLst>
          </p:cNvPr>
          <p:cNvSpPr>
            <a:spLocks noGrp="1"/>
          </p:cNvSpPr>
          <p:nvPr/>
        </p:nvSpPr>
        <p:spPr>
          <a:xfrm>
            <a:off x="320040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D09F2C-C7D2-44DE-8DED-5D61CE731D05}"/>
              </a:ext>
            </a:extLst>
          </p:cNvPr>
          <p:cNvSpPr>
            <a:spLocks noGrp="1"/>
          </p:cNvSpPr>
          <p:nvPr/>
        </p:nvSpPr>
        <p:spPr>
          <a:xfrm>
            <a:off x="3200400" y="2571750"/>
            <a:ext cx="2476500" cy="762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976D6A-0433-4DF1-9B66-DC258ED45490}"/>
              </a:ext>
            </a:extLst>
          </p:cNvPr>
          <p:cNvSpPr>
            <a:spLocks noGrp="1"/>
          </p:cNvSpPr>
          <p:nvPr/>
        </p:nvSpPr>
        <p:spPr>
          <a:xfrm>
            <a:off x="3371850" y="2800350"/>
            <a:ext cx="400050" cy="400050"/>
          </a:xfrm>
          <a:prstGeom prst="ellipse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4972F8-E085-4A33-BB96-CB9A585A9281}"/>
              </a:ext>
            </a:extLst>
          </p:cNvPr>
          <p:cNvSpPr>
            <a:spLocks noGrp="1"/>
          </p:cNvSpPr>
          <p:nvPr/>
        </p:nvSpPr>
        <p:spPr>
          <a:xfrm>
            <a:off x="337185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49D275-BB88-46B0-923D-DE97B4CEB16D}"/>
              </a:ext>
            </a:extLst>
          </p:cNvPr>
          <p:cNvSpPr>
            <a:spLocks noGrp="1"/>
          </p:cNvSpPr>
          <p:nvPr/>
        </p:nvSpPr>
        <p:spPr>
          <a:xfrm>
            <a:off x="390525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F9D586F9-5ACC-42DD-86FD-EDBD98D22700}"/>
              </a:ext>
            </a:extLst>
          </p:cNvPr>
          <p:cNvSpPr>
            <a:spLocks noGrp="1"/>
          </p:cNvSpPr>
          <p:nvPr/>
        </p:nvSpPr>
        <p:spPr>
          <a:xfrm>
            <a:off x="337185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FC41CF-94FC-4CFA-8720-B9B6B91D1F6F}"/>
              </a:ext>
            </a:extLst>
          </p:cNvPr>
          <p:cNvSpPr>
            <a:spLocks noGrp="1"/>
          </p:cNvSpPr>
          <p:nvPr/>
        </p:nvSpPr>
        <p:spPr>
          <a:xfrm>
            <a:off x="337185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Use core Python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765E9E-33EA-4DB7-A9FC-8DD37CAA1E7F}"/>
              </a:ext>
            </a:extLst>
          </p:cNvPr>
          <p:cNvSpPr>
            <a:spLocks noGrp="1"/>
          </p:cNvSpPr>
          <p:nvPr/>
        </p:nvSpPr>
        <p:spPr>
          <a:xfrm>
            <a:off x="337185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C40060-F991-441B-8539-7D9E93BDD382}"/>
              </a:ext>
            </a:extLst>
          </p:cNvPr>
          <p:cNvSpPr>
            <a:spLocks noGrp="1"/>
          </p:cNvSpPr>
          <p:nvPr/>
        </p:nvSpPr>
        <p:spPr>
          <a:xfrm>
            <a:off x="337185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run pd.read_csv(...) and inspect the returned table.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C3EB21-00FA-438C-AB53-C9BAE9BFE552}"/>
              </a:ext>
            </a:extLst>
          </p:cNvPr>
          <p:cNvSpPr>
            <a:spLocks noGrp="1"/>
          </p:cNvSpPr>
          <p:nvPr/>
        </p:nvSpPr>
        <p:spPr>
          <a:xfrm>
            <a:off x="584835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9D6408-9617-47F0-8F52-6666C2BA6FD5}"/>
              </a:ext>
            </a:extLst>
          </p:cNvPr>
          <p:cNvSpPr>
            <a:spLocks noGrp="1"/>
          </p:cNvSpPr>
          <p:nvPr/>
        </p:nvSpPr>
        <p:spPr>
          <a:xfrm>
            <a:off x="5848350" y="2571750"/>
            <a:ext cx="2476500" cy="762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3C5AA36-486C-448A-B351-F5AE0ABD4ECB}"/>
              </a:ext>
            </a:extLst>
          </p:cNvPr>
          <p:cNvSpPr>
            <a:spLocks noGrp="1"/>
          </p:cNvSpPr>
          <p:nvPr/>
        </p:nvSpPr>
        <p:spPr>
          <a:xfrm>
            <a:off x="6019800" y="2800350"/>
            <a:ext cx="400050" cy="400050"/>
          </a:xfrm>
          <a:prstGeom prst="ellipse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B9C16A-E4DC-4D07-BA3E-4B92C4C26978}"/>
              </a:ext>
            </a:extLst>
          </p:cNvPr>
          <p:cNvSpPr>
            <a:spLocks noGrp="1"/>
          </p:cNvSpPr>
          <p:nvPr/>
        </p:nvSpPr>
        <p:spPr>
          <a:xfrm>
            <a:off x="601980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DF5A77-E78A-49E5-8758-0E43C68ACD8C}"/>
              </a:ext>
            </a:extLst>
          </p:cNvPr>
          <p:cNvSpPr>
            <a:spLocks noGrp="1"/>
          </p:cNvSpPr>
          <p:nvPr/>
        </p:nvSpPr>
        <p:spPr>
          <a:xfrm>
            <a:off x="655320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F6F36A25-C7F2-458F-9237-4EF53DBDFECD}"/>
              </a:ext>
            </a:extLst>
          </p:cNvPr>
          <p:cNvSpPr>
            <a:spLocks noGrp="1"/>
          </p:cNvSpPr>
          <p:nvPr/>
        </p:nvSpPr>
        <p:spPr>
          <a:xfrm>
            <a:off x="601980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51E786-6B79-4207-9598-7A36AE10AA57}"/>
              </a:ext>
            </a:extLst>
          </p:cNvPr>
          <p:cNvSpPr>
            <a:spLocks noGrp="1"/>
          </p:cNvSpPr>
          <p:nvPr/>
        </p:nvSpPr>
        <p:spPr>
          <a:xfrm>
            <a:off x="601980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Read financial 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7D2C05-AD23-4BFB-9D13-026A88AC32B3}"/>
              </a:ext>
            </a:extLst>
          </p:cNvPr>
          <p:cNvSpPr>
            <a:spLocks noGrp="1"/>
          </p:cNvSpPr>
          <p:nvPr/>
        </p:nvSpPr>
        <p:spPr>
          <a:xfrm>
            <a:off x="601980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09ECC45-3911-4D14-A730-963933FDEF36}"/>
              </a:ext>
            </a:extLst>
          </p:cNvPr>
          <p:cNvSpPr>
            <a:spLocks noGrp="1"/>
          </p:cNvSpPr>
          <p:nvPr/>
        </p:nvSpPr>
        <p:spPr>
          <a:xfrm>
            <a:off x="601980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read financial data.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AB0BDD8-5853-4E2D-B695-D124DA6A759D}"/>
              </a:ext>
            </a:extLst>
          </p:cNvPr>
          <p:cNvSpPr>
            <a:spLocks noGrp="1"/>
          </p:cNvSpPr>
          <p:nvPr/>
        </p:nvSpPr>
        <p:spPr>
          <a:xfrm>
            <a:off x="849630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7931FB1-EB09-4DD1-A3D4-63EE80423922}"/>
              </a:ext>
            </a:extLst>
          </p:cNvPr>
          <p:cNvSpPr>
            <a:spLocks noGrp="1"/>
          </p:cNvSpPr>
          <p:nvPr/>
        </p:nvSpPr>
        <p:spPr>
          <a:xfrm>
            <a:off x="8496300" y="2571750"/>
            <a:ext cx="2476500" cy="76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01BD6CF-C100-4D73-8ED2-55F5D11B74C2}"/>
              </a:ext>
            </a:extLst>
          </p:cNvPr>
          <p:cNvSpPr>
            <a:spLocks noGrp="1"/>
          </p:cNvSpPr>
          <p:nvPr/>
        </p:nvSpPr>
        <p:spPr>
          <a:xfrm>
            <a:off x="8667750" y="2800350"/>
            <a:ext cx="400050" cy="400050"/>
          </a:xfrm>
          <a:prstGeom prst="ellipse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31F0818-77B2-4354-9B42-A7EC1CD68892}"/>
              </a:ext>
            </a:extLst>
          </p:cNvPr>
          <p:cNvSpPr>
            <a:spLocks noGrp="1"/>
          </p:cNvSpPr>
          <p:nvPr/>
        </p:nvSpPr>
        <p:spPr>
          <a:xfrm>
            <a:off x="866775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B2A41E2-F744-426F-86BB-40A8AA55C9DA}"/>
              </a:ext>
            </a:extLst>
          </p:cNvPr>
          <p:cNvSpPr>
            <a:spLocks noGrp="1"/>
          </p:cNvSpPr>
          <p:nvPr/>
        </p:nvSpPr>
        <p:spPr>
          <a:xfrm>
            <a:off x="920115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9DEB3174-2F3E-4ACA-87EF-A3FEB2BFBFB6}"/>
              </a:ext>
            </a:extLst>
          </p:cNvPr>
          <p:cNvSpPr>
            <a:spLocks noGrp="1"/>
          </p:cNvSpPr>
          <p:nvPr/>
        </p:nvSpPr>
        <p:spPr>
          <a:xfrm>
            <a:off x="866775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A0DFB16-E508-4538-9A35-F9057CC3AB11}"/>
              </a:ext>
            </a:extLst>
          </p:cNvPr>
          <p:cNvSpPr>
            <a:spLocks noGrp="1"/>
          </p:cNvSpPr>
          <p:nvPr/>
        </p:nvSpPr>
        <p:spPr>
          <a:xfrm>
            <a:off x="866775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Describe what you see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B6000E5-92C9-4667-BD40-E9623B9B486D}"/>
              </a:ext>
            </a:extLst>
          </p:cNvPr>
          <p:cNvSpPr>
            <a:spLocks noGrp="1"/>
          </p:cNvSpPr>
          <p:nvPr/>
        </p:nvSpPr>
        <p:spPr>
          <a:xfrm>
            <a:off x="866775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984DF62-1EF2-4B6B-A76B-BA7F4E5756A2}"/>
              </a:ext>
            </a:extLst>
          </p:cNvPr>
          <p:cNvSpPr>
            <a:spLocks noGrp="1"/>
          </p:cNvSpPr>
          <p:nvPr/>
        </p:nvSpPr>
        <p:spPr>
          <a:xfrm>
            <a:off x="866775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state what the result means for a financial decision.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FBAE5D1-0FA8-4FA2-8EF0-D5C47E30EAAE}"/>
              </a:ext>
            </a:extLst>
          </p:cNvPr>
          <p:cNvSpPr>
            <a:spLocks noGrp="1"/>
          </p:cNvSpPr>
          <p:nvPr/>
        </p:nvSpPr>
        <p:spPr>
          <a:xfrm>
            <a:off x="552450" y="5162550"/>
            <a:ext cx="11087100" cy="51435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BABE817-6E7F-4534-A447-A11B9665A48F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10706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The deliverable is a short notebook with code, output, and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9424901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2274F8F-8EE5-44DC-9046-0F8C3E2674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83196C-FDDE-43F1-A034-4145E2586C10}"/>
              </a:ext>
            </a:extLst>
          </p:cNvPr>
          <p:cNvSpPr>
            <a:spLocks noGrp="1"/>
          </p:cNvSpPr>
          <p:nvPr/>
        </p:nvSpPr>
        <p:spPr>
          <a:xfrm>
            <a:off x="7715250" y="800100"/>
            <a:ext cx="314325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2750" b="1" i="0">
                <a:solidFill>
                  <a:srgbClr val="102D49"/>
                </a:solidFill>
                <a:latin typeface="Aptos"/>
                <a:ea typeface="Aptos"/>
                <a:cs typeface="Aptos"/>
              </a:defRPr>
            </a:pPr>
            <a:r>
              <a:rPr sz="12750" b="1" i="0">
                <a:solidFill>
                  <a:srgbClr val="102D4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3EA380-14CC-4E73-93E5-0523321B57FE}"/>
              </a:ext>
            </a:extLst>
          </p:cNvPr>
          <p:cNvSpPr>
            <a:spLocks noGrp="1"/>
          </p:cNvSpPr>
          <p:nvPr/>
        </p:nvSpPr>
        <p:spPr>
          <a:xfrm>
            <a:off x="762000" y="1200150"/>
            <a:ext cx="876300" cy="47625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7EC02E-AB8B-42D5-980F-4D858A00A249}"/>
              </a:ext>
            </a:extLst>
          </p:cNvPr>
          <p:cNvSpPr>
            <a:spLocks noGrp="1"/>
          </p:cNvSpPr>
          <p:nvPr/>
        </p:nvSpPr>
        <p:spPr>
          <a:xfrm>
            <a:off x="762000" y="1485900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PART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DBFDE6-3C80-4186-8C07-4D09F176DB95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239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Notebook workflow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C123F6-C4D9-4C46-8C18-0EC3BAFE5BA9}"/>
              </a:ext>
            </a:extLst>
          </p:cNvPr>
          <p:cNvSpPr>
            <a:spLocks noGrp="1"/>
          </p:cNvSpPr>
          <p:nvPr/>
        </p:nvSpPr>
        <p:spPr>
          <a:xfrm>
            <a:off x="781050" y="3314700"/>
            <a:ext cx="6286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BFD0D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BFD0DF"/>
                </a:solidFill>
                <a:latin typeface="Aptos"/>
                <a:ea typeface="Aptos"/>
                <a:cs typeface="Aptos"/>
              </a:rPr>
              <a:t>Reproducibility starts before the first line of Python.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9C3736-B547-43EF-8782-00F978249E7D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8DCACD-343E-488F-8BF2-38D9781BB9AC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EA2752-24C3-4F93-B5C9-98966AA03D76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78773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6817C78-D884-4B6C-BC52-3D2BFF2ABA98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6A9232-DA9E-494A-9FCA-5B523F1E5D08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1391D4-3A10-4F6A-90B3-39D1E84483A7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notebook is an analytical record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8DC5EB-91E1-450D-BD46-8CCED93C2889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reader should be able to trace the result back to the data and the calculation.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247393-A8DB-4A07-8C0E-7EA276EA355A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8217C-1B37-49B4-831A-F5A14E1B8198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9AE45A-8242-48D8-91D4-13AD15C22679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322EDB-BF51-47EE-ACCC-A5AC5AD6F346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A USEFUL NOTEBOOK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B01108-E21D-400F-81C7-0FC03FC6F1CC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Explains the question, shows the code, preserves the output, and states the interpretation.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B8DF12-41EC-489E-AFE7-CCF58F4880B5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A30750-28E8-4612-B78D-D16D0A14CD4A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A WEAK NOTEBOOK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B308F1-6C9B-498B-8233-622C2698C14E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Shows disconnected cells, hidden transformations, and numbers that cannot be reproduced.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5F4172-641A-4E52-BB5A-8474FA61296E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9F337A-C118-4E57-9AEA-3CE1095FDB28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Reproducibility is a modelling control.</a:t>
            </a:r>
          </a:p>
        </p:txBody>
      </p:sp>
    </p:spTree>
    <p:extLst>
      <p:ext uri="{BB962C8B-B14F-4D97-AF65-F5344CB8AC3E}">
        <p14:creationId xmlns:p14="http://schemas.microsoft.com/office/powerpoint/2010/main" val="34939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FE54F88-8068-4D07-A01C-B953CA337298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7FE916-ED6D-4766-978D-B4ADB93576EA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79C1C9-3EE3-49A5-8B20-7BB576984A9E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clean first cell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5EAD18-6248-4837-B770-2DB4C746C1F1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Colab already provides the core scientific Python stack.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6C5C21-7B4B-4967-94EB-256CF0D82056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A25B89-323A-46BA-9057-A371D39E5606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6C3BC0-5B36-4D97-A290-99DCC382172B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14A1BE-152E-4A0B-92EA-82A4ACBF2579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067519-C1E9-44A1-933A-40F272D4AE05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import numpy as np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import pandas as pd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import matplotlib.pyplot as plt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print("Core libraries loaded")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C0A60F-5029-46C8-9F3E-27BDF8685A6A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570781-335E-421A-BFA0-6660308F3B36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B8C79A-12AA-4D64-A0D5-96A6E8B2C26A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48372A-5B37-485A-B263-65F71FD07433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Core libraries loaded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B1FC4C-216D-48C3-AC2A-B6F900265A17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DF8FE5-0D1D-476E-B18C-3CD8DBC038D5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43F95E-9D79-4881-8C3D-BB079511F03C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setup is deliberately short. The lecture spends its time on data and analysis.</a:t>
            </a:r>
          </a:p>
        </p:txBody>
      </p:sp>
    </p:spTree>
    <p:extLst>
      <p:ext uri="{BB962C8B-B14F-4D97-AF65-F5344CB8AC3E}">
        <p14:creationId xmlns:p14="http://schemas.microsoft.com/office/powerpoint/2010/main" val="4756255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9C32F7BE-5804-4157-8AD4-6D40D5F52954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539D34-E997-42B7-81EA-B809070546E3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NOTEBOOK STRUCTURE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5D5BB3-6E66-4541-AEE9-94E39A2B25E4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Four layers keep the analysis readable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0C8F14-D83C-462D-8642-2192214F8FE6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Each layer answers a different question.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31BEAE-DE54-4B1A-8F2F-FDF685670B1D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D115FD-8A54-42F9-A65B-219B5BF5F29F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8185EA-60C5-427C-9B6B-F99C78B02EFC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F0578F-29CF-4CD0-938A-B27C11F0F8EE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476500" cy="76200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5F2EBF-3545-4DA5-B2D4-389C6E10E737}"/>
              </a:ext>
            </a:extLst>
          </p:cNvPr>
          <p:cNvSpPr>
            <a:spLocks noGrp="1"/>
          </p:cNvSpPr>
          <p:nvPr/>
        </p:nvSpPr>
        <p:spPr>
          <a:xfrm>
            <a:off x="723900" y="2800350"/>
            <a:ext cx="400050" cy="400050"/>
          </a:xfrm>
          <a:prstGeom prst="ellipse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ADDA72-775B-404A-85BC-510A4D004823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58F28F-7672-4082-A09E-2C8543DFCB23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E23EB05C-2C8F-428E-97C6-C3757E711519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73BD96-E19B-4459-AB19-C88C836F9952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What is the question?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4BAFAC-8FCD-4163-8B8F-B698832F31EB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E13E58-6CE0-47FB-AE5F-3ED7384FF45B}"/>
              </a:ext>
            </a:extLst>
          </p:cNvPr>
          <p:cNvSpPr>
            <a:spLocks noGrp="1"/>
          </p:cNvSpPr>
          <p:nvPr/>
        </p:nvSpPr>
        <p:spPr>
          <a:xfrm>
            <a:off x="72390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why is Apple closing price being examined?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7289D1-7BBA-4E79-B67F-450ADB90B3B1}"/>
              </a:ext>
            </a:extLst>
          </p:cNvPr>
          <p:cNvSpPr>
            <a:spLocks noGrp="1"/>
          </p:cNvSpPr>
          <p:nvPr/>
        </p:nvSpPr>
        <p:spPr>
          <a:xfrm>
            <a:off x="320040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ED76E1-AFDF-4D14-BBAE-AD6D63A8B9CD}"/>
              </a:ext>
            </a:extLst>
          </p:cNvPr>
          <p:cNvSpPr>
            <a:spLocks noGrp="1"/>
          </p:cNvSpPr>
          <p:nvPr/>
        </p:nvSpPr>
        <p:spPr>
          <a:xfrm>
            <a:off x="3200400" y="2571750"/>
            <a:ext cx="2476500" cy="762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C1AF8A7-48D0-455F-9A18-0048C0540958}"/>
              </a:ext>
            </a:extLst>
          </p:cNvPr>
          <p:cNvSpPr>
            <a:spLocks noGrp="1"/>
          </p:cNvSpPr>
          <p:nvPr/>
        </p:nvSpPr>
        <p:spPr>
          <a:xfrm>
            <a:off x="3371850" y="2800350"/>
            <a:ext cx="400050" cy="400050"/>
          </a:xfrm>
          <a:prstGeom prst="ellipse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7B3CC9-15C8-42E3-AB5E-9EF0C17FEFDC}"/>
              </a:ext>
            </a:extLst>
          </p:cNvPr>
          <p:cNvSpPr>
            <a:spLocks noGrp="1"/>
          </p:cNvSpPr>
          <p:nvPr/>
        </p:nvSpPr>
        <p:spPr>
          <a:xfrm>
            <a:off x="337185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974B2F-48EC-4CE0-8520-F8622AB83E96}"/>
              </a:ext>
            </a:extLst>
          </p:cNvPr>
          <p:cNvSpPr>
            <a:spLocks noGrp="1"/>
          </p:cNvSpPr>
          <p:nvPr/>
        </p:nvSpPr>
        <p:spPr>
          <a:xfrm>
            <a:off x="390525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93B2EBCA-D668-4A41-9701-D1C9987BC435}"/>
              </a:ext>
            </a:extLst>
          </p:cNvPr>
          <p:cNvSpPr>
            <a:spLocks noGrp="1"/>
          </p:cNvSpPr>
          <p:nvPr/>
        </p:nvSpPr>
        <p:spPr>
          <a:xfrm>
            <a:off x="337185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141C0E-1FB6-4AC0-8951-D967044F527F}"/>
              </a:ext>
            </a:extLst>
          </p:cNvPr>
          <p:cNvSpPr>
            <a:spLocks noGrp="1"/>
          </p:cNvSpPr>
          <p:nvPr/>
        </p:nvSpPr>
        <p:spPr>
          <a:xfrm>
            <a:off x="337185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What was calculated?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14E6A2-5280-44AA-8E79-EBABECE57A8B}"/>
              </a:ext>
            </a:extLst>
          </p:cNvPr>
          <p:cNvSpPr>
            <a:spLocks noGrp="1"/>
          </p:cNvSpPr>
          <p:nvPr/>
        </p:nvSpPr>
        <p:spPr>
          <a:xfrm>
            <a:off x="337185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6E92F9-1929-45AC-89D7-2C3C7EFDA9AE}"/>
              </a:ext>
            </a:extLst>
          </p:cNvPr>
          <p:cNvSpPr>
            <a:spLocks noGrp="1"/>
          </p:cNvSpPr>
          <p:nvPr/>
        </p:nvSpPr>
        <p:spPr>
          <a:xfrm>
            <a:off x="337185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run pd.read_csv(...) and inspect the returned table.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8B3664-87EF-4FE3-A6CF-F4D17455C112}"/>
              </a:ext>
            </a:extLst>
          </p:cNvPr>
          <p:cNvSpPr>
            <a:spLocks noGrp="1"/>
          </p:cNvSpPr>
          <p:nvPr/>
        </p:nvSpPr>
        <p:spPr>
          <a:xfrm>
            <a:off x="584835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B2CF27-8E42-40FD-9A11-6F1F9CD3B638}"/>
              </a:ext>
            </a:extLst>
          </p:cNvPr>
          <p:cNvSpPr>
            <a:spLocks noGrp="1"/>
          </p:cNvSpPr>
          <p:nvPr/>
        </p:nvSpPr>
        <p:spPr>
          <a:xfrm>
            <a:off x="5848350" y="2571750"/>
            <a:ext cx="2476500" cy="762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3C74B38-44FF-445B-830B-AF57A7824896}"/>
              </a:ext>
            </a:extLst>
          </p:cNvPr>
          <p:cNvSpPr>
            <a:spLocks noGrp="1"/>
          </p:cNvSpPr>
          <p:nvPr/>
        </p:nvSpPr>
        <p:spPr>
          <a:xfrm>
            <a:off x="6019800" y="2800350"/>
            <a:ext cx="400050" cy="400050"/>
          </a:xfrm>
          <a:prstGeom prst="ellipse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A64F42-BB06-459F-9F0C-53A1CD519F88}"/>
              </a:ext>
            </a:extLst>
          </p:cNvPr>
          <p:cNvSpPr>
            <a:spLocks noGrp="1"/>
          </p:cNvSpPr>
          <p:nvPr/>
        </p:nvSpPr>
        <p:spPr>
          <a:xfrm>
            <a:off x="601980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D35B95-7D40-478F-AEC0-E82968438E2F}"/>
              </a:ext>
            </a:extLst>
          </p:cNvPr>
          <p:cNvSpPr>
            <a:spLocks noGrp="1"/>
          </p:cNvSpPr>
          <p:nvPr/>
        </p:nvSpPr>
        <p:spPr>
          <a:xfrm>
            <a:off x="655320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C345FA56-FC9C-4387-8441-D5F913C84E80}"/>
              </a:ext>
            </a:extLst>
          </p:cNvPr>
          <p:cNvSpPr>
            <a:spLocks noGrp="1"/>
          </p:cNvSpPr>
          <p:nvPr/>
        </p:nvSpPr>
        <p:spPr>
          <a:xfrm>
            <a:off x="601980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65E745-FBE4-4163-A016-CF7F36AA925D}"/>
              </a:ext>
            </a:extLst>
          </p:cNvPr>
          <p:cNvSpPr>
            <a:spLocks noGrp="1"/>
          </p:cNvSpPr>
          <p:nvPr/>
        </p:nvSpPr>
        <p:spPr>
          <a:xfrm>
            <a:off x="601980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What was produced?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EE1911E-13CB-49CD-8685-15056B32CEC8}"/>
              </a:ext>
            </a:extLst>
          </p:cNvPr>
          <p:cNvSpPr>
            <a:spLocks noGrp="1"/>
          </p:cNvSpPr>
          <p:nvPr/>
        </p:nvSpPr>
        <p:spPr>
          <a:xfrm>
            <a:off x="601980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7C596A4-3097-4445-94F2-BD4540A1B4D0}"/>
              </a:ext>
            </a:extLst>
          </p:cNvPr>
          <p:cNvSpPr>
            <a:spLocks noGrp="1"/>
          </p:cNvSpPr>
          <p:nvPr/>
        </p:nvSpPr>
        <p:spPr>
          <a:xfrm>
            <a:off x="601980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a table, number, or plot produced by the code.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005FF8-CE00-4629-AC98-80F54D9C4147}"/>
              </a:ext>
            </a:extLst>
          </p:cNvPr>
          <p:cNvSpPr>
            <a:spLocks noGrp="1"/>
          </p:cNvSpPr>
          <p:nvPr/>
        </p:nvSpPr>
        <p:spPr>
          <a:xfrm>
            <a:off x="849630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B286E0-32C3-41DC-998D-50CB820EDB60}"/>
              </a:ext>
            </a:extLst>
          </p:cNvPr>
          <p:cNvSpPr>
            <a:spLocks noGrp="1"/>
          </p:cNvSpPr>
          <p:nvPr/>
        </p:nvSpPr>
        <p:spPr>
          <a:xfrm>
            <a:off x="8496300" y="2571750"/>
            <a:ext cx="2476500" cy="76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704BD09-58D3-4D5A-A9FB-ABCE5510D5AC}"/>
              </a:ext>
            </a:extLst>
          </p:cNvPr>
          <p:cNvSpPr>
            <a:spLocks noGrp="1"/>
          </p:cNvSpPr>
          <p:nvPr/>
        </p:nvSpPr>
        <p:spPr>
          <a:xfrm>
            <a:off x="8667750" y="2800350"/>
            <a:ext cx="400050" cy="400050"/>
          </a:xfrm>
          <a:prstGeom prst="ellipse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36247D2-49ED-4BF5-8C09-183DFE3F7436}"/>
              </a:ext>
            </a:extLst>
          </p:cNvPr>
          <p:cNvSpPr>
            <a:spLocks noGrp="1"/>
          </p:cNvSpPr>
          <p:nvPr/>
        </p:nvSpPr>
        <p:spPr>
          <a:xfrm>
            <a:off x="866775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957F62B-B84B-41A0-BFA6-86BB8DCA7C7F}"/>
              </a:ext>
            </a:extLst>
          </p:cNvPr>
          <p:cNvSpPr>
            <a:spLocks noGrp="1"/>
          </p:cNvSpPr>
          <p:nvPr/>
        </p:nvSpPr>
        <p:spPr>
          <a:xfrm>
            <a:off x="920115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F82FB375-3898-473B-821E-DCB090AA62C3}"/>
              </a:ext>
            </a:extLst>
          </p:cNvPr>
          <p:cNvSpPr>
            <a:spLocks noGrp="1"/>
          </p:cNvSpPr>
          <p:nvPr/>
        </p:nvSpPr>
        <p:spPr>
          <a:xfrm>
            <a:off x="866775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A78D545-7335-4F60-8475-CA67ADD2D57A}"/>
              </a:ext>
            </a:extLst>
          </p:cNvPr>
          <p:cNvSpPr>
            <a:spLocks noGrp="1"/>
          </p:cNvSpPr>
          <p:nvPr/>
        </p:nvSpPr>
        <p:spPr>
          <a:xfrm>
            <a:off x="866775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What does it imply?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898ED6C-0109-49D7-A598-3FC7DA6EA085}"/>
              </a:ext>
            </a:extLst>
          </p:cNvPr>
          <p:cNvSpPr>
            <a:spLocks noGrp="1"/>
          </p:cNvSpPr>
          <p:nvPr/>
        </p:nvSpPr>
        <p:spPr>
          <a:xfrm>
            <a:off x="866775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E9DA380-8E8E-432F-8073-380EA065006A}"/>
              </a:ext>
            </a:extLst>
          </p:cNvPr>
          <p:cNvSpPr>
            <a:spLocks noGrp="1"/>
          </p:cNvSpPr>
          <p:nvPr/>
        </p:nvSpPr>
        <p:spPr>
          <a:xfrm>
            <a:off x="866775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explain whether the result changes the financial interpretation.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9CF38DE-6A45-4CD5-98A8-DF60DF4B4049}"/>
              </a:ext>
            </a:extLst>
          </p:cNvPr>
          <p:cNvSpPr>
            <a:spLocks noGrp="1"/>
          </p:cNvSpPr>
          <p:nvPr/>
        </p:nvSpPr>
        <p:spPr>
          <a:xfrm>
            <a:off x="552450" y="5162550"/>
            <a:ext cx="11087100" cy="51435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0B53320-A77D-45A1-8646-1C6E28C29B52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10706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Do not hide the interpretation in a final paragraph disconnected from the code.</a:t>
            </a:r>
          </a:p>
        </p:txBody>
      </p:sp>
    </p:spTree>
    <p:extLst>
      <p:ext uri="{BB962C8B-B14F-4D97-AF65-F5344CB8AC3E}">
        <p14:creationId xmlns:p14="http://schemas.microsoft.com/office/powerpoint/2010/main" val="806421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EE6F7DA-5BE5-4090-93AA-2510A549F33F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3DA0B1-7C09-4015-BD0F-115DCF41708B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DE023C-A6F2-45DC-9AA6-4F394E471C02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Make the data path explicit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DDE157-098C-44E1-BBAD-CB53407C5626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Use a relative path that another machine can reproduce.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D1DA11-01B1-412C-BDF2-32C99FE74285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23BD80-4835-4293-AC98-32B60D2CCE46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03DF4D-482A-480B-976E-6B93681B4273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99755B-67C8-453C-8E55-3C7525DBD48B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60E066-7F1E-498F-A73E-8A96833C9987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from pathlib import Path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DATA_DIR = Path("data")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FILE = DATA_DIR / "finance-charts-apple.csv"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print(FILE)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print(FILE.exists())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E2E9FE-4A40-4B94-ABDE-43535AB9DFC4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7EF7F8-9077-4F56-B2BE-B448E8D709B1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8ACC79-9E4E-45D1-954C-21BBEF632DAD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FC8A2F-95EB-4A72-9486-09BD6567263F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data/finance-charts-apple.csv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True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4E8B7C-8D78-4199-9704-5AB1FDCD0413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3423B0-4D40-4A81-BC30-051A141D46F4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9D5DE4-9183-4476-9D47-A9C2482EDCCE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path check uses a file that is included in the course package and creates an immediate failure if the file is missing.</a:t>
            </a:r>
          </a:p>
        </p:txBody>
      </p:sp>
    </p:spTree>
    <p:extLst>
      <p:ext uri="{BB962C8B-B14F-4D97-AF65-F5344CB8AC3E}">
        <p14:creationId xmlns:p14="http://schemas.microsoft.com/office/powerpoint/2010/main" val="1340512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6497653-542D-4BD8-AB3F-2415AE9E11C0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7AC8D6-8382-40DF-B21E-B23B7BB858A8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031AD8-570D-42BF-886A-47909B84F7C7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Load a real credit-risk table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D34208-F793-464A-9D91-9D9586BEDB10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course package includes the UCI Default of Credit Card Clients data as a CSV.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8D3F5B-2472-45E4-8030-58F16191719E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F0B66E-F1ED-424A-B855-17B8B3780EBA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097E46-8AA3-4E20-8D7F-EE2E6F946CFC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67151D-7D2D-4724-BF6A-4F3FE62FA303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11B65E-BFAE-4D05-90C4-2A2D15116E01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credit = pd.read_csv(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"data/credit/default_of_credit_card_clients.csv"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)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print(credit.shape)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print(credit["default payment next month"].value_counts())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9001A8-41B9-4F86-A375-3F147C2B6769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9EDD78-C107-447D-B2AC-5EFF7A425F7D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55ACB7-9CEB-4A4B-B967-E6B214B7D048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F91495-ABCC-4FCB-92C8-EE2765A1EBFE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(30000, 25)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0    23364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1     6636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C6CBF8-8B72-4F97-9753-9EA5BCCC4499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66715C-A86A-41F8-8C8B-6A519F392DC4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FE343F-3A3D-4454-A557-A7C80731C718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479" lnSpcReduction="10000"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This table contains borrower characteristics and a next-month default outcome. The target definition belongs in the notebook before modelling.</a:t>
            </a:r>
          </a:p>
        </p:txBody>
      </p:sp>
    </p:spTree>
    <p:extLst>
      <p:ext uri="{BB962C8B-B14F-4D97-AF65-F5344CB8AC3E}">
        <p14:creationId xmlns:p14="http://schemas.microsoft.com/office/powerpoint/2010/main" val="7056869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61BA3FE-98D4-4D69-8239-00807D46A306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46B318-18BB-4DC8-B68A-149BC93D208C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6657EB-727F-4764-A3A7-8FF9421534D4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Download an open financial dataset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FEA64E-95B2-4558-A6A0-20FCE4F63A14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same public CSV can be loaded directly in Colab.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02968C-154F-48CC-8F54-AF0FBDEE418A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BB4C6E-FA86-444C-9507-9DE9C384B3EF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6F71DD-35A9-4669-8978-F165D0ADC29E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7A4F28-0115-446F-9AE9-4EBC5CBBC97A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5F4356-6433-4134-AD9F-EB362D789E1E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import pandas as pd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url = (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"https://raw.githubusercontent.com/plotly/"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"datasets/master/finance-charts-apple.csv"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 = pd.read_csv(url, parse_dates=["Date"])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print(prices.shape)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15A2EF-77AF-454E-9BA3-EA373E66C189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41C8F7-A7A7-4D3A-B0E9-EDFEBA485CE3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41E687-2720-46C8-B39A-FF0B09E71EA3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BF25C6-4959-4448-8262-92D41AB8C639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(506, 12)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3544B2-5DAB-42F0-9D53-12E3740A9771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3D8782-722C-4A56-A8AC-E1A3A69FF500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B8AC91-F303-435D-84E1-124F271FBB21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dataset contains daily Apple price, volume, and derived chart fields. The source URL stays in the notebook.</a:t>
            </a:r>
          </a:p>
        </p:txBody>
      </p:sp>
    </p:spTree>
    <p:extLst>
      <p:ext uri="{BB962C8B-B14F-4D97-AF65-F5344CB8AC3E}">
        <p14:creationId xmlns:p14="http://schemas.microsoft.com/office/powerpoint/2010/main" val="9489647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D2E81EB-710C-4276-A8CB-D1BE82621A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15021B-E7A7-4703-92FA-22C3F52845E0}"/>
              </a:ext>
            </a:extLst>
          </p:cNvPr>
          <p:cNvSpPr>
            <a:spLocks noGrp="1"/>
          </p:cNvSpPr>
          <p:nvPr/>
        </p:nvSpPr>
        <p:spPr>
          <a:xfrm>
            <a:off x="7715250" y="800100"/>
            <a:ext cx="314325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2750" b="1" i="0">
                <a:solidFill>
                  <a:srgbClr val="102D49"/>
                </a:solidFill>
                <a:latin typeface="Aptos"/>
                <a:ea typeface="Aptos"/>
                <a:cs typeface="Aptos"/>
              </a:defRPr>
            </a:pPr>
            <a:r>
              <a:rPr sz="12750" b="1" i="0">
                <a:solidFill>
                  <a:srgbClr val="102D4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0448CC-E49E-49F1-B04D-E9F903BC7C78}"/>
              </a:ext>
            </a:extLst>
          </p:cNvPr>
          <p:cNvSpPr>
            <a:spLocks noGrp="1"/>
          </p:cNvSpPr>
          <p:nvPr/>
        </p:nvSpPr>
        <p:spPr>
          <a:xfrm>
            <a:off x="762000" y="1200150"/>
            <a:ext cx="876300" cy="47625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8744B9-016B-48EC-8E64-312A00AA9987}"/>
              </a:ext>
            </a:extLst>
          </p:cNvPr>
          <p:cNvSpPr>
            <a:spLocks noGrp="1"/>
          </p:cNvSpPr>
          <p:nvPr/>
        </p:nvSpPr>
        <p:spPr>
          <a:xfrm>
            <a:off x="762000" y="1485900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PART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88FC84-4B93-43F1-8B35-9C0E1794FF72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239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Python core structures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14E230-FCC4-4CE1-8200-4BB09F07837A}"/>
              </a:ext>
            </a:extLst>
          </p:cNvPr>
          <p:cNvSpPr>
            <a:spLocks noGrp="1"/>
          </p:cNvSpPr>
          <p:nvPr/>
        </p:nvSpPr>
        <p:spPr>
          <a:xfrm>
            <a:off x="781050" y="3314700"/>
            <a:ext cx="6286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BFD0D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BFD0DF"/>
                </a:solidFill>
                <a:latin typeface="Aptos"/>
                <a:ea typeface="Aptos"/>
                <a:cs typeface="Aptos"/>
              </a:rPr>
              <a:t>Variables, collections, and control flow are the building blocks of financial analysis.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06D195-1319-4E9E-96CD-9A3AEA1EA2C3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C18BF-0735-410C-B938-C78AF6F5C8B0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ADB642-8FD7-445B-A0A1-9506B063F691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533360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174DDF9-8764-44B3-9B3A-CCFDBEDC7672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5B6B32-E416-4837-8A1A-E5CDF2DE337F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PYTHON FOUNDATIONS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701AEF-5403-4300-B9D1-AA961EA0176C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Assignment gives a value a name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A40A6F-930F-459E-BF4D-C09C40189427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variable stores a value so the calculation can be read, checked, and reused.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33B8D5-7834-4197-8DA7-97D9D25D0640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149C57-858A-4140-B5B9-4FCDAD84CDB7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DE38DA-736B-40A3-B699-2A58584CA902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987426-DF7F-4763-881C-BE7AEEEBA212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169E5C-46EB-48AE-B5E2-BCB7EBF4F001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After balance = 10_000, the name balance refers to a numeric value that later expressions can use.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04CA66-A956-4D4E-9167-8A5FDC5FCB23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9210D3-02F2-4DF7-A4D0-5BD3E7469658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919867-90B9-4A49-98C1-371051DA268A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good name carries the financial meaning. balance, annual_rate, and months are easier to audit than x, y, and z.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9B2DAF-165E-43D8-864B-D856680EC953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4CBECD-5F08-42A8-922E-923A9911D5CA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Names are part of the explanation, not decoration around the code.</a:t>
            </a:r>
          </a:p>
        </p:txBody>
      </p:sp>
    </p:spTree>
    <p:extLst>
      <p:ext uri="{BB962C8B-B14F-4D97-AF65-F5344CB8AC3E}">
        <p14:creationId xmlns:p14="http://schemas.microsoft.com/office/powerpoint/2010/main" val="10826360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383F5C3-A8B6-4F57-8637-A4D2468D328A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C045E3-E662-46F7-8A92-A74C1E7C877D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PYTHON FOUNDATIONS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7864AD-4EC8-4ED9-9E86-6B1417464273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number carries a unit and a convention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CFF821-012C-4043-B0C3-4E6A50179A7C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same numeric value can mean a percentage, a currency amount, or a count depending on the context.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B44B62-2D93-43CC-890D-1486A062BFC2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1FA005-906B-4762-BDCC-B19945B5C026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15A5EC-BACC-4985-A9F1-2D8A9B6250EE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8978E5-7F0A-4B00-B4A3-3DBE88B5839E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STORED VALUE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77A674-2CFC-4FE5-9F30-EF960A3E90E2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Store 7.25% as 0.0725 when the formula expects a decimal rate. Store €10,000 as 10000 when the unit is euros.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CA42EA-1672-4446-B4BD-A8A7F9BB70E2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028D82-4A14-42EF-9FE7-DE1D645A7E14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SAFE PRACTICE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F81CE0-799C-4EA4-8D36-94B47000F592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Name the unit in the variable or nearby comment. Before calculating, ask whether the inputs share the same scale.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11B31E-4A96-40F1-8E98-DBCAD5E7500D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92A862-0AAE-4D31-9A09-5625DFDA5D8A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Many financial coding errors are unit errors, not Python errors.</a:t>
            </a:r>
          </a:p>
        </p:txBody>
      </p:sp>
    </p:spTree>
    <p:extLst>
      <p:ext uri="{BB962C8B-B14F-4D97-AF65-F5344CB8AC3E}">
        <p14:creationId xmlns:p14="http://schemas.microsoft.com/office/powerpoint/2010/main" val="11936035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D0F531E-8C79-4827-8C31-F2EC776A078F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12086E-99CE-4D1C-A38F-44F00287EE6C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EC882F-FEFA-4493-8A79-AFFA10722440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Strings and dates carry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BD47AA-F7FF-4FC4-BAA8-645BFD45AAB6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Financial data often arrive as text and must be converted before analysis.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AFDB00-5498-4252-9488-430508D3894B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4C8090-3478-466C-9A97-6AFB2D1F2B23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9B7B1C-394B-4B8D-A0EF-DD81A282435B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928B0A-8D50-4489-965F-5C9F4DD43A00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67CCC9-DA33-48B5-B1AA-34243F44E7B3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date_text = "2026-01-15"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trade_date = pd.to_datetime(date_text)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print(trade_date.year)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print(trade_date.month)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print(trade_date.strftime("%B %Y"))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17DDB1-1345-489F-882F-76660DEAAC00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04DEA7-BCEE-4025-A7B5-B3244485DE94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58F7C5-6D9E-4CA1-8A4B-AD66CCEFF672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243C3B-62C2-4035-B7DE-FB0F2029509A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2026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January 2026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95930B-DA5C-48D4-91CE-9839C96C6ED4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5B93C4-3FEE-4797-9763-292D974BC1AF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36820F-DA8F-4E91-9F22-30F8E7C346BA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date stored as text cannot be grouped reliably until it is parsed into a date type.</a:t>
            </a:r>
          </a:p>
        </p:txBody>
      </p:sp>
    </p:spTree>
    <p:extLst>
      <p:ext uri="{BB962C8B-B14F-4D97-AF65-F5344CB8AC3E}">
        <p14:creationId xmlns:p14="http://schemas.microsoft.com/office/powerpoint/2010/main" val="2131858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DACF6D6-2F9D-4EFC-BFB9-C2E103339C93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431B93-3E74-4BC3-AB8D-A187256A7487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D8AB87-5DE6-4623-81DB-B0A9048EE9FD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Format outputs for a reader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93E171-7B94-47E5-A514-52D963F8AA05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stored decimal and the displayed percentage serve different purposes.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FA48BE-71A8-4DE6-87C7-3B2F59B69260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270AC4-A794-4039-B3BE-11AFC386897C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9A18CF-057B-4DCF-B732-E259A7985DD4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0C2EB9-4B6F-4AAD-B5CD-9B925ABBB970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3C16D5-2D70-4182-BBFA-B235A951747A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annual_rate = 0.0725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loan_balance = 12_000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print(f"Rate: {annual_rate:.2%}")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print(f"Balance: €{loan_balance:,.0f}")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350A6F-1A48-49CA-9EBC-867A12D13547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79C39C-98BA-48B5-8EB9-ECCE8268B816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BE3FA6-B771-4707-9C67-0332656E9F35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DF5DB1-0C81-4E10-8A38-C35BA586E5A1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Rate: 7.25%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Balance: €12,000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671DF3-6C96-4C3F-83A4-1414799191A4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4F8F45-976E-403E-88BF-AA13E5EF3DB5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D0F177-F6FB-4C54-BA56-B7298E0033A6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Keep numeric values in a calculation-friendly form and format them only when presenting results.</a:t>
            </a:r>
          </a:p>
        </p:txBody>
      </p:sp>
    </p:spTree>
    <p:extLst>
      <p:ext uri="{BB962C8B-B14F-4D97-AF65-F5344CB8AC3E}">
        <p14:creationId xmlns:p14="http://schemas.microsoft.com/office/powerpoint/2010/main" val="17646976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698B41F-B2FC-4649-B231-4F586FEC071B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645195-9D0F-4470-B3B3-63DDEB5A5112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EF8380-D8E4-4C12-B748-07170FC3EE3B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Operator order matters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167C0F-9D25-42BD-9482-41C9EC07F806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Python follows the same arithmetic precedence used in ordinary mathematics.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C5689B-79E0-4C03-9018-F8E27C954234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8872D0-C899-4D0A-9942-550E12D1279B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AC40BB-4013-4CC3-AB90-5978C6542E99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320197-D9AA-46DC-BC3D-539C210021C3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3BC414-5713-445C-9276-1AE423918B80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principal = 10_000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rate = 0.06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years = 2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wrong = principal * rate + years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right = principal * (1 + rate * years)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print(wrong)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print(right)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64CB78-A6C2-4661-8F13-CF5ABD38D49A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15DEEA-5E5B-4125-994A-6632A62096F0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DFB082-8B4A-4CAF-BC51-7DC83F8780D2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BA3B46-32F1-424E-AADB-FA601D255B06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602.0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11200.0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0ECF04-48F0-4374-9843-5AE4E16936DB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EC6DB4-0F67-459A-9742-5F1A25ED754D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FBBEA2-6B47-444A-A834-E219AE51EE7B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Parentheses make the intended financial formula visible. Never rely on a reader guessing the convention.</a:t>
            </a:r>
          </a:p>
        </p:txBody>
      </p:sp>
    </p:spTree>
    <p:extLst>
      <p:ext uri="{BB962C8B-B14F-4D97-AF65-F5344CB8AC3E}">
        <p14:creationId xmlns:p14="http://schemas.microsoft.com/office/powerpoint/2010/main" val="479689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C0363B9F-9411-42FB-B5EA-C010E55DA62E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BBF6F6-A01E-4036-8BAB-9C2C0ADF707D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PYTHON FOUNDATIONS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54FC21-6B37-4CFF-BD1E-1519EDEC3F04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Core types and their financial meaning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9BCC26-B6B4-472F-98DD-2E42E9572731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type determines which operations make sense.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B87C87-811C-4180-8572-86BCE0EAC259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8499D2-3444-4636-8DA9-DCDE26B1DA11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FF049E-0394-4927-832C-09CC6A40182D}"/>
              </a:ext>
            </a:extLst>
          </p:cNvPr>
          <p:cNvSpPr>
            <a:spLocks noGrp="1"/>
          </p:cNvSpPr>
          <p:nvPr/>
        </p:nvSpPr>
        <p:spPr>
          <a:xfrm>
            <a:off x="552450" y="2324100"/>
            <a:ext cx="1619250" cy="476250"/>
          </a:xfrm>
          <a:prstGeom prst="rect">
            <a:avLst/>
          </a:prstGeom>
          <a:solidFill>
            <a:srgbClr val="071A30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B33825-8F62-4F2A-9AEA-152F24EFF301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3525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Type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A0DA16-035F-44DC-81D5-9C93EBDF5258}"/>
              </a:ext>
            </a:extLst>
          </p:cNvPr>
          <p:cNvSpPr>
            <a:spLocks noGrp="1"/>
          </p:cNvSpPr>
          <p:nvPr/>
        </p:nvSpPr>
        <p:spPr>
          <a:xfrm>
            <a:off x="2171700" y="2324100"/>
            <a:ext cx="2952750" cy="476250"/>
          </a:xfrm>
          <a:prstGeom prst="rect">
            <a:avLst/>
          </a:prstGeom>
          <a:solidFill>
            <a:srgbClr val="071A30"/>
          </a:solidFill>
          <a:ln w="9525">
            <a:solidFill>
              <a:srgbClr val="C9D7E2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F8688E-1EF6-4C61-811D-F08B5788761D}"/>
              </a:ext>
            </a:extLst>
          </p:cNvPr>
          <p:cNvSpPr>
            <a:spLocks noGrp="1"/>
          </p:cNvSpPr>
          <p:nvPr/>
        </p:nvSpPr>
        <p:spPr>
          <a:xfrm>
            <a:off x="2305050" y="2476500"/>
            <a:ext cx="26860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DEA0B6-085D-48BD-A668-64227F32E092}"/>
              </a:ext>
            </a:extLst>
          </p:cNvPr>
          <p:cNvSpPr>
            <a:spLocks noGrp="1"/>
          </p:cNvSpPr>
          <p:nvPr/>
        </p:nvSpPr>
        <p:spPr>
          <a:xfrm>
            <a:off x="5124450" y="2324100"/>
            <a:ext cx="6515100" cy="476250"/>
          </a:xfrm>
          <a:prstGeom prst="rect">
            <a:avLst/>
          </a:prstGeom>
          <a:solidFill>
            <a:srgbClr val="071A30"/>
          </a:solidFill>
          <a:ln w="9525">
            <a:solidFill>
              <a:srgbClr val="C9D7E2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60F7B-E117-476D-BF67-B45CAE03575B}"/>
              </a:ext>
            </a:extLst>
          </p:cNvPr>
          <p:cNvSpPr>
            <a:spLocks noGrp="1"/>
          </p:cNvSpPr>
          <p:nvPr/>
        </p:nvSpPr>
        <p:spPr>
          <a:xfrm>
            <a:off x="5257800" y="2476500"/>
            <a:ext cx="6248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Typical use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F1CA94-3552-4D61-BF36-65CF36EBC0C4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619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0B1B5C-57A7-43BE-AA97-9F1A9A0A5A57}"/>
              </a:ext>
            </a:extLst>
          </p:cNvPr>
          <p:cNvSpPr>
            <a:spLocks noGrp="1"/>
          </p:cNvSpPr>
          <p:nvPr/>
        </p:nvSpPr>
        <p:spPr>
          <a:xfrm>
            <a:off x="685800" y="2962275"/>
            <a:ext cx="13525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E06367-7D0C-4FD1-A928-F116A7B79BA1}"/>
              </a:ext>
            </a:extLst>
          </p:cNvPr>
          <p:cNvSpPr>
            <a:spLocks noGrp="1"/>
          </p:cNvSpPr>
          <p:nvPr/>
        </p:nvSpPr>
        <p:spPr>
          <a:xfrm>
            <a:off x="2171700" y="2800350"/>
            <a:ext cx="2952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342E1B-91B8-48B1-8449-20EEE3EF31B6}"/>
              </a:ext>
            </a:extLst>
          </p:cNvPr>
          <p:cNvSpPr>
            <a:spLocks noGrp="1"/>
          </p:cNvSpPr>
          <p:nvPr/>
        </p:nvSpPr>
        <p:spPr>
          <a:xfrm>
            <a:off x="2305050" y="2962275"/>
            <a:ext cx="2686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572EBA-D47D-410B-8A98-D5183CE8572B}"/>
              </a:ext>
            </a:extLst>
          </p:cNvPr>
          <p:cNvSpPr>
            <a:spLocks noGrp="1"/>
          </p:cNvSpPr>
          <p:nvPr/>
        </p:nvSpPr>
        <p:spPr>
          <a:xfrm>
            <a:off x="5124450" y="2800350"/>
            <a:ext cx="65151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77D49C-3DAF-439A-8D5E-9C0E22B13C6F}"/>
              </a:ext>
            </a:extLst>
          </p:cNvPr>
          <p:cNvSpPr>
            <a:spLocks noGrp="1"/>
          </p:cNvSpPr>
          <p:nvPr/>
        </p:nvSpPr>
        <p:spPr>
          <a:xfrm>
            <a:off x="5257800" y="2962275"/>
            <a:ext cx="6248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Number of months or observations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31965E-CE57-4001-B640-EFA33E6F9373}"/>
              </a:ext>
            </a:extLst>
          </p:cNvPr>
          <p:cNvSpPr>
            <a:spLocks noGrp="1"/>
          </p:cNvSpPr>
          <p:nvPr/>
        </p:nvSpPr>
        <p:spPr>
          <a:xfrm>
            <a:off x="552450" y="3314700"/>
            <a:ext cx="1619250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775746-44FD-4C93-AF67-8BE1A7E5EEFC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13525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float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CFE9B0-7E4A-4317-BC3C-2B96275DFC1C}"/>
              </a:ext>
            </a:extLst>
          </p:cNvPr>
          <p:cNvSpPr>
            <a:spLocks noGrp="1"/>
          </p:cNvSpPr>
          <p:nvPr/>
        </p:nvSpPr>
        <p:spPr>
          <a:xfrm>
            <a:off x="2171700" y="3314700"/>
            <a:ext cx="2952750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5B59E6-41C2-4789-B154-F8FF83C39F21}"/>
              </a:ext>
            </a:extLst>
          </p:cNvPr>
          <p:cNvSpPr>
            <a:spLocks noGrp="1"/>
          </p:cNvSpPr>
          <p:nvPr/>
        </p:nvSpPr>
        <p:spPr>
          <a:xfrm>
            <a:off x="2305050" y="3476625"/>
            <a:ext cx="2686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0.0725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AE4D6A-4BF4-443A-BE4F-B25A64E6EEED}"/>
              </a:ext>
            </a:extLst>
          </p:cNvPr>
          <p:cNvSpPr>
            <a:spLocks noGrp="1"/>
          </p:cNvSpPr>
          <p:nvPr/>
        </p:nvSpPr>
        <p:spPr>
          <a:xfrm>
            <a:off x="5124450" y="3314700"/>
            <a:ext cx="6515100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D21FF5-BCBA-43DC-814C-30FC76506EE4}"/>
              </a:ext>
            </a:extLst>
          </p:cNvPr>
          <p:cNvSpPr>
            <a:spLocks noGrp="1"/>
          </p:cNvSpPr>
          <p:nvPr/>
        </p:nvSpPr>
        <p:spPr>
          <a:xfrm>
            <a:off x="5257800" y="3476625"/>
            <a:ext cx="6248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Rate, return, or balance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A17001-654C-4495-B540-AA6C9449EB72}"/>
              </a:ext>
            </a:extLst>
          </p:cNvPr>
          <p:cNvSpPr>
            <a:spLocks noGrp="1"/>
          </p:cNvSpPr>
          <p:nvPr/>
        </p:nvSpPr>
        <p:spPr>
          <a:xfrm>
            <a:off x="552450" y="3829050"/>
            <a:ext cx="1619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E0767C-BD88-42CC-A17B-B5168316BE3B}"/>
              </a:ext>
            </a:extLst>
          </p:cNvPr>
          <p:cNvSpPr>
            <a:spLocks noGrp="1"/>
          </p:cNvSpPr>
          <p:nvPr/>
        </p:nvSpPr>
        <p:spPr>
          <a:xfrm>
            <a:off x="685800" y="3990975"/>
            <a:ext cx="13525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str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B75E37-321E-49F3-ADCA-8A32DBE5302A}"/>
              </a:ext>
            </a:extLst>
          </p:cNvPr>
          <p:cNvSpPr>
            <a:spLocks noGrp="1"/>
          </p:cNvSpPr>
          <p:nvPr/>
        </p:nvSpPr>
        <p:spPr>
          <a:xfrm>
            <a:off x="2171700" y="3829050"/>
            <a:ext cx="2952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8B851B-BCBA-40E0-B60E-931820550086}"/>
              </a:ext>
            </a:extLst>
          </p:cNvPr>
          <p:cNvSpPr>
            <a:spLocks noGrp="1"/>
          </p:cNvSpPr>
          <p:nvPr/>
        </p:nvSpPr>
        <p:spPr>
          <a:xfrm>
            <a:off x="2305050" y="3990975"/>
            <a:ext cx="2686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"Prime"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B98ECA-E67F-47DF-AE62-5E0B6DF5E89E}"/>
              </a:ext>
            </a:extLst>
          </p:cNvPr>
          <p:cNvSpPr>
            <a:spLocks noGrp="1"/>
          </p:cNvSpPr>
          <p:nvPr/>
        </p:nvSpPr>
        <p:spPr>
          <a:xfrm>
            <a:off x="5124450" y="3829050"/>
            <a:ext cx="65151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D1D960-CD00-4D01-829D-EDA9D19071DD}"/>
              </a:ext>
            </a:extLst>
          </p:cNvPr>
          <p:cNvSpPr>
            <a:spLocks noGrp="1"/>
          </p:cNvSpPr>
          <p:nvPr/>
        </p:nvSpPr>
        <p:spPr>
          <a:xfrm>
            <a:off x="5257800" y="3990975"/>
            <a:ext cx="6248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Segment, date label, or identifier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D1C1B1-53B0-4D6B-BD37-60473B2B3CCE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1619250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0446975-7D84-40DC-8B7D-160B4FDBD8C6}"/>
              </a:ext>
            </a:extLst>
          </p:cNvPr>
          <p:cNvSpPr>
            <a:spLocks noGrp="1"/>
          </p:cNvSpPr>
          <p:nvPr/>
        </p:nvSpPr>
        <p:spPr>
          <a:xfrm>
            <a:off x="685800" y="4505325"/>
            <a:ext cx="13525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bool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3C4C000-44AB-403D-92C9-C49B71D2FC56}"/>
              </a:ext>
            </a:extLst>
          </p:cNvPr>
          <p:cNvSpPr>
            <a:spLocks noGrp="1"/>
          </p:cNvSpPr>
          <p:nvPr/>
        </p:nvSpPr>
        <p:spPr>
          <a:xfrm>
            <a:off x="2171700" y="4343400"/>
            <a:ext cx="2952750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90CA37-BCEA-449F-9481-F069F0693EB8}"/>
              </a:ext>
            </a:extLst>
          </p:cNvPr>
          <p:cNvSpPr>
            <a:spLocks noGrp="1"/>
          </p:cNvSpPr>
          <p:nvPr/>
        </p:nvSpPr>
        <p:spPr>
          <a:xfrm>
            <a:off x="2305050" y="4505325"/>
            <a:ext cx="2686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True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617D160-FD99-4118-B5DD-8F678ED4C6D3}"/>
              </a:ext>
            </a:extLst>
          </p:cNvPr>
          <p:cNvSpPr>
            <a:spLocks noGrp="1"/>
          </p:cNvSpPr>
          <p:nvPr/>
        </p:nvSpPr>
        <p:spPr>
          <a:xfrm>
            <a:off x="5124450" y="4343400"/>
            <a:ext cx="6515100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81D25D9-7E7D-4665-AFA1-2AF1EADB8AEC}"/>
              </a:ext>
            </a:extLst>
          </p:cNvPr>
          <p:cNvSpPr>
            <a:spLocks noGrp="1"/>
          </p:cNvSpPr>
          <p:nvPr/>
        </p:nvSpPr>
        <p:spPr>
          <a:xfrm>
            <a:off x="5257800" y="4505325"/>
            <a:ext cx="6248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Flag or condition</a:t>
            </a:r>
          </a:p>
        </p:txBody>
      </p:sp>
    </p:spTree>
    <p:extLst>
      <p:ext uri="{BB962C8B-B14F-4D97-AF65-F5344CB8AC3E}">
        <p14:creationId xmlns:p14="http://schemas.microsoft.com/office/powerpoint/2010/main" val="8892387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45BCB31-AB76-4040-9628-9A1871D8A923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E9E853-D6E4-4911-B5AE-03A7D026AC11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F6864F-A1E9-4EE1-ADB7-386E061A82D8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Financial arithmetic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0E582B-E7CD-4029-864B-A47F080902FF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transparent calculation is easier to audit than a hidden shortcut.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1CC212-0ECE-4FAA-B785-34C14E484E2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4174FA-EF9E-488A-AA31-3D482F2CE2EE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81F60C-6CBB-4EDB-AA2E-DE47F992F906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386621-AECE-4E36-8F5F-5A6857EC96A5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E0BD55-58DC-4876-9DFC-95AD786FCB8A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principal = 10_000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annual_rate = 0.06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years = 2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interest = principal * annual_rate * years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future_value = principal + interest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print(future_value)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79B4AC-0D82-406B-935E-4AC637E6D2AA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43166E-30DA-4959-BED4-9606F94313B2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F84E4C-612F-4988-984F-67EB37A9CB1F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DF8D59-9044-40B5-89E0-07C67BDEB69A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11200.0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5A3DA6-0369-483F-A53E-942A926E1C14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4DA654-33E1-446F-ACCF-5E065C31BA4F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10DEB3-0441-4947-AA30-3C4BAABAEB3D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calculation is simple, but the same convention must remain clear in a larger model.</a:t>
            </a:r>
          </a:p>
        </p:txBody>
      </p:sp>
    </p:spTree>
    <p:extLst>
      <p:ext uri="{BB962C8B-B14F-4D97-AF65-F5344CB8AC3E}">
        <p14:creationId xmlns:p14="http://schemas.microsoft.com/office/powerpoint/2010/main" val="1063345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1EDE43B-01A9-4237-AD55-B0FCE72BE03C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765787-A3C8-4B15-812D-38BB25CFAB2F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FINANCIAL CONVENTIONS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D50237-5C20-465D-9331-E0A05D0A0B1D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percentage is a number with a convention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1A4729-96E2-49A7-B288-1B83434B0616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stored value and the displayed value are not always the same.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16BF30-1D7E-43B3-A117-AFFB299BDBFC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441976-E9AC-48CC-AFDC-8D921F8DE705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740A1C-F038-4BC2-B27F-72BA52A8198A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49604A-C581-477B-A867-CC737D5925C7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DECIMAL RATE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82820D-9DAA-4DE6-BB01-F5048F494842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0.0725 means 7.25% when the code expects a decimal.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1A7697-B7AB-4F4C-8EC5-65F2AE1DDC91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469DFA-F573-43FE-9836-26FF4FC29488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COMMON ERROR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7F6C42-B7D6-43D5-842A-E90A2564778A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Using 7.25 where the formula expects 0.0725 changes the scale of the result by one hundred.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4A2713-2E86-43AA-9501-AC8101E576AF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FA8EC1-FFC4-4058-8783-0868F62C313F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 the unit beside the number whenever the convention matters.</a:t>
            </a:r>
          </a:p>
        </p:txBody>
      </p:sp>
    </p:spTree>
    <p:extLst>
      <p:ext uri="{BB962C8B-B14F-4D97-AF65-F5344CB8AC3E}">
        <p14:creationId xmlns:p14="http://schemas.microsoft.com/office/powerpoint/2010/main" val="2668650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6DA146B6-4FBE-40CC-932D-A24A3F316D46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94A01F-FFFB-4D30-9DD5-551D3B9CB65A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COLLECTIONS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A517BA-F18B-48DE-B0A4-CB901FB154FF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Choose the structure that matches the meaning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F94E7B-624F-41AC-95B2-3165645458C7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Order, mutability, and labels determine the right choice.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077E8B-DCF7-4850-9E1C-A6C195821078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CDFC2A-B340-47CD-99B9-10B1A150ED2A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1595AB-C214-4FCD-B36B-26316DC4257D}"/>
              </a:ext>
            </a:extLst>
          </p:cNvPr>
          <p:cNvSpPr>
            <a:spLocks noGrp="1"/>
          </p:cNvSpPr>
          <p:nvPr/>
        </p:nvSpPr>
        <p:spPr>
          <a:xfrm>
            <a:off x="552450" y="2324100"/>
            <a:ext cx="1809750" cy="476250"/>
          </a:xfrm>
          <a:prstGeom prst="rect">
            <a:avLst/>
          </a:prstGeom>
          <a:solidFill>
            <a:srgbClr val="071A30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8A169C-9401-47B6-AF7D-2455410A206F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5430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3C2896-8F94-4FDD-9705-FA6AE61ED540}"/>
              </a:ext>
            </a:extLst>
          </p:cNvPr>
          <p:cNvSpPr>
            <a:spLocks noGrp="1"/>
          </p:cNvSpPr>
          <p:nvPr/>
        </p:nvSpPr>
        <p:spPr>
          <a:xfrm>
            <a:off x="2362200" y="2324100"/>
            <a:ext cx="3429000" cy="476250"/>
          </a:xfrm>
          <a:prstGeom prst="rect">
            <a:avLst/>
          </a:prstGeom>
          <a:solidFill>
            <a:srgbClr val="071A30"/>
          </a:solidFill>
          <a:ln w="9525">
            <a:solidFill>
              <a:srgbClr val="C9D7E2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80BE82-96E4-4FCE-9B7E-B1932138CE6C}"/>
              </a:ext>
            </a:extLst>
          </p:cNvPr>
          <p:cNvSpPr>
            <a:spLocks noGrp="1"/>
          </p:cNvSpPr>
          <p:nvPr/>
        </p:nvSpPr>
        <p:spPr>
          <a:xfrm>
            <a:off x="2495550" y="2476500"/>
            <a:ext cx="3162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D8C187-AD08-4421-A85E-EEF835FBE0D5}"/>
              </a:ext>
            </a:extLst>
          </p:cNvPr>
          <p:cNvSpPr>
            <a:spLocks noGrp="1"/>
          </p:cNvSpPr>
          <p:nvPr/>
        </p:nvSpPr>
        <p:spPr>
          <a:xfrm>
            <a:off x="5791200" y="2324100"/>
            <a:ext cx="5848350" cy="476250"/>
          </a:xfrm>
          <a:prstGeom prst="rect">
            <a:avLst/>
          </a:prstGeom>
          <a:solidFill>
            <a:srgbClr val="071A30"/>
          </a:solidFill>
          <a:ln w="9525">
            <a:solidFill>
              <a:srgbClr val="C9D7E2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B1AC78-BAEB-4796-9BA6-CBA39C79EB58}"/>
              </a:ext>
            </a:extLst>
          </p:cNvPr>
          <p:cNvSpPr>
            <a:spLocks noGrp="1"/>
          </p:cNvSpPr>
          <p:nvPr/>
        </p:nvSpPr>
        <p:spPr>
          <a:xfrm>
            <a:off x="5924550" y="2476500"/>
            <a:ext cx="55816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F1E2B7-80D6-4B92-90CD-3D0A104ACFAB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809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4A8527-4ABF-420F-849C-D6385945BAC7}"/>
              </a:ext>
            </a:extLst>
          </p:cNvPr>
          <p:cNvSpPr>
            <a:spLocks noGrp="1"/>
          </p:cNvSpPr>
          <p:nvPr/>
        </p:nvSpPr>
        <p:spPr>
          <a:xfrm>
            <a:off x="685800" y="2962275"/>
            <a:ext cx="1543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List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487032-2592-4144-908B-FF030B265F43}"/>
              </a:ext>
            </a:extLst>
          </p:cNvPr>
          <p:cNvSpPr>
            <a:spLocks noGrp="1"/>
          </p:cNvSpPr>
          <p:nvPr/>
        </p:nvSpPr>
        <p:spPr>
          <a:xfrm>
            <a:off x="2362200" y="2800350"/>
            <a:ext cx="3429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44FEAC-818A-4C59-9304-EE1418CB22E2}"/>
              </a:ext>
            </a:extLst>
          </p:cNvPr>
          <p:cNvSpPr>
            <a:spLocks noGrp="1"/>
          </p:cNvSpPr>
          <p:nvPr/>
        </p:nvSpPr>
        <p:spPr>
          <a:xfrm>
            <a:off x="2495550" y="2962275"/>
            <a:ext cx="31623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[0.012, -0.006, 0.009]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073B93-C0B3-4371-8495-5104D4D2F13A}"/>
              </a:ext>
            </a:extLst>
          </p:cNvPr>
          <p:cNvSpPr>
            <a:spLocks noGrp="1"/>
          </p:cNvSpPr>
          <p:nvPr/>
        </p:nvSpPr>
        <p:spPr>
          <a:xfrm>
            <a:off x="5791200" y="2800350"/>
            <a:ext cx="5848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1599B2-E472-41FE-8F88-FCE7842A37AA}"/>
              </a:ext>
            </a:extLst>
          </p:cNvPr>
          <p:cNvSpPr>
            <a:spLocks noGrp="1"/>
          </p:cNvSpPr>
          <p:nvPr/>
        </p:nvSpPr>
        <p:spPr>
          <a:xfrm>
            <a:off x="5924550" y="2962275"/>
            <a:ext cx="55816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Ordered values that may change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4DA015-2D3D-4453-957C-7F4C8BD81044}"/>
              </a:ext>
            </a:extLst>
          </p:cNvPr>
          <p:cNvSpPr>
            <a:spLocks noGrp="1"/>
          </p:cNvSpPr>
          <p:nvPr/>
        </p:nvSpPr>
        <p:spPr>
          <a:xfrm>
            <a:off x="552450" y="3314700"/>
            <a:ext cx="1809750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B39CB9-C0CB-4B9F-9160-EE5C1FB3DB1F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1543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Tuple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96196E-63C3-4A66-85D1-DFE42D36EF28}"/>
              </a:ext>
            </a:extLst>
          </p:cNvPr>
          <p:cNvSpPr>
            <a:spLocks noGrp="1"/>
          </p:cNvSpPr>
          <p:nvPr/>
        </p:nvSpPr>
        <p:spPr>
          <a:xfrm>
            <a:off x="2362200" y="3314700"/>
            <a:ext cx="3429000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FFC3D1-5BFB-49E4-AEA5-46313A1E6E21}"/>
              </a:ext>
            </a:extLst>
          </p:cNvPr>
          <p:cNvSpPr>
            <a:spLocks noGrp="1"/>
          </p:cNvSpPr>
          <p:nvPr/>
        </p:nvSpPr>
        <p:spPr>
          <a:xfrm>
            <a:off x="2495550" y="3476625"/>
            <a:ext cx="31623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(date, return, flag)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04499C-F6B5-4474-9D07-21D2F83DF6A5}"/>
              </a:ext>
            </a:extLst>
          </p:cNvPr>
          <p:cNvSpPr>
            <a:spLocks noGrp="1"/>
          </p:cNvSpPr>
          <p:nvPr/>
        </p:nvSpPr>
        <p:spPr>
          <a:xfrm>
            <a:off x="5791200" y="3314700"/>
            <a:ext cx="5848350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2F8F1A-7F11-4407-9EB1-1AC6858EACEA}"/>
              </a:ext>
            </a:extLst>
          </p:cNvPr>
          <p:cNvSpPr>
            <a:spLocks noGrp="1"/>
          </p:cNvSpPr>
          <p:nvPr/>
        </p:nvSpPr>
        <p:spPr>
          <a:xfrm>
            <a:off x="5924550" y="3476625"/>
            <a:ext cx="55816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Fixed-position record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5861A8-66E8-48D3-9E04-311F180471E8}"/>
              </a:ext>
            </a:extLst>
          </p:cNvPr>
          <p:cNvSpPr>
            <a:spLocks noGrp="1"/>
          </p:cNvSpPr>
          <p:nvPr/>
        </p:nvSpPr>
        <p:spPr>
          <a:xfrm>
            <a:off x="552450" y="3829050"/>
            <a:ext cx="1809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AB0331-1A08-45EB-9714-6CB7CE44F246}"/>
              </a:ext>
            </a:extLst>
          </p:cNvPr>
          <p:cNvSpPr>
            <a:spLocks noGrp="1"/>
          </p:cNvSpPr>
          <p:nvPr/>
        </p:nvSpPr>
        <p:spPr>
          <a:xfrm>
            <a:off x="685800" y="3990975"/>
            <a:ext cx="1543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Dictionary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DBE112-C339-41B6-8F1F-0894AA8144E4}"/>
              </a:ext>
            </a:extLst>
          </p:cNvPr>
          <p:cNvSpPr>
            <a:spLocks noGrp="1"/>
          </p:cNvSpPr>
          <p:nvPr/>
        </p:nvSpPr>
        <p:spPr>
          <a:xfrm>
            <a:off x="2362200" y="3829050"/>
            <a:ext cx="3429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321D412-166F-4F3E-B161-EB9E248FD124}"/>
              </a:ext>
            </a:extLst>
          </p:cNvPr>
          <p:cNvSpPr>
            <a:spLocks noGrp="1"/>
          </p:cNvSpPr>
          <p:nvPr/>
        </p:nvSpPr>
        <p:spPr>
          <a:xfrm>
            <a:off x="2495550" y="3990975"/>
            <a:ext cx="31623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{"balance": 12000}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C9BB03-E576-4899-B5CB-BD1F162B591C}"/>
              </a:ext>
            </a:extLst>
          </p:cNvPr>
          <p:cNvSpPr>
            <a:spLocks noGrp="1"/>
          </p:cNvSpPr>
          <p:nvPr/>
        </p:nvSpPr>
        <p:spPr>
          <a:xfrm>
            <a:off x="5791200" y="3829050"/>
            <a:ext cx="58483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491557-639C-4A7D-A706-9E9E17D65002}"/>
              </a:ext>
            </a:extLst>
          </p:cNvPr>
          <p:cNvSpPr>
            <a:spLocks noGrp="1"/>
          </p:cNvSpPr>
          <p:nvPr/>
        </p:nvSpPr>
        <p:spPr>
          <a:xfrm>
            <a:off x="5924550" y="3990975"/>
            <a:ext cx="55816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Named fields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EC96DC-14C6-4D57-87D5-8533E6621E45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1809750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C0C99F9-FD2F-41C6-A8FF-8069C513560D}"/>
              </a:ext>
            </a:extLst>
          </p:cNvPr>
          <p:cNvSpPr>
            <a:spLocks noGrp="1"/>
          </p:cNvSpPr>
          <p:nvPr/>
        </p:nvSpPr>
        <p:spPr>
          <a:xfrm>
            <a:off x="685800" y="4505325"/>
            <a:ext cx="15430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Set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C34D94-FAA9-4ACE-9D75-2858637E8099}"/>
              </a:ext>
            </a:extLst>
          </p:cNvPr>
          <p:cNvSpPr>
            <a:spLocks noGrp="1"/>
          </p:cNvSpPr>
          <p:nvPr/>
        </p:nvSpPr>
        <p:spPr>
          <a:xfrm>
            <a:off x="2362200" y="4343400"/>
            <a:ext cx="3429000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F31D17E-6BEC-48FD-BC36-01ECEAE309BC}"/>
              </a:ext>
            </a:extLst>
          </p:cNvPr>
          <p:cNvSpPr>
            <a:spLocks noGrp="1"/>
          </p:cNvSpPr>
          <p:nvPr/>
        </p:nvSpPr>
        <p:spPr>
          <a:xfrm>
            <a:off x="2495550" y="4505325"/>
            <a:ext cx="31623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{"Prime", "Retail"}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4073F09-8230-423F-95C7-D0E4DE395664}"/>
              </a:ext>
            </a:extLst>
          </p:cNvPr>
          <p:cNvSpPr>
            <a:spLocks noGrp="1"/>
          </p:cNvSpPr>
          <p:nvPr/>
        </p:nvSpPr>
        <p:spPr>
          <a:xfrm>
            <a:off x="5791200" y="4343400"/>
            <a:ext cx="5848350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6E8322F-6258-4642-9E63-27F991E6F68B}"/>
              </a:ext>
            </a:extLst>
          </p:cNvPr>
          <p:cNvSpPr>
            <a:spLocks noGrp="1"/>
          </p:cNvSpPr>
          <p:nvPr/>
        </p:nvSpPr>
        <p:spPr>
          <a:xfrm>
            <a:off x="5924550" y="4505325"/>
            <a:ext cx="55816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Unique values</a:t>
            </a:r>
          </a:p>
        </p:txBody>
      </p:sp>
    </p:spTree>
    <p:extLst>
      <p:ext uri="{BB962C8B-B14F-4D97-AF65-F5344CB8AC3E}">
        <p14:creationId xmlns:p14="http://schemas.microsoft.com/office/powerpoint/2010/main" val="14846724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611C91A-3F66-4BD2-B0F7-613C85C9A265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D878D6-78C1-4E86-8022-A7B0B5A9D7FF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COLLECTIONS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9436E9-7B27-4FB3-9C3C-B2646A3E6614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Lists and tuples preserve position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1334A3-7F0B-4174-88A8-2532AE295F62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Both structures are ordered, but they communicate different intentions.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2FD661-1BCB-4D70-91F6-5AEE93DE0E03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63C860-9469-40E4-9DA7-96E65BB3E1D0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AADFDE-798C-40AD-BAC0-A35B91006EEA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201361-F60E-439E-B74A-FC3E02DEB75E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LIST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A1C9B0-D0FD-4ACA-B690-695DCC533556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Use a list for a sequence that may change, such as monthly returns collected during a loop.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F52765-62BB-4F86-9E61-A5C7ECCC55B4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CF13BD-2F41-48AA-B889-5E7885049CEE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TUPLE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DD5540-3414-4F7D-86FD-1AACDF28EB72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Use a tuple for a fixed record, such as (date, return, default_flag) where the positions have a stable meaning.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F29BF3-42FB-4C61-AE8C-08C80E5F4E87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E3256B-78AF-4F4E-9895-4F2020E1E088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Choose the structure that tells the reader whether change is expected.</a:t>
            </a:r>
          </a:p>
        </p:txBody>
      </p:sp>
    </p:spTree>
    <p:extLst>
      <p:ext uri="{BB962C8B-B14F-4D97-AF65-F5344CB8AC3E}">
        <p14:creationId xmlns:p14="http://schemas.microsoft.com/office/powerpoint/2010/main" val="10876936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039EE8D-C659-4698-B0EE-EF2056606AC4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82ABC1-840E-41A5-9EF2-C888B2D95EDD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COLLECTIONS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3C2D23-FA62-49B2-8867-03DC28E21509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Dictionaries and sets solve different problems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3EF2E9-49E9-4D43-943F-9FD348B14931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Labels and uniqueness are more important than position in these structures.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1B1836-CD7E-4A0B-9B3C-52BB6E5BD4CD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54E99D-03C4-499D-891D-AF6E26F21C72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D9E7BC-89A7-48F9-A6EB-D04D4BACF78F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C0939E-F498-44E0-92AD-BA1F1C7995AD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DICTIONARY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55D3D3-0000-44E8-9BB6-67E3B0629973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Use named keys when values have different meanings or units, such as balance, term_months, and segment.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692321-DD3D-4491-B554-45B59D5E917C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B6D51F-479D-4C9B-8036-22821D12198F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85CD77-F8EF-449B-8EB2-F91F18A0E167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Use a set when only unique membership matters, such as the distinct borrower segments present in a table.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49CF20-F952-47C4-885F-4F48014BC404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16F59B-86E6-431F-A186-AC095AD00189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set removes duplicates. A dictionary preserves explicit labels.</a:t>
            </a:r>
          </a:p>
        </p:txBody>
      </p:sp>
    </p:spTree>
    <p:extLst>
      <p:ext uri="{BB962C8B-B14F-4D97-AF65-F5344CB8AC3E}">
        <p14:creationId xmlns:p14="http://schemas.microsoft.com/office/powerpoint/2010/main" val="16850068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99CBC46-FBB9-4807-B85B-F7D50FC87F14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494D5D-8A0C-4730-A825-9F178ECF1915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COLLECTIONS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B48D1C-3800-41A3-8FE7-E082B473381A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Copying prevents accidental changes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0CB425-D292-440A-82A7-022E0CF59FED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Two names can refer to the same mutable list unless a copy is requested.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56E72C-0936-4E43-BCF9-48DBD1ED0139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68F327-AC4C-427C-BEC9-156D81D0BEC0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F75039-7D2D-4011-863C-00135ADEC408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F10869-B845-4131-A19C-B32FE813D2B6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SHARED OBJECT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614D14-E85A-4389-99A2-9A866EB8912D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If b = a and a changes, b sees the change because both names refer to the same list.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FB806D-C44C-4CF0-A5EA-91CDF15C4263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16F846-2FD4-49E6-9441-7FEF05840BC5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INDEPENDENT OBJECT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520ED9-D191-4E5A-8172-D16BC1148C40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Use b = a.copy() when the new sequence should change independently from the original.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7E6410-8689-45B3-8BA4-C68FED648E0E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83CB33-CAF0-4256-B97B-86176D110167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distinction matters when transforming feature lists or return histories.</a:t>
            </a:r>
          </a:p>
        </p:txBody>
      </p:sp>
    </p:spTree>
    <p:extLst>
      <p:ext uri="{BB962C8B-B14F-4D97-AF65-F5344CB8AC3E}">
        <p14:creationId xmlns:p14="http://schemas.microsoft.com/office/powerpoint/2010/main" val="285486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DF8CC74-D00C-488F-89C1-40423E1DA98F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F1E18-F47B-4208-8E76-DD60856E0422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57F9E1-DBE3-4090-A843-9A604C901AA3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Indexing and slicing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FD7F35-A92B-4FDE-A986-220644E2FDD3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Select one observation or a contiguous window.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6CF4FE-102E-46A7-80A1-0318DABD295F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3C9715-28BB-4F62-BD15-60E9D1F8EDA8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6529C1-76BA-4A88-ADA4-7F35048A9332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448B7A-9FA9-431B-87FC-7F6B79450493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CB0D75-3290-4B27-8313-6BC76FF36881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returns = [0.012, -0.006, 0.009, 0.004]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print(returns[0])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print(returns[-1])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print(returns[1:3])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172EDF-2D9A-41BB-B671-F5170B283E5D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EFCE85-2550-4B46-A876-A1D7682EB18D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244C1-9B8C-4D7B-B4D7-792360801549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14C0E2-97A9-4F49-9058-4C3C0ECCBA50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0.012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0.004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[-0.006, 0.009]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A81ADD-3E68-4AC2-9D21-1C5777C09B78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335A6A-2395-43B2-98FC-C9751C29A465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2B2EBF-69C9-4FCE-8DCC-BA9088FD9D2C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Indexing starts at zero. Slicing creates a new view of the sequence.</a:t>
            </a:r>
          </a:p>
        </p:txBody>
      </p:sp>
    </p:spTree>
    <p:extLst>
      <p:ext uri="{BB962C8B-B14F-4D97-AF65-F5344CB8AC3E}">
        <p14:creationId xmlns:p14="http://schemas.microsoft.com/office/powerpoint/2010/main" val="18305710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59E2077-1A79-4354-875C-F5E0AEE56C6B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10BAF2-F814-4C7D-808F-D24EE0AE611F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37B0AF-51EA-4C45-B1AB-373D286DCC7C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labelled financial record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68E66B-C11B-4A7C-AEEF-AF41ACB6BB10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dictionary makes the role of each value explicit.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836729-C236-45B5-925A-2A2F85CFDF55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265DC6-1BBC-4F6C-A761-A92FC7BA135C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D0A1DC-FE83-4498-89F4-93DE265121C3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007921-E9FF-4E23-ACB1-2965378C507B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0FCBC3-7246-43A6-BBBC-FFFAC317EC60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loan = {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"balance": 12_000,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"term_months": 36,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"segment": "Prime"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print(loan["balance"])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print(loan["segment"])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85E034-E586-4F08-B079-065DAFA73C8A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E947E7-FDBD-4EB9-BD23-764EC80219A3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06AF6C-F1F2-4E76-B63A-5F2CCFE89818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8EB706-00AF-4E12-A598-FDBD286A9F29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12000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Prime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4D0391-777A-4041-993B-73CA41608956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171097-E282-4A26-969D-CF1B5C4622CC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15E058-80B2-40BC-AAB2-665B511E187A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Labels reduce ambiguity when a record contains values with different units.</a:t>
            </a:r>
          </a:p>
        </p:txBody>
      </p:sp>
    </p:spTree>
    <p:extLst>
      <p:ext uri="{BB962C8B-B14F-4D97-AF65-F5344CB8AC3E}">
        <p14:creationId xmlns:p14="http://schemas.microsoft.com/office/powerpoint/2010/main" val="1391758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EAEC74C8-E98B-49FE-9213-B295A65CE0BC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D14D89-26EB-4141-9A39-6C46DE49EACB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CONTROL 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9501A3-58D7-4454-B117-0E618F61B865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rule becomes code through a condition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29EED9-48CF-4A9F-A5F3-52F8E22C6885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structure mirrors a decision rule used in finance.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152ED6-A7C5-4C76-83E2-14DB481CFC29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E325E9-FE01-4EA8-8383-5CAE797C0672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78D9B2-BC57-499A-869D-28BD9005639B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BA9A01-9DB8-4410-ACD3-C2130E7C81B0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476500" cy="76200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26560DC-5964-4074-89BC-2FD98DF5A26B}"/>
              </a:ext>
            </a:extLst>
          </p:cNvPr>
          <p:cNvSpPr>
            <a:spLocks noGrp="1"/>
          </p:cNvSpPr>
          <p:nvPr/>
        </p:nvSpPr>
        <p:spPr>
          <a:xfrm>
            <a:off x="723900" y="2800350"/>
            <a:ext cx="400050" cy="400050"/>
          </a:xfrm>
          <a:prstGeom prst="ellipse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4C735C-85ED-401E-ABA0-308D3B0AB0D4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CB37E8-0393-4678-809F-5E781ED08120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7DE2A4CD-3601-4A80-9FA1-87346BB38DD7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4CBD4F-4BF3-48DE-9873-3F34C7433728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Read the value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DE324F-BE19-4D09-9635-32BDFE8CBAA4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4B1C8A-FF99-4771-9C4B-1AF6BBAC6C9C}"/>
              </a:ext>
            </a:extLst>
          </p:cNvPr>
          <p:cNvSpPr>
            <a:spLocks noGrp="1"/>
          </p:cNvSpPr>
          <p:nvPr/>
        </p:nvSpPr>
        <p:spPr>
          <a:xfrm>
            <a:off x="72390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read a probability of default such as 0.08.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0C8B95-FCA8-4482-B272-7DDE12F51856}"/>
              </a:ext>
            </a:extLst>
          </p:cNvPr>
          <p:cNvSpPr>
            <a:spLocks noGrp="1"/>
          </p:cNvSpPr>
          <p:nvPr/>
        </p:nvSpPr>
        <p:spPr>
          <a:xfrm>
            <a:off x="320040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18CF4D-885A-4C9B-A655-2198C19FC87E}"/>
              </a:ext>
            </a:extLst>
          </p:cNvPr>
          <p:cNvSpPr>
            <a:spLocks noGrp="1"/>
          </p:cNvSpPr>
          <p:nvPr/>
        </p:nvSpPr>
        <p:spPr>
          <a:xfrm>
            <a:off x="3200400" y="2571750"/>
            <a:ext cx="2476500" cy="762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D89934B-0EF6-4C52-8EE5-B200AE0EEABB}"/>
              </a:ext>
            </a:extLst>
          </p:cNvPr>
          <p:cNvSpPr>
            <a:spLocks noGrp="1"/>
          </p:cNvSpPr>
          <p:nvPr/>
        </p:nvSpPr>
        <p:spPr>
          <a:xfrm>
            <a:off x="3371850" y="2800350"/>
            <a:ext cx="400050" cy="400050"/>
          </a:xfrm>
          <a:prstGeom prst="ellipse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15DC75-1CCB-4A0B-AF84-0352C360AFF1}"/>
              </a:ext>
            </a:extLst>
          </p:cNvPr>
          <p:cNvSpPr>
            <a:spLocks noGrp="1"/>
          </p:cNvSpPr>
          <p:nvPr/>
        </p:nvSpPr>
        <p:spPr>
          <a:xfrm>
            <a:off x="337185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C9F3F0-7730-4B8D-A181-CF6AE267A1B4}"/>
              </a:ext>
            </a:extLst>
          </p:cNvPr>
          <p:cNvSpPr>
            <a:spLocks noGrp="1"/>
          </p:cNvSpPr>
          <p:nvPr/>
        </p:nvSpPr>
        <p:spPr>
          <a:xfrm>
            <a:off x="390525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Condition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B48CB84E-04D8-4772-A465-141ECF93B627}"/>
              </a:ext>
            </a:extLst>
          </p:cNvPr>
          <p:cNvSpPr>
            <a:spLocks noGrp="1"/>
          </p:cNvSpPr>
          <p:nvPr/>
        </p:nvSpPr>
        <p:spPr>
          <a:xfrm>
            <a:off x="337185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AC52D2-B204-48BE-A53A-B2303C5F8459}"/>
              </a:ext>
            </a:extLst>
          </p:cNvPr>
          <p:cNvSpPr>
            <a:spLocks noGrp="1"/>
          </p:cNvSpPr>
          <p:nvPr/>
        </p:nvSpPr>
        <p:spPr>
          <a:xfrm>
            <a:off x="337185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Evaluate the rule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7B8E65-362B-4EDA-9F61-33567B3A0912}"/>
              </a:ext>
            </a:extLst>
          </p:cNvPr>
          <p:cNvSpPr>
            <a:spLocks noGrp="1"/>
          </p:cNvSpPr>
          <p:nvPr/>
        </p:nvSpPr>
        <p:spPr>
          <a:xfrm>
            <a:off x="337185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B8C868-D0DE-49CD-82B3-E198BF23AE4B}"/>
              </a:ext>
            </a:extLst>
          </p:cNvPr>
          <p:cNvSpPr>
            <a:spLocks noGrp="1"/>
          </p:cNvSpPr>
          <p:nvPr/>
        </p:nvSpPr>
        <p:spPr>
          <a:xfrm>
            <a:off x="337185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test whether the probability is below 0.02 or 0.08.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8FA612-1D62-4E2E-9244-E77C58B54D66}"/>
              </a:ext>
            </a:extLst>
          </p:cNvPr>
          <p:cNvSpPr>
            <a:spLocks noGrp="1"/>
          </p:cNvSpPr>
          <p:nvPr/>
        </p:nvSpPr>
        <p:spPr>
          <a:xfrm>
            <a:off x="584835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6E8F2E-DFDD-4D71-87BE-0E842D29E9C0}"/>
              </a:ext>
            </a:extLst>
          </p:cNvPr>
          <p:cNvSpPr>
            <a:spLocks noGrp="1"/>
          </p:cNvSpPr>
          <p:nvPr/>
        </p:nvSpPr>
        <p:spPr>
          <a:xfrm>
            <a:off x="5848350" y="2571750"/>
            <a:ext cx="2476500" cy="762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94DAB1F-C20C-4A47-86D6-C501096FCF6F}"/>
              </a:ext>
            </a:extLst>
          </p:cNvPr>
          <p:cNvSpPr>
            <a:spLocks noGrp="1"/>
          </p:cNvSpPr>
          <p:nvPr/>
        </p:nvSpPr>
        <p:spPr>
          <a:xfrm>
            <a:off x="6019800" y="2800350"/>
            <a:ext cx="400050" cy="400050"/>
          </a:xfrm>
          <a:prstGeom prst="ellipse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FD2AE1B-F7F6-4856-9D3F-7B14866B173C}"/>
              </a:ext>
            </a:extLst>
          </p:cNvPr>
          <p:cNvSpPr>
            <a:spLocks noGrp="1"/>
          </p:cNvSpPr>
          <p:nvPr/>
        </p:nvSpPr>
        <p:spPr>
          <a:xfrm>
            <a:off x="601980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D32D36-7F2C-4721-B46E-AA299FC82776}"/>
              </a:ext>
            </a:extLst>
          </p:cNvPr>
          <p:cNvSpPr>
            <a:spLocks noGrp="1"/>
          </p:cNvSpPr>
          <p:nvPr/>
        </p:nvSpPr>
        <p:spPr>
          <a:xfrm>
            <a:off x="655320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Branch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5C881139-D1F4-444F-8430-BF4A089DC762}"/>
              </a:ext>
            </a:extLst>
          </p:cNvPr>
          <p:cNvSpPr>
            <a:spLocks noGrp="1"/>
          </p:cNvSpPr>
          <p:nvPr/>
        </p:nvSpPr>
        <p:spPr>
          <a:xfrm>
            <a:off x="601980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F77220-5E19-4265-8833-9729D527984A}"/>
              </a:ext>
            </a:extLst>
          </p:cNvPr>
          <p:cNvSpPr>
            <a:spLocks noGrp="1"/>
          </p:cNvSpPr>
          <p:nvPr/>
        </p:nvSpPr>
        <p:spPr>
          <a:xfrm>
            <a:off x="601980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Choose the path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38BC1E-C36C-43F6-A096-6EAC37A06503}"/>
              </a:ext>
            </a:extLst>
          </p:cNvPr>
          <p:cNvSpPr>
            <a:spLocks noGrp="1"/>
          </p:cNvSpPr>
          <p:nvPr/>
        </p:nvSpPr>
        <p:spPr>
          <a:xfrm>
            <a:off x="601980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6362354-974A-4DFE-8B4E-08BC02D7D966}"/>
              </a:ext>
            </a:extLst>
          </p:cNvPr>
          <p:cNvSpPr>
            <a:spLocks noGrp="1"/>
          </p:cNvSpPr>
          <p:nvPr/>
        </p:nvSpPr>
        <p:spPr>
          <a:xfrm>
            <a:off x="601980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assign low, medium, or high risk according to the rule.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04FFECD-5D43-415C-AA1D-2F386655EB36}"/>
              </a:ext>
            </a:extLst>
          </p:cNvPr>
          <p:cNvSpPr>
            <a:spLocks noGrp="1"/>
          </p:cNvSpPr>
          <p:nvPr/>
        </p:nvSpPr>
        <p:spPr>
          <a:xfrm>
            <a:off x="849630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0D39291-74FF-4D27-9E95-2329545E0C5E}"/>
              </a:ext>
            </a:extLst>
          </p:cNvPr>
          <p:cNvSpPr>
            <a:spLocks noGrp="1"/>
          </p:cNvSpPr>
          <p:nvPr/>
        </p:nvSpPr>
        <p:spPr>
          <a:xfrm>
            <a:off x="8496300" y="2571750"/>
            <a:ext cx="2476500" cy="76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F5290E4-9364-479C-BEDD-1BEAB5416482}"/>
              </a:ext>
            </a:extLst>
          </p:cNvPr>
          <p:cNvSpPr>
            <a:spLocks noGrp="1"/>
          </p:cNvSpPr>
          <p:nvPr/>
        </p:nvSpPr>
        <p:spPr>
          <a:xfrm>
            <a:off x="8667750" y="2800350"/>
            <a:ext cx="400050" cy="400050"/>
          </a:xfrm>
          <a:prstGeom prst="ellipse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62D9BBE-2BB2-4179-AB4C-E66C213A8D2C}"/>
              </a:ext>
            </a:extLst>
          </p:cNvPr>
          <p:cNvSpPr>
            <a:spLocks noGrp="1"/>
          </p:cNvSpPr>
          <p:nvPr/>
        </p:nvSpPr>
        <p:spPr>
          <a:xfrm>
            <a:off x="866775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AD8957-F9B6-4E55-928B-63BF16F160C5}"/>
              </a:ext>
            </a:extLst>
          </p:cNvPr>
          <p:cNvSpPr>
            <a:spLocks noGrp="1"/>
          </p:cNvSpPr>
          <p:nvPr/>
        </p:nvSpPr>
        <p:spPr>
          <a:xfrm>
            <a:off x="920115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FD488312-AA40-4A6C-BCEE-BA59C9A18D85}"/>
              </a:ext>
            </a:extLst>
          </p:cNvPr>
          <p:cNvSpPr>
            <a:spLocks noGrp="1"/>
          </p:cNvSpPr>
          <p:nvPr/>
        </p:nvSpPr>
        <p:spPr>
          <a:xfrm>
            <a:off x="866775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EDE0CB8-2E96-4E10-A1EF-04054C69550F}"/>
              </a:ext>
            </a:extLst>
          </p:cNvPr>
          <p:cNvSpPr>
            <a:spLocks noGrp="1"/>
          </p:cNvSpPr>
          <p:nvPr/>
        </p:nvSpPr>
        <p:spPr>
          <a:xfrm>
            <a:off x="866775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Store the label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4671682-581E-495E-BAC1-0100A2EC3480}"/>
              </a:ext>
            </a:extLst>
          </p:cNvPr>
          <p:cNvSpPr>
            <a:spLocks noGrp="1"/>
          </p:cNvSpPr>
          <p:nvPr/>
        </p:nvSpPr>
        <p:spPr>
          <a:xfrm>
            <a:off x="866775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26239C3-0D30-4506-9FD8-8F286136C177}"/>
              </a:ext>
            </a:extLst>
          </p:cNvPr>
          <p:cNvSpPr>
            <a:spLocks noGrp="1"/>
          </p:cNvSpPr>
          <p:nvPr/>
        </p:nvSpPr>
        <p:spPr>
          <a:xfrm>
            <a:off x="866775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store the label and print it for inspection.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8275530-75D4-4A56-A754-754DDBD00185}"/>
              </a:ext>
            </a:extLst>
          </p:cNvPr>
          <p:cNvSpPr>
            <a:spLocks noGrp="1"/>
          </p:cNvSpPr>
          <p:nvPr/>
        </p:nvSpPr>
        <p:spPr>
          <a:xfrm>
            <a:off x="552450" y="5162550"/>
            <a:ext cx="11087100" cy="51435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AA76E1B-CC07-4DBE-93D8-49BCBF83214D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10706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Write the rule in plain language before translating it into Python.</a:t>
            </a:r>
          </a:p>
        </p:txBody>
      </p:sp>
    </p:spTree>
    <p:extLst>
      <p:ext uri="{BB962C8B-B14F-4D97-AF65-F5344CB8AC3E}">
        <p14:creationId xmlns:p14="http://schemas.microsoft.com/office/powerpoint/2010/main" val="15867646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2848446-B6B2-4093-AF04-31786805671D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BB6238-F382-4891-8FA6-54BF4D5019B5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CONTROL 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212C04-61D7-4225-B125-8E37F308BAC9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Indentation defines the branch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D687FC-A80F-4579-807C-3C7CFD6A1136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Python uses indentation to show which statements belong to a condition.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7F9D3F-C8E6-4052-B877-0966DAA3017D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AF90D0-F22B-42DF-9D3F-2F36A159E152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9F2B66-B831-428B-9B92-E0B15907508F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EBA94A-059D-4A3B-B172-00638C2EC227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READABLE RULE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22898D-A7CD-4061-ABD6-022071CA3C48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indented block runs only when its condition is true. elif tests the next condition only when earlier tests failed.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00BF19-791A-4C3D-83D5-EEC85E76A407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C63A29-3FB6-4F5F-9C2B-AB5450C17B22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COMMON FAILURE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ADAFC0-F011-4576-B18C-46014F0D6CC0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Inconsistent indentation or overlapping thresholds can assign the wrong risk band without producing an obvious error.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34B94C-1160-474C-AF41-14E830111322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9D12F4-12B5-4C99-B14D-59472E949CDF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Check boundary values explicitly: below, exactly at, and above each threshold.</a:t>
            </a:r>
          </a:p>
        </p:txBody>
      </p:sp>
    </p:spTree>
    <p:extLst>
      <p:ext uri="{BB962C8B-B14F-4D97-AF65-F5344CB8AC3E}">
        <p14:creationId xmlns:p14="http://schemas.microsoft.com/office/powerpoint/2010/main" val="7197094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48109A6-FDA3-4AEB-88AE-FCD2417FED4D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1CFFCC-FD34-4E50-88A2-8D3194556D67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F1E0AC-6D51-4CF4-BB1D-790D29DC8258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Combine conditions carefully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7E0119-E63F-4076-8997-495FF35CC1AE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Boolean operators make a rule more precise, but the logic must match the financial policy.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8B0BD2-8459-4CF6-B369-08C6DF2B74BD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15A482-4017-4C3C-AAB9-C448B4E53628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B1E77D-BD6D-46CB-BF54-83B0CCC60876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D9E0AF-01D8-4728-8C7C-8F7AB9D78286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E5411D-1A59-4689-9072-76F746772B3F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income = 42_000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existing_debt = 8_000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eligible = (income &gt;= 30_000) and (existing_debt &lt; 10_000)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review = (income &lt; 30_000) or (existing_debt &gt;= 10_000)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print(eligible)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print(review)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3F6E7B-11CA-4E0B-B6A0-2CB7946363E0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26AC9A-C0EB-432C-8264-107A134E0D97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228D96-F8CD-4B08-82C7-712E786500A9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48436B-1F45-45D7-B52D-ADBE4DE8FD93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True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False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3A033B-F4B3-4CDF-A7E9-8D1691A0CE0C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268A82-B001-4343-A9D4-CADD844D4273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DD6FB9-955B-4640-8A0F-1F243B006216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Parentheses expose the two tests. A rule should be checked at its boundary cases before it is used on a dataset.</a:t>
            </a:r>
          </a:p>
        </p:txBody>
      </p:sp>
    </p:spTree>
    <p:extLst>
      <p:ext uri="{BB962C8B-B14F-4D97-AF65-F5344CB8AC3E}">
        <p14:creationId xmlns:p14="http://schemas.microsoft.com/office/powerpoint/2010/main" val="12756355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6E8E2B8-3E2A-40B5-82CA-3A55882AA16F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661BD9-DB3F-47D6-86C3-D4ADEE5F0CDD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FC5567-9C04-4D0F-9278-BDFB07A51255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Classify a risk band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7B1FCB-F259-4873-BDFC-2556169F68AC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order of conditions matters.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EB9A8A-E59F-4F7C-BC2C-0BC486F8B139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9DC263-EAC7-473B-9C1E-61AF69B5B210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48B557-5723-49F1-B7F3-2A3820D1CD8D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F5E052-F730-401C-8A74-898282A687D5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B1130E-A330-4398-976F-FD75918BD077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pd = 0.08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if pd &lt; 0.02: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band = "low"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elif pd &lt; 0.08: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band = "medium"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else: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band = "high"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print(band)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03CB57-2D96-402C-BC21-DDD4FD158E10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FD70F8-F81C-4F9F-9269-216F89A2969D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A2D56F-310B-4A13-A575-0C6A4F5D850E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35BE61-1697-46CC-A076-74C66705B073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high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A1E23A-434B-4B72-BD5F-B6FE0C89AFDC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EE8AE9-26CD-475B-81DE-15C45A1E8BA0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57C7E7-CD75-4594-A530-072FF0A05F66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boundary at 0.08 belongs to the final branch because the second condition is strict.</a:t>
            </a:r>
          </a:p>
        </p:txBody>
      </p:sp>
    </p:spTree>
    <p:extLst>
      <p:ext uri="{BB962C8B-B14F-4D97-AF65-F5344CB8AC3E}">
        <p14:creationId xmlns:p14="http://schemas.microsoft.com/office/powerpoint/2010/main" val="9639318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838D8B8-0A87-488F-AE95-F1846142D076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CA2E5F-6103-48B8-8284-88CB00234FA4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A22851-8A23-4A24-8A4B-292D5E527845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Loop through returns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7419EB-FEAE-4D3D-ADCE-184F162F6A7F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enumerate() keeps the position and value together.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5D0502-599A-4E33-9BCF-5F60E0954796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2AD5A4-F93C-4FD7-BFC9-49FA5423D22F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A8B69-D663-4559-BC2F-1C6922AE04CE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0D1DFD-E70C-488D-8405-D80122E22E4E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73B723-6A8A-4078-B489-7C5007637849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returns = [0.012, -0.006, 0.009]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for month, value in enumerate(returns, start=1):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print(month, value)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C69BEA-B12A-49FD-9783-DE611F37EB14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A4285B-95DA-4A64-ADFE-42BBCCA18090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6A10C6-83BB-41FF-88AC-50F865A8477B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402A77-19CC-4A13-AB95-C92A57C37CC3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1 0.012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2 -0.006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3 0.009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732160-E0CB-47A6-921A-5C608DD7554E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E92507-BA41-4539-9918-7DACC194E893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CC97A8-D0DC-45FD-AD2F-2A8B3DAE68D2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loop makes the repeated operation explicit without copying code.</a:t>
            </a:r>
          </a:p>
        </p:txBody>
      </p:sp>
    </p:spTree>
    <p:extLst>
      <p:ext uri="{BB962C8B-B14F-4D97-AF65-F5344CB8AC3E}">
        <p14:creationId xmlns:p14="http://schemas.microsoft.com/office/powerpoint/2010/main" val="3080514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472A531-003E-4EBD-ADB2-D6F8DADD70A1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EE05DC-39F6-4C62-94C6-DA8DEBE3C447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5B4439-601D-42CD-AB5A-2738DB914828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Pair two financial sequences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1C6516-C14E-46F2-A5CF-CCD44108C5B0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zip() makes a position-by-position comparison readable.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A537BA-14F8-4DF6-B5DC-C472E23F4493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55305F-CC37-4B94-AA3C-3620C75C2FC9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168A2A-4F71-40F6-99BC-C5BDD89997CC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6A0FB7-FFD0-4134-8110-633FDA1C7AE3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7B395C-A638-463E-AF86-609593D34B3B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actual = [0.02, -0.01, 0.03]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forecast = [0.01, -0.02, 0.02]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for observed, predicted in zip(actual, forecast):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error = observed - predicted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print(round(error, 3))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D635E7-18F7-40A6-A053-3D8587D8FE5B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782E4E-E018-4CE8-8EB3-66A8ABB87C16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36E51E-0000-432F-A959-0A536E5EF911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BB9A4B-C0FD-4B81-807B-FB3DDDDE27EF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0.01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0.01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0.01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44EB62-93F3-41AD-A48A-01A6261D1EF6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C1BC25-B825-4C60-AAD3-5C4C9B276829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C9758F-CC98-4109-AD3A-01982B3209F5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loop compares aligned observations. In a DataFrame, the same alignment must be checked through the index or date.</a:t>
            </a:r>
          </a:p>
        </p:txBody>
      </p:sp>
    </p:spTree>
    <p:extLst>
      <p:ext uri="{BB962C8B-B14F-4D97-AF65-F5344CB8AC3E}">
        <p14:creationId xmlns:p14="http://schemas.microsoft.com/office/powerpoint/2010/main" val="12417683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DDB8CAE-5C81-4AD5-B959-564172308AC8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959C4F-C1E9-45B7-83ED-ACB457C9B881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14A502-B3F4-40F5-B5D9-4812321D7162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Use a guard in a while loop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DDEB77-1C49-43EC-9670-50C2D2B37211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while loop needs a condition that can eventually stop.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1FE901-E703-4C36-8FE2-497FE3803C8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DD69EE-40A9-4161-A3B3-63CA5928CB7A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7B6850-0529-4938-A151-78398992C7CA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2EF0BF-E7E0-4407-ADEA-D6E995DBAEDB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44219B-E775-4B8B-A995-0BBEB827BB83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balance = 1000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months = 0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while balance &gt; 0 and months &lt; 3: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balance -= 250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months += 1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print(balance, months)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D84B51-9378-45B1-ACD5-EAFC5CF3F8A0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F935D9-E30F-40DF-B164-BBED46CE50EE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4DE6F4-A423-43E2-9802-E3875B3FC51C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C2BFB4-6403-463A-95EE-8501855A7BAD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250 3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EBECC0-BDC4-42BC-AA13-6985E69B3F3D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481FD7-270C-4942-BB03-53D79AB7C2F8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4D629A-31A1-4A1D-9C98-DC10D5A1050C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second condition protects the calculation from running indefinitely.</a:t>
            </a:r>
          </a:p>
        </p:txBody>
      </p:sp>
    </p:spTree>
    <p:extLst>
      <p:ext uri="{BB962C8B-B14F-4D97-AF65-F5344CB8AC3E}">
        <p14:creationId xmlns:p14="http://schemas.microsoft.com/office/powerpoint/2010/main" val="10077659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AD66E4C-8A0A-4E48-8FF0-A002170B8ECF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055478-8A01-401C-8E7B-7EB7F8BAB1BB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CONTROL 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F9C275-4595-4462-9087-0F1EC302FAE9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Debug repeated logic by checking one iteration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C26534-BC06-4EE6-8744-53CA4C5CB801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When a loop produces an unexpected result, inspect the input, the intermediate value, and the updated state.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7B9F8-01DB-4B20-B6C0-7B7D696F523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15809F-363B-46A1-B0A2-273DB4F5F469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DDECD8-6BC6-41FD-9B41-1480E9220022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CFE91F-747E-4438-9AE1-7FA9904C500F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TRACE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7222A6-88BD-451C-A937-855779258BE5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Print the index and the value for a small sample before running the loop over the full dataset.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A4EB54-D3AC-4282-80BB-73AE40700C52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502C61-33EF-4717-9B74-0D891E4CE874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PROTECT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1379A4-4875-4124-8F8A-546E656D9EEA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Add a stopping condition, assert the expected type, and test an empty or boundary case.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E63B77-1884-450C-8CAF-8950CB76680E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43552F-9301-4DF7-9843-A1F2C68A5110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small controlled example is often faster to understand than a large output table.</a:t>
            </a:r>
          </a:p>
        </p:txBody>
      </p:sp>
    </p:spTree>
    <p:extLst>
      <p:ext uri="{BB962C8B-B14F-4D97-AF65-F5344CB8AC3E}">
        <p14:creationId xmlns:p14="http://schemas.microsoft.com/office/powerpoint/2010/main" val="2865335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4696C39-1980-4400-BAA1-EB64C7AAEB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76E44B-C246-48F1-BFAD-3944647BF710}"/>
              </a:ext>
            </a:extLst>
          </p:cNvPr>
          <p:cNvSpPr>
            <a:spLocks noGrp="1"/>
          </p:cNvSpPr>
          <p:nvPr/>
        </p:nvSpPr>
        <p:spPr>
          <a:xfrm>
            <a:off x="7715250" y="800100"/>
            <a:ext cx="314325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2750" b="1" i="0">
                <a:solidFill>
                  <a:srgbClr val="102D49"/>
                </a:solidFill>
                <a:latin typeface="Aptos"/>
                <a:ea typeface="Aptos"/>
                <a:cs typeface="Aptos"/>
              </a:defRPr>
            </a:pPr>
            <a:r>
              <a:rPr sz="12750" b="1" i="0">
                <a:solidFill>
                  <a:srgbClr val="102D4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5482DB-A67C-440E-8292-F0731630C417}"/>
              </a:ext>
            </a:extLst>
          </p:cNvPr>
          <p:cNvSpPr>
            <a:spLocks noGrp="1"/>
          </p:cNvSpPr>
          <p:nvPr/>
        </p:nvSpPr>
        <p:spPr>
          <a:xfrm>
            <a:off x="762000" y="1200150"/>
            <a:ext cx="876300" cy="47625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204E78-2A78-42BD-9F1C-DCFCBF1FA87A}"/>
              </a:ext>
            </a:extLst>
          </p:cNvPr>
          <p:cNvSpPr>
            <a:spLocks noGrp="1"/>
          </p:cNvSpPr>
          <p:nvPr/>
        </p:nvSpPr>
        <p:spPr>
          <a:xfrm>
            <a:off x="762000" y="1485900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PART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15860-038C-4163-A639-6DF39AEABCE8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239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Functions, files, and packages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E0AE73-2B21-4A3B-9093-BB7E987D9E45}"/>
              </a:ext>
            </a:extLst>
          </p:cNvPr>
          <p:cNvSpPr>
            <a:spLocks noGrp="1"/>
          </p:cNvSpPr>
          <p:nvPr/>
        </p:nvSpPr>
        <p:spPr>
          <a:xfrm>
            <a:off x="781050" y="3314700"/>
            <a:ext cx="6286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BFD0D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BFD0DF"/>
                </a:solidFill>
                <a:latin typeface="Aptos"/>
                <a:ea typeface="Aptos"/>
                <a:cs typeface="Aptos"/>
              </a:rPr>
              <a:t>Reusable code turns a one-off calculation into a dependable analytical component.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D574F6-5946-436C-B772-93D8ED0173A0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64776A-E8FF-45F5-BE1A-005E66CD434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DD7BB4-237E-4F6C-952F-C6EFB92B0EF3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214674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AA3118E-8FDF-4717-BBF2-A0179EEB4B88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A2E5E2-255F-47A1-8F9C-395EB4C27D0C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FUNCTIONS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5C632E-AB99-436D-A2CA-4192EBA9DBF1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Functions reduce repeated financial 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C50ECD-06DE-49D7-874A-D82FA3780821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function lets one checked calculation serve many observations or scenarios.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B191A9-4D08-4575-9803-A65E480B8E50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7AC55C-28D0-486F-AFF7-0D11959EEF8D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BBD544-49CF-4DA5-ADE7-B0A72826B362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3CBD92-577A-40A9-9AF9-EF699CAA14EB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WITHOUT A FUNCTION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3D7932-20EF-4231-B1C4-913A97815470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same formula is copied into several cells. One correction may be applied in one place and missed in another.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DD6E08-5017-4E20-A393-29752FAF4CA6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41257B-6E82-4063-AF09-0CF0C3DE4DB9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WITH A FUNCTION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C1295F-2ED1-4A8F-863B-CED4CECD2537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formula has one definition, named inputs, and a return value that can be tested before it enters a larger model.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966A5D-A326-4EB7-ACBC-53D6771DE985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C32EF8-D3D3-434D-BB1B-2B9288996239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Reuse is valuable only when the function’s assumptions are documented.</a:t>
            </a:r>
          </a:p>
        </p:txBody>
      </p:sp>
    </p:spTree>
    <p:extLst>
      <p:ext uri="{BB962C8B-B14F-4D97-AF65-F5344CB8AC3E}">
        <p14:creationId xmlns:p14="http://schemas.microsoft.com/office/powerpoint/2010/main" val="9339940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3747F64-C663-4D87-B127-29D0440D22E6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2D579B-D36E-41D6-A0B1-B5908445921B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5A7657-23E4-43C7-BB5B-D7F2C8624C67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Validate an input before calculating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3B74E-2C63-45F7-8BDD-9A130316297B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function can stop an invalid financial input before it contaminates later results.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D8A455-7002-481B-8073-5FAEE3FD7D21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7BFBAB-5A19-4D0A-A0CB-DAF9067D2FCD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82C55F-C88B-492E-8B42-656AB033E83A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DF2C8F-7BC2-4A63-A54C-B1791050A182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CDC3B5-FBD7-4F31-9E83-0EF4979C90A1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def simple_interest(principal, rate, years):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if principal &lt; 0 or rate &lt; 0 or years &lt; 0: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    raise ValueError("Inputs must be non-negative")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return principal * rate * years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print(simple_interest(10_000, 0.06, 2))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8F9BA3-6EF1-4C0C-A48B-D3C90D94ED4F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1B86F9-1D9C-428A-8AFC-59F492325F85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BFADE4-CE8E-4EB3-A439-ACBA77F635F9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71923F-FA3F-443C-853C-47DAB8D0BBB1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1200.0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A93083-0D2F-4892-A814-7C2BB44E5AC8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2BA839-8271-4CA6-BE3C-C1492EEFEA6A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97093C-2711-434B-86DD-571676B8CFC2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Validation turns an implicit assumption into an explicit control.</a:t>
            </a:r>
          </a:p>
        </p:txBody>
      </p:sp>
    </p:spTree>
    <p:extLst>
      <p:ext uri="{BB962C8B-B14F-4D97-AF65-F5344CB8AC3E}">
        <p14:creationId xmlns:p14="http://schemas.microsoft.com/office/powerpoint/2010/main" val="16607451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1E9F23C-2267-4979-9E7F-784825F38EEF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6108BB-BEA1-49FE-9945-D384C1269B4D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40597D-A5B7-4B9B-8CC5-8FCA225AAB4E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function has a contract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811EC8-78AE-47FE-BA84-66411CA18E53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input, calculation, and return value should be visible.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481180-6CED-4A99-82CF-DD27A394BF21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8F70F9-E882-460F-B063-AE413F0F96C8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E76B0A-17AD-4A17-8C94-3D87D20CF5C2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0802EA-C580-45FB-8B5E-9B667CD0B91F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06B3C2-7424-4C58-AA70-F0823B767B5A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def mean(values):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return sum(values) / len(values)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returns = [0.012, -0.006, 0.009]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print(mean(returns))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754EB5-11C6-449F-AD26-5B06E6308200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FA751E-FA17-4670-95F6-FE4DCD9C100A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51F467-F38D-4927-B600-049F71BFD82B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75E607-7B6D-439E-8D3B-56545006C5AD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0.005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AF4329-80EE-4FDE-BFE3-F2B26CC9EB6B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C64309-50F4-4ED2-9476-7879CA95C8E9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188CEF-B7A9-4691-9DD6-6FBA34BE3C1A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function has one main job and returns a value that later code can reuse.</a:t>
            </a:r>
          </a:p>
        </p:txBody>
      </p:sp>
    </p:spTree>
    <p:extLst>
      <p:ext uri="{BB962C8B-B14F-4D97-AF65-F5344CB8AC3E}">
        <p14:creationId xmlns:p14="http://schemas.microsoft.com/office/powerpoint/2010/main" val="6428784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0C809C4-B6A3-4A32-ACE0-4F22FDC51795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A31DFD-0832-4EED-8571-4C03FD103D3D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DCB78A-F813-4AE9-B5E1-5CAB34882AB4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financial function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A8917E-60FE-432E-BB88-E705A8783143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Name the calculation and make the assumption reusable.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8BF2DF-5154-4287-8AC9-8A732007711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AEC6CF-CE99-4625-A3C6-71E46C805B57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252032-4E77-4EC3-85D3-F8FBF8A1F2D2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6255E0-1DFE-45AD-9613-7EDEADFF4AF1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7EFAEE-3B0D-4776-91D2-C63E5B6741F5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def simple_interest(principal, rate, years):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return principal * rate * years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interest = simple_interest(10_000, 0.06, 2)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print(interest)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0E5520-9799-4239-970C-D79ECF26C56D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27F101-EFAE-449E-9B19-AFB803033EDD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72CEC0-AF5B-486C-BBF5-B51EBE52C789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684A75-85BA-40B7-87C5-2CB128EC1906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1200.0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CF43E2-8A90-4F7B-9F84-2B4838BCC3F7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F4F0BF-85D2-470D-9CE6-3F295E77C6FE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D06752-52B6-4C36-83EF-5833E3870FD7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rate is a decimal. That convention belongs in the function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18073851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C8FE276-8218-4D8F-B7CB-73EE4FC2E09C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9B5258-A80B-4A87-BBBE-AE833A593D21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FEDFDB-01AA-4279-8FC6-E16BDDBB6587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Document the unit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E4155C-DC8D-4604-8E5A-43C39FF6A412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docstring prevents a correct formula from being used incorrectly.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E4905E-4712-4ED8-91C9-3C46310F2BE2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CFC22A-2A62-46BB-A372-9008AF4AE90A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95D658-E5AA-45DD-AA17-CA499F38E2A2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95580F-FC93-475E-B3E8-54E7F54E2828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B720FB-A2FE-4B11-8388-713437485B8E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def simple_interest(principal, rate, years):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"""Return interest; rate is a decimal."""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return principal * rate * years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print(simple_interest(10_000, 0.06, 2))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DF0C39-3389-4AD2-AA16-1A069CBFAB2F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269094-0A81-4D97-84C1-4689D580C7F7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A606F1-AA7E-438A-9D8C-E54F76B76D35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A245A4-89F5-4567-8ABF-BED092061E3A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1200.0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C65B1A-E832-43CD-BE21-4182D178374F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3E0019-C823-4332-9177-B1D6D060127E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D1F12C-1DBB-4FFC-A0B1-C97806250B5C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Inputs and units are part of the function’s analytical meaning.</a:t>
            </a:r>
          </a:p>
        </p:txBody>
      </p:sp>
    </p:spTree>
    <p:extLst>
      <p:ext uri="{BB962C8B-B14F-4D97-AF65-F5344CB8AC3E}">
        <p14:creationId xmlns:p14="http://schemas.microsoft.com/office/powerpoint/2010/main" val="14468460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BE62473F-65B1-4C6B-B87B-9660576FBE20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5F6F5E-E651-482E-B21F-EB2C1C0B0A9A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 FILES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8F780D-CF28-44E4-9539-EC61B9A3B8EE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file is part of the model input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B5AB7F-ECB6-40ED-A827-0379643A918C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Treat each hand-off from source to analysis as a place where an error can occur.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553866-C5EB-4D8F-B4F8-945A92E432B5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76C629-188B-4ED1-B8F5-6E2B7DC96B76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D566E9-B7F8-495A-B64F-210DABB9F9A1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1C5F6C-BCC2-4187-9CBA-105BD8B24F9F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476500" cy="76200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0EAD9F1-E4CA-4D88-8F3F-EB0A2536B992}"/>
              </a:ext>
            </a:extLst>
          </p:cNvPr>
          <p:cNvSpPr>
            <a:spLocks noGrp="1"/>
          </p:cNvSpPr>
          <p:nvPr/>
        </p:nvSpPr>
        <p:spPr>
          <a:xfrm>
            <a:off x="723900" y="2800350"/>
            <a:ext cx="400050" cy="400050"/>
          </a:xfrm>
          <a:prstGeom prst="ellipse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81EBEF-EB74-4247-B1D5-3BABCC324378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4FD25E-9268-4E65-86D5-675B7F86B8DB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AB43BC0E-744A-4826-8981-C766E10F9317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B718EC-5833-4299-BCF2-1A4DAF64B71D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Publisher or API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152559-629E-46C9-8EDA-F7DF6DF51002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BED069-EB16-4879-AD7F-1A9C3386C1B9}"/>
              </a:ext>
            </a:extLst>
          </p:cNvPr>
          <p:cNvSpPr>
            <a:spLocks noGrp="1"/>
          </p:cNvSpPr>
          <p:nvPr/>
        </p:nvSpPr>
        <p:spPr>
          <a:xfrm>
            <a:off x="72390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UCI repository, Yahoo Finance, or an approved API.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8A76B3-21E6-44DB-9A5F-C7B7B84785A4}"/>
              </a:ext>
            </a:extLst>
          </p:cNvPr>
          <p:cNvSpPr>
            <a:spLocks noGrp="1"/>
          </p:cNvSpPr>
          <p:nvPr/>
        </p:nvSpPr>
        <p:spPr>
          <a:xfrm>
            <a:off x="320040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CDFCF0-C8D8-406E-AE20-05EE65719FE2}"/>
              </a:ext>
            </a:extLst>
          </p:cNvPr>
          <p:cNvSpPr>
            <a:spLocks noGrp="1"/>
          </p:cNvSpPr>
          <p:nvPr/>
        </p:nvSpPr>
        <p:spPr>
          <a:xfrm>
            <a:off x="3200400" y="2571750"/>
            <a:ext cx="2476500" cy="762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B96FAD2-7B5D-47F9-B81C-2AF81E86352D}"/>
              </a:ext>
            </a:extLst>
          </p:cNvPr>
          <p:cNvSpPr>
            <a:spLocks noGrp="1"/>
          </p:cNvSpPr>
          <p:nvPr/>
        </p:nvSpPr>
        <p:spPr>
          <a:xfrm>
            <a:off x="3371850" y="2800350"/>
            <a:ext cx="400050" cy="400050"/>
          </a:xfrm>
          <a:prstGeom prst="ellipse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3ED2A0-7083-45B6-9A9C-011B0145026B}"/>
              </a:ext>
            </a:extLst>
          </p:cNvPr>
          <p:cNvSpPr>
            <a:spLocks noGrp="1"/>
          </p:cNvSpPr>
          <p:nvPr/>
        </p:nvSpPr>
        <p:spPr>
          <a:xfrm>
            <a:off x="337185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8518C7-B894-4F8D-9D87-64E8BA0DEA53}"/>
              </a:ext>
            </a:extLst>
          </p:cNvPr>
          <p:cNvSpPr>
            <a:spLocks noGrp="1"/>
          </p:cNvSpPr>
          <p:nvPr/>
        </p:nvSpPr>
        <p:spPr>
          <a:xfrm>
            <a:off x="390525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File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F0B41022-1503-44EA-88C1-147C052EFB15}"/>
              </a:ext>
            </a:extLst>
          </p:cNvPr>
          <p:cNvSpPr>
            <a:spLocks noGrp="1"/>
          </p:cNvSpPr>
          <p:nvPr/>
        </p:nvSpPr>
        <p:spPr>
          <a:xfrm>
            <a:off x="337185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BD6E5F-1FB4-47C5-A495-EF9364D7140B}"/>
              </a:ext>
            </a:extLst>
          </p:cNvPr>
          <p:cNvSpPr>
            <a:spLocks noGrp="1"/>
          </p:cNvSpPr>
          <p:nvPr/>
        </p:nvSpPr>
        <p:spPr>
          <a:xfrm>
            <a:off x="337185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CSV or Parquet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A0ECE3-4B1C-4BEA-BF52-7A2973C4236F}"/>
              </a:ext>
            </a:extLst>
          </p:cNvPr>
          <p:cNvSpPr>
            <a:spLocks noGrp="1"/>
          </p:cNvSpPr>
          <p:nvPr/>
        </p:nvSpPr>
        <p:spPr>
          <a:xfrm>
            <a:off x="337185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B8F8CF-DAE3-4507-B170-658DD1991D05}"/>
              </a:ext>
            </a:extLst>
          </p:cNvPr>
          <p:cNvSpPr>
            <a:spLocks noGrp="1"/>
          </p:cNvSpPr>
          <p:nvPr/>
        </p:nvSpPr>
        <p:spPr>
          <a:xfrm>
            <a:off x="337185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447"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a CSV saved inside the course package or downloaded in Colab.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3A9E55-901E-4EDB-9E90-63D567631A36}"/>
              </a:ext>
            </a:extLst>
          </p:cNvPr>
          <p:cNvSpPr>
            <a:spLocks noGrp="1"/>
          </p:cNvSpPr>
          <p:nvPr/>
        </p:nvSpPr>
        <p:spPr>
          <a:xfrm>
            <a:off x="584835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C8B0710-F0BC-426C-A9FE-31CBE2288D7C}"/>
              </a:ext>
            </a:extLst>
          </p:cNvPr>
          <p:cNvSpPr>
            <a:spLocks noGrp="1"/>
          </p:cNvSpPr>
          <p:nvPr/>
        </p:nvSpPr>
        <p:spPr>
          <a:xfrm>
            <a:off x="5848350" y="2571750"/>
            <a:ext cx="2476500" cy="762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B75564C-889F-40D3-86C3-2D300B278358}"/>
              </a:ext>
            </a:extLst>
          </p:cNvPr>
          <p:cNvSpPr>
            <a:spLocks noGrp="1"/>
          </p:cNvSpPr>
          <p:nvPr/>
        </p:nvSpPr>
        <p:spPr>
          <a:xfrm>
            <a:off x="6019800" y="2800350"/>
            <a:ext cx="400050" cy="400050"/>
          </a:xfrm>
          <a:prstGeom prst="ellipse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12EFD4-8595-4F53-A266-BA1C3E07FF0C}"/>
              </a:ext>
            </a:extLst>
          </p:cNvPr>
          <p:cNvSpPr>
            <a:spLocks noGrp="1"/>
          </p:cNvSpPr>
          <p:nvPr/>
        </p:nvSpPr>
        <p:spPr>
          <a:xfrm>
            <a:off x="601980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087533C-2927-459A-908B-6E03CB32CBC7}"/>
              </a:ext>
            </a:extLst>
          </p:cNvPr>
          <p:cNvSpPr>
            <a:spLocks noGrp="1"/>
          </p:cNvSpPr>
          <p:nvPr/>
        </p:nvSpPr>
        <p:spPr>
          <a:xfrm>
            <a:off x="655320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DataFrame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C3AC4FA0-8ACE-474C-B1AF-CEE4BB478292}"/>
              </a:ext>
            </a:extLst>
          </p:cNvPr>
          <p:cNvSpPr>
            <a:spLocks noGrp="1"/>
          </p:cNvSpPr>
          <p:nvPr/>
        </p:nvSpPr>
        <p:spPr>
          <a:xfrm>
            <a:off x="601980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DE8E47-0D76-49A5-8DB1-98DFE091FD3A}"/>
              </a:ext>
            </a:extLst>
          </p:cNvPr>
          <p:cNvSpPr>
            <a:spLocks noGrp="1"/>
          </p:cNvSpPr>
          <p:nvPr/>
        </p:nvSpPr>
        <p:spPr>
          <a:xfrm>
            <a:off x="601980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Rows and columns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69EC34F-7196-4EC4-83F4-EB21D60D91B7}"/>
              </a:ext>
            </a:extLst>
          </p:cNvPr>
          <p:cNvSpPr>
            <a:spLocks noGrp="1"/>
          </p:cNvSpPr>
          <p:nvPr/>
        </p:nvSpPr>
        <p:spPr>
          <a:xfrm>
            <a:off x="601980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35550CE-1BB0-412F-B1E8-D64F2229202B}"/>
              </a:ext>
            </a:extLst>
          </p:cNvPr>
          <p:cNvSpPr>
            <a:spLocks noGrp="1"/>
          </p:cNvSpPr>
          <p:nvPr/>
        </p:nvSpPr>
        <p:spPr>
          <a:xfrm>
            <a:off x="601980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rows are borrowers; columns are variables and the target.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4DBE047-1ABD-46C5-93D7-BC71CE91AC49}"/>
              </a:ext>
            </a:extLst>
          </p:cNvPr>
          <p:cNvSpPr>
            <a:spLocks noGrp="1"/>
          </p:cNvSpPr>
          <p:nvPr/>
        </p:nvSpPr>
        <p:spPr>
          <a:xfrm>
            <a:off x="849630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3ABEACD-5B5D-4677-B0D8-3F23358614D7}"/>
              </a:ext>
            </a:extLst>
          </p:cNvPr>
          <p:cNvSpPr>
            <a:spLocks noGrp="1"/>
          </p:cNvSpPr>
          <p:nvPr/>
        </p:nvSpPr>
        <p:spPr>
          <a:xfrm>
            <a:off x="8496300" y="2571750"/>
            <a:ext cx="2476500" cy="76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E82C21E-EB33-4200-9D33-2F549846042E}"/>
              </a:ext>
            </a:extLst>
          </p:cNvPr>
          <p:cNvSpPr>
            <a:spLocks noGrp="1"/>
          </p:cNvSpPr>
          <p:nvPr/>
        </p:nvSpPr>
        <p:spPr>
          <a:xfrm>
            <a:off x="8667750" y="2800350"/>
            <a:ext cx="400050" cy="400050"/>
          </a:xfrm>
          <a:prstGeom prst="ellipse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CA98E5-3AE7-4252-B4E5-997DCC713076}"/>
              </a:ext>
            </a:extLst>
          </p:cNvPr>
          <p:cNvSpPr>
            <a:spLocks noGrp="1"/>
          </p:cNvSpPr>
          <p:nvPr/>
        </p:nvSpPr>
        <p:spPr>
          <a:xfrm>
            <a:off x="866775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B5CBA5A-0FD2-4B54-B712-07ADDC6798CE}"/>
              </a:ext>
            </a:extLst>
          </p:cNvPr>
          <p:cNvSpPr>
            <a:spLocks noGrp="1"/>
          </p:cNvSpPr>
          <p:nvPr/>
        </p:nvSpPr>
        <p:spPr>
          <a:xfrm>
            <a:off x="920115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9BE67EE0-3CCF-4D44-B837-18F5AA2A8CD3}"/>
              </a:ext>
            </a:extLst>
          </p:cNvPr>
          <p:cNvSpPr>
            <a:spLocks noGrp="1"/>
          </p:cNvSpPr>
          <p:nvPr/>
        </p:nvSpPr>
        <p:spPr>
          <a:xfrm>
            <a:off x="866775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2DB4FA7-8BFE-4521-AF67-63F010EF5BC9}"/>
              </a:ext>
            </a:extLst>
          </p:cNvPr>
          <p:cNvSpPr>
            <a:spLocks noGrp="1"/>
          </p:cNvSpPr>
          <p:nvPr/>
        </p:nvSpPr>
        <p:spPr>
          <a:xfrm>
            <a:off x="866775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Table or plot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C571D0E-9EEC-4AFC-A1F2-38103B98406B}"/>
              </a:ext>
            </a:extLst>
          </p:cNvPr>
          <p:cNvSpPr>
            <a:spLocks noGrp="1"/>
          </p:cNvSpPr>
          <p:nvPr/>
        </p:nvSpPr>
        <p:spPr>
          <a:xfrm>
            <a:off x="866775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D76735F-84A1-4644-A595-887F809391CE}"/>
              </a:ext>
            </a:extLst>
          </p:cNvPr>
          <p:cNvSpPr>
            <a:spLocks noGrp="1"/>
          </p:cNvSpPr>
          <p:nvPr/>
        </p:nvSpPr>
        <p:spPr>
          <a:xfrm>
            <a:off x="866775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a labelled summary table or plot with an interpretation.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D1A9A1-7A17-4EE0-9E08-ADBE76FD3BFE}"/>
              </a:ext>
            </a:extLst>
          </p:cNvPr>
          <p:cNvSpPr>
            <a:spLocks noGrp="1"/>
          </p:cNvSpPr>
          <p:nvPr/>
        </p:nvSpPr>
        <p:spPr>
          <a:xfrm>
            <a:off x="552450" y="5162550"/>
            <a:ext cx="11087100" cy="51435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5197871-09FE-496A-B93C-80F84FEC65B8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10706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A file that loaded successfully is not necessarily a dataset that has been understood.</a:t>
            </a:r>
          </a:p>
        </p:txBody>
      </p:sp>
    </p:spTree>
    <p:extLst>
      <p:ext uri="{BB962C8B-B14F-4D97-AF65-F5344CB8AC3E}">
        <p14:creationId xmlns:p14="http://schemas.microsoft.com/office/powerpoint/2010/main" val="18667278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670268B-9DF7-4AD7-9D82-E27EF86E0114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3D87CD-8FF9-4533-B836-7BBB83664343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623059-874B-4001-B0B4-FFC7CE71FEF2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Read and write a small text file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EEEB4B-EF32-4AFC-90F0-11E0B6C764A1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File handling makes the input and output of a workflow explicit.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0E4BBC-33F2-4982-B00C-45EF1805BB5E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4909CE-830D-42CE-9AAE-7610E17C63C4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CC3FA7-F9D4-450B-B3E1-357BBB518F63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2B8A6E-EF3A-4595-9561-D40376615525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6753ED-8C26-456C-9AAD-55000FF16E22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from pathlib import Path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notes = Path("week1_notes.txt")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notes.write_text("The dataset contains daily observations.")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print(notes.read_text())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870544-D96F-4CD4-ACD3-8CE5D5C22A6E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578998-68E6-4C6C-B210-20153364B668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55FACC-DF7F-4FCC-8975-F0CA68E8732E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3B4751-9560-4CBF-8F15-9A0A307188D1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The dataset contains daily observations.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2B8104-4755-479D-8104-CCDC02323C79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9E8277-B405-45AF-9129-AF6F90874489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81712A-46FD-4E11-B3B8-EE7B5F98C5F3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reproducible workflow records what was done and where the result was saved.</a:t>
            </a:r>
          </a:p>
        </p:txBody>
      </p:sp>
    </p:spTree>
    <p:extLst>
      <p:ext uri="{BB962C8B-B14F-4D97-AF65-F5344CB8AC3E}">
        <p14:creationId xmlns:p14="http://schemas.microsoft.com/office/powerpoint/2010/main" val="7338465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DAE18E8-9D5B-4DF7-A3F4-3BDB9BF02502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0E26DE-21C2-4D77-9A30-F5311D7A1DFC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EFDFC-EEC3-4BA9-8C1B-D9F2DF314BC1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Standardise the public columns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2EC0D2-59C7-41E7-9F84-919C6372595C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Short names make later calculations easier to read.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56ED8E-89E2-4747-B19F-0F7AAC591345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D8A7C-AAA3-4155-92EA-3159C4A1E850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59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4AB476-388E-41B5-AF4A-37D0367CB803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46D0B6-9724-43C4-8847-38701C94C121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43A46A-C79C-4B51-9BEE-64886E87BDF4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 = prices.rename(columns={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"Date": "date",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"AAPL.Close": "close",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"AAPL.Volume": "volume"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})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 = prices.sort_values("date")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print(prices[["date", "close", "volume"]].head(3))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2E1AA4-7DC6-45B1-B7AB-CE3CB1168DF6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7355A1-E2A7-4082-908F-6422995E42FB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0818FE-D1C0-4EAA-B58C-3257D7517909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345F7C-00E4-4E57-8079-B699D058E3BC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date       close       volume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2015-02-17  127.83  63152400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...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0B7066-5397-412E-9603-00EF9CD860C4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0984A7-7A25-45D2-BDB5-AD2442E94D96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DE8B78-3CBD-4A81-BAF6-C47515355132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Renaming is part of data preparation. Keep the original source names documented.</a:t>
            </a:r>
          </a:p>
        </p:txBody>
      </p:sp>
    </p:spTree>
    <p:extLst>
      <p:ext uri="{BB962C8B-B14F-4D97-AF65-F5344CB8AC3E}">
        <p14:creationId xmlns:p14="http://schemas.microsoft.com/office/powerpoint/2010/main" val="10605644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7F4F0D7-B11A-4D45-B512-A2C789BA26D0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4D552F-EBA6-43C6-8B43-CBC5C4B68273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BB12DA-0211-417E-96E3-CBF7A99FD310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Colab setup stays minimal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D58A69-CC5E-4D1E-BC7D-B46BE7A7F970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Install an extra package only when the analysis needs it.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952D20-B118-4753-8239-66E22DBF380D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BFF88A-F0BA-45AB-9E6B-0155774D71DC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386BF3-AEBF-40AA-9D85-59D78ABD61DB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2E8BB4-2DB7-4F81-A901-2D6FAB19416B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A6A353-CFBD-4462-B2BA-90BFE0E50C8B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Core libraries are already available in Colab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import numpy as np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import pandas as pd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import matplotlib.pyplot as plt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Example for a later lecture, when needed: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%pip install -q yfinance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3FBEF-A66C-4C54-8B9D-D77978D2F0D5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3178BD-6CB2-4E31-9A50-809A74B203BB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060BCF-EFD6-414C-99BC-FA68C8A6FA47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5A5E94-78E8-4A0A-B2CF-33B72B8D6B67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Core libraries ready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A37E16-5E08-4D35-AAC5-EC52CFB7AC87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0DFBBE-8F2B-4D4F-8C05-2261E5F566B9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EE158A-4976-4AE9-9747-0DF62F827B6F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course avoids turning setup into a lecture on versions and package management.</a:t>
            </a:r>
          </a:p>
        </p:txBody>
      </p:sp>
    </p:spTree>
    <p:extLst>
      <p:ext uri="{BB962C8B-B14F-4D97-AF65-F5344CB8AC3E}">
        <p14:creationId xmlns:p14="http://schemas.microsoft.com/office/powerpoint/2010/main" val="601408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A7E2129-07E2-429E-B236-89B2E93E53F1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471240-A253-46C4-BFBE-396A520D5697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PACKAGES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9E738E-3D55-4915-B179-DCC62EF40CFA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Imports connect the notebook to tested tools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B7950-0683-4F90-AC93-FBB842989A18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package is useful when it removes repeated implementation work without hiding the analytical decision.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E64E0-0EA3-44F8-B31E-B6688F438A06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0FFFC3-5667-48B2-BA6F-D0943B2E7F9D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63BC62-5580-4BAE-8C62-5A838783E4CF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B994A7-529E-4512-984F-6C26FFC23854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IMPORT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1217ED-F0BD-416A-A5AF-060E98129DB5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Use a clear import such as import pandas as pd and then call a named operation such as pd.read_csv.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CB77F1-DC58-4D6E-B190-625C5C5960AE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E18043-66F9-467F-8E22-BFB322AE2AE0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DOCUMENT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03317B-5827-4183-8806-E4603EBB72AD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Record the package, the operation used, and any important option. The reader should know what the code is doing.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367D06-F944-418F-A87F-E83BD2ADE05D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D5B0AB-E0A7-43C0-9DAA-753B7A64D988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short import cell should make the rest of the notebook easier to read.</a:t>
            </a:r>
          </a:p>
        </p:txBody>
      </p:sp>
    </p:spTree>
    <p:extLst>
      <p:ext uri="{BB962C8B-B14F-4D97-AF65-F5344CB8AC3E}">
        <p14:creationId xmlns:p14="http://schemas.microsoft.com/office/powerpoint/2010/main" val="18275321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DE9A4B0-BDEE-4EDE-88A9-FD41F7772B48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61EB94-AEF3-433E-BDCF-4028A71B5F1E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E766C7-97BE-480C-ADD9-0392127DFE03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clean notebook should run in a fresh session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51ADB1-49D3-4AB7-B0EC-31A5FCB0086E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order of cells should not depend on hidden state left from an earlier experiment.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FD058F-22BD-4D18-A43E-4C22714D7A10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E90AF2-C69B-447E-BEC3-E5A3B0EE3AF8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3F6C1B-DABE-4089-97A3-B43D2A28F688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AF16C8-F9A6-4584-9962-4687051FEA34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45891A-825A-4FAD-9D4E-FBC501498DAC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Restart the runtime and run all cells from top to bottom. Confirm that paths, imports, transformations, and outputs work again.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51FDE4-6BCD-4CA8-A74E-DA48A133C868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108DF6-6621-4CAB-BB1B-72D5415BC1BE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BD8452-3A08-4BFE-A27D-25190730865C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Keep the question, source, code, output, interpretation, and limitations close together so another reader can follow the chain.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A64FDF-6319-4F3A-8F74-F3267D42399D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61AF6F-2B5A-4218-8BF4-4FB16D81733E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Reproducibility is a practical modelling skill, not a formatting preference.</a:t>
            </a:r>
          </a:p>
        </p:txBody>
      </p:sp>
    </p:spTree>
    <p:extLst>
      <p:ext uri="{BB962C8B-B14F-4D97-AF65-F5344CB8AC3E}">
        <p14:creationId xmlns:p14="http://schemas.microsoft.com/office/powerpoint/2010/main" val="15216244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A22DA66A-B0A8-484E-BDB5-7ED5BCA8EB8B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E5E26F-D8CF-4676-BE81-FE5532B338E4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 PROVENANCE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353E74-532E-4926-B8F2-4FAB2F58F572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Every dataset needs an identity card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C4C202-5AAA-476B-AB91-488F9E2A56E4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Record enough context to understand what the columns mean.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925DB9-93A5-41A0-A5D1-E26954E91A1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0D0D39-CDA6-4014-B71A-B634241BBDD9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943C86-41EC-46AB-AFF0-5C31FB630207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1F6AFE-F2A6-4303-B259-CA9213F4B1BE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476500" cy="76200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1DEF482-D14A-4C04-AB65-86B74570C2DE}"/>
              </a:ext>
            </a:extLst>
          </p:cNvPr>
          <p:cNvSpPr>
            <a:spLocks noGrp="1"/>
          </p:cNvSpPr>
          <p:nvPr/>
        </p:nvSpPr>
        <p:spPr>
          <a:xfrm>
            <a:off x="723900" y="2800350"/>
            <a:ext cx="400050" cy="400050"/>
          </a:xfrm>
          <a:prstGeom prst="ellipse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DA8606-4F17-45D0-B9A9-3567CB21573E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4B0F57-61EE-4F33-9E43-74DA502F5DB4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476850E8-BA8F-4D20-A346-8A720421BDB5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9D9C82-3C49-4DDB-8F34-1BBFB224FB36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Who published it?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0F4C09-44AC-400C-BF59-5722542A26D9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8D1FEA-495D-43F2-9E1B-D92478A2EE90}"/>
              </a:ext>
            </a:extLst>
          </p:cNvPr>
          <p:cNvSpPr>
            <a:spLocks noGrp="1"/>
          </p:cNvSpPr>
          <p:nvPr/>
        </p:nvSpPr>
        <p:spPr>
          <a:xfrm>
            <a:off x="72390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UCI repository, Yahoo Finance, or an approved API.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D9E1FC-2550-412F-BE2F-0310F0582F95}"/>
              </a:ext>
            </a:extLst>
          </p:cNvPr>
          <p:cNvSpPr>
            <a:spLocks noGrp="1"/>
          </p:cNvSpPr>
          <p:nvPr/>
        </p:nvSpPr>
        <p:spPr>
          <a:xfrm>
            <a:off x="320040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CBE4FD-2F80-48C0-A109-56B8E9FB5C3E}"/>
              </a:ext>
            </a:extLst>
          </p:cNvPr>
          <p:cNvSpPr>
            <a:spLocks noGrp="1"/>
          </p:cNvSpPr>
          <p:nvPr/>
        </p:nvSpPr>
        <p:spPr>
          <a:xfrm>
            <a:off x="3200400" y="2571750"/>
            <a:ext cx="2476500" cy="762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322F10-D46A-4400-B876-E462E84694C2}"/>
              </a:ext>
            </a:extLst>
          </p:cNvPr>
          <p:cNvSpPr>
            <a:spLocks noGrp="1"/>
          </p:cNvSpPr>
          <p:nvPr/>
        </p:nvSpPr>
        <p:spPr>
          <a:xfrm>
            <a:off x="3371850" y="2800350"/>
            <a:ext cx="400050" cy="400050"/>
          </a:xfrm>
          <a:prstGeom prst="ellipse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DCBB69-235A-40E0-A8FE-6FC4B4AA109F}"/>
              </a:ext>
            </a:extLst>
          </p:cNvPr>
          <p:cNvSpPr>
            <a:spLocks noGrp="1"/>
          </p:cNvSpPr>
          <p:nvPr/>
        </p:nvSpPr>
        <p:spPr>
          <a:xfrm>
            <a:off x="337185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35AF59-2A6A-4C1C-9DDE-A2118AE052A6}"/>
              </a:ext>
            </a:extLst>
          </p:cNvPr>
          <p:cNvSpPr>
            <a:spLocks noGrp="1"/>
          </p:cNvSpPr>
          <p:nvPr/>
        </p:nvSpPr>
        <p:spPr>
          <a:xfrm>
            <a:off x="390525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Period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F742A234-8851-42A1-9733-1F868C82BE0B}"/>
              </a:ext>
            </a:extLst>
          </p:cNvPr>
          <p:cNvSpPr>
            <a:spLocks noGrp="1"/>
          </p:cNvSpPr>
          <p:nvPr/>
        </p:nvSpPr>
        <p:spPr>
          <a:xfrm>
            <a:off x="337185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1F6845-717A-4A81-AAD7-A7639318AD5F}"/>
              </a:ext>
            </a:extLst>
          </p:cNvPr>
          <p:cNvSpPr>
            <a:spLocks noGrp="1"/>
          </p:cNvSpPr>
          <p:nvPr/>
        </p:nvSpPr>
        <p:spPr>
          <a:xfrm>
            <a:off x="337185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When was it measured?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06753E-499D-4E3F-B15C-415BD63ACD15}"/>
              </a:ext>
            </a:extLst>
          </p:cNvPr>
          <p:cNvSpPr>
            <a:spLocks noGrp="1"/>
          </p:cNvSpPr>
          <p:nvPr/>
        </p:nvSpPr>
        <p:spPr>
          <a:xfrm>
            <a:off x="337185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6D4D46-DAFA-4056-99C6-B03530DE6F8C}"/>
              </a:ext>
            </a:extLst>
          </p:cNvPr>
          <p:cNvSpPr>
            <a:spLocks noGrp="1"/>
          </p:cNvSpPr>
          <p:nvPr/>
        </p:nvSpPr>
        <p:spPr>
          <a:xfrm>
            <a:off x="337185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7325"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record whether the observations are daily, monthly, or annual.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35A142-6D43-48DB-AFBC-CD1396371447}"/>
              </a:ext>
            </a:extLst>
          </p:cNvPr>
          <p:cNvSpPr>
            <a:spLocks noGrp="1"/>
          </p:cNvSpPr>
          <p:nvPr/>
        </p:nvSpPr>
        <p:spPr>
          <a:xfrm>
            <a:off x="584835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D00982-924D-47C6-9F74-255C5E3F955D}"/>
              </a:ext>
            </a:extLst>
          </p:cNvPr>
          <p:cNvSpPr>
            <a:spLocks noGrp="1"/>
          </p:cNvSpPr>
          <p:nvPr/>
        </p:nvSpPr>
        <p:spPr>
          <a:xfrm>
            <a:off x="5848350" y="2571750"/>
            <a:ext cx="2476500" cy="762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F44439A-1451-402D-80CE-DE7381C659B3}"/>
              </a:ext>
            </a:extLst>
          </p:cNvPr>
          <p:cNvSpPr>
            <a:spLocks noGrp="1"/>
          </p:cNvSpPr>
          <p:nvPr/>
        </p:nvSpPr>
        <p:spPr>
          <a:xfrm>
            <a:off x="6019800" y="2800350"/>
            <a:ext cx="400050" cy="400050"/>
          </a:xfrm>
          <a:prstGeom prst="ellipse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D361C0D-987B-4F08-A38F-C5479189F8AA}"/>
              </a:ext>
            </a:extLst>
          </p:cNvPr>
          <p:cNvSpPr>
            <a:spLocks noGrp="1"/>
          </p:cNvSpPr>
          <p:nvPr/>
        </p:nvSpPr>
        <p:spPr>
          <a:xfrm>
            <a:off x="601980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983609-2DE9-4224-B608-1F9CCF318C7D}"/>
              </a:ext>
            </a:extLst>
          </p:cNvPr>
          <p:cNvSpPr>
            <a:spLocks noGrp="1"/>
          </p:cNvSpPr>
          <p:nvPr/>
        </p:nvSpPr>
        <p:spPr>
          <a:xfrm>
            <a:off x="655320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Unit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7533922B-B09C-4224-A561-D636C8F4486A}"/>
              </a:ext>
            </a:extLst>
          </p:cNvPr>
          <p:cNvSpPr>
            <a:spLocks noGrp="1"/>
          </p:cNvSpPr>
          <p:nvPr/>
        </p:nvSpPr>
        <p:spPr>
          <a:xfrm>
            <a:off x="601980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834EF0-83D5-491C-8D11-E2A30437B23D}"/>
              </a:ext>
            </a:extLst>
          </p:cNvPr>
          <p:cNvSpPr>
            <a:spLocks noGrp="1"/>
          </p:cNvSpPr>
          <p:nvPr/>
        </p:nvSpPr>
        <p:spPr>
          <a:xfrm>
            <a:off x="601980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What does one row mean?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945098F-43E1-45E6-A53F-3AEAAD535699}"/>
              </a:ext>
            </a:extLst>
          </p:cNvPr>
          <p:cNvSpPr>
            <a:spLocks noGrp="1"/>
          </p:cNvSpPr>
          <p:nvPr/>
        </p:nvSpPr>
        <p:spPr>
          <a:xfrm>
            <a:off x="601980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00998D9-45C5-4895-825A-4266F5609565}"/>
              </a:ext>
            </a:extLst>
          </p:cNvPr>
          <p:cNvSpPr>
            <a:spLocks noGrp="1"/>
          </p:cNvSpPr>
          <p:nvPr/>
        </p:nvSpPr>
        <p:spPr>
          <a:xfrm>
            <a:off x="601980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write exactly what one row represents before calculating statistics.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26F0B3-86A5-4417-BDFD-E83CF7E8FC29}"/>
              </a:ext>
            </a:extLst>
          </p:cNvPr>
          <p:cNvSpPr>
            <a:spLocks noGrp="1"/>
          </p:cNvSpPr>
          <p:nvPr/>
        </p:nvSpPr>
        <p:spPr>
          <a:xfrm>
            <a:off x="849630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5AEA93D-68C0-478A-ACE2-0B12F15D4C8E}"/>
              </a:ext>
            </a:extLst>
          </p:cNvPr>
          <p:cNvSpPr>
            <a:spLocks noGrp="1"/>
          </p:cNvSpPr>
          <p:nvPr/>
        </p:nvSpPr>
        <p:spPr>
          <a:xfrm>
            <a:off x="8496300" y="2571750"/>
            <a:ext cx="2476500" cy="76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D329F27-0760-4813-92D9-1541B8ECA5EE}"/>
              </a:ext>
            </a:extLst>
          </p:cNvPr>
          <p:cNvSpPr>
            <a:spLocks noGrp="1"/>
          </p:cNvSpPr>
          <p:nvPr/>
        </p:nvSpPr>
        <p:spPr>
          <a:xfrm>
            <a:off x="8667750" y="2800350"/>
            <a:ext cx="400050" cy="400050"/>
          </a:xfrm>
          <a:prstGeom prst="ellipse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CAB9D8-7C28-4E3C-A916-512E6F9D74A5}"/>
              </a:ext>
            </a:extLst>
          </p:cNvPr>
          <p:cNvSpPr>
            <a:spLocks noGrp="1"/>
          </p:cNvSpPr>
          <p:nvPr/>
        </p:nvSpPr>
        <p:spPr>
          <a:xfrm>
            <a:off x="866775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CC622B-841D-4E53-B74A-4EB77779AA11}"/>
              </a:ext>
            </a:extLst>
          </p:cNvPr>
          <p:cNvSpPr>
            <a:spLocks noGrp="1"/>
          </p:cNvSpPr>
          <p:nvPr/>
        </p:nvSpPr>
        <p:spPr>
          <a:xfrm>
            <a:off x="920115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619E2571-C0DC-4288-8C9D-51AEC3A786EE}"/>
              </a:ext>
            </a:extLst>
          </p:cNvPr>
          <p:cNvSpPr>
            <a:spLocks noGrp="1"/>
          </p:cNvSpPr>
          <p:nvPr/>
        </p:nvSpPr>
        <p:spPr>
          <a:xfrm>
            <a:off x="866775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94D0D46-16E1-47EF-B69D-91B7474E6BAE}"/>
              </a:ext>
            </a:extLst>
          </p:cNvPr>
          <p:cNvSpPr>
            <a:spLocks noGrp="1"/>
          </p:cNvSpPr>
          <p:nvPr/>
        </p:nvSpPr>
        <p:spPr>
          <a:xfrm>
            <a:off x="866775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What outcome is defined?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2BD382A-2CAD-4376-9F30-6EE6CF99CC3F}"/>
              </a:ext>
            </a:extLst>
          </p:cNvPr>
          <p:cNvSpPr>
            <a:spLocks noGrp="1"/>
          </p:cNvSpPr>
          <p:nvPr/>
        </p:nvSpPr>
        <p:spPr>
          <a:xfrm>
            <a:off x="866775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AF34D62-922B-4113-9985-7F3092E2021B}"/>
              </a:ext>
            </a:extLst>
          </p:cNvPr>
          <p:cNvSpPr>
            <a:spLocks noGrp="1"/>
          </p:cNvSpPr>
          <p:nvPr/>
        </p:nvSpPr>
        <p:spPr>
          <a:xfrm>
            <a:off x="866775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define default=1 and non-default=0 before modelling.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09D0450-7291-45CF-ADF7-64B8D8B11DFB}"/>
              </a:ext>
            </a:extLst>
          </p:cNvPr>
          <p:cNvSpPr>
            <a:spLocks noGrp="1"/>
          </p:cNvSpPr>
          <p:nvPr/>
        </p:nvSpPr>
        <p:spPr>
          <a:xfrm>
            <a:off x="552450" y="5162550"/>
            <a:ext cx="11087100" cy="51435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AC0786A-8B49-4C78-BBD0-83DB2448E151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10706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The source, access date, units, row meaning, and target definition belong in the notebook.</a:t>
            </a:r>
          </a:p>
        </p:txBody>
      </p:sp>
    </p:spTree>
    <p:extLst>
      <p:ext uri="{BB962C8B-B14F-4D97-AF65-F5344CB8AC3E}">
        <p14:creationId xmlns:p14="http://schemas.microsoft.com/office/powerpoint/2010/main" val="17022921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22F4EF-3D66-44E8-A72E-AEDD1C0E3D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79CDB9-B21F-4357-BF18-5D5613084A83}"/>
              </a:ext>
            </a:extLst>
          </p:cNvPr>
          <p:cNvSpPr>
            <a:spLocks noGrp="1"/>
          </p:cNvSpPr>
          <p:nvPr/>
        </p:nvSpPr>
        <p:spPr>
          <a:xfrm>
            <a:off x="7715250" y="800100"/>
            <a:ext cx="314325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2750" b="1" i="0">
                <a:solidFill>
                  <a:srgbClr val="102D49"/>
                </a:solidFill>
                <a:latin typeface="Aptos"/>
                <a:ea typeface="Aptos"/>
                <a:cs typeface="Aptos"/>
              </a:defRPr>
            </a:pPr>
            <a:r>
              <a:rPr sz="12750" b="1" i="0">
                <a:solidFill>
                  <a:srgbClr val="102D4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045E8F-617B-45DF-BDF2-ECF700D87859}"/>
              </a:ext>
            </a:extLst>
          </p:cNvPr>
          <p:cNvSpPr>
            <a:spLocks noGrp="1"/>
          </p:cNvSpPr>
          <p:nvPr/>
        </p:nvSpPr>
        <p:spPr>
          <a:xfrm>
            <a:off x="762000" y="1200150"/>
            <a:ext cx="876300" cy="47625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B021CA-82C6-45EB-AE1C-D17A6B2222BC}"/>
              </a:ext>
            </a:extLst>
          </p:cNvPr>
          <p:cNvSpPr>
            <a:spLocks noGrp="1"/>
          </p:cNvSpPr>
          <p:nvPr/>
        </p:nvSpPr>
        <p:spPr>
          <a:xfrm>
            <a:off x="762000" y="1485900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PART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1507C9-3B51-499D-840A-9B23317BD79C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239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Financial data and statistics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47485-7345-438F-83F1-EDAC7779AEE4}"/>
              </a:ext>
            </a:extLst>
          </p:cNvPr>
          <p:cNvSpPr>
            <a:spLocks noGrp="1"/>
          </p:cNvSpPr>
          <p:nvPr/>
        </p:nvSpPr>
        <p:spPr>
          <a:xfrm>
            <a:off x="781050" y="3314700"/>
            <a:ext cx="6286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BFD0D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BFD0DF"/>
                </a:solidFill>
                <a:latin typeface="Aptos"/>
                <a:ea typeface="Aptos"/>
                <a:cs typeface="Aptos"/>
              </a:rPr>
              <a:t>Describe the sample before asking a model to predict anything.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0C6085-3679-4DAD-A2B0-AE1CBF4F4159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23239A-F528-4817-8184-FCC6773F98B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3DD48F-2804-4DC1-A721-97F3112A0DD6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15374448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F82A0D01-D0D4-40E0-B2F7-CC34BD63AC92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F787B9-D9DB-4B8E-AF23-3FC9EF0BC6C6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OBSERVATION UNIT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38EB97-0347-459D-B672-BB59B9D0FC58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Define the row before interpreting the column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A7F9CC-36A6-4591-86E1-B6C0AF5527D8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same statistic changes meaning when the observation unit changes.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95186A-B036-4AB0-BE49-8C12EC006BC1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3502C2-1B24-4707-9C14-CC11D8E57880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719482-3062-49A9-BFBC-16407963D07F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68984B-3583-4E1B-A1DA-B1E078C2D99E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476500" cy="76200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1C59133-F6C2-4A67-9091-C52E3DDBA26C}"/>
              </a:ext>
            </a:extLst>
          </p:cNvPr>
          <p:cNvSpPr>
            <a:spLocks noGrp="1"/>
          </p:cNvSpPr>
          <p:nvPr/>
        </p:nvSpPr>
        <p:spPr>
          <a:xfrm>
            <a:off x="723900" y="2800350"/>
            <a:ext cx="400050" cy="400050"/>
          </a:xfrm>
          <a:prstGeom prst="ellipse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A74284-7A50-42AE-A46B-3A9764FBEC13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FFDAFF-9B95-4F65-BDC5-49731056FFD9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Borrower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B80C8D8D-C090-4B09-B184-FDF133FF797B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771A51-DCDC-402A-9430-1D3EA97CB527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One person or firm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6E7D85-96AD-4F92-9DB0-1C75713B1D21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5B0549-9965-4150-83D9-D77FD6CDEF61}"/>
              </a:ext>
            </a:extLst>
          </p:cNvPr>
          <p:cNvSpPr>
            <a:spLocks noGrp="1"/>
          </p:cNvSpPr>
          <p:nvPr/>
        </p:nvSpPr>
        <p:spPr>
          <a:xfrm>
            <a:off x="72390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one row per applicant in a credit-default dataset.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5F8350-4B79-420F-9632-36E6659AEF4C}"/>
              </a:ext>
            </a:extLst>
          </p:cNvPr>
          <p:cNvSpPr>
            <a:spLocks noGrp="1"/>
          </p:cNvSpPr>
          <p:nvPr/>
        </p:nvSpPr>
        <p:spPr>
          <a:xfrm>
            <a:off x="320040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D9BA0C-1068-4A2D-9407-AB9F5076CDF8}"/>
              </a:ext>
            </a:extLst>
          </p:cNvPr>
          <p:cNvSpPr>
            <a:spLocks noGrp="1"/>
          </p:cNvSpPr>
          <p:nvPr/>
        </p:nvSpPr>
        <p:spPr>
          <a:xfrm>
            <a:off x="3200400" y="2571750"/>
            <a:ext cx="2476500" cy="762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593E46D-4762-4372-895C-AFE8AACFC8BE}"/>
              </a:ext>
            </a:extLst>
          </p:cNvPr>
          <p:cNvSpPr>
            <a:spLocks noGrp="1"/>
          </p:cNvSpPr>
          <p:nvPr/>
        </p:nvSpPr>
        <p:spPr>
          <a:xfrm>
            <a:off x="3371850" y="2800350"/>
            <a:ext cx="400050" cy="400050"/>
          </a:xfrm>
          <a:prstGeom prst="ellipse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46DA13-36FF-4879-9ED2-1F719DB0E75A}"/>
              </a:ext>
            </a:extLst>
          </p:cNvPr>
          <p:cNvSpPr>
            <a:spLocks noGrp="1"/>
          </p:cNvSpPr>
          <p:nvPr/>
        </p:nvSpPr>
        <p:spPr>
          <a:xfrm>
            <a:off x="337185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4E306E-7010-42F6-AA87-06B6648A9783}"/>
              </a:ext>
            </a:extLst>
          </p:cNvPr>
          <p:cNvSpPr>
            <a:spLocks noGrp="1"/>
          </p:cNvSpPr>
          <p:nvPr/>
        </p:nvSpPr>
        <p:spPr>
          <a:xfrm>
            <a:off x="390525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Loan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4EDD80E4-F963-48D2-954C-BECF78134600}"/>
              </a:ext>
            </a:extLst>
          </p:cNvPr>
          <p:cNvSpPr>
            <a:spLocks noGrp="1"/>
          </p:cNvSpPr>
          <p:nvPr/>
        </p:nvSpPr>
        <p:spPr>
          <a:xfrm>
            <a:off x="337185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B256B6-79ED-4451-B8B9-5BAADF4F9220}"/>
              </a:ext>
            </a:extLst>
          </p:cNvPr>
          <p:cNvSpPr>
            <a:spLocks noGrp="1"/>
          </p:cNvSpPr>
          <p:nvPr/>
        </p:nvSpPr>
        <p:spPr>
          <a:xfrm>
            <a:off x="337185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One credit facility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BA17D2-4BC7-4AC7-AB60-FDE3F6ED5949}"/>
              </a:ext>
            </a:extLst>
          </p:cNvPr>
          <p:cNvSpPr>
            <a:spLocks noGrp="1"/>
          </p:cNvSpPr>
          <p:nvPr/>
        </p:nvSpPr>
        <p:spPr>
          <a:xfrm>
            <a:off x="337185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011D5A-C316-4117-BFD5-6D1FC466B4F7}"/>
              </a:ext>
            </a:extLst>
          </p:cNvPr>
          <p:cNvSpPr>
            <a:spLocks noGrp="1"/>
          </p:cNvSpPr>
          <p:nvPr/>
        </p:nvSpPr>
        <p:spPr>
          <a:xfrm>
            <a:off x="337185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one row per facility when several loans belong to one borrower.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C98FD1-7F13-4757-974C-39EF3482E44F}"/>
              </a:ext>
            </a:extLst>
          </p:cNvPr>
          <p:cNvSpPr>
            <a:spLocks noGrp="1"/>
          </p:cNvSpPr>
          <p:nvPr/>
        </p:nvSpPr>
        <p:spPr>
          <a:xfrm>
            <a:off x="584835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23BC83-23B7-4A0D-BC47-74FF122160A4}"/>
              </a:ext>
            </a:extLst>
          </p:cNvPr>
          <p:cNvSpPr>
            <a:spLocks noGrp="1"/>
          </p:cNvSpPr>
          <p:nvPr/>
        </p:nvSpPr>
        <p:spPr>
          <a:xfrm>
            <a:off x="5848350" y="2571750"/>
            <a:ext cx="2476500" cy="762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D9AF96F-0EE6-4205-B4CB-2955E4A36F3F}"/>
              </a:ext>
            </a:extLst>
          </p:cNvPr>
          <p:cNvSpPr>
            <a:spLocks noGrp="1"/>
          </p:cNvSpPr>
          <p:nvPr/>
        </p:nvSpPr>
        <p:spPr>
          <a:xfrm>
            <a:off x="6019800" y="2800350"/>
            <a:ext cx="400050" cy="400050"/>
          </a:xfrm>
          <a:prstGeom prst="ellipse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5F3D53-F0D7-4E66-96ED-BB80A2356399}"/>
              </a:ext>
            </a:extLst>
          </p:cNvPr>
          <p:cNvSpPr>
            <a:spLocks noGrp="1"/>
          </p:cNvSpPr>
          <p:nvPr/>
        </p:nvSpPr>
        <p:spPr>
          <a:xfrm>
            <a:off x="601980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8EB140-40FC-4F7E-B8D0-6FDFA950265C}"/>
              </a:ext>
            </a:extLst>
          </p:cNvPr>
          <p:cNvSpPr>
            <a:spLocks noGrp="1"/>
          </p:cNvSpPr>
          <p:nvPr/>
        </p:nvSpPr>
        <p:spPr>
          <a:xfrm>
            <a:off x="655320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Month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156617A2-015F-4767-811D-6A19E7831C60}"/>
              </a:ext>
            </a:extLst>
          </p:cNvPr>
          <p:cNvSpPr>
            <a:spLocks noGrp="1"/>
          </p:cNvSpPr>
          <p:nvPr/>
        </p:nvSpPr>
        <p:spPr>
          <a:xfrm>
            <a:off x="601980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0BFDB4-AA02-4D28-BA7E-9E88477E0087}"/>
              </a:ext>
            </a:extLst>
          </p:cNvPr>
          <p:cNvSpPr>
            <a:spLocks noGrp="1"/>
          </p:cNvSpPr>
          <p:nvPr/>
        </p:nvSpPr>
        <p:spPr>
          <a:xfrm>
            <a:off x="601980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One account-month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0A540A-137A-49F8-993A-E3C3085977DC}"/>
              </a:ext>
            </a:extLst>
          </p:cNvPr>
          <p:cNvSpPr>
            <a:spLocks noGrp="1"/>
          </p:cNvSpPr>
          <p:nvPr/>
        </p:nvSpPr>
        <p:spPr>
          <a:xfrm>
            <a:off x="601980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54B1CC3-2DC1-4563-9D1C-D55766BBFA42}"/>
              </a:ext>
            </a:extLst>
          </p:cNvPr>
          <p:cNvSpPr>
            <a:spLocks noGrp="1"/>
          </p:cNvSpPr>
          <p:nvPr/>
        </p:nvSpPr>
        <p:spPr>
          <a:xfrm>
            <a:off x="601980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one account-month for a panel of repayment behaviour.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0D437B-85FC-4461-9635-B6E9749318C6}"/>
              </a:ext>
            </a:extLst>
          </p:cNvPr>
          <p:cNvSpPr>
            <a:spLocks noGrp="1"/>
          </p:cNvSpPr>
          <p:nvPr/>
        </p:nvSpPr>
        <p:spPr>
          <a:xfrm>
            <a:off x="849630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B77B34C-DB7F-4B8E-8751-089C0D15A02E}"/>
              </a:ext>
            </a:extLst>
          </p:cNvPr>
          <p:cNvSpPr>
            <a:spLocks noGrp="1"/>
          </p:cNvSpPr>
          <p:nvPr/>
        </p:nvSpPr>
        <p:spPr>
          <a:xfrm>
            <a:off x="8496300" y="2571750"/>
            <a:ext cx="2476500" cy="76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2F56F0E-EFC8-4E16-938D-D07A979CEC8A}"/>
              </a:ext>
            </a:extLst>
          </p:cNvPr>
          <p:cNvSpPr>
            <a:spLocks noGrp="1"/>
          </p:cNvSpPr>
          <p:nvPr/>
        </p:nvSpPr>
        <p:spPr>
          <a:xfrm>
            <a:off x="8667750" y="2800350"/>
            <a:ext cx="400050" cy="400050"/>
          </a:xfrm>
          <a:prstGeom prst="ellipse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4D7A6D-F91E-4A29-B999-57B42BEE38B6}"/>
              </a:ext>
            </a:extLst>
          </p:cNvPr>
          <p:cNvSpPr>
            <a:spLocks noGrp="1"/>
          </p:cNvSpPr>
          <p:nvPr/>
        </p:nvSpPr>
        <p:spPr>
          <a:xfrm>
            <a:off x="866775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E838791-9946-4747-AD7C-FBAEEAD0CB9F}"/>
              </a:ext>
            </a:extLst>
          </p:cNvPr>
          <p:cNvSpPr>
            <a:spLocks noGrp="1"/>
          </p:cNvSpPr>
          <p:nvPr/>
        </p:nvSpPr>
        <p:spPr>
          <a:xfrm>
            <a:off x="920115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Stock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69A07FF9-86AD-4BAD-8E12-898784AB53F7}"/>
              </a:ext>
            </a:extLst>
          </p:cNvPr>
          <p:cNvSpPr>
            <a:spLocks noGrp="1"/>
          </p:cNvSpPr>
          <p:nvPr/>
        </p:nvSpPr>
        <p:spPr>
          <a:xfrm>
            <a:off x="866775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00420B4-1841-40E7-B02F-2A4D74F8F919}"/>
              </a:ext>
            </a:extLst>
          </p:cNvPr>
          <p:cNvSpPr>
            <a:spLocks noGrp="1"/>
          </p:cNvSpPr>
          <p:nvPr/>
        </p:nvSpPr>
        <p:spPr>
          <a:xfrm>
            <a:off x="866775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One security-month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BC38381-6D94-44F2-A402-786E9B242D57}"/>
              </a:ext>
            </a:extLst>
          </p:cNvPr>
          <p:cNvSpPr>
            <a:spLocks noGrp="1"/>
          </p:cNvSpPr>
          <p:nvPr/>
        </p:nvSpPr>
        <p:spPr>
          <a:xfrm>
            <a:off x="866775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39BF41C-CE36-4607-90F6-591194C1B9FF}"/>
              </a:ext>
            </a:extLst>
          </p:cNvPr>
          <p:cNvSpPr>
            <a:spLocks noGrp="1"/>
          </p:cNvSpPr>
          <p:nvPr/>
        </p:nvSpPr>
        <p:spPr>
          <a:xfrm>
            <a:off x="866775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one security-month when comparing asset returns.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90E4677-0BB0-4C72-B2CB-6525328AA91A}"/>
              </a:ext>
            </a:extLst>
          </p:cNvPr>
          <p:cNvSpPr>
            <a:spLocks noGrp="1"/>
          </p:cNvSpPr>
          <p:nvPr/>
        </p:nvSpPr>
        <p:spPr>
          <a:xfrm>
            <a:off x="552450" y="5162550"/>
            <a:ext cx="11087100" cy="51435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7676EA0-D362-4DBE-A25F-65D809895ACE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10706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Write one sentence that defines the observation unit before computing a summary.</a:t>
            </a:r>
          </a:p>
        </p:txBody>
      </p:sp>
    </p:spTree>
    <p:extLst>
      <p:ext uri="{BB962C8B-B14F-4D97-AF65-F5344CB8AC3E}">
        <p14:creationId xmlns:p14="http://schemas.microsoft.com/office/powerpoint/2010/main" val="12217790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820B6620-8DA6-4462-9D82-D49C0EA87C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3DD8EE-CAFE-4B2B-A7F4-F0F5330AC442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DESCRIPTIVE STATISTICS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D6A7C8-0FCA-486E-BBFD-113487477F68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The functions describe the sample before modelling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D42D4F-0649-498C-8D2B-878AA4B4E6A6}"/>
              </a:ext>
            </a:extLst>
          </p:cNvPr>
          <p:cNvSpPr>
            <a:spLocks noGrp="1"/>
          </p:cNvSpPr>
          <p:nvPr/>
        </p:nvSpPr>
        <p:spPr>
          <a:xfrm>
            <a:off x="552450" y="1409700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Theory comes first. The following code cells apply these definitions to the public Apple data.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3F314F-C16C-4910-B41A-0AF0DCB1FF9E}"/>
              </a:ext>
            </a:extLst>
          </p:cNvPr>
          <p:cNvSpPr>
            <a:spLocks noGrp="1"/>
          </p:cNvSpPr>
          <p:nvPr/>
        </p:nvSpPr>
        <p:spPr>
          <a:xfrm>
            <a:off x="552450" y="2152650"/>
            <a:ext cx="110871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214C20-D063-408A-BD64-782C15626DBF}"/>
              </a:ext>
            </a:extLst>
          </p:cNvPr>
          <p:cNvSpPr>
            <a:spLocks noGrp="1"/>
          </p:cNvSpPr>
          <p:nvPr/>
        </p:nvSpPr>
        <p:spPr>
          <a:xfrm>
            <a:off x="742950" y="2343150"/>
            <a:ext cx="1524000" cy="3619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083530-5567-479E-8D8B-77A145FB2D10}"/>
              </a:ext>
            </a:extLst>
          </p:cNvPr>
          <p:cNvSpPr>
            <a:spLocks noGrp="1"/>
          </p:cNvSpPr>
          <p:nvPr/>
        </p:nvSpPr>
        <p:spPr>
          <a:xfrm>
            <a:off x="838200" y="2447925"/>
            <a:ext cx="13335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Statistic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386C88-E6C9-4EAB-957E-748396405804}"/>
              </a:ext>
            </a:extLst>
          </p:cNvPr>
          <p:cNvSpPr>
            <a:spLocks noGrp="1"/>
          </p:cNvSpPr>
          <p:nvPr/>
        </p:nvSpPr>
        <p:spPr>
          <a:xfrm>
            <a:off x="2381250" y="2343150"/>
            <a:ext cx="3143250" cy="3619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6D94D9-2B3A-4281-BB97-E9B7B63788F1}"/>
              </a:ext>
            </a:extLst>
          </p:cNvPr>
          <p:cNvSpPr>
            <a:spLocks noGrp="1"/>
          </p:cNvSpPr>
          <p:nvPr/>
        </p:nvSpPr>
        <p:spPr>
          <a:xfrm>
            <a:off x="2476500" y="2447925"/>
            <a:ext cx="2952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Notation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5F68B5-35C2-4AB9-85E1-C83BE1F3FCDC}"/>
              </a:ext>
            </a:extLst>
          </p:cNvPr>
          <p:cNvSpPr>
            <a:spLocks noGrp="1"/>
          </p:cNvSpPr>
          <p:nvPr/>
        </p:nvSpPr>
        <p:spPr>
          <a:xfrm>
            <a:off x="5810250" y="2343150"/>
            <a:ext cx="2667000" cy="3619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22A92B-D2B3-439A-9CF6-529917A14644}"/>
              </a:ext>
            </a:extLst>
          </p:cNvPr>
          <p:cNvSpPr>
            <a:spLocks noGrp="1"/>
          </p:cNvSpPr>
          <p:nvPr/>
        </p:nvSpPr>
        <p:spPr>
          <a:xfrm>
            <a:off x="5905500" y="2447925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Question answered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F0987E-8BAF-4284-BA6D-0048B9B4D305}"/>
              </a:ext>
            </a:extLst>
          </p:cNvPr>
          <p:cNvSpPr>
            <a:spLocks noGrp="1"/>
          </p:cNvSpPr>
          <p:nvPr/>
        </p:nvSpPr>
        <p:spPr>
          <a:xfrm>
            <a:off x="8667750" y="2343150"/>
            <a:ext cx="2619375" cy="3619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6740BD-6B42-4B79-8001-0ECF3F98997E}"/>
              </a:ext>
            </a:extLst>
          </p:cNvPr>
          <p:cNvSpPr>
            <a:spLocks noGrp="1"/>
          </p:cNvSpPr>
          <p:nvPr/>
        </p:nvSpPr>
        <p:spPr>
          <a:xfrm>
            <a:off x="8763000" y="2447925"/>
            <a:ext cx="2428875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Library function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8C96AA-0F38-4EC8-A0BD-FBDAF3645F66}"/>
              </a:ext>
            </a:extLst>
          </p:cNvPr>
          <p:cNvSpPr>
            <a:spLocks noGrp="1"/>
          </p:cNvSpPr>
          <p:nvPr/>
        </p:nvSpPr>
        <p:spPr>
          <a:xfrm>
            <a:off x="742950" y="2705100"/>
            <a:ext cx="1524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135121-F899-4897-86D2-C9E94C7E1B45}"/>
              </a:ext>
            </a:extLst>
          </p:cNvPr>
          <p:cNvSpPr>
            <a:spLocks noGrp="1"/>
          </p:cNvSpPr>
          <p:nvPr/>
        </p:nvSpPr>
        <p:spPr>
          <a:xfrm>
            <a:off x="838200" y="2781300"/>
            <a:ext cx="1333500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Count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6CDBB8-20AD-47B8-A16E-6C8187F0AA00}"/>
              </a:ext>
            </a:extLst>
          </p:cNvPr>
          <p:cNvSpPr>
            <a:spLocks noGrp="1"/>
          </p:cNvSpPr>
          <p:nvPr/>
        </p:nvSpPr>
        <p:spPr>
          <a:xfrm>
            <a:off x="2381250" y="2705100"/>
            <a:ext cx="31432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0FB06C-99F6-4BA9-BFA5-D7DE9BAF4F8F}"/>
              </a:ext>
            </a:extLst>
          </p:cNvPr>
          <p:cNvSpPr>
            <a:spLocks noGrp="1"/>
          </p:cNvSpPr>
          <p:nvPr/>
        </p:nvSpPr>
        <p:spPr>
          <a:xfrm>
            <a:off x="2476500" y="2781300"/>
            <a:ext cx="2952750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AA2B3B-491D-4E94-9C66-33FA58FBF6B0}"/>
              </a:ext>
            </a:extLst>
          </p:cNvPr>
          <p:cNvSpPr>
            <a:spLocks noGrp="1"/>
          </p:cNvSpPr>
          <p:nvPr/>
        </p:nvSpPr>
        <p:spPr>
          <a:xfrm>
            <a:off x="5810250" y="2705100"/>
            <a:ext cx="2667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9F609E-9088-4222-A226-3D09FD8EC992}"/>
              </a:ext>
            </a:extLst>
          </p:cNvPr>
          <p:cNvSpPr>
            <a:spLocks noGrp="1"/>
          </p:cNvSpPr>
          <p:nvPr/>
        </p:nvSpPr>
        <p:spPr>
          <a:xfrm>
            <a:off x="5905500" y="2781300"/>
            <a:ext cx="2476500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How many valid observations are available?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FFDDE6-FE76-4943-AA45-3EF2F19983EF}"/>
              </a:ext>
            </a:extLst>
          </p:cNvPr>
          <p:cNvSpPr>
            <a:spLocks noGrp="1"/>
          </p:cNvSpPr>
          <p:nvPr/>
        </p:nvSpPr>
        <p:spPr>
          <a:xfrm>
            <a:off x="8667750" y="2705100"/>
            <a:ext cx="261937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5DD7D6-49B5-438D-9437-83BBA33E7B3B}"/>
              </a:ext>
            </a:extLst>
          </p:cNvPr>
          <p:cNvSpPr>
            <a:spLocks noGrp="1"/>
          </p:cNvSpPr>
          <p:nvPr/>
        </p:nvSpPr>
        <p:spPr>
          <a:xfrm>
            <a:off x="8763000" y="2781300"/>
            <a:ext cx="2428875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pandas: series.count()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D091AE-F0BC-45F2-906C-6FA089C8DC02}"/>
              </a:ext>
            </a:extLst>
          </p:cNvPr>
          <p:cNvSpPr>
            <a:spLocks noGrp="1"/>
          </p:cNvSpPr>
          <p:nvPr/>
        </p:nvSpPr>
        <p:spPr>
          <a:xfrm>
            <a:off x="742950" y="3133725"/>
            <a:ext cx="1524000" cy="428625"/>
          </a:xfrm>
          <a:prstGeom prst="rect">
            <a:avLst/>
          </a:prstGeom>
          <a:solidFill>
            <a:srgbClr val="F0F6FA"/>
          </a:solidFill>
          <a:ln w="9525">
            <a:solidFill>
              <a:srgbClr val="D9E2EC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B152B5-9603-4AA2-93B9-DF68294D511B}"/>
              </a:ext>
            </a:extLst>
          </p:cNvPr>
          <p:cNvSpPr>
            <a:spLocks noGrp="1"/>
          </p:cNvSpPr>
          <p:nvPr/>
        </p:nvSpPr>
        <p:spPr>
          <a:xfrm>
            <a:off x="838200" y="3209925"/>
            <a:ext cx="1333500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Mean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5CE4DA-55C3-4103-B437-7240E209E069}"/>
              </a:ext>
            </a:extLst>
          </p:cNvPr>
          <p:cNvSpPr>
            <a:spLocks noGrp="1"/>
          </p:cNvSpPr>
          <p:nvPr/>
        </p:nvSpPr>
        <p:spPr>
          <a:xfrm>
            <a:off x="2381250" y="3133725"/>
            <a:ext cx="3143250" cy="428625"/>
          </a:xfrm>
          <a:prstGeom prst="rect">
            <a:avLst/>
          </a:prstGeom>
          <a:solidFill>
            <a:srgbClr val="F0F6FA"/>
          </a:solidFill>
          <a:ln w="9525">
            <a:solidFill>
              <a:srgbClr val="D9E2EC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3D0933-1E7A-4639-A753-F0C8FFF705FE}"/>
              </a:ext>
            </a:extLst>
          </p:cNvPr>
          <p:cNvSpPr>
            <a:spLocks noGrp="1"/>
          </p:cNvSpPr>
          <p:nvPr/>
        </p:nvSpPr>
        <p:spPr>
          <a:xfrm>
            <a:off x="2476500" y="3209925"/>
            <a:ext cx="2952750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x̄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D366BC-DD4C-424D-9EA6-365B4D58A86C}"/>
              </a:ext>
            </a:extLst>
          </p:cNvPr>
          <p:cNvSpPr>
            <a:spLocks noGrp="1"/>
          </p:cNvSpPr>
          <p:nvPr/>
        </p:nvSpPr>
        <p:spPr>
          <a:xfrm>
            <a:off x="5810250" y="3133725"/>
            <a:ext cx="2667000" cy="428625"/>
          </a:xfrm>
          <a:prstGeom prst="rect">
            <a:avLst/>
          </a:prstGeom>
          <a:solidFill>
            <a:srgbClr val="F0F6FA"/>
          </a:solidFill>
          <a:ln w="9525">
            <a:solidFill>
              <a:srgbClr val="D9E2EC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37DABB1-9C1F-4261-BDEB-C0CAA63C7E42}"/>
              </a:ext>
            </a:extLst>
          </p:cNvPr>
          <p:cNvSpPr>
            <a:spLocks noGrp="1"/>
          </p:cNvSpPr>
          <p:nvPr/>
        </p:nvSpPr>
        <p:spPr>
          <a:xfrm>
            <a:off x="5905500" y="3209925"/>
            <a:ext cx="2476500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The equal-weight average of the observed values.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7BB2E1-DCFB-4750-9F6E-EF1EFBD60D4E}"/>
              </a:ext>
            </a:extLst>
          </p:cNvPr>
          <p:cNvSpPr>
            <a:spLocks noGrp="1"/>
          </p:cNvSpPr>
          <p:nvPr/>
        </p:nvSpPr>
        <p:spPr>
          <a:xfrm>
            <a:off x="8667750" y="3133725"/>
            <a:ext cx="2619375" cy="428625"/>
          </a:xfrm>
          <a:prstGeom prst="rect">
            <a:avLst/>
          </a:prstGeom>
          <a:solidFill>
            <a:srgbClr val="F0F6FA"/>
          </a:solidFill>
          <a:ln w="9525">
            <a:solidFill>
              <a:srgbClr val="D9E2EC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36E87B-985E-4101-98FE-958F1F53B3FA}"/>
              </a:ext>
            </a:extLst>
          </p:cNvPr>
          <p:cNvSpPr>
            <a:spLocks noGrp="1"/>
          </p:cNvSpPr>
          <p:nvPr/>
        </p:nvSpPr>
        <p:spPr>
          <a:xfrm>
            <a:off x="8763000" y="3209925"/>
            <a:ext cx="2428875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pandas: series.mean() | NumPy: np.mean(series)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AE754ED-FF8B-4B36-8FE0-FE7865D50002}"/>
              </a:ext>
            </a:extLst>
          </p:cNvPr>
          <p:cNvSpPr>
            <a:spLocks noGrp="1"/>
          </p:cNvSpPr>
          <p:nvPr/>
        </p:nvSpPr>
        <p:spPr>
          <a:xfrm>
            <a:off x="742950" y="3562350"/>
            <a:ext cx="1524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5BA9D9-CE87-4A64-BF64-867FAE93187D}"/>
              </a:ext>
            </a:extLst>
          </p:cNvPr>
          <p:cNvSpPr>
            <a:spLocks noGrp="1"/>
          </p:cNvSpPr>
          <p:nvPr/>
        </p:nvSpPr>
        <p:spPr>
          <a:xfrm>
            <a:off x="838200" y="3638550"/>
            <a:ext cx="1333500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Median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D070785-AD9E-4BAC-A0BF-1F60CCF817A4}"/>
              </a:ext>
            </a:extLst>
          </p:cNvPr>
          <p:cNvSpPr>
            <a:spLocks noGrp="1"/>
          </p:cNvSpPr>
          <p:nvPr/>
        </p:nvSpPr>
        <p:spPr>
          <a:xfrm>
            <a:off x="2381250" y="3562350"/>
            <a:ext cx="31432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AF95F50-795F-4B49-B965-2B833993E203}"/>
              </a:ext>
            </a:extLst>
          </p:cNvPr>
          <p:cNvSpPr>
            <a:spLocks noGrp="1"/>
          </p:cNvSpPr>
          <p:nvPr/>
        </p:nvSpPr>
        <p:spPr>
          <a:xfrm>
            <a:off x="2476500" y="3638550"/>
            <a:ext cx="2952750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x̃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825696-C34D-4098-AED5-65357F5A5808}"/>
              </a:ext>
            </a:extLst>
          </p:cNvPr>
          <p:cNvSpPr>
            <a:spLocks noGrp="1"/>
          </p:cNvSpPr>
          <p:nvPr/>
        </p:nvSpPr>
        <p:spPr>
          <a:xfrm>
            <a:off x="5810250" y="3562350"/>
            <a:ext cx="2667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AABC5F1-1392-42FF-B619-CD95355DE247}"/>
              </a:ext>
            </a:extLst>
          </p:cNvPr>
          <p:cNvSpPr>
            <a:spLocks noGrp="1"/>
          </p:cNvSpPr>
          <p:nvPr/>
        </p:nvSpPr>
        <p:spPr>
          <a:xfrm>
            <a:off x="5905500" y="3638550"/>
            <a:ext cx="2476500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The middle ordered value, less sensitive to extreme observations.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3DBC2D6-43BB-432E-B6DB-B0B745694AA0}"/>
              </a:ext>
            </a:extLst>
          </p:cNvPr>
          <p:cNvSpPr>
            <a:spLocks noGrp="1"/>
          </p:cNvSpPr>
          <p:nvPr/>
        </p:nvSpPr>
        <p:spPr>
          <a:xfrm>
            <a:off x="8667750" y="3562350"/>
            <a:ext cx="261937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B3A8870-4662-4B87-A82A-980E7DE3D161}"/>
              </a:ext>
            </a:extLst>
          </p:cNvPr>
          <p:cNvSpPr>
            <a:spLocks noGrp="1"/>
          </p:cNvSpPr>
          <p:nvPr/>
        </p:nvSpPr>
        <p:spPr>
          <a:xfrm>
            <a:off x="8763000" y="3638550"/>
            <a:ext cx="2428875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pandas: series.median() | NumPy: np.median(series)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3B062F6-2E17-4892-ABC5-C98555487D4F}"/>
              </a:ext>
            </a:extLst>
          </p:cNvPr>
          <p:cNvSpPr>
            <a:spLocks noGrp="1"/>
          </p:cNvSpPr>
          <p:nvPr/>
        </p:nvSpPr>
        <p:spPr>
          <a:xfrm>
            <a:off x="742950" y="3990975"/>
            <a:ext cx="1524000" cy="428625"/>
          </a:xfrm>
          <a:prstGeom prst="rect">
            <a:avLst/>
          </a:prstGeom>
          <a:solidFill>
            <a:srgbClr val="F0F6FA"/>
          </a:solidFill>
          <a:ln w="9525">
            <a:solidFill>
              <a:srgbClr val="D9E2EC"/>
            </a:solidFill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D54F4F-F73C-440A-B79D-DB94BF1811D7}"/>
              </a:ext>
            </a:extLst>
          </p:cNvPr>
          <p:cNvSpPr>
            <a:spLocks noGrp="1"/>
          </p:cNvSpPr>
          <p:nvPr/>
        </p:nvSpPr>
        <p:spPr>
          <a:xfrm>
            <a:off x="838200" y="4067175"/>
            <a:ext cx="1333500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Variance / SD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5F9C89F-5D40-4F23-943C-CA06A0B95D9A}"/>
              </a:ext>
            </a:extLst>
          </p:cNvPr>
          <p:cNvSpPr>
            <a:spLocks noGrp="1"/>
          </p:cNvSpPr>
          <p:nvPr/>
        </p:nvSpPr>
        <p:spPr>
          <a:xfrm>
            <a:off x="2381250" y="3990975"/>
            <a:ext cx="3143250" cy="428625"/>
          </a:xfrm>
          <a:prstGeom prst="rect">
            <a:avLst/>
          </a:prstGeom>
          <a:solidFill>
            <a:srgbClr val="F0F6FA"/>
          </a:solidFill>
          <a:ln w="9525">
            <a:solidFill>
              <a:srgbClr val="D9E2EC"/>
            </a:solidFill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5AD1473-87FF-4219-A44B-791A7D66AC1F}"/>
              </a:ext>
            </a:extLst>
          </p:cNvPr>
          <p:cNvSpPr>
            <a:spLocks noGrp="1"/>
          </p:cNvSpPr>
          <p:nvPr/>
        </p:nvSpPr>
        <p:spPr>
          <a:xfrm>
            <a:off x="2476500" y="4067175"/>
            <a:ext cx="2952750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s² / 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A8DE915-FEA1-438D-AD7C-198D6322BC09}"/>
              </a:ext>
            </a:extLst>
          </p:cNvPr>
          <p:cNvSpPr>
            <a:spLocks noGrp="1"/>
          </p:cNvSpPr>
          <p:nvPr/>
        </p:nvSpPr>
        <p:spPr>
          <a:xfrm>
            <a:off x="5810250" y="3990975"/>
            <a:ext cx="2667000" cy="428625"/>
          </a:xfrm>
          <a:prstGeom prst="rect">
            <a:avLst/>
          </a:prstGeom>
          <a:solidFill>
            <a:srgbClr val="F0F6FA"/>
          </a:solidFill>
          <a:ln w="9525">
            <a:solidFill>
              <a:srgbClr val="D9E2EC"/>
            </a:solidFill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051F1E7-F940-4C30-97C6-C81BC9D09DD3}"/>
              </a:ext>
            </a:extLst>
          </p:cNvPr>
          <p:cNvSpPr>
            <a:spLocks noGrp="1"/>
          </p:cNvSpPr>
          <p:nvPr/>
        </p:nvSpPr>
        <p:spPr>
          <a:xfrm>
            <a:off x="5905500" y="4067175"/>
            <a:ext cx="2476500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Sample dispersion around the mean, in squared and original units.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AD204B8-03A1-4329-A59A-A84FF36B96B9}"/>
              </a:ext>
            </a:extLst>
          </p:cNvPr>
          <p:cNvSpPr>
            <a:spLocks noGrp="1"/>
          </p:cNvSpPr>
          <p:nvPr/>
        </p:nvSpPr>
        <p:spPr>
          <a:xfrm>
            <a:off x="8667750" y="3990975"/>
            <a:ext cx="2619375" cy="428625"/>
          </a:xfrm>
          <a:prstGeom prst="rect">
            <a:avLst/>
          </a:prstGeom>
          <a:solidFill>
            <a:srgbClr val="F0F6FA"/>
          </a:solidFill>
          <a:ln w="9525">
            <a:solidFill>
              <a:srgbClr val="D9E2EC"/>
            </a:solidFill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385B27E-3D02-4EDB-A546-D36AC53C8F40}"/>
              </a:ext>
            </a:extLst>
          </p:cNvPr>
          <p:cNvSpPr>
            <a:spLocks noGrp="1"/>
          </p:cNvSpPr>
          <p:nvPr/>
        </p:nvSpPr>
        <p:spPr>
          <a:xfrm>
            <a:off x="8763000" y="4067175"/>
            <a:ext cx="2428875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pandas: series.var(), series.std() | NumPy: np.var(..., ddof=1), np.std(..., ddof=1)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0357D24-6AA6-4EF5-AFB6-0D8FCC2D0467}"/>
              </a:ext>
            </a:extLst>
          </p:cNvPr>
          <p:cNvSpPr>
            <a:spLocks noGrp="1"/>
          </p:cNvSpPr>
          <p:nvPr/>
        </p:nvSpPr>
        <p:spPr>
          <a:xfrm>
            <a:off x="742950" y="4419600"/>
            <a:ext cx="1524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9D71845-6D6D-4CE0-B46E-A10992CBC3BE}"/>
              </a:ext>
            </a:extLst>
          </p:cNvPr>
          <p:cNvSpPr>
            <a:spLocks noGrp="1"/>
          </p:cNvSpPr>
          <p:nvPr/>
        </p:nvSpPr>
        <p:spPr>
          <a:xfrm>
            <a:off x="838200" y="4495800"/>
            <a:ext cx="1333500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Range / quantiles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26AD95A-B939-43D4-8120-5EB1F29D6A4C}"/>
              </a:ext>
            </a:extLst>
          </p:cNvPr>
          <p:cNvSpPr>
            <a:spLocks noGrp="1"/>
          </p:cNvSpPr>
          <p:nvPr/>
        </p:nvSpPr>
        <p:spPr>
          <a:xfrm>
            <a:off x="2381250" y="4419600"/>
            <a:ext cx="31432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DB13493-526C-4B5C-9E01-4DAE07DD8440}"/>
              </a:ext>
            </a:extLst>
          </p:cNvPr>
          <p:cNvSpPr>
            <a:spLocks noGrp="1"/>
          </p:cNvSpPr>
          <p:nvPr/>
        </p:nvSpPr>
        <p:spPr>
          <a:xfrm>
            <a:off x="2476500" y="4495800"/>
            <a:ext cx="2952750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min, max, q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CF2EE0B-4CED-43DA-B876-4950206ED7E2}"/>
              </a:ext>
            </a:extLst>
          </p:cNvPr>
          <p:cNvSpPr>
            <a:spLocks noGrp="1"/>
          </p:cNvSpPr>
          <p:nvPr/>
        </p:nvSpPr>
        <p:spPr>
          <a:xfrm>
            <a:off x="5810250" y="4419600"/>
            <a:ext cx="2667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67B0132-45CA-461F-931C-5AD0D5E52853}"/>
              </a:ext>
            </a:extLst>
          </p:cNvPr>
          <p:cNvSpPr>
            <a:spLocks noGrp="1"/>
          </p:cNvSpPr>
          <p:nvPr/>
        </p:nvSpPr>
        <p:spPr>
          <a:xfrm>
            <a:off x="5905500" y="4495800"/>
            <a:ext cx="2476500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Lower, upper, and selected positions in the ordered sample.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A586CC6-7557-4F3A-ACFC-C7F2482EEEB1}"/>
              </a:ext>
            </a:extLst>
          </p:cNvPr>
          <p:cNvSpPr>
            <a:spLocks noGrp="1"/>
          </p:cNvSpPr>
          <p:nvPr/>
        </p:nvSpPr>
        <p:spPr>
          <a:xfrm>
            <a:off x="8667750" y="4419600"/>
            <a:ext cx="2619375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6A86146-82B3-4290-977B-05D2A4098E46}"/>
              </a:ext>
            </a:extLst>
          </p:cNvPr>
          <p:cNvSpPr>
            <a:spLocks noGrp="1"/>
          </p:cNvSpPr>
          <p:nvPr/>
        </p:nvSpPr>
        <p:spPr>
          <a:xfrm>
            <a:off x="8763000" y="4495800"/>
            <a:ext cx="2428875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pandas: series.min(), series.max(), series.quantile(q)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DD8E7A7-EF92-4FE2-A3BF-3BCB707205C2}"/>
              </a:ext>
            </a:extLst>
          </p:cNvPr>
          <p:cNvSpPr>
            <a:spLocks noGrp="1"/>
          </p:cNvSpPr>
          <p:nvPr/>
        </p:nvSpPr>
        <p:spPr>
          <a:xfrm>
            <a:off x="742950" y="4848225"/>
            <a:ext cx="1524000" cy="428625"/>
          </a:xfrm>
          <a:prstGeom prst="rect">
            <a:avLst/>
          </a:prstGeom>
          <a:solidFill>
            <a:srgbClr val="F0F6FA"/>
          </a:solidFill>
          <a:ln w="9525">
            <a:solidFill>
              <a:srgbClr val="D9E2EC"/>
            </a:solidFill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280CE85-10D0-4848-B3DE-1F5755CA5D02}"/>
              </a:ext>
            </a:extLst>
          </p:cNvPr>
          <p:cNvSpPr>
            <a:spLocks noGrp="1"/>
          </p:cNvSpPr>
          <p:nvPr/>
        </p:nvSpPr>
        <p:spPr>
          <a:xfrm>
            <a:off x="838200" y="4924425"/>
            <a:ext cx="1333500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1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Describe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16DCC8-C4F5-4072-9FDC-F46861B07EFF}"/>
              </a:ext>
            </a:extLst>
          </p:cNvPr>
          <p:cNvSpPr>
            <a:spLocks noGrp="1"/>
          </p:cNvSpPr>
          <p:nvPr/>
        </p:nvSpPr>
        <p:spPr>
          <a:xfrm>
            <a:off x="2381250" y="4848225"/>
            <a:ext cx="3143250" cy="428625"/>
          </a:xfrm>
          <a:prstGeom prst="rect">
            <a:avLst/>
          </a:prstGeom>
          <a:solidFill>
            <a:srgbClr val="F0F6FA"/>
          </a:solidFill>
          <a:ln w="9525">
            <a:solidFill>
              <a:srgbClr val="D9E2EC"/>
            </a:solidFill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5232B56-F458-403D-8808-63A4BC7E63C8}"/>
              </a:ext>
            </a:extLst>
          </p:cNvPr>
          <p:cNvSpPr>
            <a:spLocks noGrp="1"/>
          </p:cNvSpPr>
          <p:nvPr/>
        </p:nvSpPr>
        <p:spPr>
          <a:xfrm>
            <a:off x="2476500" y="4924425"/>
            <a:ext cx="2952750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summary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FFC0287-129D-46EE-A980-14BAEED2AE83}"/>
              </a:ext>
            </a:extLst>
          </p:cNvPr>
          <p:cNvSpPr>
            <a:spLocks noGrp="1"/>
          </p:cNvSpPr>
          <p:nvPr/>
        </p:nvSpPr>
        <p:spPr>
          <a:xfrm>
            <a:off x="5810250" y="4848225"/>
            <a:ext cx="2667000" cy="428625"/>
          </a:xfrm>
          <a:prstGeom prst="rect">
            <a:avLst/>
          </a:prstGeom>
          <a:solidFill>
            <a:srgbClr val="F0F6FA"/>
          </a:solidFill>
          <a:ln w="9525">
            <a:solidFill>
              <a:srgbClr val="D9E2EC"/>
            </a:solidFill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698D644-CB39-41E4-A49F-B2CC31F49245}"/>
              </a:ext>
            </a:extLst>
          </p:cNvPr>
          <p:cNvSpPr>
            <a:spLocks noGrp="1"/>
          </p:cNvSpPr>
          <p:nvPr/>
        </p:nvSpPr>
        <p:spPr>
          <a:xfrm>
            <a:off x="5905500" y="4924425"/>
            <a:ext cx="2476500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38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A library shortcut that reports count, mean, SD, min, quartiles, and max.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268B752-AB89-43E1-A140-2CA6E22D43CF}"/>
              </a:ext>
            </a:extLst>
          </p:cNvPr>
          <p:cNvSpPr>
            <a:spLocks noGrp="1"/>
          </p:cNvSpPr>
          <p:nvPr/>
        </p:nvSpPr>
        <p:spPr>
          <a:xfrm>
            <a:off x="8667750" y="4848225"/>
            <a:ext cx="2619375" cy="428625"/>
          </a:xfrm>
          <a:prstGeom prst="rect">
            <a:avLst/>
          </a:prstGeom>
          <a:solidFill>
            <a:srgbClr val="F0F6FA"/>
          </a:solidFill>
          <a:ln w="9525">
            <a:solidFill>
              <a:srgbClr val="D9E2EC"/>
            </a:solidFill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DAA93DB-8ACF-4F88-88C9-84DDC9D23FE0}"/>
              </a:ext>
            </a:extLst>
          </p:cNvPr>
          <p:cNvSpPr>
            <a:spLocks noGrp="1"/>
          </p:cNvSpPr>
          <p:nvPr/>
        </p:nvSpPr>
        <p:spPr>
          <a:xfrm>
            <a:off x="8763000" y="4924425"/>
            <a:ext cx="2428875" cy="2762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pandas: series.describe()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9595F39-9428-402F-8138-E1A091751CF8}"/>
              </a:ext>
            </a:extLst>
          </p:cNvPr>
          <p:cNvSpPr>
            <a:spLocks noGrp="1"/>
          </p:cNvSpPr>
          <p:nvPr/>
        </p:nvSpPr>
        <p:spPr>
          <a:xfrm>
            <a:off x="552450" y="5524500"/>
            <a:ext cx="11087100" cy="514350"/>
          </a:xfrm>
          <a:prstGeom prst="rect">
            <a:avLst/>
          </a:prstGeom>
          <a:solidFill>
            <a:srgbClr val="EAF7F1"/>
          </a:solidFill>
          <a:ln w="0">
            <a:solidFill>
              <a:srgbClr val="EAF7F1"/>
            </a:solidFill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C8E3BED-FA02-4260-9A76-209849529124}"/>
              </a:ext>
            </a:extLst>
          </p:cNvPr>
          <p:cNvSpPr>
            <a:spLocks noGrp="1"/>
          </p:cNvSpPr>
          <p:nvPr/>
        </p:nvSpPr>
        <p:spPr>
          <a:xfrm>
            <a:off x="742950" y="5686425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rPr>
              <a:t>Reading rule: choose the statistic that matches the question, inspect the units, and state the sample period before interpreting the value.</a:t>
            </a:r>
          </a:p>
        </p:txBody>
      </p:sp>
    </p:spTree>
    <p:extLst>
      <p:ext uri="{BB962C8B-B14F-4D97-AF65-F5344CB8AC3E}">
        <p14:creationId xmlns:p14="http://schemas.microsoft.com/office/powerpoint/2010/main" val="10780536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5CDAA7F-8F10-4C6C-B9D5-10B8F93BDEF0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25B6FC-3947-4471-97A4-4679E889FB53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812ED4-A553-4552-ADDE-AEBA9F5CD62F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first DataFrame audit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9CBA68-7228-4A7E-B734-FCC013DC9FC3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Shape, names, types, and missingness establish the data contract.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085C67-7B48-48CF-81AD-B26AF1E0D8B6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3250FB-37E9-4708-A84B-9279AEBE55C6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97C3B8-9436-4791-85D6-7A3E13D93770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C3A25E-99F5-4D79-8278-4187E9F27958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4B5E5C-3AE0-4853-A5B9-E3A370881B34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print(prices.shape)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print(prices.columns.tolist())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print(prices.dtypes)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print(prices.isna().sum())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468BCB-5206-444E-92F8-E5D408ACB7C5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848619-0888-44D9-8407-24CD79C43229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0AB953-B6DF-49FA-988B-7869D4ED23D9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5C5414-103F-446F-B879-804A411D3C5F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(506, 12)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['date', 'close', 'volume', ...]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date       datetime64[ns]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...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252768-6354-48C3-AED8-C1F81594B1C7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7D1D89-8274-494F-BD72-DFA7396A39D0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36508A-CE2F-4A4D-A62F-7725409BF9FE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These four checks tell you what the table contains before you interpret it.</a:t>
            </a:r>
          </a:p>
        </p:txBody>
      </p:sp>
    </p:spTree>
    <p:extLst>
      <p:ext uri="{BB962C8B-B14F-4D97-AF65-F5344CB8AC3E}">
        <p14:creationId xmlns:p14="http://schemas.microsoft.com/office/powerpoint/2010/main" val="4322658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D929D1D-61E3-42C3-BE3A-F1425C7E61A6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E80D88-5225-47A9-A99A-5A8928168EF2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7985F2-1634-48B6-A550-8A9808CB45A7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Inspect missing values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78DFA7-5F26-4E39-8F1E-BC39C6E1FD38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Missingness is part of the data description.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D62EC1-91AF-4086-AA44-59E2E24DB03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018FA6-592E-48B2-A423-B8E562CBDF93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CE8F8B-4BD1-46CE-A739-16D4E1CF5281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24F20B-F19F-4CCA-8C73-E6A158370ADA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D16804-9DD4-4897-AB2B-E8A907A8F879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missing = prices.isna().sum()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missing_rate = missing / len(prices)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print(pd.DataFrame({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"count": missing,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"rate": missing_rate.round(3)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}))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2D0C0-1B64-4767-82C9-1B91F929108F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B0347E-033B-4B5A-BF5A-B7BC4A0F492C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AE9F86-FF19-4987-B316-5DF6997806E3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000588-5EA3-4292-B735-CBBC925E454D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count  rate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date        0  0.000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close       0  0.000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B8D1C8-2F4F-46F8-BEE0-6E870028EDAD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D64EFE-2BA5-46AD-9BD9-A998742538C8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BC53A0-6A61-4319-B37F-2C91BB447681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rate makes missingness comparable across columns. A zero count is still evidence worth checking.</a:t>
            </a:r>
          </a:p>
        </p:txBody>
      </p:sp>
    </p:spTree>
    <p:extLst>
      <p:ext uri="{BB962C8B-B14F-4D97-AF65-F5344CB8AC3E}">
        <p14:creationId xmlns:p14="http://schemas.microsoft.com/office/powerpoint/2010/main" val="60248281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4BFA296-B760-4D96-B109-3E5E4EBFD8CC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CB510F-8DF8-4015-9577-87BCCDF51AFE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11A949-8390-461F-B7A2-04183AE73430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Group prices by calendar year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0172EA-67F8-485A-BACF-B11B15A18C41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grouped statistic changes the question from individual days to annual summaries.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78C072-257D-4ED2-A042-932DC5DE1139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B8DBFB-8701-4393-B9D8-CB78B4270717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5809D3-F3B0-4CFB-8B15-B2150B10D747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6E4666-C0A2-4038-9BAA-E1E6F1E4960E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562207-C896-446E-9641-5BF153BA0529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prices["year"] = prices["date"].dt.year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annual = prices.groupby("year").agg(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mean_close=("close", "mean"),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median_close=("close", "median"),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trading_days=("date", "size")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)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print(annual)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2B346D-BDB2-4F96-9CBF-D1D54726CBCE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A2DD75-E680-4766-B011-CCAF9C7B5F8D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E8C74-2FEE-4281-B1A9-F961CE880D1C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9A9BB0-ED26-4948-A3AC-D334793932B6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mean_close  median_close  trading_days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2015 ...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2E7303-4DD1-4A04-920F-90A5D3204D01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C1FEBB-D36F-4540-B7BF-5AB7FBD64A71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BAF7D0-BB4E-4F2A-BE93-72D911A45633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grouping unit is the calendar year. The result is descriptive and depends on the sample period.</a:t>
            </a:r>
          </a:p>
        </p:txBody>
      </p:sp>
    </p:spTree>
    <p:extLst>
      <p:ext uri="{BB962C8B-B14F-4D97-AF65-F5344CB8AC3E}">
        <p14:creationId xmlns:p14="http://schemas.microsoft.com/office/powerpoint/2010/main" val="71862352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48FA725-CE1A-4497-9939-2F81C2902F64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7FA5D5-D3CD-4F6F-9BD7-AB0F033E4F11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D047D9-8F82-42C8-8D7B-E40C9F40C222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Calculate a correlation matrix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3994C8-3460-4218-9CE6-95927A49A463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Correlation summarises linear co-movement between numeric variables.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5EBF06-772C-4E0F-AF66-24F21B16B943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82FB17-F03A-47D2-AE88-13D3B414E2A0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69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B84063-DF5D-492D-8BAE-48E68F3A884E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9784B3-4B65-465A-9445-B31565503C2B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1D1117-A407-4FA3-9591-F3E258A3D10E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prices["simple_return"] = prices["close"].pct_change()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numeric = prices[["close", "volume", "simple_return"]]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print(numeric.corr().round(3))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843BA3-774F-41A7-9338-7E94DFEEEBF6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765C97-874F-474A-8E61-7655A41CFD5D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4425B9-AF70-401D-9B81-9B949DFF7EEF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9FD7E2-3DF1-4E13-B11F-0BBD04012A9E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                 close  volume  simple_return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close            1.000 ...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D07727-81AE-49B3-BF02-51CD65F70976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245C3A-2382-4FFB-A0AC-61AC44453848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2C496E-D9A4-449F-94F7-1DE2F7E4D9E8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Correlation is unit-free, but it does not establish causality and may change across time periods.</a:t>
            </a:r>
          </a:p>
        </p:txBody>
      </p:sp>
    </p:spTree>
    <p:extLst>
      <p:ext uri="{BB962C8B-B14F-4D97-AF65-F5344CB8AC3E}">
        <p14:creationId xmlns:p14="http://schemas.microsoft.com/office/powerpoint/2010/main" val="74794145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E1FF91F-3B67-4AF7-A9A2-058F297B0A26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9A38D2-26DA-4D17-8488-7F9F04381A3C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MATHEMATICAL FOUNDATION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15B4C0-3359-4EDA-9C59-FA911944F2DA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Arithmetic mean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66D44F-6B8F-4CED-BD0D-494A16CA78E1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mean is the balance point of observed values.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86637-288F-411B-A7A3-D2D59BD65836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C04AF6-034D-4793-AE11-FED735102C53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97BDB1-73EB-4CCF-A060-94ED21EB0CA1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11087100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1D1B2C-A42F-4130-99E6-94155D0F562E}"/>
              </a:ext>
            </a:extLst>
          </p:cNvPr>
          <p:cNvSpPr>
            <a:spLocks noGrp="1"/>
          </p:cNvSpPr>
          <p:nvPr/>
        </p:nvSpPr>
        <p:spPr>
          <a:xfrm>
            <a:off x="762000" y="4114800"/>
            <a:ext cx="2286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EEBDB1-6193-4B8A-9C17-6EDBB3DEEFD7}"/>
              </a:ext>
            </a:extLst>
          </p:cNvPr>
          <p:cNvSpPr>
            <a:spLocks noGrp="1"/>
          </p:cNvSpPr>
          <p:nvPr/>
        </p:nvSpPr>
        <p:spPr>
          <a:xfrm>
            <a:off x="762000" y="4457700"/>
            <a:ext cx="4762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xᵢ is observation i and n is the number of observations. Every observation receives equal weight.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E915C5-D734-4005-B6ED-FCCE70A4B35F}"/>
              </a:ext>
            </a:extLst>
          </p:cNvPr>
          <p:cNvSpPr>
            <a:spLocks noGrp="1"/>
          </p:cNvSpPr>
          <p:nvPr/>
        </p:nvSpPr>
        <p:spPr>
          <a:xfrm>
            <a:off x="6477000" y="4095750"/>
            <a:ext cx="38100" cy="11430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061044-AAFD-423B-8771-5527433C70ED}"/>
              </a:ext>
            </a:extLst>
          </p:cNvPr>
          <p:cNvSpPr>
            <a:spLocks noGrp="1"/>
          </p:cNvSpPr>
          <p:nvPr/>
        </p:nvSpPr>
        <p:spPr>
          <a:xfrm>
            <a:off x="6858000" y="4114800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FINANCE EXAMPLE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556EA9-A956-469A-A3BA-034A3F62D329}"/>
              </a:ext>
            </a:extLst>
          </p:cNvPr>
          <p:cNvSpPr>
            <a:spLocks noGrp="1"/>
          </p:cNvSpPr>
          <p:nvPr/>
        </p:nvSpPr>
        <p:spPr>
          <a:xfrm>
            <a:off x="6858000" y="4457700"/>
            <a:ext cx="4286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For Apple closing prices, the mean summarises the centre of the observed price sample. It does not describe every trading day.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728852" y="2455842"/>
                <a:ext cx="3911930" cy="11762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150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150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150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40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8852" y="2455842"/>
                <a:ext cx="3911930" cy="11762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21047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8F9F383-9D68-4095-9812-7DE92028BBF1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F14FA7-4D16-440E-A50A-61B6484A6AD4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MATHEMATICAL FOUNDATION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524E8A-3AD9-4CBA-9EFF-45AC1893914D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Median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709CC5-5541-48C9-A8D8-A8F3D8D69FCD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median uses the ordered position and resists extreme values.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7AC562-9515-4AF6-BDAC-771473F4FE5E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6B2E8-2767-4AA5-B8B1-485E0056275F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27E047-91BF-4727-8499-E125C5BA30B9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1108710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pic>
        <p:nvPicPr>
          <p:cNvPr id="23" name="Picture 2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3e98dbab73554cdf"/>
              </a:ext>
            </a:extLst>
          </a:blip>
          <a:stretch/>
        </p:blipFill>
        <p:spPr>
          <a:xfrm>
            <a:off x="1066800" y="2533650"/>
            <a:ext cx="10058400" cy="8572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C943E9-B6D5-4931-AC67-1E8C986527F4}"/>
              </a:ext>
            </a:extLst>
          </p:cNvPr>
          <p:cNvSpPr>
            <a:spLocks noGrp="1"/>
          </p:cNvSpPr>
          <p:nvPr/>
        </p:nvSpPr>
        <p:spPr>
          <a:xfrm>
            <a:off x="762000" y="4114800"/>
            <a:ext cx="2286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457217-7B96-4C81-A359-3E1E8FE37AE2}"/>
              </a:ext>
            </a:extLst>
          </p:cNvPr>
          <p:cNvSpPr>
            <a:spLocks noGrp="1"/>
          </p:cNvSpPr>
          <p:nvPr/>
        </p:nvSpPr>
        <p:spPr>
          <a:xfrm>
            <a:off x="762000" y="4457700"/>
            <a:ext cx="4762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Order the observations first. The middle position defines the median when n is odd.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392B3D-829B-4538-AC84-4396012A371E}"/>
              </a:ext>
            </a:extLst>
          </p:cNvPr>
          <p:cNvSpPr>
            <a:spLocks noGrp="1"/>
          </p:cNvSpPr>
          <p:nvPr/>
        </p:nvSpPr>
        <p:spPr>
          <a:xfrm>
            <a:off x="6477000" y="4095750"/>
            <a:ext cx="38100" cy="11430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AF45FE-77FC-4468-AD96-0BECB4334369}"/>
              </a:ext>
            </a:extLst>
          </p:cNvPr>
          <p:cNvSpPr>
            <a:spLocks noGrp="1"/>
          </p:cNvSpPr>
          <p:nvPr/>
        </p:nvSpPr>
        <p:spPr>
          <a:xfrm>
            <a:off x="6858000" y="4114800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FINANCE EXAMPLE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5E0704-05E7-4468-B9C0-302E767479E4}"/>
              </a:ext>
            </a:extLst>
          </p:cNvPr>
          <p:cNvSpPr>
            <a:spLocks noGrp="1"/>
          </p:cNvSpPr>
          <p:nvPr/>
        </p:nvSpPr>
        <p:spPr>
          <a:xfrm>
            <a:off x="6858000" y="4457700"/>
            <a:ext cx="4286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For a skewed financial variable, the median can describe a typical observation better than the mean.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653538" y="2453820"/>
                <a:ext cx="5060744" cy="11190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150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150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150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+1)/2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,            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𝑜𝑑𝑑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150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+1)/2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150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𝑒𝑣𝑒𝑛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538" y="2453820"/>
                <a:ext cx="5060744" cy="11190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527912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8B377B7-9193-405E-9ABA-B5F2C6369239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9C32AF-EE5C-4731-A955-EC999BF3A32F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MATHEMATICAL FOUNDATION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499390-575C-4EC6-A1D7-2670512C401B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Variance and standard deviation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E9E1F6-E91D-4925-9E30-18650E3BACFB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Dispersion measures how far observations sit from the sample mean.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E32C46-D1CA-4D84-81E0-BCF599C0119E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FB0864-2204-4968-B177-6ECA7BCCC882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66FABE-D2C2-4BE8-8C81-8EECF0C24212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1108710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FD0D0B-0260-4A35-AC66-B8B79F9AB71C}"/>
              </a:ext>
            </a:extLst>
          </p:cNvPr>
          <p:cNvSpPr>
            <a:spLocks noGrp="1"/>
          </p:cNvSpPr>
          <p:nvPr/>
        </p:nvSpPr>
        <p:spPr>
          <a:xfrm>
            <a:off x="762000" y="4114800"/>
            <a:ext cx="2286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34FE49-08F1-49B8-A035-7C678E03D01D}"/>
              </a:ext>
            </a:extLst>
          </p:cNvPr>
          <p:cNvSpPr>
            <a:spLocks noGrp="1"/>
          </p:cNvSpPr>
          <p:nvPr/>
        </p:nvSpPr>
        <p:spPr>
          <a:xfrm>
            <a:off x="762000" y="4457700"/>
            <a:ext cx="4762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Variance is in squared units. Standard deviation returns to the original unit and is easier to interpret financially.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AD6864-9D5E-4732-BA7B-FB1510802FD1}"/>
              </a:ext>
            </a:extLst>
          </p:cNvPr>
          <p:cNvSpPr>
            <a:spLocks noGrp="1"/>
          </p:cNvSpPr>
          <p:nvPr/>
        </p:nvSpPr>
        <p:spPr>
          <a:xfrm>
            <a:off x="6477000" y="4095750"/>
            <a:ext cx="38100" cy="11430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BB5F62-D365-4AE7-A6CB-63D1EBCB5129}"/>
              </a:ext>
            </a:extLst>
          </p:cNvPr>
          <p:cNvSpPr>
            <a:spLocks noGrp="1"/>
          </p:cNvSpPr>
          <p:nvPr/>
        </p:nvSpPr>
        <p:spPr>
          <a:xfrm>
            <a:off x="6858000" y="4114800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FINANCE EXAMPLE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428D1F-E961-4E35-8313-2D39BC7A7C58}"/>
              </a:ext>
            </a:extLst>
          </p:cNvPr>
          <p:cNvSpPr>
            <a:spLocks noGrp="1"/>
          </p:cNvSpPr>
          <p:nvPr/>
        </p:nvSpPr>
        <p:spPr>
          <a:xfrm>
            <a:off x="6858000" y="4457700"/>
            <a:ext cx="4286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larger standard deviation means the observed closing prices vary more around their sample mean.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418F6B-CF75-43BB-83D1-D72FBD40677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62100" y="2393114"/>
                <a:ext cx="9505950" cy="1147943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lvl="5"/>
                <a14:m>
                  <m:oMath xmlns:m="http://schemas.openxmlformats.org/officeDocument/2006/math">
                    <m:sSup>
                      <m:sSupPr>
                        <m:ctrlPr>
                          <a:rPr lang="ar-AE" sz="2800" i="1" smtClean="0"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ar-AE" sz="2800" i="1">
                            <a:latin typeface="Cambria Math"/>
                            <a:ea typeface="Cambria Math"/>
                            <a:cs typeface="Cambria Math"/>
                          </a:rPr>
                          <m:t>𝑠</m:t>
                        </m:r>
                      </m:e>
                      <m:sup>
                        <m:r>
                          <a:rPr lang="ar-AE" sz="2800" i="1"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</m:sup>
                    </m:sSup>
                    <m:r>
                      <a:rPr lang="ar-AE" sz="2800" i="1"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ar-AE" sz="2800" i="1"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ar-AE" sz="2800" i="1"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num>
                      <m:den>
                        <m:r>
                          <a:rPr lang="ar-AE" sz="2800" i="1">
                            <a:latin typeface="Cambria Math"/>
                            <a:ea typeface="Cambria Math"/>
                            <a:cs typeface="Cambria Math"/>
                          </a:rPr>
                          <m:t>𝑛</m:t>
                        </m:r>
                        <m:r>
                          <a:rPr lang="ar-AE" sz="2800" b="0" i="1"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ar-AE" sz="2800" b="0" i="1"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den>
                    </m:f>
                    <m:nary>
                      <m:naryPr>
                        <m:chr m:val="∑"/>
                        <m:ctrlPr>
                          <a:rPr lang="ar-AE" sz="2800" b="0" i="1"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naryPr>
                      <m:sub>
                        <m:r>
                          <a:rPr lang="ar-AE" sz="2800" i="1">
                            <a:latin typeface="Cambria Math"/>
                            <a:ea typeface="Cambria Math"/>
                            <a:cs typeface="Cambria Math"/>
                          </a:rPr>
                          <m:t>𝑖</m:t>
                        </m:r>
                        <m:r>
                          <a:rPr lang="ar-AE" sz="2800" i="1"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ar-AE" sz="2800" i="1"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sub>
                      <m:sup>
                        <m:r>
                          <a:rPr lang="ar-AE" sz="2800" i="1">
                            <a:latin typeface="Cambria Math"/>
                            <a:ea typeface="Cambria Math"/>
                            <a:cs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ar-AE" sz="280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ar-AE" sz="2800" b="0" i="1">
                                <a:latin typeface="Cambria Math"/>
                                <a:ea typeface="Cambria Math"/>
                                <a:cs typeface="Cambria Math"/>
                              </a:rPr>
                              <m:t>(</m:t>
                            </m:r>
                            <m:r>
                              <a:rPr lang="ar-AE" sz="2800" i="1">
                                <a:latin typeface="Cambria Math"/>
                                <a:ea typeface="Cambria Math"/>
                                <a:cs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800" i="1">
                                <a:latin typeface="Cambria Math"/>
                                <a:ea typeface="Cambria Math"/>
                                <a:cs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ar-AE" sz="2800" b="0" i="1"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</m:e>
                    </m:nary>
                  </m:oMath>
                </a14:m>
                <a:r>
                  <a:rPr lang="ar-AE" sz="2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ar-AE" sz="2800" i="1"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accPr>
                      <m:e>
                        <m:r>
                          <a:rPr lang="ar-AE" sz="2800" i="1"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</m:e>
                    </m:acc>
                    <m:sSup>
                      <m:sSupPr>
                        <m:ctrlPr>
                          <a:rPr lang="ar-AE" sz="2800" i="1"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ar-AE" sz="2800" b="0" i="1">
                            <a:latin typeface="Cambria Math"/>
                            <a:ea typeface="Cambria Math"/>
                            <a:cs typeface="Cambria Math"/>
                          </a:rPr>
                          <m:t>)</m:t>
                        </m:r>
                      </m:e>
                      <m:sup>
                        <m:r>
                          <a:rPr lang="ar-AE" sz="2800" b="0" i="1"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</m:sup>
                    </m:sSup>
                    <m:r>
                      <a:rPr lang="ar-AE" sz="2800" b="0" i="1"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</m:oMath>
                </a14:m>
                <a:endParaRPr lang="ar-AE" sz="2800" b="0" i="1" dirty="0" smtClean="0">
                  <a:latin typeface="Cambria Math"/>
                  <a:ea typeface="Cambria Math"/>
                  <a:cs typeface="Cambria Math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800" b="0" i="1">
                          <a:latin typeface="Cambria Math"/>
                          <a:ea typeface="Cambria Math"/>
                          <a:cs typeface="Cambria Math"/>
                        </a:rPr>
                        <m:t>𝑠</m:t>
                      </m:r>
                      <m:r>
                        <a:rPr lang="ar-AE" sz="2800" b="0" i="1"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ad>
                        <m:radPr>
                          <m:ctrlPr>
                            <a:rPr lang="ar-AE" sz="2800" b="0" i="1"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radPr>
                        <m:e>
                          <m:sSup>
                            <m:sSupPr>
                              <m:ctrlPr>
                                <a:rPr lang="ar-AE" sz="2800" b="0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a:rPr lang="ar-AE" sz="28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 sz="28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ar-AE" sz="2800" b="0" i="1">
                          <a:latin typeface="Cambria Math"/>
                          <a:ea typeface="Cambria Math"/>
                          <a:cs typeface="Cambria Math"/>
                        </a:rPr>
                        <m:t> 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418F6B-CF75-43BB-83D1-D72FBD4067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100" y="2393114"/>
                <a:ext cx="9505950" cy="1147943"/>
              </a:xfrm>
              <a:prstGeom prst="rect">
                <a:avLst/>
              </a:prstGeom>
              <a:blipFill>
                <a:blip r:embed="rId3"/>
                <a:stretch>
                  <a:fillRect t="-2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533082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6FAF4CF-1881-41A5-A860-92EE785EC00B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03447B-9220-4249-8848-0D7FC3694ED9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MATHEMATICAL FOUNDATION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131E9D-CD9A-4656-BAC3-15B9E5868F3D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Z-score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18C91-471D-403A-BDBD-9578A810C238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Standardisation expresses a value in sample standard-deviation units.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31A2AF-125B-492E-B5CE-19612CFB2201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3CD2C7-D4CE-4A77-80B0-68D5BA8465FE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BCE268-4CA5-4D98-8581-3576B6A2C739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1108710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pic>
        <p:nvPicPr>
          <p:cNvPr id="25" name="Picture 2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212f62fb926c4c86"/>
              </a:ext>
            </a:extLst>
          </a:blip>
          <a:stretch/>
        </p:blipFill>
        <p:spPr>
          <a:xfrm>
            <a:off x="1066800" y="2533650"/>
            <a:ext cx="10058400" cy="8572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254915-D76D-452C-A2E6-386CDEA74F31}"/>
              </a:ext>
            </a:extLst>
          </p:cNvPr>
          <p:cNvSpPr>
            <a:spLocks noGrp="1"/>
          </p:cNvSpPr>
          <p:nvPr/>
        </p:nvSpPr>
        <p:spPr>
          <a:xfrm>
            <a:off x="762000" y="4114800"/>
            <a:ext cx="2286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AA960B-9FC7-415F-846A-1EBD484C97BB}"/>
              </a:ext>
            </a:extLst>
          </p:cNvPr>
          <p:cNvSpPr>
            <a:spLocks noGrp="1"/>
          </p:cNvSpPr>
          <p:nvPr/>
        </p:nvSpPr>
        <p:spPr>
          <a:xfrm>
            <a:off x="762000" y="4457700"/>
            <a:ext cx="4762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zᵢ measures the distance from the mean relative to the sample spread. It has no original measurement unit.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09B853-B78F-4B52-8353-CE6040D979D5}"/>
              </a:ext>
            </a:extLst>
          </p:cNvPr>
          <p:cNvSpPr>
            <a:spLocks noGrp="1"/>
          </p:cNvSpPr>
          <p:nvPr/>
        </p:nvSpPr>
        <p:spPr>
          <a:xfrm>
            <a:off x="6477000" y="4095750"/>
            <a:ext cx="38100" cy="11430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978EE3-F7F5-4D41-9D40-E7AB4657DBCA}"/>
              </a:ext>
            </a:extLst>
          </p:cNvPr>
          <p:cNvSpPr>
            <a:spLocks noGrp="1"/>
          </p:cNvSpPr>
          <p:nvPr/>
        </p:nvSpPr>
        <p:spPr>
          <a:xfrm>
            <a:off x="6858000" y="4114800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FINANCE EXAMPLE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57ECF3-9295-485E-A35B-3B03323AE43C}"/>
              </a:ext>
            </a:extLst>
          </p:cNvPr>
          <p:cNvSpPr>
            <a:spLocks noGrp="1"/>
          </p:cNvSpPr>
          <p:nvPr/>
        </p:nvSpPr>
        <p:spPr>
          <a:xfrm>
            <a:off x="6858000" y="4457700"/>
            <a:ext cx="4286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closing price with z = 2 lies two sample standard deviations above the sample mean.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30F0BE7-32C0-4AB7-87B1-1BF0A173BAE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464915" y="2438403"/>
                <a:ext cx="2119170" cy="8882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latin typeface="Cambria Math"/>
                              <a:ea typeface="Cambria Math"/>
                              <a:cs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  <a:ea typeface="Cambria Math"/>
                              <a:cs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2800" b="0" i="1">
                          <a:latin typeface="Cambria Math"/>
                          <a:ea typeface="Cambria Math"/>
                          <a:cs typeface="Cambria Math"/>
                        </a:rPr>
                        <m:t>= </m:t>
                      </m:r>
                      <m:f>
                        <m:fPr>
                          <m:ctrlPr>
                            <a:rPr lang="en-US" sz="2800" b="0" i="1"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i="1"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0" i="1">
                              <a:latin typeface="Cambria Math"/>
                              <a:ea typeface="Cambria Math"/>
                              <a:cs typeface="Cambria Math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30F0BE7-32C0-4AB7-87B1-1BF0A173BA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4915" y="2438403"/>
                <a:ext cx="2119170" cy="8882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383571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E729E7B-7E7E-4B4F-BA91-6BD539647D36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D502DE-E57F-4DDD-9328-08103970B500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MATHEMATICAL FOUNDATION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76C0F1-F045-4171-8891-20072B376697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Simple and log returns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F17F54-A8BD-488E-8DCE-6EDDCA30B9E2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Price data are often converted into changes over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A53F0A-5D8E-474B-892A-06BA110A12C2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22C63-D236-4441-B3FA-D7403D3375CD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DF9398-1303-4F86-AA6C-969702EA746C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1108710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12B763-FF03-4051-8BE4-462BA8C99D4D}"/>
              </a:ext>
            </a:extLst>
          </p:cNvPr>
          <p:cNvSpPr>
            <a:spLocks noGrp="1"/>
          </p:cNvSpPr>
          <p:nvPr/>
        </p:nvSpPr>
        <p:spPr>
          <a:xfrm>
            <a:off x="762000" y="4114800"/>
            <a:ext cx="2286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206968-95EC-4FFB-98B4-1AFE81487CFB}"/>
              </a:ext>
            </a:extLst>
          </p:cNvPr>
          <p:cNvSpPr>
            <a:spLocks noGrp="1"/>
          </p:cNvSpPr>
          <p:nvPr/>
        </p:nvSpPr>
        <p:spPr>
          <a:xfrm>
            <a:off x="762000" y="4457700"/>
            <a:ext cx="4762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Pₜ is the price at time t. Use one return definition consistently in a workflow.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B5DA21-D3D4-4423-B4D3-EE1ECB9A2FFB}"/>
              </a:ext>
            </a:extLst>
          </p:cNvPr>
          <p:cNvSpPr>
            <a:spLocks noGrp="1"/>
          </p:cNvSpPr>
          <p:nvPr/>
        </p:nvSpPr>
        <p:spPr>
          <a:xfrm>
            <a:off x="6477000" y="4095750"/>
            <a:ext cx="38100" cy="11430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626DB4-CD70-4216-ACDB-54A91204502C}"/>
              </a:ext>
            </a:extLst>
          </p:cNvPr>
          <p:cNvSpPr>
            <a:spLocks noGrp="1"/>
          </p:cNvSpPr>
          <p:nvPr/>
        </p:nvSpPr>
        <p:spPr>
          <a:xfrm>
            <a:off x="6858000" y="4114800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FINANCE EXAMPLE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AB503E-0AA6-46A2-AEAC-761D02BDD4E9}"/>
              </a:ext>
            </a:extLst>
          </p:cNvPr>
          <p:cNvSpPr>
            <a:spLocks noGrp="1"/>
          </p:cNvSpPr>
          <p:nvPr/>
        </p:nvSpPr>
        <p:spPr>
          <a:xfrm>
            <a:off x="6858000" y="4457700"/>
            <a:ext cx="4286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first return is missing because the first price has no previous trading-day price.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2FFDDE-6E37-4939-8339-C33519CEABE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01783" y="2450492"/>
                <a:ext cx="2340449" cy="879408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latin typeface="Cambria Math"/>
                              <a:ea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800" b="0" i="1"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b="0" i="1"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8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800" b="0" i="1"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8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𝑡</m:t>
                              </m:r>
                              <m:r>
                                <a:rPr lang="en-US" sz="28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8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𝑡</m:t>
                              </m:r>
                              <m:r>
                                <a:rPr lang="en-US" sz="28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2FFDDE-6E37-4939-8339-C33519CEAB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1783" y="2450492"/>
                <a:ext cx="2340449" cy="8794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0B3F080-5045-4B9D-B8C8-F69D90486F7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079535" y="2481363"/>
                <a:ext cx="2090829" cy="879408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latin typeface="Cambria Math"/>
                              <a:ea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800" b="0" i="1"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en-US" sz="2800" b="0" i="1">
                          <a:latin typeface="Cambria Math"/>
                          <a:ea typeface="Cambria Math"/>
                          <a:cs typeface="Cambria Math"/>
                        </a:rPr>
                        <m:t>𝑙𝑜𝑔</m:t>
                      </m:r>
                      <m:f>
                        <m:fPr>
                          <m:ctrlPr>
                            <a:rPr lang="en-US" sz="2800" b="0" i="1"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8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8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𝑡</m:t>
                              </m:r>
                              <m:r>
                                <a:rPr lang="en-US" sz="28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0B3F080-5045-4B9D-B8C8-F69D90486F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9535" y="2481363"/>
                <a:ext cx="2090829" cy="8794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472236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DD2A6B2-D191-45B3-BED7-33B1D47FC9CD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97DA8B-1EAC-4251-BF48-C9B034579290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RETURNS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47C2E8-274A-4B75-BCA1-B92B47830A60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return is a change relative to a previous price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43EB5C-1B9A-41D4-910A-ACFCA17889F6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denominator determines the scale of the reported change.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AD6B5F-7C3E-4365-8CB7-EC59C863922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7C8F86-E2D8-440B-949A-5A1F61CF71A3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917206-1A7C-44A2-9742-7B66AB6363FB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6ECF96-0E26-42CE-8ED3-CB41AA209106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SIMPLE RETURN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B4BF93-561A-4FF5-BD9B-3C3196FC931B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simple return is easy to interpret as a percentage change and is often used for portfolio wealth calculations.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024A02-7F53-4AD3-B3C8-3C184EA94A93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5A7DDE-84DA-4CAD-BF0C-0D9585125917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LOG RETURN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7A9111-D3F0-4CC6-A2F7-3D5E657D3D41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log return is additive across time under standard assumptions, which can simplify some statistical calculations.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5A5E31-D7E7-4537-BE98-C399EA3F0F66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FEC110-6FED-4A64-906C-38C41BBAB64F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Choose the definition before computing summaries and keep the choice consistent.</a:t>
            </a:r>
          </a:p>
        </p:txBody>
      </p:sp>
    </p:spTree>
    <p:extLst>
      <p:ext uri="{BB962C8B-B14F-4D97-AF65-F5344CB8AC3E}">
        <p14:creationId xmlns:p14="http://schemas.microsoft.com/office/powerpoint/2010/main" val="113862772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048776-285D-438C-8E57-6F15504E4DF4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BF507C-143A-40AF-A3F0-2BDF280F36D8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65D0C5-6DED-4163-97FA-DBC8A970AA36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Calculate returns from the public prices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912DE1-BE01-41C4-BC09-3D8834A25916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first row becomes missing by construction because no lagged price exists.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355AA6-77A4-42D7-9310-5580CA64C4F9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C1BCE3-13F6-4A58-B74E-8FC1EDBFCCBC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B9BB75-27DA-4B95-982A-89A3DACFBA38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F45EEA-D88C-433D-B559-A70B16D4B161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0AB76-9A48-44C9-8D48-F3D441CCE322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prices["simple_return"] = prices["close"].pct_change()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prices["log_return"] = np.log(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prices["close"] / prices["close"].shift(1)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)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print(prices[["date", "simple_return"]].head())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AF3773-E5FE-4064-BAB8-C149E53EF7B1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ED8330-F04F-469F-ABE6-DFF8688B41FE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77C073-8697-4F60-A361-911665CC1412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852E3F-8BD3-4E30-AB81-270DD967CBA1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date       simple_return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2015-02-17        NaN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2015-02-18     0.0067</a:t>
            </a:r>
          </a:p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...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648346-DD81-4BE0-9B78-1F5DAD3F7880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50871F-82A5-444C-8F99-05946E8103DD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1ADEA4-934F-428E-8B36-F51F3FBAD0D9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missing first observation is a consequence of the definition, not automatically a data error.</a:t>
            </a:r>
          </a:p>
        </p:txBody>
      </p:sp>
    </p:spTree>
    <p:extLst>
      <p:ext uri="{BB962C8B-B14F-4D97-AF65-F5344CB8AC3E}">
        <p14:creationId xmlns:p14="http://schemas.microsoft.com/office/powerpoint/2010/main" val="21114871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60BE9EF-6C57-4608-B4C2-E2EC3AC215F3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568ED8-CD12-444A-93CD-070FA94D32AB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MATHEMATICAL FOUNDATION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44D3D1-D154-4D6A-ACED-2A8607F1640F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Correlation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B708C0-E23F-40FB-B43B-CEEED125F136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Correlation rescales covariance to a unit-free measure.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A5A662-9D74-463D-8AD3-3B565E2C91B2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210E4-4F76-4E57-9451-1BD2AD2509C7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75977F-D598-4B6A-B18C-DC9202C2E132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1108710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E14D15-52E1-474F-8339-B1ADD21A5D1D}"/>
              </a:ext>
            </a:extLst>
          </p:cNvPr>
          <p:cNvSpPr>
            <a:spLocks noGrp="1"/>
          </p:cNvSpPr>
          <p:nvPr/>
        </p:nvSpPr>
        <p:spPr>
          <a:xfrm>
            <a:off x="762000" y="4114800"/>
            <a:ext cx="2286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C21DA1-CEB3-46E2-ACD0-C329861F682D}"/>
              </a:ext>
            </a:extLst>
          </p:cNvPr>
          <p:cNvSpPr>
            <a:spLocks noGrp="1"/>
          </p:cNvSpPr>
          <p:nvPr/>
        </p:nvSpPr>
        <p:spPr>
          <a:xfrm>
            <a:off x="762000" y="4457700"/>
            <a:ext cx="4762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Correlation lies between −1 and +1 when both standard deviations are positive.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F89E2A-EFE0-4122-AC3F-D803C65B6C5D}"/>
              </a:ext>
            </a:extLst>
          </p:cNvPr>
          <p:cNvSpPr>
            <a:spLocks noGrp="1"/>
          </p:cNvSpPr>
          <p:nvPr/>
        </p:nvSpPr>
        <p:spPr>
          <a:xfrm>
            <a:off x="6477000" y="4095750"/>
            <a:ext cx="38100" cy="11430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23161A-3531-4BE9-B1BD-DCE1750F2297}"/>
              </a:ext>
            </a:extLst>
          </p:cNvPr>
          <p:cNvSpPr>
            <a:spLocks noGrp="1"/>
          </p:cNvSpPr>
          <p:nvPr/>
        </p:nvSpPr>
        <p:spPr>
          <a:xfrm>
            <a:off x="6858000" y="4114800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FINANCE EXAMPLE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080B80-90E5-4E6D-BA92-28BDB455F80A}"/>
              </a:ext>
            </a:extLst>
          </p:cNvPr>
          <p:cNvSpPr>
            <a:spLocks noGrp="1"/>
          </p:cNvSpPr>
          <p:nvPr/>
        </p:nvSpPr>
        <p:spPr>
          <a:xfrm>
            <a:off x="6858000" y="4457700"/>
            <a:ext cx="4286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 high correlation between price and volume may indicate co-movement. It does not establish causality.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DB57CA-99A4-4B05-A224-A06C2E73919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477491" y="2366474"/>
                <a:ext cx="5002460" cy="1210652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>
                          <a:latin typeface="Cambria Math"/>
                          <a:ea typeface="Cambria Math"/>
                          <a:cs typeface="Cambria Math"/>
                        </a:rPr>
                        <m:t>𝐶𝑜𝑟𝑟</m:t>
                      </m:r>
                      <m:d>
                        <m:dPr>
                          <m:ctrlPr>
                            <a:rPr lang="en-US" sz="3600" b="0" i="1"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𝑋</m:t>
                          </m:r>
                          <m:r>
                            <a:rPr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𝑌</m:t>
                          </m:r>
                        </m:e>
                      </m:d>
                      <m:r>
                        <a:rPr lang="en-US" sz="3600" b="0" i="1">
                          <a:latin typeface="Cambria Math"/>
                          <a:ea typeface="Cambria Math"/>
                          <a:cs typeface="Cambria Math"/>
                        </a:rPr>
                        <m:t>= </m:t>
                      </m:r>
                      <m:f>
                        <m:fPr>
                          <m:ctrlPr>
                            <a:rPr lang="en-US" sz="3600" b="0" i="1"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𝐶𝑂𝑉</m:t>
                          </m:r>
                          <m:r>
                            <a:rPr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r>
                            <a:rPr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𝑋</m:t>
                          </m:r>
                          <m:r>
                            <a:rPr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𝑌</m:t>
                          </m:r>
                          <m:r>
                            <a:rPr lang="en-US" sz="3600" b="0" i="1"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3600" b="0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600" b="0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DB57CA-99A4-4B05-A224-A06C2E7391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491" y="2366474"/>
                <a:ext cx="5002460" cy="12106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575475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C10585F-F25F-4799-A242-B0FCB7E931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FA17BF-D413-409F-AD7F-A0895308A1E0}"/>
              </a:ext>
            </a:extLst>
          </p:cNvPr>
          <p:cNvSpPr>
            <a:spLocks noGrp="1"/>
          </p:cNvSpPr>
          <p:nvPr/>
        </p:nvSpPr>
        <p:spPr>
          <a:xfrm>
            <a:off x="7715250" y="800100"/>
            <a:ext cx="314325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2750" b="1" i="0">
                <a:solidFill>
                  <a:srgbClr val="102D49"/>
                </a:solidFill>
                <a:latin typeface="Aptos"/>
                <a:ea typeface="Aptos"/>
                <a:cs typeface="Aptos"/>
              </a:defRPr>
            </a:pPr>
            <a:r>
              <a:rPr sz="12750" b="1" i="0">
                <a:solidFill>
                  <a:srgbClr val="102D4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813B4A-726E-43CB-A820-4E0D6F2230AB}"/>
              </a:ext>
            </a:extLst>
          </p:cNvPr>
          <p:cNvSpPr>
            <a:spLocks noGrp="1"/>
          </p:cNvSpPr>
          <p:nvPr/>
        </p:nvSpPr>
        <p:spPr>
          <a:xfrm>
            <a:off x="762000" y="1200150"/>
            <a:ext cx="876300" cy="47625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951CC7-97F5-49A6-B910-11ABD14427FF}"/>
              </a:ext>
            </a:extLst>
          </p:cNvPr>
          <p:cNvSpPr>
            <a:spLocks noGrp="1"/>
          </p:cNvSpPr>
          <p:nvPr/>
        </p:nvSpPr>
        <p:spPr>
          <a:xfrm>
            <a:off x="762000" y="1485900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PART 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E74FD4-A89C-46A7-BB3A-6C2EA7CFA97A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239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Visualising financial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9B1672-CA72-4B32-9EA1-F8CEE45E9C01}"/>
              </a:ext>
            </a:extLst>
          </p:cNvPr>
          <p:cNvSpPr>
            <a:spLocks noGrp="1"/>
          </p:cNvSpPr>
          <p:nvPr/>
        </p:nvSpPr>
        <p:spPr>
          <a:xfrm>
            <a:off x="781050" y="3314700"/>
            <a:ext cx="6286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BFD0D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BFD0DF"/>
                </a:solidFill>
                <a:latin typeface="Aptos"/>
                <a:ea typeface="Aptos"/>
                <a:cs typeface="Aptos"/>
              </a:rPr>
              <a:t>Charts reveal structure that tables can hide when the axes and units are clear.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29D6E5-DDCD-40D3-B4EF-AD68A66A26E5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CFCFC1-039F-4D96-A7AE-7C43EFE34825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2DAD48-B136-47BC-A866-1B5F6BCAA7B3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16407043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951DC91-DC93-4BAD-81ED-CBDEB1E80D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FDAF84-33C4-410C-B54A-FEE411FB365A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VISUALISATION EVIDENCE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C524F8-2FA5-499D-A4C2-F73B5671ACF2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Apple closing-price distribution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67F283-05EE-496F-B249-0679FFAC7824}"/>
              </a:ext>
            </a:extLst>
          </p:cNvPr>
          <p:cNvSpPr>
            <a:spLocks noGrp="1"/>
          </p:cNvSpPr>
          <p:nvPr/>
        </p:nvSpPr>
        <p:spPr>
          <a:xfrm>
            <a:off x="552450" y="1409700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The histogram shows how many trading days fall inside each price interval.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4B563B-FAA8-46D0-8260-4496C29B788B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10820400" cy="514350"/>
          </a:xfrm>
          <a:prstGeom prst="rect">
            <a:avLst/>
          </a:prstGeom>
          <a:solidFill>
            <a:srgbClr val="EAF7F1"/>
          </a:solidFill>
          <a:ln w="0">
            <a:solidFill>
              <a:srgbClr val="EAF7F1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1B78A2-F710-4A95-83ED-D84F2177D1E1}"/>
              </a:ext>
            </a:extLst>
          </p:cNvPr>
          <p:cNvSpPr>
            <a:spLocks noGrp="1"/>
          </p:cNvSpPr>
          <p:nvPr/>
        </p:nvSpPr>
        <p:spPr>
          <a:xfrm>
            <a:off x="876300" y="5819775"/>
            <a:ext cx="104394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rPr>
              <a:t>Interpretation: the distribution describes the observed sample. It does not preserve the order of time and does not forecast future prices.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6594" y="2076450"/>
            <a:ext cx="10818813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49618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89472CD4-7C28-449B-855C-8760A1DECFA3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0422B8-9B58-446C-98A7-A9447512BE79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VISUALISATION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73510A-E82C-4BF3-B69A-EAB149B225A0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chart answers a question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12E0A2-95D9-4094-AE33-85EB235E9059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Use the chart type that matches the analytical question.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4CC2AC-4069-489A-B8CA-4366F81D1870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3BA282-69A7-4F90-8B44-FD3755C1D694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79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0A08BC-E141-4EFA-A1B8-158F4F8BA808}"/>
              </a:ext>
            </a:extLst>
          </p:cNvPr>
          <p:cNvSpPr>
            <a:spLocks noGrp="1"/>
          </p:cNvSpPr>
          <p:nvPr/>
        </p:nvSpPr>
        <p:spPr>
          <a:xfrm>
            <a:off x="704850" y="2609850"/>
            <a:ext cx="220980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0BE3EB-0A2F-4674-9266-62B2A6038D3D}"/>
              </a:ext>
            </a:extLst>
          </p:cNvPr>
          <p:cNvSpPr>
            <a:spLocks noGrp="1"/>
          </p:cNvSpPr>
          <p:nvPr/>
        </p:nvSpPr>
        <p:spPr>
          <a:xfrm>
            <a:off x="704850" y="2609850"/>
            <a:ext cx="2209800" cy="76200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5DA582-5C91-4633-8F8D-E276B0BD0666}"/>
              </a:ext>
            </a:extLst>
          </p:cNvPr>
          <p:cNvSpPr>
            <a:spLocks noGrp="1"/>
          </p:cNvSpPr>
          <p:nvPr/>
        </p:nvSpPr>
        <p:spPr>
          <a:xfrm>
            <a:off x="895350" y="2990850"/>
            <a:ext cx="1809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DISTRIBUTION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9529FC-B94A-4B75-A24B-A0416ADE00B6}"/>
              </a:ext>
            </a:extLst>
          </p:cNvPr>
          <p:cNvSpPr>
            <a:spLocks noGrp="1"/>
          </p:cNvSpPr>
          <p:nvPr/>
        </p:nvSpPr>
        <p:spPr>
          <a:xfrm>
            <a:off x="895350" y="3429000"/>
            <a:ext cx="1809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How are values spread?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DBD467-E369-465A-B7C7-FDE9D4160511}"/>
              </a:ext>
            </a:extLst>
          </p:cNvPr>
          <p:cNvSpPr>
            <a:spLocks noGrp="1"/>
          </p:cNvSpPr>
          <p:nvPr/>
        </p:nvSpPr>
        <p:spPr>
          <a:xfrm>
            <a:off x="895350" y="4038600"/>
            <a:ext cx="1809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Histogram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074F74-BFE4-4151-A038-6F0C7A1E956F}"/>
              </a:ext>
            </a:extLst>
          </p:cNvPr>
          <p:cNvSpPr>
            <a:spLocks noGrp="1"/>
          </p:cNvSpPr>
          <p:nvPr/>
        </p:nvSpPr>
        <p:spPr>
          <a:xfrm>
            <a:off x="3486150" y="2609850"/>
            <a:ext cx="220980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34FC7C-AA6C-428D-B634-06CF08FADE79}"/>
              </a:ext>
            </a:extLst>
          </p:cNvPr>
          <p:cNvSpPr>
            <a:spLocks noGrp="1"/>
          </p:cNvSpPr>
          <p:nvPr/>
        </p:nvSpPr>
        <p:spPr>
          <a:xfrm>
            <a:off x="3486150" y="2609850"/>
            <a:ext cx="2209800" cy="762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6BDCE4-3DD8-4046-9E44-75476F470200}"/>
              </a:ext>
            </a:extLst>
          </p:cNvPr>
          <p:cNvSpPr>
            <a:spLocks noGrp="1"/>
          </p:cNvSpPr>
          <p:nvPr/>
        </p:nvSpPr>
        <p:spPr>
          <a:xfrm>
            <a:off x="3676650" y="2990850"/>
            <a:ext cx="1809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COMPARISON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883AE0-C020-47FC-B38B-F4AC05A21E86}"/>
              </a:ext>
            </a:extLst>
          </p:cNvPr>
          <p:cNvSpPr>
            <a:spLocks noGrp="1"/>
          </p:cNvSpPr>
          <p:nvPr/>
        </p:nvSpPr>
        <p:spPr>
          <a:xfrm>
            <a:off x="3676650" y="3429000"/>
            <a:ext cx="1809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How do groups differ?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9AD7FA-8272-43CF-96C9-58DF8AB3B1B7}"/>
              </a:ext>
            </a:extLst>
          </p:cNvPr>
          <p:cNvSpPr>
            <a:spLocks noGrp="1"/>
          </p:cNvSpPr>
          <p:nvPr/>
        </p:nvSpPr>
        <p:spPr>
          <a:xfrm>
            <a:off x="3676650" y="4038600"/>
            <a:ext cx="1809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Bar chart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AB5A84-B010-4A00-AD2D-0D586FEA92F9}"/>
              </a:ext>
            </a:extLst>
          </p:cNvPr>
          <p:cNvSpPr>
            <a:spLocks noGrp="1"/>
          </p:cNvSpPr>
          <p:nvPr/>
        </p:nvSpPr>
        <p:spPr>
          <a:xfrm>
            <a:off x="6267450" y="2609850"/>
            <a:ext cx="220980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3ABF06-8101-4E2A-89AC-A595D39D6BE8}"/>
              </a:ext>
            </a:extLst>
          </p:cNvPr>
          <p:cNvSpPr>
            <a:spLocks noGrp="1"/>
          </p:cNvSpPr>
          <p:nvPr/>
        </p:nvSpPr>
        <p:spPr>
          <a:xfrm>
            <a:off x="6267450" y="2609850"/>
            <a:ext cx="2209800" cy="762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510379-4A56-46EC-93B8-766F37479219}"/>
              </a:ext>
            </a:extLst>
          </p:cNvPr>
          <p:cNvSpPr>
            <a:spLocks noGrp="1"/>
          </p:cNvSpPr>
          <p:nvPr/>
        </p:nvSpPr>
        <p:spPr>
          <a:xfrm>
            <a:off x="6457950" y="2990850"/>
            <a:ext cx="1809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RELATIONSHIP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96BCA2-05D4-4312-9DFF-B58B162852C1}"/>
              </a:ext>
            </a:extLst>
          </p:cNvPr>
          <p:cNvSpPr>
            <a:spLocks noGrp="1"/>
          </p:cNvSpPr>
          <p:nvPr/>
        </p:nvSpPr>
        <p:spPr>
          <a:xfrm>
            <a:off x="6457950" y="3429000"/>
            <a:ext cx="1809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Do two variables move together?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B7BBCD-353B-479A-9621-76CD9E723D22}"/>
              </a:ext>
            </a:extLst>
          </p:cNvPr>
          <p:cNvSpPr>
            <a:spLocks noGrp="1"/>
          </p:cNvSpPr>
          <p:nvPr/>
        </p:nvSpPr>
        <p:spPr>
          <a:xfrm>
            <a:off x="6457950" y="4038600"/>
            <a:ext cx="1809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Scatter plot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486529-F46A-4751-8625-F6139E67E998}"/>
              </a:ext>
            </a:extLst>
          </p:cNvPr>
          <p:cNvSpPr>
            <a:spLocks noGrp="1"/>
          </p:cNvSpPr>
          <p:nvPr/>
        </p:nvSpPr>
        <p:spPr>
          <a:xfrm>
            <a:off x="9048750" y="2609850"/>
            <a:ext cx="220980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1E3BF8-FE30-476D-BAA2-16854F2E6874}"/>
              </a:ext>
            </a:extLst>
          </p:cNvPr>
          <p:cNvSpPr>
            <a:spLocks noGrp="1"/>
          </p:cNvSpPr>
          <p:nvPr/>
        </p:nvSpPr>
        <p:spPr>
          <a:xfrm>
            <a:off x="9048750" y="2609850"/>
            <a:ext cx="2209800" cy="76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A4E1D0-538D-42F8-B2BC-8034AA4A1CDF}"/>
              </a:ext>
            </a:extLst>
          </p:cNvPr>
          <p:cNvSpPr>
            <a:spLocks noGrp="1"/>
          </p:cNvSpPr>
          <p:nvPr/>
        </p:nvSpPr>
        <p:spPr>
          <a:xfrm>
            <a:off x="9239250" y="2990850"/>
            <a:ext cx="1809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TIME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FA468B-99BE-48FB-A4EC-388EB2C24C46}"/>
              </a:ext>
            </a:extLst>
          </p:cNvPr>
          <p:cNvSpPr>
            <a:spLocks noGrp="1"/>
          </p:cNvSpPr>
          <p:nvPr/>
        </p:nvSpPr>
        <p:spPr>
          <a:xfrm>
            <a:off x="9239250" y="3429000"/>
            <a:ext cx="1809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How does a value change?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9A595C-ACFA-4F8F-81F4-DB61190BCFB5}"/>
              </a:ext>
            </a:extLst>
          </p:cNvPr>
          <p:cNvSpPr>
            <a:spLocks noGrp="1"/>
          </p:cNvSpPr>
          <p:nvPr/>
        </p:nvSpPr>
        <p:spPr>
          <a:xfrm>
            <a:off x="9239250" y="4038600"/>
            <a:ext cx="1809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Line chart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A34C95-D731-48FC-B90D-2BD9FEEB09E7}"/>
              </a:ext>
            </a:extLst>
          </p:cNvPr>
          <p:cNvSpPr>
            <a:spLocks noGrp="1"/>
          </p:cNvSpPr>
          <p:nvPr/>
        </p:nvSpPr>
        <p:spPr>
          <a:xfrm>
            <a:off x="552450" y="5219700"/>
            <a:ext cx="11087100" cy="4953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2494CB-C5FA-4406-9936-EE434F6AF706}"/>
              </a:ext>
            </a:extLst>
          </p:cNvPr>
          <p:cNvSpPr>
            <a:spLocks noGrp="1"/>
          </p:cNvSpPr>
          <p:nvPr/>
        </p:nvSpPr>
        <p:spPr>
          <a:xfrm>
            <a:off x="742950" y="5372100"/>
            <a:ext cx="10706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Label the variable, unit, time period, and transformation.</a:t>
            </a:r>
          </a:p>
        </p:txBody>
      </p:sp>
    </p:spTree>
    <p:extLst>
      <p:ext uri="{BB962C8B-B14F-4D97-AF65-F5344CB8AC3E}">
        <p14:creationId xmlns:p14="http://schemas.microsoft.com/office/powerpoint/2010/main" val="192816854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EDDD5FC-DF0F-4EAA-8990-74ED36DA780D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49D3E0-F889-40B9-9282-16AAA77B689B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D7EAE6-681B-45DC-AA87-20AC89D3599F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first histogram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08A30E-7A6E-4A2D-9B8E-FD69AFD4ED0C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histogram shows the distribution of observed closing prices.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15B62F-0350-472E-9C37-6C963E7D298B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CACC12-EF12-4A03-9526-D9FFAC32F2C7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DC8D80-507C-428C-A87D-2AA42CCAAF93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4E2F54-B98F-4B43-BD85-E95D831D86D8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97C399-7426-4B87-AED7-6B6BC4616DCE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plt.figure(figsize=(8, 4))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plt.hist(prices["close"].dropna(), bins=30,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     color="#1B6FB8", alpha=0.85)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plt.xlabel("Apple closing price")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plt.ylabel("Trading days")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plt.title("Distribution of closing prices")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plt.show()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D5F8AE-E45B-46F0-8E01-E87C8E6AD2CB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FC3960-DADF-42B3-879D-48D91E708049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873E3D-5150-4504-9274-7534C507E2AC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403B16-B6D8-4741-ACD7-07C8795254F7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Histogram of Apple closing prices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885336-8974-4FB9-9BE7-F111F30A6223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1EEEF8-AD7C-4AB6-AAB7-BB8AFA4A7BBD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4F27B8-35F6-44AF-B50D-991F9FA2A959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chart shows the sample distribution. It does not show the order of time, so it cannot reveal a trend.</a:t>
            </a:r>
          </a:p>
        </p:txBody>
      </p:sp>
    </p:spTree>
    <p:extLst>
      <p:ext uri="{BB962C8B-B14F-4D97-AF65-F5344CB8AC3E}">
        <p14:creationId xmlns:p14="http://schemas.microsoft.com/office/powerpoint/2010/main" val="29655639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A111CDB-9FC3-48F7-AB68-08331990D3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65FC0B-1711-49FC-9ED1-F9F15659F290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VISUALISATION EVIDENCE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3B797E-8318-4C4D-9608-AEA84461AB26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Apple closing price over time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74FDEC-CDE8-4333-B727-0DFA3E9A176B}"/>
              </a:ext>
            </a:extLst>
          </p:cNvPr>
          <p:cNvSpPr>
            <a:spLocks noGrp="1"/>
          </p:cNvSpPr>
          <p:nvPr/>
        </p:nvSpPr>
        <p:spPr>
          <a:xfrm>
            <a:off x="552450" y="1409700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The line chart preserves the date order that a histogram removes.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2F585B-4D30-48DD-9FEF-7F1D5F3B94BE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10820400" cy="514350"/>
          </a:xfrm>
          <a:prstGeom prst="rect">
            <a:avLst/>
          </a:prstGeom>
          <a:solidFill>
            <a:srgbClr val="EAF7F1"/>
          </a:solidFill>
          <a:ln w="0">
            <a:solidFill>
              <a:srgbClr val="EAF7F1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A259E4-73FA-4FF8-85CD-00479C2EC158}"/>
              </a:ext>
            </a:extLst>
          </p:cNvPr>
          <p:cNvSpPr>
            <a:spLocks noGrp="1"/>
          </p:cNvSpPr>
          <p:nvPr/>
        </p:nvSpPr>
        <p:spPr>
          <a:xfrm>
            <a:off x="876300" y="5819775"/>
            <a:ext cx="104394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rPr>
              <a:t>Interpretation: time order makes trends, clusters, and sudden changes visible. A price chart alone is not an investment return series.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6594" y="2076450"/>
            <a:ext cx="10818813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28348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0007A9-1B52-409E-A490-1CE4BD01B3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332F00-311D-46B1-BCD4-236AFCF50245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VISUALISATION EVIDENCE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FA62C1-E789-492D-8330-F570AB931D3B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Annual Apple returns by calendar year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0E5577-D57E-4B44-A115-4A840720A504}"/>
              </a:ext>
            </a:extLst>
          </p:cNvPr>
          <p:cNvSpPr>
            <a:spLocks noGrp="1"/>
          </p:cNvSpPr>
          <p:nvPr/>
        </p:nvSpPr>
        <p:spPr>
          <a:xfrm>
            <a:off x="552450" y="1409700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Grouping daily returns by year makes the comparison visible without relying on an unclear scatter pattern.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8A57A3-2640-4886-8D46-027F440F90BB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10820400" cy="514350"/>
          </a:xfrm>
          <a:prstGeom prst="rect">
            <a:avLst/>
          </a:prstGeom>
          <a:solidFill>
            <a:srgbClr val="EAF7F1"/>
          </a:solidFill>
          <a:ln w="0">
            <a:solidFill>
              <a:srgbClr val="EAF7F1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B6E52A-59D0-4D8E-AF61-71E019F16A96}"/>
              </a:ext>
            </a:extLst>
          </p:cNvPr>
          <p:cNvSpPr>
            <a:spLocks noGrp="1"/>
          </p:cNvSpPr>
          <p:nvPr/>
        </p:nvSpPr>
        <p:spPr>
          <a:xfrm>
            <a:off x="876300" y="5819775"/>
            <a:ext cx="104394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2A9D70"/>
                </a:solidFill>
                <a:latin typeface="Bitstream Charter"/>
                <a:ea typeface="Bitstream Charter"/>
                <a:cs typeface="Bitstream Charter"/>
              </a:rPr>
              <a:t>Interpretation: the bars compare sample averages across calendar years. They describe the included data and do not forecast future returns.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6594" y="2076450"/>
            <a:ext cx="10818813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78165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2C733D3-66C3-41C9-BA89-75F129CB07D0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15A8BC-0C64-4E87-852B-0FFDF2ABC622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6FB8"/>
                </a:solidFill>
                <a:latin typeface="Aptos"/>
                <a:ea typeface="Aptos"/>
                <a:cs typeface="Aptos"/>
              </a:rPr>
              <a:t>VISUALISATION EVIDENCE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F0817C-2328-489A-86EC-26D347EB456B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Daily returns and trading volume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AB64C6-8987-49D3-B8C0-09165E5ED98A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scatter plot asks whether unusually high trading activity coincides with larger daily price moves.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9094D5-5FB0-4C05-88AB-7456E4C9A336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9197DD-4ACD-46EE-9391-ADD48121F2BA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2A1136-1DB0-4021-A720-C90F22DC2571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10820400" cy="51435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104C8D-EA08-460B-B1B5-06F2E1D74111}"/>
              </a:ext>
            </a:extLst>
          </p:cNvPr>
          <p:cNvSpPr>
            <a:spLocks noGrp="1"/>
          </p:cNvSpPr>
          <p:nvPr/>
        </p:nvSpPr>
        <p:spPr>
          <a:xfrm>
            <a:off x="876300" y="5819775"/>
            <a:ext cx="10439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8023"/>
          </a:bodyPr>
          <a:lstStyle/>
          <a:p>
            <a:pPr algn="l">
              <a:buNone/>
              <a:defRPr sz="1125" b="1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936C"/>
                </a:solidFill>
                <a:latin typeface="Aptos"/>
                <a:ea typeface="Aptos"/>
                <a:cs typeface="Aptos"/>
              </a:rPr>
              <a:t>Interpretation: examine whether the vertical spread of returns changes as volume rises. The plot is descriptive; it does not establish causality or predict returns.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6594" y="2076450"/>
            <a:ext cx="10818813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3385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1E07EA4-F61D-4C15-AE01-82E4536A1709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15CE40-F0D7-45DB-A367-DE34F6ADAF74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97FE3E-B8C3-4E77-B03A-441034E48EB8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Compare annual average prices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CEEDA1-2C9B-4708-8EE3-608C310CF4DE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Group first, then visualise the group summary.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9290AC-F18E-4A16-B158-6FA6D9DB35C5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47C98C-6DAA-4162-B85E-EE5BD6169D33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95B67D-FF28-4155-882A-59C152266EE3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7FFF0F-27AB-4FEB-BD02-B800593A927F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99644F-C2F6-4C39-92A7-47BCE157F1FA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prices["year"] = prices["date"].dt.year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annual_close = prices.groupby("year")["close"].mean()</a:t>
            </a:r>
          </a:p>
          <a:p>
            <a:endParaRPr sz="1125" b="0" i="0">
              <a:solidFill>
                <a:srgbClr val="E9F2F8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annual_close.plot(kind="bar", color="#10AFC0")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plt.ylabel("Average closing price")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plt.xlabel("Year")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plt.title("Average Apple closing price by year")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plt.show()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11E314-5873-459E-88FC-140AE6AA81B0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ED4F12-5FD9-4136-93CC-227586E02EBF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C20BD9-0EF0-4DA3-95D4-0C2BC9FA8DAA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8F401D-987E-47E7-ABE3-1678A591B21C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Bar chart with one average per year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41F3AB-3811-434C-B399-CB2C61A0F255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E91802-2853-4086-9A84-DC13333B41CA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54D4B6-0BA7-464A-B533-A28360D2F55C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denominator is the number of trading days in each year. The average is descriptive, not a forecast.</a:t>
            </a:r>
          </a:p>
        </p:txBody>
      </p:sp>
    </p:spTree>
    <p:extLst>
      <p:ext uri="{BB962C8B-B14F-4D97-AF65-F5344CB8AC3E}">
        <p14:creationId xmlns:p14="http://schemas.microsoft.com/office/powerpoint/2010/main" val="100878659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1AC71D8-A05A-4ABB-8DCB-8816CA62ED8A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7B14EC-F3D4-45DB-840C-EAB131069BB7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182E9-8469-4ACF-95C6-40677977C276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Plot the time order explicitly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EAB652-07FB-4D81-ABCE-84387A883145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line chart preserves the order that a histogram removes.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862CEB-AE93-4D45-9AB7-5CE5CAF1A5AC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E2491C-9C6B-40DE-A7F4-8B62C86E0913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A960E-7B59-412F-BD02-062AEC11239F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636337-158F-458D-9025-7BC97DB3E459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78B428-B5A2-4CDC-93AF-12D5FE7A2F01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plt.figure(figsize=(9, 4))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plt.plot(prices["date"], prices["close"],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     color="#1B6FB8", linewidth=1.5)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plt.xlabel("Date")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plt.ylabel("Apple closing price")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plt.title("Apple closing price over time")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plt.tight_layout()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plt.show()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4C4632-E641-4C21-B193-098DF5F1D616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913A18-4831-41DC-9829-CF78CA93C123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5C8150-3EEF-46C4-B7F5-F0DA4CFDB4DD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9037E3-5909-442B-8864-7ADAB85561D4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Line chart with date on the horizontal axis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A3DE95-15F1-4019-B439-81FD7160F3AC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260A08-30AE-491D-A1FF-F48679B99004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734755-82F4-4228-AC62-FF2FE42DCE73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Time order makes changes and clusters visible, but a price chart alone does not measure investment performance.</a:t>
            </a:r>
          </a:p>
        </p:txBody>
      </p:sp>
    </p:spTree>
    <p:extLst>
      <p:ext uri="{BB962C8B-B14F-4D97-AF65-F5344CB8AC3E}">
        <p14:creationId xmlns:p14="http://schemas.microsoft.com/office/powerpoint/2010/main" val="131940320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D3D367-F27A-47EB-A87A-A110494DB082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38B2A8-C76F-476E-B66A-D3C9B342BC44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E96AA3-CEC9-4F0A-82D3-44A9F23D0EB5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Inspect price and volume together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492176-4FCB-4927-9A34-70A27CA2B4F0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 scatter plot can reveal clusters and nonlinear patterns.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381ED6-5BF2-48BA-BA29-D7F131161A8C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9D0B02-ACE9-4EB6-8FDF-43A99B2D50B2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59826E-CBF0-4F2A-A557-B080A987805E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5248D9-B2BC-4353-9082-4878B628341D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FE8689-9991-4502-A6D5-697972DE2E3C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plt.scatter(prices["volume"], prices["close"],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            alpha=0.35, color="#1B6FB8")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plt.xlabel("Trading volume")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plt.ylabel("Closing price")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plt.title("Apple price and volume")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plt.show()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6A37A2-69DC-4643-A27D-E2F658698187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FD77E6-CCED-4F6E-BC48-5DED7552DB31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9F3C29-9D19-4305-A357-8A89267D7A5F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85A3EC-727D-4AA8-9DF4-E743E18B64A8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Scatter plot with trading days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4BAAE6-46B8-46A5-AAED-A6BD18846315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1BC864-919D-4B49-8604-EFD82C1D5FB6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E6367F-CE83-4CA9-BF7E-245E17F4DB8D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Look for clusters, unusual points, and changes in the relationship. The plot alone cannot establish a causal effect.</a:t>
            </a:r>
          </a:p>
        </p:txBody>
      </p:sp>
    </p:spTree>
    <p:extLst>
      <p:ext uri="{BB962C8B-B14F-4D97-AF65-F5344CB8AC3E}">
        <p14:creationId xmlns:p14="http://schemas.microsoft.com/office/powerpoint/2010/main" val="63567428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54753B5-3D11-42E4-8B72-EF57910C1078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8243BC-BDDC-4E60-93A6-F71D114B5E88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VISUAL AUDIT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96D5B6-A942-4DBE-94C9-D587E5D5E7EF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axis is part of the evidence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1288D5-C1C5-4931-8580-D43320C48020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An attractive chart can still communicate the wrong conclusion.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D780E7-381A-4EE3-A1D2-A7E4FD62753D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927A97-8BB3-476B-BE5A-40C8B02A8806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26B20C-7069-4A20-A144-4F11FC764780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321065-CE85-4022-A9F6-676D18985182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MINIMUM STANDARD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4EAC80-4405-490E-AF91-FCECAF1349BD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Label the variable, unit, time period, sample, and transformation.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46E033-0F6C-488A-A258-259C8FBD78C1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8A0797-FA50-491B-9466-C88C4E908132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BEFORE INTERPRETING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F54E58-BDE4-4DBE-99CB-EF4953F06440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Ask whether a different scale, denominator, or time window would change the visible pattern.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9E5203-2F4A-4B96-9373-6D469CC6DABA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1DA0D5-01EB-4F52-B2EF-F061C996952E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Visual clarity should increase scrutiny.</a:t>
            </a:r>
          </a:p>
        </p:txBody>
      </p:sp>
    </p:spTree>
    <p:extLst>
      <p:ext uri="{BB962C8B-B14F-4D97-AF65-F5344CB8AC3E}">
        <p14:creationId xmlns:p14="http://schemas.microsoft.com/office/powerpoint/2010/main" val="21003079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35FFFA4-864F-49D9-B173-8D2CDD109C89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DE2F15-088B-47EC-A433-FBC27429F7B8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VISUAL AUDIT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FE4D58-18FB-49BF-872C-79F289304EBD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chart answers one question at a time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0C5036-D913-4BEB-908D-9BF2FD53970E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visual form should follow the analytical purpose.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9E84BE-4F44-4C62-9985-49686FB5FFDA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A4AB6D-77A3-4757-9E2F-D3F53331907A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926DF1-24E8-4C97-A586-7E030FCD76EE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418CEB-C44A-4EEA-9894-AF22928BE1EE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DISTRIBUTION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9ED558-0985-42A1-AD96-50B7A18EB9BA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Use a histogram or box plot to study spread, skewness, and unusual observations.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D9196D-4B1B-453A-9CB4-B7F2361D871A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A9D8F8-55D4-46BC-8596-D893B8B4055A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COMPARISON OR TIME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C0C04B-EBB8-4075-AEA2-8B47BB9EB6AE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Use a bar chart for grouped summaries and a line chart when order over time matters.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BCFC41-9704-462C-8F04-46A1E8FD431B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9307F-BFBB-419D-8AC6-5D34A6CEFB1F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chart becomes evidence only when the reader knows what question it answers.</a:t>
            </a:r>
          </a:p>
        </p:txBody>
      </p:sp>
    </p:spTree>
    <p:extLst>
      <p:ext uri="{BB962C8B-B14F-4D97-AF65-F5344CB8AC3E}">
        <p14:creationId xmlns:p14="http://schemas.microsoft.com/office/powerpoint/2010/main" val="104454250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BD8CE222-E073-4E4A-B308-EA16402D0E2F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A55939-0962-40A6-95EA-EFABA97DB539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DATASET DOCUMENTATION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90534A-E7EB-48D6-878F-182642AED9D7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Apple teaching data: variable dictionary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68DD01-1C85-407D-A04F-18983601BB06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These 11 source columns come from the public Plotly teaching file. The Week 1 notebook uses the three fields marked as primary.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207A19-317A-46B0-8BE3-4DDE18860233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3C324F-BD47-44B9-BD6E-EBFDFB6F0DE8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D9ABCD-338D-4B9B-BAE5-8B666B6335DD}"/>
              </a:ext>
            </a:extLst>
          </p:cNvPr>
          <p:cNvSpPr>
            <a:spLocks noGrp="1"/>
          </p:cNvSpPr>
          <p:nvPr/>
        </p:nvSpPr>
        <p:spPr>
          <a:xfrm>
            <a:off x="552450" y="2343150"/>
            <a:ext cx="510540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CC06A6-A268-4C95-98F3-7364B5FDB95B}"/>
              </a:ext>
            </a:extLst>
          </p:cNvPr>
          <p:cNvSpPr>
            <a:spLocks noGrp="1"/>
          </p:cNvSpPr>
          <p:nvPr/>
        </p:nvSpPr>
        <p:spPr>
          <a:xfrm>
            <a:off x="552450" y="2343150"/>
            <a:ext cx="5105400" cy="36195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326BFE-7F58-4E43-B175-8310607F7714}"/>
              </a:ext>
            </a:extLst>
          </p:cNvPr>
          <p:cNvSpPr>
            <a:spLocks noGrp="1"/>
          </p:cNvSpPr>
          <p:nvPr/>
        </p:nvSpPr>
        <p:spPr>
          <a:xfrm>
            <a:off x="704850" y="2457450"/>
            <a:ext cx="4800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Market fields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11F874-2E91-479E-86AF-46CEF12D6ADD}"/>
              </a:ext>
            </a:extLst>
          </p:cNvPr>
          <p:cNvSpPr>
            <a:spLocks noGrp="1"/>
          </p:cNvSpPr>
          <p:nvPr/>
        </p:nvSpPr>
        <p:spPr>
          <a:xfrm>
            <a:off x="552450" y="2705100"/>
            <a:ext cx="5105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858C39-EF0F-44F4-982B-FE6559EB95AA}"/>
              </a:ext>
            </a:extLst>
          </p:cNvPr>
          <p:cNvSpPr>
            <a:spLocks noGrp="1"/>
          </p:cNvSpPr>
          <p:nvPr/>
        </p:nvSpPr>
        <p:spPr>
          <a:xfrm>
            <a:off x="685800" y="277177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2C93FE-CDAD-4905-8013-C124B544B837}"/>
              </a:ext>
            </a:extLst>
          </p:cNvPr>
          <p:cNvSpPr>
            <a:spLocks noGrp="1"/>
          </p:cNvSpPr>
          <p:nvPr/>
        </p:nvSpPr>
        <p:spPr>
          <a:xfrm>
            <a:off x="2114550" y="276225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Trading date; one row is one daily market observation.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846DBB-87C9-4B3E-9CE7-EE33D0211B66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5105400" cy="4381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16FF3C-3806-4551-BEA6-596A5B0FCBCC}"/>
              </a:ext>
            </a:extLst>
          </p:cNvPr>
          <p:cNvSpPr>
            <a:spLocks noGrp="1"/>
          </p:cNvSpPr>
          <p:nvPr/>
        </p:nvSpPr>
        <p:spPr>
          <a:xfrm>
            <a:off x="685800" y="320992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AAPL.Open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2429F7-A942-47DD-9866-FE0B75395459}"/>
              </a:ext>
            </a:extLst>
          </p:cNvPr>
          <p:cNvSpPr>
            <a:spLocks noGrp="1"/>
          </p:cNvSpPr>
          <p:nvPr/>
        </p:nvSpPr>
        <p:spPr>
          <a:xfrm>
            <a:off x="2114550" y="320040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Apple opening price for that trading day.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1A85DD-3C9C-40A6-A322-CCA45785B02F}"/>
              </a:ext>
            </a:extLst>
          </p:cNvPr>
          <p:cNvSpPr>
            <a:spLocks noGrp="1"/>
          </p:cNvSpPr>
          <p:nvPr/>
        </p:nvSpPr>
        <p:spPr>
          <a:xfrm>
            <a:off x="552450" y="3581400"/>
            <a:ext cx="5105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D1006E-1220-4B83-9467-9CEE61698700}"/>
              </a:ext>
            </a:extLst>
          </p:cNvPr>
          <p:cNvSpPr>
            <a:spLocks noGrp="1"/>
          </p:cNvSpPr>
          <p:nvPr/>
        </p:nvSpPr>
        <p:spPr>
          <a:xfrm>
            <a:off x="685800" y="364807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AAPL.High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C96CE1-7E67-4122-8B41-A1A61DAFAB72}"/>
              </a:ext>
            </a:extLst>
          </p:cNvPr>
          <p:cNvSpPr>
            <a:spLocks noGrp="1"/>
          </p:cNvSpPr>
          <p:nvPr/>
        </p:nvSpPr>
        <p:spPr>
          <a:xfrm>
            <a:off x="2114550" y="363855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Highest reported Apple price during the trading day.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72CC2A-DD1A-4799-BEAB-5143582A86F8}"/>
              </a:ext>
            </a:extLst>
          </p:cNvPr>
          <p:cNvSpPr>
            <a:spLocks noGrp="1"/>
          </p:cNvSpPr>
          <p:nvPr/>
        </p:nvSpPr>
        <p:spPr>
          <a:xfrm>
            <a:off x="552450" y="4019550"/>
            <a:ext cx="5105400" cy="4381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B7D7CE-2263-4007-8C6B-1E1F4A0DF9BF}"/>
              </a:ext>
            </a:extLst>
          </p:cNvPr>
          <p:cNvSpPr>
            <a:spLocks noGrp="1"/>
          </p:cNvSpPr>
          <p:nvPr/>
        </p:nvSpPr>
        <p:spPr>
          <a:xfrm>
            <a:off x="685800" y="408622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AAPL.Low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DCFF8D-DF80-4E78-A5AB-BA13A38B7170}"/>
              </a:ext>
            </a:extLst>
          </p:cNvPr>
          <p:cNvSpPr>
            <a:spLocks noGrp="1"/>
          </p:cNvSpPr>
          <p:nvPr/>
        </p:nvSpPr>
        <p:spPr>
          <a:xfrm>
            <a:off x="2114550" y="407670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Lowest reported Apple price during the trading day.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39A2F6-A279-4885-BB5B-B8D94D56D04A}"/>
              </a:ext>
            </a:extLst>
          </p:cNvPr>
          <p:cNvSpPr>
            <a:spLocks noGrp="1"/>
          </p:cNvSpPr>
          <p:nvPr/>
        </p:nvSpPr>
        <p:spPr>
          <a:xfrm>
            <a:off x="552450" y="4457700"/>
            <a:ext cx="5105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C3F1FC-8F63-41C7-91CB-968412015C80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AAPL.Close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DD68C6-B187-4D8E-8836-6DA237773918}"/>
              </a:ext>
            </a:extLst>
          </p:cNvPr>
          <p:cNvSpPr>
            <a:spLocks noGrp="1"/>
          </p:cNvSpPr>
          <p:nvPr/>
        </p:nvSpPr>
        <p:spPr>
          <a:xfrm>
            <a:off x="2114550" y="451485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Apple closing price; primary price field in Week 1.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3B858F-9AC9-4388-AEFF-6EAACFE82BBC}"/>
              </a:ext>
            </a:extLst>
          </p:cNvPr>
          <p:cNvSpPr>
            <a:spLocks noGrp="1"/>
          </p:cNvSpPr>
          <p:nvPr/>
        </p:nvSpPr>
        <p:spPr>
          <a:xfrm>
            <a:off x="552450" y="4895850"/>
            <a:ext cx="5105400" cy="4381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649459-EE79-49D2-A6DD-258906DADD59}"/>
              </a:ext>
            </a:extLst>
          </p:cNvPr>
          <p:cNvSpPr>
            <a:spLocks noGrp="1"/>
          </p:cNvSpPr>
          <p:nvPr/>
        </p:nvSpPr>
        <p:spPr>
          <a:xfrm>
            <a:off x="685800" y="496252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AAPL.Volume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8F7E4E-670A-47AE-AFD9-31F9C5F5AAEA}"/>
              </a:ext>
            </a:extLst>
          </p:cNvPr>
          <p:cNvSpPr>
            <a:spLocks noGrp="1"/>
          </p:cNvSpPr>
          <p:nvPr/>
        </p:nvSpPr>
        <p:spPr>
          <a:xfrm>
            <a:off x="2114550" y="495300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Number of shares traded; primary activity field in Week 1.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21ACDEA-DFC2-4CB3-89C3-2056D26C030D}"/>
              </a:ext>
            </a:extLst>
          </p:cNvPr>
          <p:cNvSpPr>
            <a:spLocks noGrp="1"/>
          </p:cNvSpPr>
          <p:nvPr/>
        </p:nvSpPr>
        <p:spPr>
          <a:xfrm>
            <a:off x="6153150" y="2343150"/>
            <a:ext cx="510540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C812B0-10E5-4B6E-BDAE-8D3D695A15BD}"/>
              </a:ext>
            </a:extLst>
          </p:cNvPr>
          <p:cNvSpPr>
            <a:spLocks noGrp="1"/>
          </p:cNvSpPr>
          <p:nvPr/>
        </p:nvSpPr>
        <p:spPr>
          <a:xfrm>
            <a:off x="6153150" y="2343150"/>
            <a:ext cx="5105400" cy="36195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BAC244-8C62-4F1B-AE2B-BDE279255457}"/>
              </a:ext>
            </a:extLst>
          </p:cNvPr>
          <p:cNvSpPr>
            <a:spLocks noGrp="1"/>
          </p:cNvSpPr>
          <p:nvPr/>
        </p:nvSpPr>
        <p:spPr>
          <a:xfrm>
            <a:off x="6305550" y="2457450"/>
            <a:ext cx="4800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Source-derived fields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8F9D63B-D64C-404C-A8EE-B00E52934A5C}"/>
              </a:ext>
            </a:extLst>
          </p:cNvPr>
          <p:cNvSpPr>
            <a:spLocks noGrp="1"/>
          </p:cNvSpPr>
          <p:nvPr/>
        </p:nvSpPr>
        <p:spPr>
          <a:xfrm>
            <a:off x="6153150" y="2705100"/>
            <a:ext cx="5105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78E2E5-F85C-4C34-896E-02A4E4E4618F}"/>
              </a:ext>
            </a:extLst>
          </p:cNvPr>
          <p:cNvSpPr>
            <a:spLocks noGrp="1"/>
          </p:cNvSpPr>
          <p:nvPr/>
        </p:nvSpPr>
        <p:spPr>
          <a:xfrm>
            <a:off x="6286500" y="277177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AAPL.Adjusted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2A7E32-085E-4BBE-9A1C-5C7179B4704F}"/>
              </a:ext>
            </a:extLst>
          </p:cNvPr>
          <p:cNvSpPr>
            <a:spLocks noGrp="1"/>
          </p:cNvSpPr>
          <p:nvPr/>
        </p:nvSpPr>
        <p:spPr>
          <a:xfrm>
            <a:off x="7715250" y="276225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Adjusted close supplied by the source; check its definition before use.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8F1FFA-57A3-42D8-B350-84B98DD52BAA}"/>
              </a:ext>
            </a:extLst>
          </p:cNvPr>
          <p:cNvSpPr>
            <a:spLocks noGrp="1"/>
          </p:cNvSpPr>
          <p:nvPr/>
        </p:nvSpPr>
        <p:spPr>
          <a:xfrm>
            <a:off x="6153150" y="3143250"/>
            <a:ext cx="5105400" cy="4381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E7B187-21FC-4A2F-B680-28A70DACE7A4}"/>
              </a:ext>
            </a:extLst>
          </p:cNvPr>
          <p:cNvSpPr>
            <a:spLocks noGrp="1"/>
          </p:cNvSpPr>
          <p:nvPr/>
        </p:nvSpPr>
        <p:spPr>
          <a:xfrm>
            <a:off x="6286500" y="320992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4240A65-275A-4E35-AAAF-FFF68B66D461}"/>
              </a:ext>
            </a:extLst>
          </p:cNvPr>
          <p:cNvSpPr>
            <a:spLocks noGrp="1"/>
          </p:cNvSpPr>
          <p:nvPr/>
        </p:nvSpPr>
        <p:spPr>
          <a:xfrm>
            <a:off x="7715250" y="320040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Lower chart-band value supplied by the source file.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53E9A1D-856D-4F4B-9446-002D769CF7D1}"/>
              </a:ext>
            </a:extLst>
          </p:cNvPr>
          <p:cNvSpPr>
            <a:spLocks noGrp="1"/>
          </p:cNvSpPr>
          <p:nvPr/>
        </p:nvSpPr>
        <p:spPr>
          <a:xfrm>
            <a:off x="6153150" y="3581400"/>
            <a:ext cx="5105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969F81D-D6D9-4FCC-897E-E08BAC99301A}"/>
              </a:ext>
            </a:extLst>
          </p:cNvPr>
          <p:cNvSpPr>
            <a:spLocks noGrp="1"/>
          </p:cNvSpPr>
          <p:nvPr/>
        </p:nvSpPr>
        <p:spPr>
          <a:xfrm>
            <a:off x="6286500" y="364807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mavg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2182AFA-5C3D-4AD6-95C3-FB76BBB29419}"/>
              </a:ext>
            </a:extLst>
          </p:cNvPr>
          <p:cNvSpPr>
            <a:spLocks noGrp="1"/>
          </p:cNvSpPr>
          <p:nvPr/>
        </p:nvSpPr>
        <p:spPr>
          <a:xfrm>
            <a:off x="7715250" y="363855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Moving-average value supplied by the source file.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736C3F-EBCA-4B59-BF5B-8914F9AD6F13}"/>
              </a:ext>
            </a:extLst>
          </p:cNvPr>
          <p:cNvSpPr>
            <a:spLocks noGrp="1"/>
          </p:cNvSpPr>
          <p:nvPr/>
        </p:nvSpPr>
        <p:spPr>
          <a:xfrm>
            <a:off x="6153150" y="4019550"/>
            <a:ext cx="5105400" cy="4381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20D4F34-0A44-48AF-AABF-21C6B994B191}"/>
              </a:ext>
            </a:extLst>
          </p:cNvPr>
          <p:cNvSpPr>
            <a:spLocks noGrp="1"/>
          </p:cNvSpPr>
          <p:nvPr/>
        </p:nvSpPr>
        <p:spPr>
          <a:xfrm>
            <a:off x="6286500" y="408622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up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30EBD85-1954-42BF-9733-58DF5DD7713E}"/>
              </a:ext>
            </a:extLst>
          </p:cNvPr>
          <p:cNvSpPr>
            <a:spLocks noGrp="1"/>
          </p:cNvSpPr>
          <p:nvPr/>
        </p:nvSpPr>
        <p:spPr>
          <a:xfrm>
            <a:off x="7715250" y="407670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Upper chart-band value supplied by the source file.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325F7C5-6572-428B-B6EC-A3D98AF55955}"/>
              </a:ext>
            </a:extLst>
          </p:cNvPr>
          <p:cNvSpPr>
            <a:spLocks noGrp="1"/>
          </p:cNvSpPr>
          <p:nvPr/>
        </p:nvSpPr>
        <p:spPr>
          <a:xfrm>
            <a:off x="6153150" y="4457700"/>
            <a:ext cx="5105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36787C5-8E61-440E-B775-AAB10194E4B9}"/>
              </a:ext>
            </a:extLst>
          </p:cNvPr>
          <p:cNvSpPr>
            <a:spLocks noGrp="1"/>
          </p:cNvSpPr>
          <p:nvPr/>
        </p:nvSpPr>
        <p:spPr>
          <a:xfrm>
            <a:off x="6286500" y="452437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direction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1847252-A5C8-4C62-969C-57FAC38E9957}"/>
              </a:ext>
            </a:extLst>
          </p:cNvPr>
          <p:cNvSpPr>
            <a:spLocks noGrp="1"/>
          </p:cNvSpPr>
          <p:nvPr/>
        </p:nvSpPr>
        <p:spPr>
          <a:xfrm>
            <a:off x="7715250" y="451485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Direction label supplied by the source; do not assume its coding without checking.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97A1A91-3EAA-475A-B687-96D6EA6531DE}"/>
              </a:ext>
            </a:extLst>
          </p:cNvPr>
          <p:cNvSpPr>
            <a:spLocks noGrp="1"/>
          </p:cNvSpPr>
          <p:nvPr/>
        </p:nvSpPr>
        <p:spPr>
          <a:xfrm>
            <a:off x="552450" y="5467350"/>
            <a:ext cx="11087100" cy="40005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78AED24-6EDE-4655-9079-9F32FA12B746}"/>
              </a:ext>
            </a:extLst>
          </p:cNvPr>
          <p:cNvSpPr>
            <a:spLocks noGrp="1"/>
          </p:cNvSpPr>
          <p:nvPr/>
        </p:nvSpPr>
        <p:spPr>
          <a:xfrm>
            <a:off x="742950" y="5619750"/>
            <a:ext cx="10706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Source: plotly/datasets finance-charts-apple.csv | 506 rows | one daily Apple observation | https://github.com/plotly/datasets</a:t>
            </a:r>
          </a:p>
        </p:txBody>
      </p:sp>
    </p:spTree>
    <p:extLst>
      <p:ext uri="{BB962C8B-B14F-4D97-AF65-F5344CB8AC3E}">
        <p14:creationId xmlns:p14="http://schemas.microsoft.com/office/powerpoint/2010/main" val="187703186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F7D22215-4279-44CC-8BFD-04F09E5664D9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6D0C47-B6D3-40B5-B70E-401FA821203B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DATASET DOCUMENTATION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0FAB6D-9575-4099-B34E-348C7621A400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UCI credit data: dataset identity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1EC926-08A6-478C-8063-9DCAAB5FD2DA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This is a real supervised classification dataset, not a fabricated sample. Document the target before calculating any model metric.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6CE221-7366-4196-8F4A-D4801EDAE499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F7917B-B597-4F5F-B360-CFFF3059B6D6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040FA1-6150-4CA0-873C-7373625535F0}"/>
              </a:ext>
            </a:extLst>
          </p:cNvPr>
          <p:cNvSpPr>
            <a:spLocks noGrp="1"/>
          </p:cNvSpPr>
          <p:nvPr/>
        </p:nvSpPr>
        <p:spPr>
          <a:xfrm>
            <a:off x="552450" y="2343150"/>
            <a:ext cx="510540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B84D81-01E4-41AF-8D99-15F9CAB7D694}"/>
              </a:ext>
            </a:extLst>
          </p:cNvPr>
          <p:cNvSpPr>
            <a:spLocks noGrp="1"/>
          </p:cNvSpPr>
          <p:nvPr/>
        </p:nvSpPr>
        <p:spPr>
          <a:xfrm>
            <a:off x="552450" y="2343150"/>
            <a:ext cx="5105400" cy="36195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54050C-8EFD-49EA-B0B1-396A1F3D6432}"/>
              </a:ext>
            </a:extLst>
          </p:cNvPr>
          <p:cNvSpPr>
            <a:spLocks noGrp="1"/>
          </p:cNvSpPr>
          <p:nvPr/>
        </p:nvSpPr>
        <p:spPr>
          <a:xfrm>
            <a:off x="704850" y="2457450"/>
            <a:ext cx="4800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one row represents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769FB6-E41E-4838-A18D-EBB24A15BC3D}"/>
              </a:ext>
            </a:extLst>
          </p:cNvPr>
          <p:cNvSpPr>
            <a:spLocks noGrp="1"/>
          </p:cNvSpPr>
          <p:nvPr/>
        </p:nvSpPr>
        <p:spPr>
          <a:xfrm>
            <a:off x="552450" y="2705100"/>
            <a:ext cx="5105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C5DCC0-9AFB-404E-91BE-D8309E201DA7}"/>
              </a:ext>
            </a:extLst>
          </p:cNvPr>
          <p:cNvSpPr>
            <a:spLocks noGrp="1"/>
          </p:cNvSpPr>
          <p:nvPr/>
        </p:nvSpPr>
        <p:spPr>
          <a:xfrm>
            <a:off x="685800" y="277177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Observation unit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5344C2-CFDD-437E-AA34-4C3D1C84799E}"/>
              </a:ext>
            </a:extLst>
          </p:cNvPr>
          <p:cNvSpPr>
            <a:spLocks noGrp="1"/>
          </p:cNvSpPr>
          <p:nvPr/>
        </p:nvSpPr>
        <p:spPr>
          <a:xfrm>
            <a:off x="2114550" y="276225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One credit-card client record.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2E9F96-855F-427D-B7FB-DA67355EC261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5105400" cy="4381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00C955-9C18-43D3-A95B-71445B52A0F0}"/>
              </a:ext>
            </a:extLst>
          </p:cNvPr>
          <p:cNvSpPr>
            <a:spLocks noGrp="1"/>
          </p:cNvSpPr>
          <p:nvPr/>
        </p:nvSpPr>
        <p:spPr>
          <a:xfrm>
            <a:off x="685800" y="320992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Sample size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A2CE22-4ED2-4B1C-8A99-A6949A4A52D5}"/>
              </a:ext>
            </a:extLst>
          </p:cNvPr>
          <p:cNvSpPr>
            <a:spLocks noGrp="1"/>
          </p:cNvSpPr>
          <p:nvPr/>
        </p:nvSpPr>
        <p:spPr>
          <a:xfrm>
            <a:off x="2114550" y="320040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30,000 records and 23 explanatory features.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933003-8315-4B38-A798-A2BF19AF1AC6}"/>
              </a:ext>
            </a:extLst>
          </p:cNvPr>
          <p:cNvSpPr>
            <a:spLocks noGrp="1"/>
          </p:cNvSpPr>
          <p:nvPr/>
        </p:nvSpPr>
        <p:spPr>
          <a:xfrm>
            <a:off x="552450" y="3581400"/>
            <a:ext cx="5105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F74A76-7D79-4B40-AFF4-7C19FFED83F5}"/>
              </a:ext>
            </a:extLst>
          </p:cNvPr>
          <p:cNvSpPr>
            <a:spLocks noGrp="1"/>
          </p:cNvSpPr>
          <p:nvPr/>
        </p:nvSpPr>
        <p:spPr>
          <a:xfrm>
            <a:off x="685800" y="364807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BCA172-6198-4BBF-85D1-A6263A1C35EC}"/>
              </a:ext>
            </a:extLst>
          </p:cNvPr>
          <p:cNvSpPr>
            <a:spLocks noGrp="1"/>
          </p:cNvSpPr>
          <p:nvPr/>
        </p:nvSpPr>
        <p:spPr>
          <a:xfrm>
            <a:off x="2114550" y="363855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default payment next month: 1 = default, 0 = no default.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37F904-51E0-4F0B-8288-D305E1D74FA7}"/>
              </a:ext>
            </a:extLst>
          </p:cNvPr>
          <p:cNvSpPr>
            <a:spLocks noGrp="1"/>
          </p:cNvSpPr>
          <p:nvPr/>
        </p:nvSpPr>
        <p:spPr>
          <a:xfrm>
            <a:off x="552450" y="4019550"/>
            <a:ext cx="5105400" cy="4381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13F4A5-94E0-4CCE-BFEE-C7FF384EBC3E}"/>
              </a:ext>
            </a:extLst>
          </p:cNvPr>
          <p:cNvSpPr>
            <a:spLocks noGrp="1"/>
          </p:cNvSpPr>
          <p:nvPr/>
        </p:nvSpPr>
        <p:spPr>
          <a:xfrm>
            <a:off x="685800" y="408622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Class counts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51C0B8-BB97-43F1-9D47-0356892B2110}"/>
              </a:ext>
            </a:extLst>
          </p:cNvPr>
          <p:cNvSpPr>
            <a:spLocks noGrp="1"/>
          </p:cNvSpPr>
          <p:nvPr/>
        </p:nvSpPr>
        <p:spPr>
          <a:xfrm>
            <a:off x="2114550" y="407670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23,364 non-defaults and 6,636 defaults in the included CSV.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A351D5-A9E3-40E7-8F8A-A3BBA0A52E44}"/>
              </a:ext>
            </a:extLst>
          </p:cNvPr>
          <p:cNvSpPr>
            <a:spLocks noGrp="1"/>
          </p:cNvSpPr>
          <p:nvPr/>
        </p:nvSpPr>
        <p:spPr>
          <a:xfrm>
            <a:off x="552450" y="4457700"/>
            <a:ext cx="5105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B7C72A-4E1B-413E-AF1B-900F05BE93F1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Feature types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23DDAC-15DB-4002-8D7A-821E96432663}"/>
              </a:ext>
            </a:extLst>
          </p:cNvPr>
          <p:cNvSpPr>
            <a:spLocks noGrp="1"/>
          </p:cNvSpPr>
          <p:nvPr/>
        </p:nvSpPr>
        <p:spPr>
          <a:xfrm>
            <a:off x="2114550" y="451485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Integer and real-valued fields; several integers are coded categories.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6ECE82-C2A5-4E36-9D74-D66022EDCD5D}"/>
              </a:ext>
            </a:extLst>
          </p:cNvPr>
          <p:cNvSpPr>
            <a:spLocks noGrp="1"/>
          </p:cNvSpPr>
          <p:nvPr/>
        </p:nvSpPr>
        <p:spPr>
          <a:xfrm>
            <a:off x="552450" y="4895850"/>
            <a:ext cx="5105400" cy="4381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AA8827-2B16-4A39-8C55-E881F073C04A}"/>
              </a:ext>
            </a:extLst>
          </p:cNvPr>
          <p:cNvSpPr>
            <a:spLocks noGrp="1"/>
          </p:cNvSpPr>
          <p:nvPr/>
        </p:nvSpPr>
        <p:spPr>
          <a:xfrm>
            <a:off x="685800" y="496252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Missing values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FC3EA5-7A98-4512-A5A1-CAFB0649BFF8}"/>
              </a:ext>
            </a:extLst>
          </p:cNvPr>
          <p:cNvSpPr>
            <a:spLocks noGrp="1"/>
          </p:cNvSpPr>
          <p:nvPr/>
        </p:nvSpPr>
        <p:spPr>
          <a:xfrm>
            <a:off x="2114550" y="495300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UCI documentation reports no missing values in the source dataset.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AA14BA-01A6-4B03-AD37-7187F7FFFF58}"/>
              </a:ext>
            </a:extLst>
          </p:cNvPr>
          <p:cNvSpPr>
            <a:spLocks noGrp="1"/>
          </p:cNvSpPr>
          <p:nvPr/>
        </p:nvSpPr>
        <p:spPr>
          <a:xfrm>
            <a:off x="6153150" y="2343150"/>
            <a:ext cx="510540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46DBCAA-F1E5-40BA-A75D-0E9561936095}"/>
              </a:ext>
            </a:extLst>
          </p:cNvPr>
          <p:cNvSpPr>
            <a:spLocks noGrp="1"/>
          </p:cNvSpPr>
          <p:nvPr/>
        </p:nvSpPr>
        <p:spPr>
          <a:xfrm>
            <a:off x="6153150" y="2343150"/>
            <a:ext cx="5105400" cy="36195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258D4F-AF12-477B-B22D-640E758810DB}"/>
              </a:ext>
            </a:extLst>
          </p:cNvPr>
          <p:cNvSpPr>
            <a:spLocks noGrp="1"/>
          </p:cNvSpPr>
          <p:nvPr/>
        </p:nvSpPr>
        <p:spPr>
          <a:xfrm>
            <a:off x="6305550" y="2457450"/>
            <a:ext cx="4800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Provenance and responsible use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70CAAE-877B-4024-A8C0-083F806C4737}"/>
              </a:ext>
            </a:extLst>
          </p:cNvPr>
          <p:cNvSpPr>
            <a:spLocks noGrp="1"/>
          </p:cNvSpPr>
          <p:nvPr/>
        </p:nvSpPr>
        <p:spPr>
          <a:xfrm>
            <a:off x="6153150" y="2705100"/>
            <a:ext cx="5105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412EDAD-0722-4E68-B53C-E4AADE2149B4}"/>
              </a:ext>
            </a:extLst>
          </p:cNvPr>
          <p:cNvSpPr>
            <a:spLocks noGrp="1"/>
          </p:cNvSpPr>
          <p:nvPr/>
        </p:nvSpPr>
        <p:spPr>
          <a:xfrm>
            <a:off x="6286500" y="277177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Publisher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F6F1FFD-9EE6-4FBB-BCDD-58217AC23850}"/>
              </a:ext>
            </a:extLst>
          </p:cNvPr>
          <p:cNvSpPr>
            <a:spLocks noGrp="1"/>
          </p:cNvSpPr>
          <p:nvPr/>
        </p:nvSpPr>
        <p:spPr>
          <a:xfrm>
            <a:off x="7715250" y="276225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UCI Machine Learning Repository; donated by I-Cheng Yeh.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5C4B7B6-EA2D-412B-B4C5-34BBFD701E57}"/>
              </a:ext>
            </a:extLst>
          </p:cNvPr>
          <p:cNvSpPr>
            <a:spLocks noGrp="1"/>
          </p:cNvSpPr>
          <p:nvPr/>
        </p:nvSpPr>
        <p:spPr>
          <a:xfrm>
            <a:off x="6153150" y="3143250"/>
            <a:ext cx="5105400" cy="4381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FE4B2E3-643B-45C2-8C18-991D1E2972DF}"/>
              </a:ext>
            </a:extLst>
          </p:cNvPr>
          <p:cNvSpPr>
            <a:spLocks noGrp="1"/>
          </p:cNvSpPr>
          <p:nvPr/>
        </p:nvSpPr>
        <p:spPr>
          <a:xfrm>
            <a:off x="6286500" y="320992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Original setting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EAA915-077E-493A-A9CB-00D3793A23BC}"/>
              </a:ext>
            </a:extLst>
          </p:cNvPr>
          <p:cNvSpPr>
            <a:spLocks noGrp="1"/>
          </p:cNvSpPr>
          <p:nvPr/>
        </p:nvSpPr>
        <p:spPr>
          <a:xfrm>
            <a:off x="7715250" y="320040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Credit-card default payments in Taiwan.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8E2972F-B325-41B4-9699-B8C1A4EA6568}"/>
              </a:ext>
            </a:extLst>
          </p:cNvPr>
          <p:cNvSpPr>
            <a:spLocks noGrp="1"/>
          </p:cNvSpPr>
          <p:nvPr/>
        </p:nvSpPr>
        <p:spPr>
          <a:xfrm>
            <a:off x="6153150" y="3581400"/>
            <a:ext cx="5105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102147-FC56-4C7B-A1B9-3D3CD8ADAAFF}"/>
              </a:ext>
            </a:extLst>
          </p:cNvPr>
          <p:cNvSpPr>
            <a:spLocks noGrp="1"/>
          </p:cNvSpPr>
          <p:nvPr/>
        </p:nvSpPr>
        <p:spPr>
          <a:xfrm>
            <a:off x="6286500" y="364807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Citation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E5AB083-949D-4A61-A498-DECD3BAA84BA}"/>
              </a:ext>
            </a:extLst>
          </p:cNvPr>
          <p:cNvSpPr>
            <a:spLocks noGrp="1"/>
          </p:cNvSpPr>
          <p:nvPr/>
        </p:nvSpPr>
        <p:spPr>
          <a:xfrm>
            <a:off x="7715250" y="363855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Yeh (2009), DOI 10.24432/C55S3H.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CA82973-81AB-4A92-9061-F5AF40A40A77}"/>
              </a:ext>
            </a:extLst>
          </p:cNvPr>
          <p:cNvSpPr>
            <a:spLocks noGrp="1"/>
          </p:cNvSpPr>
          <p:nvPr/>
        </p:nvSpPr>
        <p:spPr>
          <a:xfrm>
            <a:off x="6153150" y="4019550"/>
            <a:ext cx="5105400" cy="4381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160F47C-F827-4123-8AC9-4F6E41A06DE6}"/>
              </a:ext>
            </a:extLst>
          </p:cNvPr>
          <p:cNvSpPr>
            <a:spLocks noGrp="1"/>
          </p:cNvSpPr>
          <p:nvPr/>
        </p:nvSpPr>
        <p:spPr>
          <a:xfrm>
            <a:off x="6286500" y="408622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Licence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E0117A2-019A-4A45-94A9-A46836A9FC22}"/>
              </a:ext>
            </a:extLst>
          </p:cNvPr>
          <p:cNvSpPr>
            <a:spLocks noGrp="1"/>
          </p:cNvSpPr>
          <p:nvPr/>
        </p:nvSpPr>
        <p:spPr>
          <a:xfrm>
            <a:off x="7715250" y="407670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Creative Commons Attribution 4.0 International (CC BY 4.0).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BAB3CA-F348-408F-97A0-5E41643A5486}"/>
              </a:ext>
            </a:extLst>
          </p:cNvPr>
          <p:cNvSpPr>
            <a:spLocks noGrp="1"/>
          </p:cNvSpPr>
          <p:nvPr/>
        </p:nvSpPr>
        <p:spPr>
          <a:xfrm>
            <a:off x="6153150" y="4457700"/>
            <a:ext cx="5105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28E296B-7C0C-4D6E-A5A0-954613E03CF0}"/>
              </a:ext>
            </a:extLst>
          </p:cNvPr>
          <p:cNvSpPr>
            <a:spLocks noGrp="1"/>
          </p:cNvSpPr>
          <p:nvPr/>
        </p:nvSpPr>
        <p:spPr>
          <a:xfrm>
            <a:off x="6286500" y="452437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Teaching use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D5E25EF-A015-45DF-B273-26767EAFF06C}"/>
              </a:ext>
            </a:extLst>
          </p:cNvPr>
          <p:cNvSpPr>
            <a:spLocks noGrp="1"/>
          </p:cNvSpPr>
          <p:nvPr/>
        </p:nvSpPr>
        <p:spPr>
          <a:xfrm>
            <a:off x="7715250" y="451485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EDA and later supervised-learning examples; not a claim about current lending populations.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2E69F95-805E-47CA-9B66-D503923D91C9}"/>
              </a:ext>
            </a:extLst>
          </p:cNvPr>
          <p:cNvSpPr>
            <a:spLocks noGrp="1"/>
          </p:cNvSpPr>
          <p:nvPr/>
        </p:nvSpPr>
        <p:spPr>
          <a:xfrm>
            <a:off x="6153150" y="4895850"/>
            <a:ext cx="5105400" cy="4381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189F3E1-A61E-4AA9-86FC-4EF4BA1A31C4}"/>
              </a:ext>
            </a:extLst>
          </p:cNvPr>
          <p:cNvSpPr>
            <a:spLocks noGrp="1"/>
          </p:cNvSpPr>
          <p:nvPr/>
        </p:nvSpPr>
        <p:spPr>
          <a:xfrm>
            <a:off x="6286500" y="496252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AAEB1E2-12E0-4355-AC9C-F90DAE50EBCA}"/>
              </a:ext>
            </a:extLst>
          </p:cNvPr>
          <p:cNvSpPr>
            <a:spLocks noGrp="1"/>
          </p:cNvSpPr>
          <p:nvPr/>
        </p:nvSpPr>
        <p:spPr>
          <a:xfrm>
            <a:off x="7715250" y="495300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https://archive.ics.uci.edu/dataset/350/default+of+credit+card+clients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81609A5-EA94-43F2-B91A-D9D3C3D634B0}"/>
              </a:ext>
            </a:extLst>
          </p:cNvPr>
          <p:cNvSpPr>
            <a:spLocks noGrp="1"/>
          </p:cNvSpPr>
          <p:nvPr/>
        </p:nvSpPr>
        <p:spPr>
          <a:xfrm>
            <a:off x="552450" y="5467350"/>
            <a:ext cx="11087100" cy="40005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72A248B-379B-4E4C-8F20-42EB3793B931}"/>
              </a:ext>
            </a:extLst>
          </p:cNvPr>
          <p:cNvSpPr>
            <a:spLocks noGrp="1"/>
          </p:cNvSpPr>
          <p:nvPr/>
        </p:nvSpPr>
        <p:spPr>
          <a:xfrm>
            <a:off x="742950" y="5619750"/>
            <a:ext cx="10706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Official download: https://archive.ics.uci.edu/static/public/350/default+of+credit+card+clients.zip | Accessed for this package: 2026-10-03</a:t>
            </a:r>
          </a:p>
        </p:txBody>
      </p:sp>
    </p:spTree>
    <p:extLst>
      <p:ext uri="{BB962C8B-B14F-4D97-AF65-F5344CB8AC3E}">
        <p14:creationId xmlns:p14="http://schemas.microsoft.com/office/powerpoint/2010/main" val="175475083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F2FE3AC-237C-484B-BD2F-405156AC97BB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7DFF4C-571C-4A09-B457-E4640CAC042B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DATASET DOCUMENTATION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C90E4C-7087-4BFA-A640-15FE902DF9B1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UCI credit variables I: identity and borrower profile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8A5D68-F588-4C55-9CFA-2FB76C07DBD3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coded values are part of the data definition. They must be documented before encoding or modelling.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E0F0D5-89A3-4EA4-86E5-71DBFB2C3EB8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CDCF89-6550-456E-8981-AFE6A0DFC0F3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FBB6AB-273E-435F-AFAC-F12751DD2052}"/>
              </a:ext>
            </a:extLst>
          </p:cNvPr>
          <p:cNvSpPr>
            <a:spLocks noGrp="1"/>
          </p:cNvSpPr>
          <p:nvPr/>
        </p:nvSpPr>
        <p:spPr>
          <a:xfrm>
            <a:off x="552450" y="2343150"/>
            <a:ext cx="510540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D31061-7E3D-4E01-B72E-7BCC03CB1C14}"/>
              </a:ext>
            </a:extLst>
          </p:cNvPr>
          <p:cNvSpPr>
            <a:spLocks noGrp="1"/>
          </p:cNvSpPr>
          <p:nvPr/>
        </p:nvSpPr>
        <p:spPr>
          <a:xfrm>
            <a:off x="552450" y="2343150"/>
            <a:ext cx="5105400" cy="36195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1EA69D-D75C-4DB8-AA13-3DF357CFD1FA}"/>
              </a:ext>
            </a:extLst>
          </p:cNvPr>
          <p:cNvSpPr>
            <a:spLocks noGrp="1"/>
          </p:cNvSpPr>
          <p:nvPr/>
        </p:nvSpPr>
        <p:spPr>
          <a:xfrm>
            <a:off x="704850" y="2457450"/>
            <a:ext cx="4800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Identifier and credit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28B6D8-A7D2-429A-92E0-9D1D10A1DF73}"/>
              </a:ext>
            </a:extLst>
          </p:cNvPr>
          <p:cNvSpPr>
            <a:spLocks noGrp="1"/>
          </p:cNvSpPr>
          <p:nvPr/>
        </p:nvSpPr>
        <p:spPr>
          <a:xfrm>
            <a:off x="552450" y="2705100"/>
            <a:ext cx="5105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E26C1A-0E72-4950-9C2F-1B8735C42ACE}"/>
              </a:ext>
            </a:extLst>
          </p:cNvPr>
          <p:cNvSpPr>
            <a:spLocks noGrp="1"/>
          </p:cNvSpPr>
          <p:nvPr/>
        </p:nvSpPr>
        <p:spPr>
          <a:xfrm>
            <a:off x="685800" y="277177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2787D-EC43-4642-A978-B5786756EA59}"/>
              </a:ext>
            </a:extLst>
          </p:cNvPr>
          <p:cNvSpPr>
            <a:spLocks noGrp="1"/>
          </p:cNvSpPr>
          <p:nvPr/>
        </p:nvSpPr>
        <p:spPr>
          <a:xfrm>
            <a:off x="2114550" y="276225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Client identifier; use for traceability, not as a predictive feature.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A0438C-EB58-48B7-AA63-4708E89C2E92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5105400" cy="4381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B9F6ED-DAFC-4B48-9AA1-C252ADD8F8CF}"/>
              </a:ext>
            </a:extLst>
          </p:cNvPr>
          <p:cNvSpPr>
            <a:spLocks noGrp="1"/>
          </p:cNvSpPr>
          <p:nvPr/>
        </p:nvSpPr>
        <p:spPr>
          <a:xfrm>
            <a:off x="685800" y="320992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LIMIT_BAL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DB9007-94A9-47F6-A4E7-CD11CDCE4F00}"/>
              </a:ext>
            </a:extLst>
          </p:cNvPr>
          <p:cNvSpPr>
            <a:spLocks noGrp="1"/>
          </p:cNvSpPr>
          <p:nvPr/>
        </p:nvSpPr>
        <p:spPr>
          <a:xfrm>
            <a:off x="2114550" y="320040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Amount of the given credit in New Taiwan dollars, including individual and supplementary credit.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F2B085-23B2-435E-934E-2C31CA49D567}"/>
              </a:ext>
            </a:extLst>
          </p:cNvPr>
          <p:cNvSpPr>
            <a:spLocks noGrp="1"/>
          </p:cNvSpPr>
          <p:nvPr/>
        </p:nvSpPr>
        <p:spPr>
          <a:xfrm>
            <a:off x="552450" y="3581400"/>
            <a:ext cx="5105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27E7A9-195D-4A84-9561-9899DEE8FB36}"/>
              </a:ext>
            </a:extLst>
          </p:cNvPr>
          <p:cNvSpPr>
            <a:spLocks noGrp="1"/>
          </p:cNvSpPr>
          <p:nvPr/>
        </p:nvSpPr>
        <p:spPr>
          <a:xfrm>
            <a:off x="685800" y="364807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SEX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C86CAF-BE30-442B-88FA-F79CBD2D714C}"/>
              </a:ext>
            </a:extLst>
          </p:cNvPr>
          <p:cNvSpPr>
            <a:spLocks noGrp="1"/>
          </p:cNvSpPr>
          <p:nvPr/>
        </p:nvSpPr>
        <p:spPr>
          <a:xfrm>
            <a:off x="2114550" y="363855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Coded sex field: 1 = male, 2 = female in the source documentation.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0AD9C2-9F2C-40F0-90C3-3559C832B7DA}"/>
              </a:ext>
            </a:extLst>
          </p:cNvPr>
          <p:cNvSpPr>
            <a:spLocks noGrp="1"/>
          </p:cNvSpPr>
          <p:nvPr/>
        </p:nvSpPr>
        <p:spPr>
          <a:xfrm>
            <a:off x="6153150" y="2343150"/>
            <a:ext cx="510540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DC371B-BFDA-476E-A3FD-FE707AB77CFF}"/>
              </a:ext>
            </a:extLst>
          </p:cNvPr>
          <p:cNvSpPr>
            <a:spLocks noGrp="1"/>
          </p:cNvSpPr>
          <p:nvPr/>
        </p:nvSpPr>
        <p:spPr>
          <a:xfrm>
            <a:off x="6153150" y="2343150"/>
            <a:ext cx="5105400" cy="36195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FB2DF6-1278-4FF9-9F10-6F295730F0CA}"/>
              </a:ext>
            </a:extLst>
          </p:cNvPr>
          <p:cNvSpPr>
            <a:spLocks noGrp="1"/>
          </p:cNvSpPr>
          <p:nvPr/>
        </p:nvSpPr>
        <p:spPr>
          <a:xfrm>
            <a:off x="6305550" y="2457450"/>
            <a:ext cx="4800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Demographic fields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3316F0-77B4-4ECF-8A31-3B2A365CBCEF}"/>
              </a:ext>
            </a:extLst>
          </p:cNvPr>
          <p:cNvSpPr>
            <a:spLocks noGrp="1"/>
          </p:cNvSpPr>
          <p:nvPr/>
        </p:nvSpPr>
        <p:spPr>
          <a:xfrm>
            <a:off x="6153150" y="2705100"/>
            <a:ext cx="5105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71F0CE-C367-4053-A145-493E25A07A21}"/>
              </a:ext>
            </a:extLst>
          </p:cNvPr>
          <p:cNvSpPr>
            <a:spLocks noGrp="1"/>
          </p:cNvSpPr>
          <p:nvPr/>
        </p:nvSpPr>
        <p:spPr>
          <a:xfrm>
            <a:off x="6286500" y="277177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EDUCATION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3AF4F6-CAE4-4214-A9EA-EBBEDEA3D72D}"/>
              </a:ext>
            </a:extLst>
          </p:cNvPr>
          <p:cNvSpPr>
            <a:spLocks noGrp="1"/>
          </p:cNvSpPr>
          <p:nvPr/>
        </p:nvSpPr>
        <p:spPr>
          <a:xfrm>
            <a:off x="7715250" y="276225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Coded education level: 1 graduate school, 2 university, 3 high school, 4 others.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FE2FAF-C6CA-492C-AE41-DC83CE14AAEC}"/>
              </a:ext>
            </a:extLst>
          </p:cNvPr>
          <p:cNvSpPr>
            <a:spLocks noGrp="1"/>
          </p:cNvSpPr>
          <p:nvPr/>
        </p:nvSpPr>
        <p:spPr>
          <a:xfrm>
            <a:off x="6153150" y="3143250"/>
            <a:ext cx="5105400" cy="4381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4595AB-3588-4694-9FDD-73A649D745AC}"/>
              </a:ext>
            </a:extLst>
          </p:cNvPr>
          <p:cNvSpPr>
            <a:spLocks noGrp="1"/>
          </p:cNvSpPr>
          <p:nvPr/>
        </p:nvSpPr>
        <p:spPr>
          <a:xfrm>
            <a:off x="6286500" y="320992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MARRIAGE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10B193-40ED-40E8-8391-3E1F9BE3A885}"/>
              </a:ext>
            </a:extLst>
          </p:cNvPr>
          <p:cNvSpPr>
            <a:spLocks noGrp="1"/>
          </p:cNvSpPr>
          <p:nvPr/>
        </p:nvSpPr>
        <p:spPr>
          <a:xfrm>
            <a:off x="7715250" y="320040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Coded marital status: 1 married, 2 single, 3 others.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569E66-8600-486D-BE0B-97342DCD0FF8}"/>
              </a:ext>
            </a:extLst>
          </p:cNvPr>
          <p:cNvSpPr>
            <a:spLocks noGrp="1"/>
          </p:cNvSpPr>
          <p:nvPr/>
        </p:nvSpPr>
        <p:spPr>
          <a:xfrm>
            <a:off x="6153150" y="3581400"/>
            <a:ext cx="5105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13C38E-45CB-4726-A544-EC1435923B52}"/>
              </a:ext>
            </a:extLst>
          </p:cNvPr>
          <p:cNvSpPr>
            <a:spLocks noGrp="1"/>
          </p:cNvSpPr>
          <p:nvPr/>
        </p:nvSpPr>
        <p:spPr>
          <a:xfrm>
            <a:off x="6286500" y="364807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B87177C-E96B-49BE-9E06-0BD60D0CFB2F}"/>
              </a:ext>
            </a:extLst>
          </p:cNvPr>
          <p:cNvSpPr>
            <a:spLocks noGrp="1"/>
          </p:cNvSpPr>
          <p:nvPr/>
        </p:nvSpPr>
        <p:spPr>
          <a:xfrm>
            <a:off x="7715250" y="363855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Age in years at the time of the record.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D9D7D2-E882-4EBF-906D-D957AE1E7477}"/>
              </a:ext>
            </a:extLst>
          </p:cNvPr>
          <p:cNvSpPr>
            <a:spLocks noGrp="1"/>
          </p:cNvSpPr>
          <p:nvPr/>
        </p:nvSpPr>
        <p:spPr>
          <a:xfrm>
            <a:off x="552450" y="5467350"/>
            <a:ext cx="11087100" cy="40005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450089-A01D-4ED1-B6A8-583BCBA350B9}"/>
              </a:ext>
            </a:extLst>
          </p:cNvPr>
          <p:cNvSpPr>
            <a:spLocks noGrp="1"/>
          </p:cNvSpPr>
          <p:nvPr/>
        </p:nvSpPr>
        <p:spPr>
          <a:xfrm>
            <a:off x="742950" y="5619750"/>
            <a:ext cx="10706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Interpretation follows the official UCI variable documentation. Check coding values and possible out-of-range codes during Week 2 EDA.</a:t>
            </a:r>
          </a:p>
        </p:txBody>
      </p:sp>
    </p:spTree>
    <p:extLst>
      <p:ext uri="{BB962C8B-B14F-4D97-AF65-F5344CB8AC3E}">
        <p14:creationId xmlns:p14="http://schemas.microsoft.com/office/powerpoint/2010/main" val="186845819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E8B9BC43-CA7F-4E21-A19A-C79CD500C6B1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CD1652-0AC6-46F3-846D-2CE96BD92158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DATASET DOCUMENTATION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A47DAA-B7D7-4734-A007-6EB71DCD7DA5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UCI credit variables II: repayment history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CC09CE-0E0F-4C8E-A4C7-4FB5D38C4FB9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7885"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These six variables describe repayment status in the six months before the target month. The suffix identifies the month, not a generic feature number.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40DED6-4753-4D8C-AB7C-AA1BD83758E1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CD213C-9D06-4A84-9814-8441C45C7F22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89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EEB614-7354-46DC-860B-DFF887997A51}"/>
              </a:ext>
            </a:extLst>
          </p:cNvPr>
          <p:cNvSpPr>
            <a:spLocks noGrp="1"/>
          </p:cNvSpPr>
          <p:nvPr/>
        </p:nvSpPr>
        <p:spPr>
          <a:xfrm>
            <a:off x="552450" y="2343150"/>
            <a:ext cx="510540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8F981C-B591-489B-B3B8-E7CC4017D768}"/>
              </a:ext>
            </a:extLst>
          </p:cNvPr>
          <p:cNvSpPr>
            <a:spLocks noGrp="1"/>
          </p:cNvSpPr>
          <p:nvPr/>
        </p:nvSpPr>
        <p:spPr>
          <a:xfrm>
            <a:off x="552450" y="2343150"/>
            <a:ext cx="5105400" cy="36195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329B2C-0B9C-4E10-BCA8-631C3010C008}"/>
              </a:ext>
            </a:extLst>
          </p:cNvPr>
          <p:cNvSpPr>
            <a:spLocks noGrp="1"/>
          </p:cNvSpPr>
          <p:nvPr/>
        </p:nvSpPr>
        <p:spPr>
          <a:xfrm>
            <a:off x="704850" y="2457450"/>
            <a:ext cx="4800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Recent months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93E76C-6D7A-4869-BF43-630E9F867BA3}"/>
              </a:ext>
            </a:extLst>
          </p:cNvPr>
          <p:cNvSpPr>
            <a:spLocks noGrp="1"/>
          </p:cNvSpPr>
          <p:nvPr/>
        </p:nvSpPr>
        <p:spPr>
          <a:xfrm>
            <a:off x="552450" y="2705100"/>
            <a:ext cx="5105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E089E9-E659-437E-9219-DFB885365DB4}"/>
              </a:ext>
            </a:extLst>
          </p:cNvPr>
          <p:cNvSpPr>
            <a:spLocks noGrp="1"/>
          </p:cNvSpPr>
          <p:nvPr/>
        </p:nvSpPr>
        <p:spPr>
          <a:xfrm>
            <a:off x="685800" y="277177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2F79A4-F7D3-433A-9F60-DFAC38F03B39}"/>
              </a:ext>
            </a:extLst>
          </p:cNvPr>
          <p:cNvSpPr>
            <a:spLocks noGrp="1"/>
          </p:cNvSpPr>
          <p:nvPr/>
        </p:nvSpPr>
        <p:spPr>
          <a:xfrm>
            <a:off x="2114550" y="276225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Repayment status in September 2005; the source uses 0 for September.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E585E0-5EA9-4CEC-8918-A2B4EEB52DAB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5105400" cy="4381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650E01-D115-4546-A5AE-AE8B2AEB07B6}"/>
              </a:ext>
            </a:extLst>
          </p:cNvPr>
          <p:cNvSpPr>
            <a:spLocks noGrp="1"/>
          </p:cNvSpPr>
          <p:nvPr/>
        </p:nvSpPr>
        <p:spPr>
          <a:xfrm>
            <a:off x="685800" y="320992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6EBB93-84D3-44FC-A1B6-A75DA23A9939}"/>
              </a:ext>
            </a:extLst>
          </p:cNvPr>
          <p:cNvSpPr>
            <a:spLocks noGrp="1"/>
          </p:cNvSpPr>
          <p:nvPr/>
        </p:nvSpPr>
        <p:spPr>
          <a:xfrm>
            <a:off x="2114550" y="320040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Repayment status in August 2005.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6F6DF9-2C31-4BF6-81D9-42CE021CEE79}"/>
              </a:ext>
            </a:extLst>
          </p:cNvPr>
          <p:cNvSpPr>
            <a:spLocks noGrp="1"/>
          </p:cNvSpPr>
          <p:nvPr/>
        </p:nvSpPr>
        <p:spPr>
          <a:xfrm>
            <a:off x="552450" y="3581400"/>
            <a:ext cx="5105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6A9000-5B5E-44A6-A448-FD7A9384045C}"/>
              </a:ext>
            </a:extLst>
          </p:cNvPr>
          <p:cNvSpPr>
            <a:spLocks noGrp="1"/>
          </p:cNvSpPr>
          <p:nvPr/>
        </p:nvSpPr>
        <p:spPr>
          <a:xfrm>
            <a:off x="685800" y="364807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E549EB-7425-4E9E-A6E0-F9707CBA345C}"/>
              </a:ext>
            </a:extLst>
          </p:cNvPr>
          <p:cNvSpPr>
            <a:spLocks noGrp="1"/>
          </p:cNvSpPr>
          <p:nvPr/>
        </p:nvSpPr>
        <p:spPr>
          <a:xfrm>
            <a:off x="2114550" y="363855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Repayment status in July 2005.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0B9E10-1EFA-48E5-8462-95462109AF8C}"/>
              </a:ext>
            </a:extLst>
          </p:cNvPr>
          <p:cNvSpPr>
            <a:spLocks noGrp="1"/>
          </p:cNvSpPr>
          <p:nvPr/>
        </p:nvSpPr>
        <p:spPr>
          <a:xfrm>
            <a:off x="552450" y="4019550"/>
            <a:ext cx="5105400" cy="4381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A2B553-1015-475F-ADE0-7D948715575F}"/>
              </a:ext>
            </a:extLst>
          </p:cNvPr>
          <p:cNvSpPr>
            <a:spLocks noGrp="1"/>
          </p:cNvSpPr>
          <p:nvPr/>
        </p:nvSpPr>
        <p:spPr>
          <a:xfrm>
            <a:off x="685800" y="408622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5D956E-0692-4DB0-A6D3-DAED12F8DB8D}"/>
              </a:ext>
            </a:extLst>
          </p:cNvPr>
          <p:cNvSpPr>
            <a:spLocks noGrp="1"/>
          </p:cNvSpPr>
          <p:nvPr/>
        </p:nvSpPr>
        <p:spPr>
          <a:xfrm>
            <a:off x="2114550" y="407670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Repayment status in June 2005.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F132B2-C7E2-4D51-A5E6-30BB55B96F80}"/>
              </a:ext>
            </a:extLst>
          </p:cNvPr>
          <p:cNvSpPr>
            <a:spLocks noGrp="1"/>
          </p:cNvSpPr>
          <p:nvPr/>
        </p:nvSpPr>
        <p:spPr>
          <a:xfrm>
            <a:off x="6153150" y="2343150"/>
            <a:ext cx="510540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0B06B5-C482-419A-840C-AD8544B933A2}"/>
              </a:ext>
            </a:extLst>
          </p:cNvPr>
          <p:cNvSpPr>
            <a:spLocks noGrp="1"/>
          </p:cNvSpPr>
          <p:nvPr/>
        </p:nvSpPr>
        <p:spPr>
          <a:xfrm>
            <a:off x="6153150" y="2343150"/>
            <a:ext cx="5105400" cy="36195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02A467-2F9B-4A8F-A7A2-2029C1EF35C5}"/>
              </a:ext>
            </a:extLst>
          </p:cNvPr>
          <p:cNvSpPr>
            <a:spLocks noGrp="1"/>
          </p:cNvSpPr>
          <p:nvPr/>
        </p:nvSpPr>
        <p:spPr>
          <a:xfrm>
            <a:off x="6305550" y="2457450"/>
            <a:ext cx="4800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Earlier months and coding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6E5A42-8A01-4696-99B7-0FF08CE335CA}"/>
              </a:ext>
            </a:extLst>
          </p:cNvPr>
          <p:cNvSpPr>
            <a:spLocks noGrp="1"/>
          </p:cNvSpPr>
          <p:nvPr/>
        </p:nvSpPr>
        <p:spPr>
          <a:xfrm>
            <a:off x="6153150" y="2705100"/>
            <a:ext cx="5105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89CFFA-6A14-4E43-8EDF-15DE2CFE5F61}"/>
              </a:ext>
            </a:extLst>
          </p:cNvPr>
          <p:cNvSpPr>
            <a:spLocks noGrp="1"/>
          </p:cNvSpPr>
          <p:nvPr/>
        </p:nvSpPr>
        <p:spPr>
          <a:xfrm>
            <a:off x="6286500" y="277177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E55EC2-C7A6-4F88-9597-3444883727A6}"/>
              </a:ext>
            </a:extLst>
          </p:cNvPr>
          <p:cNvSpPr>
            <a:spLocks noGrp="1"/>
          </p:cNvSpPr>
          <p:nvPr/>
        </p:nvSpPr>
        <p:spPr>
          <a:xfrm>
            <a:off x="7715250" y="276225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Repayment status in May 2005.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3662E0-754D-4E5D-B619-6B5362795831}"/>
              </a:ext>
            </a:extLst>
          </p:cNvPr>
          <p:cNvSpPr>
            <a:spLocks noGrp="1"/>
          </p:cNvSpPr>
          <p:nvPr/>
        </p:nvSpPr>
        <p:spPr>
          <a:xfrm>
            <a:off x="6153150" y="3143250"/>
            <a:ext cx="5105400" cy="4381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45EAA0D-88ED-4C30-B779-5EEC7B16A3E5}"/>
              </a:ext>
            </a:extLst>
          </p:cNvPr>
          <p:cNvSpPr>
            <a:spLocks noGrp="1"/>
          </p:cNvSpPr>
          <p:nvPr/>
        </p:nvSpPr>
        <p:spPr>
          <a:xfrm>
            <a:off x="6286500" y="320992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EB6E85-A906-4D33-BC90-78B21E23F786}"/>
              </a:ext>
            </a:extLst>
          </p:cNvPr>
          <p:cNvSpPr>
            <a:spLocks noGrp="1"/>
          </p:cNvSpPr>
          <p:nvPr/>
        </p:nvSpPr>
        <p:spPr>
          <a:xfrm>
            <a:off x="7715250" y="320040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Repayment status in April 2005.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2A4C95-1F36-45B6-95EB-5222D9DD350D}"/>
              </a:ext>
            </a:extLst>
          </p:cNvPr>
          <p:cNvSpPr>
            <a:spLocks noGrp="1"/>
          </p:cNvSpPr>
          <p:nvPr/>
        </p:nvSpPr>
        <p:spPr>
          <a:xfrm>
            <a:off x="6153150" y="3581400"/>
            <a:ext cx="5105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18217E5-2DD0-4417-ABEC-36319385A2AE}"/>
              </a:ext>
            </a:extLst>
          </p:cNvPr>
          <p:cNvSpPr>
            <a:spLocks noGrp="1"/>
          </p:cNvSpPr>
          <p:nvPr/>
        </p:nvSpPr>
        <p:spPr>
          <a:xfrm>
            <a:off x="6286500" y="364807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Coding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9D6B82E-94E2-4131-B05D-610658833E87}"/>
              </a:ext>
            </a:extLst>
          </p:cNvPr>
          <p:cNvSpPr>
            <a:spLocks noGrp="1"/>
          </p:cNvSpPr>
          <p:nvPr/>
        </p:nvSpPr>
        <p:spPr>
          <a:xfrm>
            <a:off x="7715250" y="363855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−1 = paid duly; 1–9 = delay from one month to nine months or more; inspect 0 and −2 in the supplied file.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AC6A52-6640-4BA1-972E-AF79ED293C18}"/>
              </a:ext>
            </a:extLst>
          </p:cNvPr>
          <p:cNvSpPr>
            <a:spLocks noGrp="1"/>
          </p:cNvSpPr>
          <p:nvPr/>
        </p:nvSpPr>
        <p:spPr>
          <a:xfrm>
            <a:off x="6153150" y="4019550"/>
            <a:ext cx="5105400" cy="4381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EE787D1-3C55-4B00-991A-8C8E2D933960}"/>
              </a:ext>
            </a:extLst>
          </p:cNvPr>
          <p:cNvSpPr>
            <a:spLocks noGrp="1"/>
          </p:cNvSpPr>
          <p:nvPr/>
        </p:nvSpPr>
        <p:spPr>
          <a:xfrm>
            <a:off x="6286500" y="408622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Modelling note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3C0246A-71D5-45FA-AE80-4CC23CE47497}"/>
              </a:ext>
            </a:extLst>
          </p:cNvPr>
          <p:cNvSpPr>
            <a:spLocks noGrp="1"/>
          </p:cNvSpPr>
          <p:nvPr/>
        </p:nvSpPr>
        <p:spPr>
          <a:xfrm>
            <a:off x="7715250" y="407670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Treat these as ordered repayment-status information only after confirming the source coding.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C2459BD-6E3E-4F30-9984-E2F330B0717A}"/>
              </a:ext>
            </a:extLst>
          </p:cNvPr>
          <p:cNvSpPr>
            <a:spLocks noGrp="1"/>
          </p:cNvSpPr>
          <p:nvPr/>
        </p:nvSpPr>
        <p:spPr>
          <a:xfrm>
            <a:off x="552450" y="5467350"/>
            <a:ext cx="11087100" cy="40005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27DD369-8082-4847-92E3-A1F7C19AB1A8}"/>
              </a:ext>
            </a:extLst>
          </p:cNvPr>
          <p:cNvSpPr>
            <a:spLocks noGrp="1"/>
          </p:cNvSpPr>
          <p:nvPr/>
        </p:nvSpPr>
        <p:spPr>
          <a:xfrm>
            <a:off x="742950" y="5619750"/>
            <a:ext cx="10706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Source definition: UCI Default of Credit Card Clients, Additional Variable Information. Do not silently relabel coded values.</a:t>
            </a:r>
          </a:p>
        </p:txBody>
      </p:sp>
    </p:spTree>
    <p:extLst>
      <p:ext uri="{BB962C8B-B14F-4D97-AF65-F5344CB8AC3E}">
        <p14:creationId xmlns:p14="http://schemas.microsoft.com/office/powerpoint/2010/main" val="108097371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BE815481-55CF-48C7-A74A-A6730059E68F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E15A5B-D05A-4BF4-9209-9C93D05F2500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DATASET DOCUMENTATION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E7C825-F15B-426C-B1A0-6587011EC48C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UCI credit variables III: bills, payments, and target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DBBD11-16FB-43DA-A52E-919AACD1BF9A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Amounts are in New Taiwan dollars. The month suffix runs from September 2005 back to April 2005.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4675A8-11E6-4E06-88BF-7BC271B5F3B4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8FE56F-F49C-4B8A-BAAC-4614B37B1452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45EAFC-8B20-47C0-ACC3-E7CA07252788}"/>
              </a:ext>
            </a:extLst>
          </p:cNvPr>
          <p:cNvSpPr>
            <a:spLocks noGrp="1"/>
          </p:cNvSpPr>
          <p:nvPr/>
        </p:nvSpPr>
        <p:spPr>
          <a:xfrm>
            <a:off x="552450" y="2343150"/>
            <a:ext cx="510540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3294E2-1207-4A49-BD2C-5335A7C856A6}"/>
              </a:ext>
            </a:extLst>
          </p:cNvPr>
          <p:cNvSpPr>
            <a:spLocks noGrp="1"/>
          </p:cNvSpPr>
          <p:nvPr/>
        </p:nvSpPr>
        <p:spPr>
          <a:xfrm>
            <a:off x="552450" y="2343150"/>
            <a:ext cx="5105400" cy="36195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265504-212F-4C65-978A-96DF1FAFBE62}"/>
              </a:ext>
            </a:extLst>
          </p:cNvPr>
          <p:cNvSpPr>
            <a:spLocks noGrp="1"/>
          </p:cNvSpPr>
          <p:nvPr/>
        </p:nvSpPr>
        <p:spPr>
          <a:xfrm>
            <a:off x="704850" y="2457450"/>
            <a:ext cx="4800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Bill statements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3D7A0-944C-4A0B-800A-F90DB995A83E}"/>
              </a:ext>
            </a:extLst>
          </p:cNvPr>
          <p:cNvSpPr>
            <a:spLocks noGrp="1"/>
          </p:cNvSpPr>
          <p:nvPr/>
        </p:nvSpPr>
        <p:spPr>
          <a:xfrm>
            <a:off x="552450" y="2705100"/>
            <a:ext cx="5105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C33BAA-8D77-4219-A2F8-65ACB8B7C9E8}"/>
              </a:ext>
            </a:extLst>
          </p:cNvPr>
          <p:cNvSpPr>
            <a:spLocks noGrp="1"/>
          </p:cNvSpPr>
          <p:nvPr/>
        </p:nvSpPr>
        <p:spPr>
          <a:xfrm>
            <a:off x="685800" y="277177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BILL_AMT1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855223-E2E7-4A2D-B55F-46EA402C38A2}"/>
              </a:ext>
            </a:extLst>
          </p:cNvPr>
          <p:cNvSpPr>
            <a:spLocks noGrp="1"/>
          </p:cNvSpPr>
          <p:nvPr/>
        </p:nvSpPr>
        <p:spPr>
          <a:xfrm>
            <a:off x="2114550" y="276225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September 2005 bill statement amount.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D4829B-1891-4D81-BE8A-84C20512C324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5105400" cy="4381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D14AF7-EAA1-4569-B4BE-AACA227D808B}"/>
              </a:ext>
            </a:extLst>
          </p:cNvPr>
          <p:cNvSpPr>
            <a:spLocks noGrp="1"/>
          </p:cNvSpPr>
          <p:nvPr/>
        </p:nvSpPr>
        <p:spPr>
          <a:xfrm>
            <a:off x="685800" y="320992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BILL_AMT2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B75118-01B5-4E35-AAAE-15D947FBB9C9}"/>
              </a:ext>
            </a:extLst>
          </p:cNvPr>
          <p:cNvSpPr>
            <a:spLocks noGrp="1"/>
          </p:cNvSpPr>
          <p:nvPr/>
        </p:nvSpPr>
        <p:spPr>
          <a:xfrm>
            <a:off x="2114550" y="320040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August 2005 bill statement amount.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9D4E4A-2CBC-439A-84CE-842EC4DCE8FB}"/>
              </a:ext>
            </a:extLst>
          </p:cNvPr>
          <p:cNvSpPr>
            <a:spLocks noGrp="1"/>
          </p:cNvSpPr>
          <p:nvPr/>
        </p:nvSpPr>
        <p:spPr>
          <a:xfrm>
            <a:off x="552450" y="3581400"/>
            <a:ext cx="5105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5ADE1-0B6D-4B48-9B0A-4BA7304C8AB5}"/>
              </a:ext>
            </a:extLst>
          </p:cNvPr>
          <p:cNvSpPr>
            <a:spLocks noGrp="1"/>
          </p:cNvSpPr>
          <p:nvPr/>
        </p:nvSpPr>
        <p:spPr>
          <a:xfrm>
            <a:off x="685800" y="364807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BILL_AMT3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8C4FEB-A30B-49A3-8876-7A02E8698937}"/>
              </a:ext>
            </a:extLst>
          </p:cNvPr>
          <p:cNvSpPr>
            <a:spLocks noGrp="1"/>
          </p:cNvSpPr>
          <p:nvPr/>
        </p:nvSpPr>
        <p:spPr>
          <a:xfrm>
            <a:off x="2114550" y="363855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July 2005 bill statement amount.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E7F128-54BF-4E8D-B312-6F441D5D2F83}"/>
              </a:ext>
            </a:extLst>
          </p:cNvPr>
          <p:cNvSpPr>
            <a:spLocks noGrp="1"/>
          </p:cNvSpPr>
          <p:nvPr/>
        </p:nvSpPr>
        <p:spPr>
          <a:xfrm>
            <a:off x="552450" y="4019550"/>
            <a:ext cx="5105400" cy="4381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7A1FAD-7B7E-4F95-878A-FE0E22F2FB6A}"/>
              </a:ext>
            </a:extLst>
          </p:cNvPr>
          <p:cNvSpPr>
            <a:spLocks noGrp="1"/>
          </p:cNvSpPr>
          <p:nvPr/>
        </p:nvSpPr>
        <p:spPr>
          <a:xfrm>
            <a:off x="685800" y="408622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BILL_AMT4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722B83-54CD-4EC6-A497-82007556CE90}"/>
              </a:ext>
            </a:extLst>
          </p:cNvPr>
          <p:cNvSpPr>
            <a:spLocks noGrp="1"/>
          </p:cNvSpPr>
          <p:nvPr/>
        </p:nvSpPr>
        <p:spPr>
          <a:xfrm>
            <a:off x="2114550" y="407670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June 2005 bill statement amount.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CDE6F4-6B34-4B8E-BCCA-F7AF9C6568BA}"/>
              </a:ext>
            </a:extLst>
          </p:cNvPr>
          <p:cNvSpPr>
            <a:spLocks noGrp="1"/>
          </p:cNvSpPr>
          <p:nvPr/>
        </p:nvSpPr>
        <p:spPr>
          <a:xfrm>
            <a:off x="552450" y="4457700"/>
            <a:ext cx="51054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CF58CE-C1C1-4115-B16E-060F243BA68A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BILL_AMT5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CB9DB6-0742-4DFD-8115-DA589519F21B}"/>
              </a:ext>
            </a:extLst>
          </p:cNvPr>
          <p:cNvSpPr>
            <a:spLocks noGrp="1"/>
          </p:cNvSpPr>
          <p:nvPr/>
        </p:nvSpPr>
        <p:spPr>
          <a:xfrm>
            <a:off x="2114550" y="451485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May 2005 bill statement amount.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3B546A-3EA7-4AC8-AA3C-B2632DAE884C}"/>
              </a:ext>
            </a:extLst>
          </p:cNvPr>
          <p:cNvSpPr>
            <a:spLocks noGrp="1"/>
          </p:cNvSpPr>
          <p:nvPr/>
        </p:nvSpPr>
        <p:spPr>
          <a:xfrm>
            <a:off x="552450" y="4895850"/>
            <a:ext cx="5105400" cy="4381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E76B05-98BE-4DBF-8D9A-2ADA7ADBDDE6}"/>
              </a:ext>
            </a:extLst>
          </p:cNvPr>
          <p:cNvSpPr>
            <a:spLocks noGrp="1"/>
          </p:cNvSpPr>
          <p:nvPr/>
        </p:nvSpPr>
        <p:spPr>
          <a:xfrm>
            <a:off x="685800" y="4962525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BILL_AMT6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AB6259-0F1B-4F21-B372-C25A1E3A23B3}"/>
              </a:ext>
            </a:extLst>
          </p:cNvPr>
          <p:cNvSpPr>
            <a:spLocks noGrp="1"/>
          </p:cNvSpPr>
          <p:nvPr/>
        </p:nvSpPr>
        <p:spPr>
          <a:xfrm>
            <a:off x="2114550" y="4953000"/>
            <a:ext cx="3390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April 2005 bill statement amount.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27AA800-1C91-4A62-92E8-A4C821EBAD16}"/>
              </a:ext>
            </a:extLst>
          </p:cNvPr>
          <p:cNvSpPr>
            <a:spLocks noGrp="1"/>
          </p:cNvSpPr>
          <p:nvPr/>
        </p:nvSpPr>
        <p:spPr>
          <a:xfrm>
            <a:off x="6153150" y="2343150"/>
            <a:ext cx="510540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0AE768-2DBE-45AC-AA54-CA9F6F6D9AF4}"/>
              </a:ext>
            </a:extLst>
          </p:cNvPr>
          <p:cNvSpPr>
            <a:spLocks noGrp="1"/>
          </p:cNvSpPr>
          <p:nvPr/>
        </p:nvSpPr>
        <p:spPr>
          <a:xfrm>
            <a:off x="6153150" y="2343150"/>
            <a:ext cx="5105400" cy="36195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7066F5-DB39-4987-B48A-67CEDD7330AA}"/>
              </a:ext>
            </a:extLst>
          </p:cNvPr>
          <p:cNvSpPr>
            <a:spLocks noGrp="1"/>
          </p:cNvSpPr>
          <p:nvPr/>
        </p:nvSpPr>
        <p:spPr>
          <a:xfrm>
            <a:off x="6305550" y="2457450"/>
            <a:ext cx="4800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Previous payments and outcome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A4804B-2039-409E-B6F0-BF226E1B7839}"/>
              </a:ext>
            </a:extLst>
          </p:cNvPr>
          <p:cNvSpPr>
            <a:spLocks noGrp="1"/>
          </p:cNvSpPr>
          <p:nvPr/>
        </p:nvSpPr>
        <p:spPr>
          <a:xfrm>
            <a:off x="6153150" y="2705100"/>
            <a:ext cx="51054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FD2AA1-56ED-4D95-A42D-1BEFF45E8DD2}"/>
              </a:ext>
            </a:extLst>
          </p:cNvPr>
          <p:cNvSpPr>
            <a:spLocks noGrp="1"/>
          </p:cNvSpPr>
          <p:nvPr/>
        </p:nvSpPr>
        <p:spPr>
          <a:xfrm>
            <a:off x="6286500" y="2771775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4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4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PAY_AMT1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7E5D9D-2B0C-483B-8623-ABE8155DB30B}"/>
              </a:ext>
            </a:extLst>
          </p:cNvPr>
          <p:cNvSpPr>
            <a:spLocks noGrp="1"/>
          </p:cNvSpPr>
          <p:nvPr/>
        </p:nvSpPr>
        <p:spPr>
          <a:xfrm>
            <a:off x="7715250" y="2762250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4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September 2005 previous payment amount.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248E52C-4965-4655-950B-6265F4305568}"/>
              </a:ext>
            </a:extLst>
          </p:cNvPr>
          <p:cNvSpPr>
            <a:spLocks noGrp="1"/>
          </p:cNvSpPr>
          <p:nvPr/>
        </p:nvSpPr>
        <p:spPr>
          <a:xfrm>
            <a:off x="6153150" y="3048000"/>
            <a:ext cx="5105400" cy="34290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F963A04-5012-471A-90CA-F960CCC39FF7}"/>
              </a:ext>
            </a:extLst>
          </p:cNvPr>
          <p:cNvSpPr>
            <a:spLocks noGrp="1"/>
          </p:cNvSpPr>
          <p:nvPr/>
        </p:nvSpPr>
        <p:spPr>
          <a:xfrm>
            <a:off x="6286500" y="3114675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4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4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PAY_AMT2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93FDA4-E0A2-4590-BDBD-CC075B4BD85B}"/>
              </a:ext>
            </a:extLst>
          </p:cNvPr>
          <p:cNvSpPr>
            <a:spLocks noGrp="1"/>
          </p:cNvSpPr>
          <p:nvPr/>
        </p:nvSpPr>
        <p:spPr>
          <a:xfrm>
            <a:off x="7715250" y="3105150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4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August 2005 previous payment amount.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A67DB12-6052-458C-B52F-B2643F92B910}"/>
              </a:ext>
            </a:extLst>
          </p:cNvPr>
          <p:cNvSpPr>
            <a:spLocks noGrp="1"/>
          </p:cNvSpPr>
          <p:nvPr/>
        </p:nvSpPr>
        <p:spPr>
          <a:xfrm>
            <a:off x="6153150" y="3390900"/>
            <a:ext cx="51054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35FCAC6-A023-48D3-80ED-0BC3B071DE92}"/>
              </a:ext>
            </a:extLst>
          </p:cNvPr>
          <p:cNvSpPr>
            <a:spLocks noGrp="1"/>
          </p:cNvSpPr>
          <p:nvPr/>
        </p:nvSpPr>
        <p:spPr>
          <a:xfrm>
            <a:off x="6286500" y="3457575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4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4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PAY_AMT3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F101B2-7192-4FD3-889E-5DC7DF69BD2B}"/>
              </a:ext>
            </a:extLst>
          </p:cNvPr>
          <p:cNvSpPr>
            <a:spLocks noGrp="1"/>
          </p:cNvSpPr>
          <p:nvPr/>
        </p:nvSpPr>
        <p:spPr>
          <a:xfrm>
            <a:off x="7715250" y="3448050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4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July 2005 previous payment amount.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8B01423-DB18-4E6E-BD95-B62342B58D32}"/>
              </a:ext>
            </a:extLst>
          </p:cNvPr>
          <p:cNvSpPr>
            <a:spLocks noGrp="1"/>
          </p:cNvSpPr>
          <p:nvPr/>
        </p:nvSpPr>
        <p:spPr>
          <a:xfrm>
            <a:off x="6153150" y="3733800"/>
            <a:ext cx="5105400" cy="34290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E429FE3-FD90-49DB-9735-0ACC5FD398A2}"/>
              </a:ext>
            </a:extLst>
          </p:cNvPr>
          <p:cNvSpPr>
            <a:spLocks noGrp="1"/>
          </p:cNvSpPr>
          <p:nvPr/>
        </p:nvSpPr>
        <p:spPr>
          <a:xfrm>
            <a:off x="6286500" y="3800475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4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4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PAY_AMT4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C77FEED-CBAB-408C-B6B3-F5327E0FDCFC}"/>
              </a:ext>
            </a:extLst>
          </p:cNvPr>
          <p:cNvSpPr>
            <a:spLocks noGrp="1"/>
          </p:cNvSpPr>
          <p:nvPr/>
        </p:nvSpPr>
        <p:spPr>
          <a:xfrm>
            <a:off x="7715250" y="3790950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4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June 2005 previous payment amount.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CCE7ADA-B4DA-4FA5-BA88-12C62CC89ED8}"/>
              </a:ext>
            </a:extLst>
          </p:cNvPr>
          <p:cNvSpPr>
            <a:spLocks noGrp="1"/>
          </p:cNvSpPr>
          <p:nvPr/>
        </p:nvSpPr>
        <p:spPr>
          <a:xfrm>
            <a:off x="6153150" y="4076700"/>
            <a:ext cx="51054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77F17A0-C658-4771-9666-33C5B3152F35}"/>
              </a:ext>
            </a:extLst>
          </p:cNvPr>
          <p:cNvSpPr>
            <a:spLocks noGrp="1"/>
          </p:cNvSpPr>
          <p:nvPr/>
        </p:nvSpPr>
        <p:spPr>
          <a:xfrm>
            <a:off x="6286500" y="4143375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4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4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PAY_AMT5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E4E05C8-9017-4AF5-892E-1D2FC38F3C3E}"/>
              </a:ext>
            </a:extLst>
          </p:cNvPr>
          <p:cNvSpPr>
            <a:spLocks noGrp="1"/>
          </p:cNvSpPr>
          <p:nvPr/>
        </p:nvSpPr>
        <p:spPr>
          <a:xfrm>
            <a:off x="7715250" y="4133850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4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May 2005 previous payment amount.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8AE3567-CC9D-41CB-96D7-5C96CE69C4A2}"/>
              </a:ext>
            </a:extLst>
          </p:cNvPr>
          <p:cNvSpPr>
            <a:spLocks noGrp="1"/>
          </p:cNvSpPr>
          <p:nvPr/>
        </p:nvSpPr>
        <p:spPr>
          <a:xfrm>
            <a:off x="6153150" y="4419600"/>
            <a:ext cx="5105400" cy="34290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8BFE214-0472-464C-8F9B-69A954623AB6}"/>
              </a:ext>
            </a:extLst>
          </p:cNvPr>
          <p:cNvSpPr>
            <a:spLocks noGrp="1"/>
          </p:cNvSpPr>
          <p:nvPr/>
        </p:nvSpPr>
        <p:spPr>
          <a:xfrm>
            <a:off x="6286500" y="4486275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4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4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PAY_AMT6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BA973E1-BB2C-4B49-8CF2-4119E1A5CE06}"/>
              </a:ext>
            </a:extLst>
          </p:cNvPr>
          <p:cNvSpPr>
            <a:spLocks noGrp="1"/>
          </p:cNvSpPr>
          <p:nvPr/>
        </p:nvSpPr>
        <p:spPr>
          <a:xfrm>
            <a:off x="7715250" y="4476750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4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April 2005 previous payment amount.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4622BF7-689B-44B2-B398-5333E471B427}"/>
              </a:ext>
            </a:extLst>
          </p:cNvPr>
          <p:cNvSpPr>
            <a:spLocks noGrp="1"/>
          </p:cNvSpPr>
          <p:nvPr/>
        </p:nvSpPr>
        <p:spPr>
          <a:xfrm>
            <a:off x="6153150" y="4762500"/>
            <a:ext cx="51054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56C70DB-E747-4D52-A788-F117BAFCD9A2}"/>
              </a:ext>
            </a:extLst>
          </p:cNvPr>
          <p:cNvSpPr>
            <a:spLocks noGrp="1"/>
          </p:cNvSpPr>
          <p:nvPr/>
        </p:nvSpPr>
        <p:spPr>
          <a:xfrm>
            <a:off x="6286500" y="4829175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6726"/>
          </a:bodyPr>
          <a:lstStyle/>
          <a:p>
            <a:pPr algn="l">
              <a:buNone/>
              <a:defRPr sz="84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84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default payment next month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EDE40CE-AF94-4EBC-A1B4-4F0007B2B8C9}"/>
              </a:ext>
            </a:extLst>
          </p:cNvPr>
          <p:cNvSpPr>
            <a:spLocks noGrp="1"/>
          </p:cNvSpPr>
          <p:nvPr/>
        </p:nvSpPr>
        <p:spPr>
          <a:xfrm>
            <a:off x="7715250" y="4819650"/>
            <a:ext cx="3390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4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84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Target: 1 if the client defaulted next month, otherwise 0.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1C34D45-21AC-416D-A1AC-498FBD7423AC}"/>
              </a:ext>
            </a:extLst>
          </p:cNvPr>
          <p:cNvSpPr>
            <a:spLocks noGrp="1"/>
          </p:cNvSpPr>
          <p:nvPr/>
        </p:nvSpPr>
        <p:spPr>
          <a:xfrm>
            <a:off x="552450" y="5467350"/>
            <a:ext cx="11087100" cy="40005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5C21515-98EF-4AC5-9D2F-7F829184EC17}"/>
              </a:ext>
            </a:extLst>
          </p:cNvPr>
          <p:cNvSpPr>
            <a:spLocks noGrp="1"/>
          </p:cNvSpPr>
          <p:nvPr/>
        </p:nvSpPr>
        <p:spPr>
          <a:xfrm>
            <a:off x="742950" y="5619750"/>
            <a:ext cx="10706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Units and month definitions: UCI official documentation | Amounts are not percentages | Target must not be used as an input feature.</a:t>
            </a:r>
          </a:p>
        </p:txBody>
      </p:sp>
    </p:spTree>
    <p:extLst>
      <p:ext uri="{BB962C8B-B14F-4D97-AF65-F5344CB8AC3E}">
        <p14:creationId xmlns:p14="http://schemas.microsoft.com/office/powerpoint/2010/main" val="18703828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9FA7778-2F7F-4AE5-9163-408DAEF2FE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F525D8-B107-4627-B88D-D91AAFF32452}"/>
              </a:ext>
            </a:extLst>
          </p:cNvPr>
          <p:cNvSpPr>
            <a:spLocks noGrp="1"/>
          </p:cNvSpPr>
          <p:nvPr/>
        </p:nvSpPr>
        <p:spPr>
          <a:xfrm>
            <a:off x="7715250" y="800100"/>
            <a:ext cx="314325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2750" b="1" i="0">
                <a:solidFill>
                  <a:srgbClr val="102D49"/>
                </a:solidFill>
                <a:latin typeface="Aptos"/>
                <a:ea typeface="Aptos"/>
                <a:cs typeface="Aptos"/>
              </a:defRPr>
            </a:pPr>
            <a:r>
              <a:rPr sz="12750" b="1" i="0">
                <a:solidFill>
                  <a:srgbClr val="102D4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5742F9-05C9-4487-867F-DBBE4E7A79B3}"/>
              </a:ext>
            </a:extLst>
          </p:cNvPr>
          <p:cNvSpPr>
            <a:spLocks noGrp="1"/>
          </p:cNvSpPr>
          <p:nvPr/>
        </p:nvSpPr>
        <p:spPr>
          <a:xfrm>
            <a:off x="762000" y="1200150"/>
            <a:ext cx="876300" cy="47625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3C1DFA-6BB3-4D1C-89EA-D6D68BC60DE7}"/>
              </a:ext>
            </a:extLst>
          </p:cNvPr>
          <p:cNvSpPr>
            <a:spLocks noGrp="1"/>
          </p:cNvSpPr>
          <p:nvPr/>
        </p:nvSpPr>
        <p:spPr>
          <a:xfrm>
            <a:off x="762000" y="1485900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PART 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D7923B-D76E-4306-B2E7-C45C1FB8CCB7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239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3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 1 exercise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45FB18-2F71-4D93-BD61-628DA6490BDD}"/>
              </a:ext>
            </a:extLst>
          </p:cNvPr>
          <p:cNvSpPr>
            <a:spLocks noGrp="1"/>
          </p:cNvSpPr>
          <p:nvPr/>
        </p:nvSpPr>
        <p:spPr>
          <a:xfrm>
            <a:off x="781050" y="3314700"/>
            <a:ext cx="6286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BFD0D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BFD0DF"/>
                </a:solidFill>
                <a:latin typeface="Aptos"/>
                <a:ea typeface="Aptos"/>
                <a:cs typeface="Aptos"/>
              </a:rPr>
              <a:t>Combine Python foundations, data inspection, descriptive statistics, and visualisation.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02BEAD-0468-4395-B0CF-2C0A24894775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1B11E7-CABE-4D4D-A28D-588B4197757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8E7073-050C-4426-BE8A-9F08F6309219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195614732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60DCFB3A-28C1-43F3-AF9C-15394F219FCF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0D2C22-BFDC-4698-9536-AA07FD81B235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WEEK 1 EXERCISE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C6FF87-ECE4-4D06-BC8F-0BABDAD0DA36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first financial-data notebook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20893A-1A99-48FF-9FE4-0B9CC99B41B3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output is a short, reproducible analysis rather than a collection of commands.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8C5846-3FA0-4EA5-801F-6B3FB6CACE21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6FAB79-DE06-4605-8FB9-62DBABD0D066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92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A98330-E4DD-4C60-B852-0085B48218CD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77BE0A-415D-43B4-B81F-D3309D8D2A51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476500" cy="76200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8B2D4A-B1C0-4FE1-8513-40D17532F5DF}"/>
              </a:ext>
            </a:extLst>
          </p:cNvPr>
          <p:cNvSpPr>
            <a:spLocks noGrp="1"/>
          </p:cNvSpPr>
          <p:nvPr/>
        </p:nvSpPr>
        <p:spPr>
          <a:xfrm>
            <a:off x="723900" y="2800350"/>
            <a:ext cx="400050" cy="400050"/>
          </a:xfrm>
          <a:prstGeom prst="ellipse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24CA92-1114-4B48-8F52-3010EC319BF3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00D972-072A-45E0-B09D-F3C47C685DDB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Setup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EA97312-544A-4C5C-8E1E-AA86077C7044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B533B0-CEBC-45CA-83BE-92C6E9EF454C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Imports, path, versions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08988C-5B6B-4604-BB02-17AD27F77268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050FDA-6897-4AEA-A7CA-652AD3EB3D46}"/>
              </a:ext>
            </a:extLst>
          </p:cNvPr>
          <p:cNvSpPr>
            <a:spLocks noGrp="1"/>
          </p:cNvSpPr>
          <p:nvPr/>
        </p:nvSpPr>
        <p:spPr>
          <a:xfrm>
            <a:off x="72390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imports, path, versions.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9BEDE4-413F-4FD6-8587-1240E8FD008B}"/>
              </a:ext>
            </a:extLst>
          </p:cNvPr>
          <p:cNvSpPr>
            <a:spLocks noGrp="1"/>
          </p:cNvSpPr>
          <p:nvPr/>
        </p:nvSpPr>
        <p:spPr>
          <a:xfrm>
            <a:off x="320040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54179A-27F6-42C0-B514-3F89E82079D7}"/>
              </a:ext>
            </a:extLst>
          </p:cNvPr>
          <p:cNvSpPr>
            <a:spLocks noGrp="1"/>
          </p:cNvSpPr>
          <p:nvPr/>
        </p:nvSpPr>
        <p:spPr>
          <a:xfrm>
            <a:off x="3200400" y="2571750"/>
            <a:ext cx="2476500" cy="762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6B058D5-B4BF-4C57-A4FA-169DD1CA4E4D}"/>
              </a:ext>
            </a:extLst>
          </p:cNvPr>
          <p:cNvSpPr>
            <a:spLocks noGrp="1"/>
          </p:cNvSpPr>
          <p:nvPr/>
        </p:nvSpPr>
        <p:spPr>
          <a:xfrm>
            <a:off x="3371850" y="2800350"/>
            <a:ext cx="400050" cy="400050"/>
          </a:xfrm>
          <a:prstGeom prst="ellipse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942620-DB0D-4B35-96CB-139546062D06}"/>
              </a:ext>
            </a:extLst>
          </p:cNvPr>
          <p:cNvSpPr>
            <a:spLocks noGrp="1"/>
          </p:cNvSpPr>
          <p:nvPr/>
        </p:nvSpPr>
        <p:spPr>
          <a:xfrm>
            <a:off x="337185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92ED83-FB5D-4139-8CCA-5344648950FF}"/>
              </a:ext>
            </a:extLst>
          </p:cNvPr>
          <p:cNvSpPr>
            <a:spLocks noGrp="1"/>
          </p:cNvSpPr>
          <p:nvPr/>
        </p:nvSpPr>
        <p:spPr>
          <a:xfrm>
            <a:off x="390525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9AD7AED5-1924-4425-91A0-FE3D9B09DDD2}"/>
              </a:ext>
            </a:extLst>
          </p:cNvPr>
          <p:cNvSpPr>
            <a:spLocks noGrp="1"/>
          </p:cNvSpPr>
          <p:nvPr/>
        </p:nvSpPr>
        <p:spPr>
          <a:xfrm>
            <a:off x="337185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648F57-789F-4720-9C34-6468B7A8A1FE}"/>
              </a:ext>
            </a:extLst>
          </p:cNvPr>
          <p:cNvSpPr>
            <a:spLocks noGrp="1"/>
          </p:cNvSpPr>
          <p:nvPr/>
        </p:nvSpPr>
        <p:spPr>
          <a:xfrm>
            <a:off x="337185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Rows, types, missingness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3013B2-1760-4871-9FC1-0CBA7CFDF104}"/>
              </a:ext>
            </a:extLst>
          </p:cNvPr>
          <p:cNvSpPr>
            <a:spLocks noGrp="1"/>
          </p:cNvSpPr>
          <p:nvPr/>
        </p:nvSpPr>
        <p:spPr>
          <a:xfrm>
            <a:off x="337185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64868D-13C7-4208-BAA4-F2A7BE45CC3D}"/>
              </a:ext>
            </a:extLst>
          </p:cNvPr>
          <p:cNvSpPr>
            <a:spLocks noGrp="1"/>
          </p:cNvSpPr>
          <p:nvPr/>
        </p:nvSpPr>
        <p:spPr>
          <a:xfrm>
            <a:off x="337185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rows, types, missingness.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E94CED-22E6-429C-8FFD-3C3720188863}"/>
              </a:ext>
            </a:extLst>
          </p:cNvPr>
          <p:cNvSpPr>
            <a:spLocks noGrp="1"/>
          </p:cNvSpPr>
          <p:nvPr/>
        </p:nvSpPr>
        <p:spPr>
          <a:xfrm>
            <a:off x="584835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705F71-AE74-4B49-8F20-A976B6E5EA9F}"/>
              </a:ext>
            </a:extLst>
          </p:cNvPr>
          <p:cNvSpPr>
            <a:spLocks noGrp="1"/>
          </p:cNvSpPr>
          <p:nvPr/>
        </p:nvSpPr>
        <p:spPr>
          <a:xfrm>
            <a:off x="5848350" y="2571750"/>
            <a:ext cx="2476500" cy="762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A33458-14E4-4C41-9858-0EDA816F6EBC}"/>
              </a:ext>
            </a:extLst>
          </p:cNvPr>
          <p:cNvSpPr>
            <a:spLocks noGrp="1"/>
          </p:cNvSpPr>
          <p:nvPr/>
        </p:nvSpPr>
        <p:spPr>
          <a:xfrm>
            <a:off x="6019800" y="2800350"/>
            <a:ext cx="400050" cy="400050"/>
          </a:xfrm>
          <a:prstGeom prst="ellipse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B2DFC3-88F2-4D94-89A9-9B128C654BC4}"/>
              </a:ext>
            </a:extLst>
          </p:cNvPr>
          <p:cNvSpPr>
            <a:spLocks noGrp="1"/>
          </p:cNvSpPr>
          <p:nvPr/>
        </p:nvSpPr>
        <p:spPr>
          <a:xfrm>
            <a:off x="601980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972CD3B-5EA7-47BF-8CD1-7167DD394198}"/>
              </a:ext>
            </a:extLst>
          </p:cNvPr>
          <p:cNvSpPr>
            <a:spLocks noGrp="1"/>
          </p:cNvSpPr>
          <p:nvPr/>
        </p:nvSpPr>
        <p:spPr>
          <a:xfrm>
            <a:off x="655320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Describe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D7E3BB27-A463-49AE-8043-91BE6F208F8C}"/>
              </a:ext>
            </a:extLst>
          </p:cNvPr>
          <p:cNvSpPr>
            <a:spLocks noGrp="1"/>
          </p:cNvSpPr>
          <p:nvPr/>
        </p:nvSpPr>
        <p:spPr>
          <a:xfrm>
            <a:off x="601980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28C1BA-A122-4E9F-A01E-4C007F7E200A}"/>
              </a:ext>
            </a:extLst>
          </p:cNvPr>
          <p:cNvSpPr>
            <a:spLocks noGrp="1"/>
          </p:cNvSpPr>
          <p:nvPr/>
        </p:nvSpPr>
        <p:spPr>
          <a:xfrm>
            <a:off x="601980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Statistics and returns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925C62-F929-4321-BAFB-66E97F3EB8E9}"/>
              </a:ext>
            </a:extLst>
          </p:cNvPr>
          <p:cNvSpPr>
            <a:spLocks noGrp="1"/>
          </p:cNvSpPr>
          <p:nvPr/>
        </p:nvSpPr>
        <p:spPr>
          <a:xfrm>
            <a:off x="601980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E8A33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E8A33B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F05C858-7783-460B-85AE-E5CDD5F45A92}"/>
              </a:ext>
            </a:extLst>
          </p:cNvPr>
          <p:cNvSpPr>
            <a:spLocks noGrp="1"/>
          </p:cNvSpPr>
          <p:nvPr/>
        </p:nvSpPr>
        <p:spPr>
          <a:xfrm>
            <a:off x="601980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statistics and returns.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14AA14-18A8-4805-8A49-55DEDD55E013}"/>
              </a:ext>
            </a:extLst>
          </p:cNvPr>
          <p:cNvSpPr>
            <a:spLocks noGrp="1"/>
          </p:cNvSpPr>
          <p:nvPr/>
        </p:nvSpPr>
        <p:spPr>
          <a:xfrm>
            <a:off x="8496300" y="2571750"/>
            <a:ext cx="24765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24C5DBB-7CC9-4AF5-865B-5AF0D893AAD0}"/>
              </a:ext>
            </a:extLst>
          </p:cNvPr>
          <p:cNvSpPr>
            <a:spLocks noGrp="1"/>
          </p:cNvSpPr>
          <p:nvPr/>
        </p:nvSpPr>
        <p:spPr>
          <a:xfrm>
            <a:off x="8496300" y="2571750"/>
            <a:ext cx="2476500" cy="76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E3AD7E6-D8A7-49D0-92AE-6913364751ED}"/>
              </a:ext>
            </a:extLst>
          </p:cNvPr>
          <p:cNvSpPr>
            <a:spLocks noGrp="1"/>
          </p:cNvSpPr>
          <p:nvPr/>
        </p:nvSpPr>
        <p:spPr>
          <a:xfrm>
            <a:off x="8667750" y="2800350"/>
            <a:ext cx="400050" cy="400050"/>
          </a:xfrm>
          <a:prstGeom prst="ellipse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92144BA-6396-40FE-AEF7-0F64905B4AEC}"/>
              </a:ext>
            </a:extLst>
          </p:cNvPr>
          <p:cNvSpPr>
            <a:spLocks noGrp="1"/>
          </p:cNvSpPr>
          <p:nvPr/>
        </p:nvSpPr>
        <p:spPr>
          <a:xfrm>
            <a:off x="8667750" y="2914650"/>
            <a:ext cx="4000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ctr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A06BD10-3526-4BF3-BC8F-4C9A5E83B8E9}"/>
              </a:ext>
            </a:extLst>
          </p:cNvPr>
          <p:cNvSpPr>
            <a:spLocks noGrp="1"/>
          </p:cNvSpPr>
          <p:nvPr/>
        </p:nvSpPr>
        <p:spPr>
          <a:xfrm>
            <a:off x="9201150" y="2857500"/>
            <a:ext cx="160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Visualise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A72CE789-9F15-48B0-BD75-F58FF840F579}"/>
              </a:ext>
            </a:extLst>
          </p:cNvPr>
          <p:cNvSpPr>
            <a:spLocks noGrp="1"/>
          </p:cNvSpPr>
          <p:nvPr/>
        </p:nvSpPr>
        <p:spPr>
          <a:xfrm>
            <a:off x="8667750" y="3352800"/>
            <a:ext cx="2133600" cy="9525"/>
          </a:xfrm>
          <a:prstGeom prst="line">
            <a:avLst/>
          </a:prstGeom>
          <a:noFill/>
          <a:ln w="9525">
            <a:solidFill>
              <a:srgbClr val="C9D7E2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CACBDA4-8626-48CB-8EF8-8DD6B0FB77ED}"/>
              </a:ext>
            </a:extLst>
          </p:cNvPr>
          <p:cNvSpPr>
            <a:spLocks noGrp="1"/>
          </p:cNvSpPr>
          <p:nvPr/>
        </p:nvSpPr>
        <p:spPr>
          <a:xfrm>
            <a:off x="8667750" y="3524250"/>
            <a:ext cx="21336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Two labelled plots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A4CC400-8033-4353-9720-0BB49B9207EA}"/>
              </a:ext>
            </a:extLst>
          </p:cNvPr>
          <p:cNvSpPr>
            <a:spLocks noGrp="1"/>
          </p:cNvSpPr>
          <p:nvPr/>
        </p:nvSpPr>
        <p:spPr>
          <a:xfrm>
            <a:off x="8667750" y="4286250"/>
            <a:ext cx="21336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88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EC3821A-758E-4D71-9E0B-A5C94B9C8010}"/>
              </a:ext>
            </a:extLst>
          </p:cNvPr>
          <p:cNvSpPr>
            <a:spLocks noGrp="1"/>
          </p:cNvSpPr>
          <p:nvPr/>
        </p:nvSpPr>
        <p:spPr>
          <a:xfrm>
            <a:off x="8667750" y="4486275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38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Example: two labelled plots.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8A6CE33-F8BA-40F5-8352-31B7CDFD2A79}"/>
              </a:ext>
            </a:extLst>
          </p:cNvPr>
          <p:cNvSpPr>
            <a:spLocks noGrp="1"/>
          </p:cNvSpPr>
          <p:nvPr/>
        </p:nvSpPr>
        <p:spPr>
          <a:xfrm>
            <a:off x="552450" y="5162550"/>
            <a:ext cx="11087100" cy="51435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3FF43F6-CF8E-4AB0-AEAE-6D4EB77D5358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10706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63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End with one paragraph that explains what the data show and what they cannot show.</a:t>
            </a:r>
          </a:p>
        </p:txBody>
      </p:sp>
    </p:spTree>
    <p:extLst>
      <p:ext uri="{BB962C8B-B14F-4D97-AF65-F5344CB8AC3E}">
        <p14:creationId xmlns:p14="http://schemas.microsoft.com/office/powerpoint/2010/main" val="127633315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14F8C0-6EEE-4B1C-B05E-335681CD3E43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23923F-FAC6-4B81-8199-B59EF88DF4DB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COLAB CELL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101CDD-9550-44A5-B6ED-37F67042CEF6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concise notebook skeleton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0F0A87-AB05-416F-B087-21B357DD0815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notebook should read like a short analytical report.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CFFA8D-2FA8-4754-899E-66A86B05DC0D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BE016B-A80D-44AB-80E1-2AF433CA9BD2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93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CF2FEC-FE7F-4BF8-8C2A-8D650D98515A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00" cy="3314700"/>
          </a:xfrm>
          <a:prstGeom prst="rect">
            <a:avLst/>
          </a:prstGeom>
          <a:solidFill>
            <a:srgbClr val="0B1B2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1A9C35-E61F-4629-9CC3-205AAF9C2252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57150" cy="33147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C849A8-E99D-466D-B2D9-C692F1737A50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6076950" cy="2724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1. Question and context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2. Imports and data source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3. Load the public CSV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4. Inspect shape, types, missingness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5. Descriptive statistics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6. Two labelled visualisations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7. Financial interpretation</a:t>
            </a:r>
          </a:p>
          <a:p>
            <a:pPr algn="l">
              <a:buNone/>
              <a:def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E9F2F8"/>
                </a:solidFill>
                <a:latin typeface="Cascadia Mono"/>
                <a:ea typeface="Cascadia Mono"/>
                <a:cs typeface="Cascadia Mono"/>
              </a:rPr>
              <a:t># 8. Limitations and next questions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45111E-8772-4978-BCA2-E915A59482BF}"/>
              </a:ext>
            </a:extLst>
          </p:cNvPr>
          <p:cNvSpPr>
            <a:spLocks noGrp="1"/>
          </p:cNvSpPr>
          <p:nvPr/>
        </p:nvSpPr>
        <p:spPr>
          <a:xfrm>
            <a:off x="7810500" y="2476500"/>
            <a:ext cx="285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D93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D936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46252A-976F-43CA-942F-08076BBC0B9A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3638550" cy="1219200"/>
          </a:xfrm>
          <a:prstGeom prst="rect">
            <a:avLst/>
          </a:prstGeom>
          <a:solidFill>
            <a:srgbClr val="E5F2EC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F3C752-5C26-4849-95BC-606E41CA9823}"/>
              </a:ext>
            </a:extLst>
          </p:cNvPr>
          <p:cNvSpPr>
            <a:spLocks noGrp="1"/>
          </p:cNvSpPr>
          <p:nvPr/>
        </p:nvSpPr>
        <p:spPr>
          <a:xfrm>
            <a:off x="7810500" y="2743200"/>
            <a:ext cx="57150" cy="1219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8572E6-2FA4-4A9E-9DFB-C5CFF8D6C02A}"/>
              </a:ext>
            </a:extLst>
          </p:cNvPr>
          <p:cNvSpPr>
            <a:spLocks noGrp="1"/>
          </p:cNvSpPr>
          <p:nvPr/>
        </p:nvSpPr>
        <p:spPr>
          <a:xfrm>
            <a:off x="8039100" y="2990850"/>
            <a:ext cx="31623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 i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Eight visible notebook sections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956529-0F7C-495B-AF33-060DA498E10F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704850" cy="381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044F28-0EDC-40DC-8CDD-B3A3462A26E6}"/>
              </a:ext>
            </a:extLst>
          </p:cNvPr>
          <p:cNvSpPr>
            <a:spLocks noGrp="1"/>
          </p:cNvSpPr>
          <p:nvPr/>
        </p:nvSpPr>
        <p:spPr>
          <a:xfrm>
            <a:off x="7810500" y="43624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C98489-7B1A-4C36-AC48-E578D4DB7EBD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The structure makes the analysis easy to navigate and review.</a:t>
            </a:r>
          </a:p>
        </p:txBody>
      </p:sp>
    </p:spTree>
    <p:extLst>
      <p:ext uri="{BB962C8B-B14F-4D97-AF65-F5344CB8AC3E}">
        <p14:creationId xmlns:p14="http://schemas.microsoft.com/office/powerpoint/2010/main" val="138243016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791E478-EA13-4530-B807-14012835465B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9F328D-DBBE-4115-8CCB-63D4D6AAC033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SUBMISSION CHECK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3046C-ACDD-4B3C-BE21-ADB4DD55F425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first notebook is complete when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6E6FA4-31A4-4177-97E6-983E991CA03E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Check the evidence before moving to modelling.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4E24BD-0D5A-4697-90D0-DF0A6E2A1D84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F5A6C8-C99B-4712-9F1D-6F5D67CC33F3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94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6B2BC5-2E2C-4751-A859-17BB402C3387}"/>
              </a:ext>
            </a:extLst>
          </p:cNvPr>
          <p:cNvSpPr>
            <a:spLocks noGrp="1"/>
          </p:cNvSpPr>
          <p:nvPr/>
        </p:nvSpPr>
        <p:spPr>
          <a:xfrm>
            <a:off x="552450" y="2324100"/>
            <a:ext cx="2476500" cy="476250"/>
          </a:xfrm>
          <a:prstGeom prst="rect">
            <a:avLst/>
          </a:prstGeom>
          <a:solidFill>
            <a:srgbClr val="071A30"/>
          </a:solidFill>
          <a:ln w="9525">
            <a:solidFill>
              <a:srgbClr val="C9D7E2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70BE63-9D52-4EC9-9A02-C718CA7C6652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22098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193A40-7DD9-48A1-9C26-05B54810FE6C}"/>
              </a:ext>
            </a:extLst>
          </p:cNvPr>
          <p:cNvSpPr>
            <a:spLocks noGrp="1"/>
          </p:cNvSpPr>
          <p:nvPr/>
        </p:nvSpPr>
        <p:spPr>
          <a:xfrm>
            <a:off x="3028950" y="2324100"/>
            <a:ext cx="8610600" cy="476250"/>
          </a:xfrm>
          <a:prstGeom prst="rect">
            <a:avLst/>
          </a:prstGeom>
          <a:solidFill>
            <a:srgbClr val="071A30"/>
          </a:solidFill>
          <a:ln w="9525">
            <a:solidFill>
              <a:srgbClr val="C9D7E2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B23412-9C90-40BF-9625-D2E3F0DC8163}"/>
              </a:ext>
            </a:extLst>
          </p:cNvPr>
          <p:cNvSpPr>
            <a:spLocks noGrp="1"/>
          </p:cNvSpPr>
          <p:nvPr/>
        </p:nvSpPr>
        <p:spPr>
          <a:xfrm>
            <a:off x="3162300" y="2476500"/>
            <a:ext cx="83439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B03C9D-EFDF-40DD-8E16-8E24F1759A67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2476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D2D12E-B95E-4D42-994B-F4F7FB320FA1}"/>
              </a:ext>
            </a:extLst>
          </p:cNvPr>
          <p:cNvSpPr>
            <a:spLocks noGrp="1"/>
          </p:cNvSpPr>
          <p:nvPr/>
        </p:nvSpPr>
        <p:spPr>
          <a:xfrm>
            <a:off x="685800" y="2962275"/>
            <a:ext cx="22098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Data identity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6EE252-9245-4676-9C0B-36F3839DF876}"/>
              </a:ext>
            </a:extLst>
          </p:cNvPr>
          <p:cNvSpPr>
            <a:spLocks noGrp="1"/>
          </p:cNvSpPr>
          <p:nvPr/>
        </p:nvSpPr>
        <p:spPr>
          <a:xfrm>
            <a:off x="3028950" y="2800350"/>
            <a:ext cx="86106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CFD701-44DE-4C06-BB90-29C581B15C03}"/>
              </a:ext>
            </a:extLst>
          </p:cNvPr>
          <p:cNvSpPr>
            <a:spLocks noGrp="1"/>
          </p:cNvSpPr>
          <p:nvPr/>
        </p:nvSpPr>
        <p:spPr>
          <a:xfrm>
            <a:off x="3162300" y="2962275"/>
            <a:ext cx="83439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Source, period, units, and observation unit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522065-BE7E-4AC1-9796-AEF1674626F3}"/>
              </a:ext>
            </a:extLst>
          </p:cNvPr>
          <p:cNvSpPr>
            <a:spLocks noGrp="1"/>
          </p:cNvSpPr>
          <p:nvPr/>
        </p:nvSpPr>
        <p:spPr>
          <a:xfrm>
            <a:off x="552450" y="3314700"/>
            <a:ext cx="2476500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1436C5-AAE8-496B-A6A8-55082B4CF0D7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22098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0D08F1-5F61-487F-948F-FB6975EFE94B}"/>
              </a:ext>
            </a:extLst>
          </p:cNvPr>
          <p:cNvSpPr>
            <a:spLocks noGrp="1"/>
          </p:cNvSpPr>
          <p:nvPr/>
        </p:nvSpPr>
        <p:spPr>
          <a:xfrm>
            <a:off x="3028950" y="3314700"/>
            <a:ext cx="8610600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D5DC03-9631-4582-8210-287E05C1E949}"/>
              </a:ext>
            </a:extLst>
          </p:cNvPr>
          <p:cNvSpPr>
            <a:spLocks noGrp="1"/>
          </p:cNvSpPr>
          <p:nvPr/>
        </p:nvSpPr>
        <p:spPr>
          <a:xfrm>
            <a:off x="3162300" y="3476625"/>
            <a:ext cx="83439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Runs from a clean session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0E299D-78C9-4243-84D0-FC9C2B1486D1}"/>
              </a:ext>
            </a:extLst>
          </p:cNvPr>
          <p:cNvSpPr>
            <a:spLocks noGrp="1"/>
          </p:cNvSpPr>
          <p:nvPr/>
        </p:nvSpPr>
        <p:spPr>
          <a:xfrm>
            <a:off x="552450" y="3829050"/>
            <a:ext cx="2476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ED0848-CF99-461A-AEB1-2AB170416F1A}"/>
              </a:ext>
            </a:extLst>
          </p:cNvPr>
          <p:cNvSpPr>
            <a:spLocks noGrp="1"/>
          </p:cNvSpPr>
          <p:nvPr/>
        </p:nvSpPr>
        <p:spPr>
          <a:xfrm>
            <a:off x="685800" y="3990975"/>
            <a:ext cx="22098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Statistics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96AB8E-3FD4-4B6C-A758-E506752AE9FB}"/>
              </a:ext>
            </a:extLst>
          </p:cNvPr>
          <p:cNvSpPr>
            <a:spLocks noGrp="1"/>
          </p:cNvSpPr>
          <p:nvPr/>
        </p:nvSpPr>
        <p:spPr>
          <a:xfrm>
            <a:off x="3028950" y="3829050"/>
            <a:ext cx="86106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2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14BEF6-A3C8-4447-B968-06DE00519921}"/>
              </a:ext>
            </a:extLst>
          </p:cNvPr>
          <p:cNvSpPr>
            <a:spLocks noGrp="1"/>
          </p:cNvSpPr>
          <p:nvPr/>
        </p:nvSpPr>
        <p:spPr>
          <a:xfrm>
            <a:off x="3162300" y="3990975"/>
            <a:ext cx="83439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Mean, median, spread, and missingness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3C301E-B377-4CBF-A89E-DD0CE8E160C4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2476500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7EF4D9-7C6B-42ED-BD6B-94D51EB5F710}"/>
              </a:ext>
            </a:extLst>
          </p:cNvPr>
          <p:cNvSpPr>
            <a:spLocks noGrp="1"/>
          </p:cNvSpPr>
          <p:nvPr/>
        </p:nvSpPr>
        <p:spPr>
          <a:xfrm>
            <a:off x="685800" y="4505325"/>
            <a:ext cx="22098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Visuals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556F0D-FBA8-4E95-A39F-3024962D0978}"/>
              </a:ext>
            </a:extLst>
          </p:cNvPr>
          <p:cNvSpPr>
            <a:spLocks noGrp="1"/>
          </p:cNvSpPr>
          <p:nvPr/>
        </p:nvSpPr>
        <p:spPr>
          <a:xfrm>
            <a:off x="3028950" y="4343400"/>
            <a:ext cx="8610600" cy="514350"/>
          </a:xfrm>
          <a:prstGeom prst="rect">
            <a:avLst/>
          </a:prstGeom>
          <a:solidFill>
            <a:srgbClr val="E8F2F8"/>
          </a:solidFill>
          <a:ln w="9525">
            <a:solidFill>
              <a:srgbClr val="C9D7E2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25F329-40AF-42F7-8C07-7B9897FCEFED}"/>
              </a:ext>
            </a:extLst>
          </p:cNvPr>
          <p:cNvSpPr>
            <a:spLocks noGrp="1"/>
          </p:cNvSpPr>
          <p:nvPr/>
        </p:nvSpPr>
        <p:spPr>
          <a:xfrm>
            <a:off x="3162300" y="4505325"/>
            <a:ext cx="83439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Labels, units, and one paragraph of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49636839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93DA3E6-3B69-41ED-9E5B-DC00262461C5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552450" cy="47625"/>
          </a:xfrm>
          <a:prstGeom prst="rect">
            <a:avLst/>
          </a:prstGeom>
          <a:solidFill>
            <a:srgbClr val="1B6FB8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B09659-C39D-41D3-88FE-0D6BFAA105F7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SUBMISSION CHECK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A15675-3DD5-46EA-BB4D-9438A2F5577A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62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complete answer has three layers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12FDEF-DEB7-4D1F-871E-4C04C005FF40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The code is only one part of the weekly submission.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AD2D55-D481-44D4-B30D-6B58EC75CC5B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146922-C7E0-4A65-BE6C-4E3E0A6E9353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63789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37891"/>
                </a:solidFill>
                <a:latin typeface="Aptos"/>
                <a:ea typeface="Aptos"/>
                <a:cs typeface="Aptos"/>
              </a:rPr>
              <a:t>95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27B4C6-5819-4B02-A024-A66DF00EECD8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4953000" cy="2857500"/>
          </a:xfrm>
          <a:prstGeom prst="rect">
            <a:avLst/>
          </a:prstGeom>
          <a:solidFill>
            <a:srgbClr val="E8F2F8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330E00-4ADC-42E1-AD23-7F6388F18FA6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6FB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6FB8"/>
                </a:solidFill>
                <a:latin typeface="Aptos"/>
                <a:ea typeface="Aptos"/>
                <a:cs typeface="Aptos"/>
              </a:rPr>
              <a:t>CALCULATION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3A2877-0822-412C-904C-C4F9C712A6FD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4191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 i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Show the Python cell that produces the number or chart and keep the output visible.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CA1991-4020-4710-AA98-2F9D61B46F84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38100" cy="28575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7FBBE5-D8DA-4195-9648-09BEBDAE456D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9A68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A68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299E35-AF1C-4CFD-8E44-2B542E16021E}"/>
              </a:ext>
            </a:extLst>
          </p:cNvPr>
          <p:cNvSpPr>
            <a:spLocks noGrp="1"/>
          </p:cNvSpPr>
          <p:nvPr/>
        </p:nvSpPr>
        <p:spPr>
          <a:xfrm>
            <a:off x="6572250" y="3028950"/>
            <a:ext cx="4476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 i="0">
                <a:solidFill>
                  <a:srgbClr val="22364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2364C"/>
                </a:solidFill>
                <a:latin typeface="Aptos"/>
                <a:ea typeface="Aptos"/>
                <a:cs typeface="Aptos"/>
              </a:rPr>
              <a:t>Explain what the result means for the financial question and identify one limitation or next check.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CC171D-2858-48E5-A50D-C1243144C66A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457200"/>
          </a:xfrm>
          <a:prstGeom prst="rect">
            <a:avLst/>
          </a:prstGeom>
          <a:solidFill>
            <a:srgbClr val="071A30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4BCBFC-E098-4BC7-979A-BA98E11539B5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1070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result without an explanation is incomplete evidence.</a:t>
            </a:r>
          </a:p>
        </p:txBody>
      </p:sp>
    </p:spTree>
    <p:extLst>
      <p:ext uri="{BB962C8B-B14F-4D97-AF65-F5344CB8AC3E}">
        <p14:creationId xmlns:p14="http://schemas.microsoft.com/office/powerpoint/2010/main" val="202964311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8223C6-2683-4797-A6A0-D931B1CC51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5E5BAF-281A-4F9F-BE75-25A8A9F3EA79}"/>
              </a:ext>
            </a:extLst>
          </p:cNvPr>
          <p:cNvSpPr>
            <a:spLocks noGrp="1"/>
          </p:cNvSpPr>
          <p:nvPr/>
        </p:nvSpPr>
        <p:spPr>
          <a:xfrm>
            <a:off x="762000" y="74295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WEEK 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2DE338-59F9-466B-BE61-1D85675F527F}"/>
              </a:ext>
            </a:extLst>
          </p:cNvPr>
          <p:cNvSpPr>
            <a:spLocks noGrp="1"/>
          </p:cNvSpPr>
          <p:nvPr/>
        </p:nvSpPr>
        <p:spPr>
          <a:xfrm>
            <a:off x="762000" y="1200150"/>
            <a:ext cx="7429500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9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9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Python is the language.</a:t>
            </a:r>
          </a:p>
          <a:p>
            <a:pPr algn="l">
              <a:buNone/>
              <a:defRPr sz="29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9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financial question is the discipline.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DB00F3-8FC9-447E-A781-B319CB4244E5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6096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 i="0">
                <a:solidFill>
                  <a:srgbClr val="C5D4E0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C5D4E0"/>
                </a:solidFill>
                <a:latin typeface="Aptos"/>
                <a:ea typeface="Aptos"/>
                <a:cs typeface="Aptos"/>
              </a:rPr>
              <a:t>A strong first notebook makes the data, calculation, and interpretation visible.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5C8996-2483-4702-A5AE-6943F56DBB32}"/>
              </a:ext>
            </a:extLst>
          </p:cNvPr>
          <p:cNvSpPr>
            <a:spLocks noGrp="1"/>
          </p:cNvSpPr>
          <p:nvPr/>
        </p:nvSpPr>
        <p:spPr>
          <a:xfrm>
            <a:off x="800100" y="3943350"/>
            <a:ext cx="76200" cy="76200"/>
          </a:xfrm>
          <a:prstGeom prst="rect">
            <a:avLst/>
          </a:prstGeom>
          <a:solidFill>
            <a:srgbClr val="10AFC0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3FC2B8-AF12-4D8E-92D3-7A903B17E9A1}"/>
              </a:ext>
            </a:extLst>
          </p:cNvPr>
          <p:cNvSpPr>
            <a:spLocks noGrp="1"/>
          </p:cNvSpPr>
          <p:nvPr/>
        </p:nvSpPr>
        <p:spPr>
          <a:xfrm>
            <a:off x="1066800" y="3848100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E8F1F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F1F7"/>
                </a:solidFill>
                <a:latin typeface="Aptos"/>
                <a:ea typeface="Aptos"/>
                <a:cs typeface="Aptos"/>
              </a:rPr>
              <a:t>Name variables and structures by their meaning.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0757D0-6BFA-4FBD-8195-317C307253E6}"/>
              </a:ext>
            </a:extLst>
          </p:cNvPr>
          <p:cNvSpPr>
            <a:spLocks noGrp="1"/>
          </p:cNvSpPr>
          <p:nvPr/>
        </p:nvSpPr>
        <p:spPr>
          <a:xfrm>
            <a:off x="800100" y="4400550"/>
            <a:ext cx="76200" cy="76200"/>
          </a:xfrm>
          <a:prstGeom prst="rect">
            <a:avLst/>
          </a:prstGeom>
          <a:solidFill>
            <a:srgbClr val="E8A33B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CBE9CF-8293-436D-B7CD-1108C74064CF}"/>
              </a:ext>
            </a:extLst>
          </p:cNvPr>
          <p:cNvSpPr>
            <a:spLocks noGrp="1"/>
          </p:cNvSpPr>
          <p:nvPr/>
        </p:nvSpPr>
        <p:spPr>
          <a:xfrm>
            <a:off x="1066800" y="4305300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E8F1F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F1F7"/>
                </a:solidFill>
                <a:latin typeface="Aptos"/>
                <a:ea typeface="Aptos"/>
                <a:cs typeface="Aptos"/>
              </a:rPr>
              <a:t>Use functions and checks to make calculations repeatable.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0C56BB-76A4-4728-8DEE-8C5F8959B8A5}"/>
              </a:ext>
            </a:extLst>
          </p:cNvPr>
          <p:cNvSpPr>
            <a:spLocks noGrp="1"/>
          </p:cNvSpPr>
          <p:nvPr/>
        </p:nvSpPr>
        <p:spPr>
          <a:xfrm>
            <a:off x="800100" y="4857750"/>
            <a:ext cx="76200" cy="76200"/>
          </a:xfrm>
          <a:prstGeom prst="rect">
            <a:avLst/>
          </a:prstGeom>
          <a:solidFill>
            <a:srgbClr val="1D936C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E2907-AB2A-4A48-8D47-92F58A99D36D}"/>
              </a:ext>
            </a:extLst>
          </p:cNvPr>
          <p:cNvSpPr>
            <a:spLocks noGrp="1"/>
          </p:cNvSpPr>
          <p:nvPr/>
        </p:nvSpPr>
        <p:spPr>
          <a:xfrm>
            <a:off x="1066800" y="4762500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E8F1F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F1F7"/>
                </a:solidFill>
                <a:latin typeface="Aptos"/>
                <a:ea typeface="Aptos"/>
                <a:cs typeface="Aptos"/>
              </a:rPr>
              <a:t>Inspect financial data before interpreting statistics or plots.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E54393-67C6-4032-8A6E-39745681926E}"/>
              </a:ext>
            </a:extLst>
          </p:cNvPr>
          <p:cNvSpPr>
            <a:spLocks noGrp="1"/>
          </p:cNvSpPr>
          <p:nvPr/>
        </p:nvSpPr>
        <p:spPr>
          <a:xfrm>
            <a:off x="8572500" y="1352550"/>
            <a:ext cx="19050" cy="3352800"/>
          </a:xfrm>
          <a:prstGeom prst="rect">
            <a:avLst/>
          </a:prstGeom>
          <a:solidFill>
            <a:srgbClr val="102D49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9F14DC-3F1C-40BE-976D-60AB937BC90A}"/>
              </a:ext>
            </a:extLst>
          </p:cNvPr>
          <p:cNvSpPr>
            <a:spLocks noGrp="1"/>
          </p:cNvSpPr>
          <p:nvPr/>
        </p:nvSpPr>
        <p:spPr>
          <a:xfrm>
            <a:off x="9124950" y="16573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10AFC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0AFC0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0C3F98-173B-455E-B4F6-D77FCB045B92}"/>
              </a:ext>
            </a:extLst>
          </p:cNvPr>
          <p:cNvSpPr>
            <a:spLocks noGrp="1"/>
          </p:cNvSpPr>
          <p:nvPr/>
        </p:nvSpPr>
        <p:spPr>
          <a:xfrm>
            <a:off x="9124950" y="2133600"/>
            <a:ext cx="20955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NumPy, Pandas,</a:t>
            </a:r>
          </a:p>
          <a:p>
            <a: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and exploratory</a:t>
            </a:r>
          </a:p>
          <a:p>
            <a:pPr algn="l"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analysis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B9270-D89A-4105-A44F-FFF6F2E3DE6B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9715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Machine Learning in Finance  ·  Week 01  ·  NKUA MPhil Economics  ·  2026–2027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7F6A30-AF43-4C5E-A526-1DF505E41152}"/>
              </a:ext>
            </a:extLst>
          </p:cNvPr>
          <p:cNvSpPr>
            <a:spLocks noGrp="1"/>
          </p:cNvSpPr>
          <p:nvPr/>
        </p:nvSpPr>
        <p:spPr>
          <a:xfrm>
            <a:off x="11068050" y="6496050"/>
            <a:ext cx="571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B6C9D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6C9DD"/>
                </a:solidFill>
                <a:latin typeface="Aptos"/>
                <a:ea typeface="Aptos"/>
                <a:cs typeface="Aptos"/>
              </a:rPr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299873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8E0B9D9-A7F4-4C1F-989B-C429821CDE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C87241-9265-4186-A276-3A0296731BDA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ADDITIONAL WORKED CASE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2A785-D413-4F98-9D28-2E5DE7BCF55E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10490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Case A · Weighted portfolio return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75B221-1CD4-4DE1-BBB3-5754F4E7B7C2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A dictionary and a loop can represent a simple portfolio before any model is introduced.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20B415-650E-49DD-A9AC-33EE771C471A}"/>
              </a:ext>
            </a:extLst>
          </p:cNvPr>
          <p:cNvSpPr>
            <a:spLocks noGrp="1"/>
          </p:cNvSpPr>
          <p:nvPr/>
        </p:nvSpPr>
        <p:spPr>
          <a:xfrm>
            <a:off x="552450" y="2000250"/>
            <a:ext cx="1428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43C5E9-E1A0-4B65-859A-F4E3A7F37973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7000875" cy="323850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4F412D-9F49-4EE8-82F5-D4576EBA6894}"/>
              </a:ext>
            </a:extLst>
          </p:cNvPr>
          <p:cNvSpPr>
            <a:spLocks noGrp="1"/>
          </p:cNvSpPr>
          <p:nvPr/>
        </p:nvSpPr>
        <p:spPr>
          <a:xfrm>
            <a:off x="781050" y="2514600"/>
            <a:ext cx="6524625" cy="2762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positions = {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'equity_fund': {'weight': 0.50, 'return': 0.08},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'bond_fund': {'weight': 0.30, 'return': 0.03},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'cash': {'weight': 0.20, 'return': 0.01}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}</a:t>
            </a:r>
          </a:p>
          <a:p>
            <a:endParaRPr sz="1200" b="0">
              <a:solidFill>
                <a:srgbClr val="FFFFFF"/>
              </a:solidFill>
              <a:latin typeface="Bitstream Charter"/>
              <a:ea typeface="Bitstream Charter"/>
              <a:cs typeface="Bitstream Charter"/>
            </a:endParaRP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portfolio_return = sum(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p['weight'] * p['return']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for p in positions.values()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)</a:t>
            </a:r>
          </a:p>
          <a:p>
            <a:endParaRPr sz="1200" b="0">
              <a:solidFill>
                <a:srgbClr val="FFFFFF"/>
              </a:solidFill>
              <a:latin typeface="Bitstream Charter"/>
              <a:ea typeface="Bitstream Charter"/>
              <a:cs typeface="Bitstream Charter"/>
            </a:endParaRP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print(f'{portfolio_return:.2%}')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9FAE50-C926-4C49-9630-31831F80E672}"/>
              </a:ext>
            </a:extLst>
          </p:cNvPr>
          <p:cNvSpPr>
            <a:spLocks noGrp="1"/>
          </p:cNvSpPr>
          <p:nvPr/>
        </p:nvSpPr>
        <p:spPr>
          <a:xfrm>
            <a:off x="7905750" y="20002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4DAB07-0C54-475D-9CFF-07E8E4D73D5C}"/>
              </a:ext>
            </a:extLst>
          </p:cNvPr>
          <p:cNvSpPr>
            <a:spLocks noGrp="1"/>
          </p:cNvSpPr>
          <p:nvPr/>
        </p:nvSpPr>
        <p:spPr>
          <a:xfrm>
            <a:off x="7905750" y="2266950"/>
            <a:ext cx="3733800" cy="1714500"/>
          </a:xfrm>
          <a:prstGeom prst="rect">
            <a:avLst/>
          </a:prstGeom>
          <a:solidFill>
            <a:srgbClr val="EAF7F1"/>
          </a:solidFill>
          <a:ln w="0">
            <a:solidFill>
              <a:srgbClr val="EAF7F1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3FC836-E615-46A6-8B6F-501105780251}"/>
              </a:ext>
            </a:extLst>
          </p:cNvPr>
          <p:cNvSpPr>
            <a:spLocks noGrp="1"/>
          </p:cNvSpPr>
          <p:nvPr/>
        </p:nvSpPr>
        <p:spPr>
          <a:xfrm>
            <a:off x="8134350" y="2514600"/>
            <a:ext cx="3276600" cy="1257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Portfolio return: 5.30%</a:t>
            </a:r>
          </a:p>
          <a:p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Weights sum to: 1.0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338FF4-755F-4BE5-B3EB-0F84F7EFC0B4}"/>
              </a:ext>
            </a:extLst>
          </p:cNvPr>
          <p:cNvSpPr>
            <a:spLocks noGrp="1"/>
          </p:cNvSpPr>
          <p:nvPr/>
        </p:nvSpPr>
        <p:spPr>
          <a:xfrm>
            <a:off x="7905750" y="4305300"/>
            <a:ext cx="37338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E3B57E-9D8B-48D0-BA60-ABEFEAD1335F}"/>
              </a:ext>
            </a:extLst>
          </p:cNvPr>
          <p:cNvSpPr>
            <a:spLocks noGrp="1"/>
          </p:cNvSpPr>
          <p:nvPr/>
        </p:nvSpPr>
        <p:spPr>
          <a:xfrm>
            <a:off x="8134350" y="4533900"/>
            <a:ext cx="3276600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The calculation is illustrative. The weight check is a basic data-quality control before interpretation.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286418-F3E2-42E7-838B-D243DE1DE7B4}"/>
              </a:ext>
            </a:extLst>
          </p:cNvPr>
          <p:cNvSpPr>
            <a:spLocks noGrp="1"/>
          </p:cNvSpPr>
          <p:nvPr/>
        </p:nvSpPr>
        <p:spPr>
          <a:xfrm>
            <a:off x="552450" y="5981700"/>
            <a:ext cx="110871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Source: executed Lecture 0–1 Colab, additional worked case.</a:t>
            </a:r>
          </a:p>
        </p:txBody>
      </p:sp>
    </p:spTree>
    <p:extLst>
      <p:ext uri="{BB962C8B-B14F-4D97-AF65-F5344CB8AC3E}">
        <p14:creationId xmlns:p14="http://schemas.microsoft.com/office/powerpoint/2010/main" val="80041148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4BBB665-7DC4-47EB-B504-8751BADFA3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6F5E57-3F3C-49E6-8B8D-F57C293E6A92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ADDITIONAL WORKED CASE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988756-8148-441D-977F-F845AC47E836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10490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Case B · Reusable descriptive statistics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61986A-7A23-4DC3-BE33-80BD630BB311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A function prevents the same calculation from being rewritten for every financial variable.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6A0AF0-5CFB-44E6-A8DA-60A535736F2A}"/>
              </a:ext>
            </a:extLst>
          </p:cNvPr>
          <p:cNvSpPr>
            <a:spLocks noGrp="1"/>
          </p:cNvSpPr>
          <p:nvPr/>
        </p:nvSpPr>
        <p:spPr>
          <a:xfrm>
            <a:off x="552450" y="2000250"/>
            <a:ext cx="1428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A8FFE8-36B8-4108-81A4-4FB69DE43CEB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7000875" cy="323850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78B347-F9D0-408F-A65F-722E6A611DAB}"/>
              </a:ext>
            </a:extLst>
          </p:cNvPr>
          <p:cNvSpPr>
            <a:spLocks noGrp="1"/>
          </p:cNvSpPr>
          <p:nvPr/>
        </p:nvSpPr>
        <p:spPr>
          <a:xfrm>
            <a:off x="781050" y="2514600"/>
            <a:ext cx="6524625" cy="2762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def return_summary(series):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clean = series.dropna()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return pd.Series({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    'observations': clean.size,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    'mean': clean.mean(),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    'median': clean.median(),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    'standard_deviation': clean.std(),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    'minimum': clean.min(),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    'maximum': clean.max()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})</a:t>
            </a:r>
          </a:p>
          <a:p>
            <a:endParaRPr sz="1200" b="0">
              <a:solidFill>
                <a:srgbClr val="FFFFFF"/>
              </a:solidFill>
              <a:latin typeface="Bitstream Charter"/>
              <a:ea typeface="Bitstream Charter"/>
              <a:cs typeface="Bitstream Charter"/>
            </a:endParaRP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return_summary(analysis['simple_return']).round(5)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7DB65A-BE4D-4829-810F-70DB22EA95CF}"/>
              </a:ext>
            </a:extLst>
          </p:cNvPr>
          <p:cNvSpPr>
            <a:spLocks noGrp="1"/>
          </p:cNvSpPr>
          <p:nvPr/>
        </p:nvSpPr>
        <p:spPr>
          <a:xfrm>
            <a:off x="7905750" y="20002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70D1A4-021F-4B7E-921D-8538882E7688}"/>
              </a:ext>
            </a:extLst>
          </p:cNvPr>
          <p:cNvSpPr>
            <a:spLocks noGrp="1"/>
          </p:cNvSpPr>
          <p:nvPr/>
        </p:nvSpPr>
        <p:spPr>
          <a:xfrm>
            <a:off x="7905750" y="2266950"/>
            <a:ext cx="3733800" cy="1714500"/>
          </a:xfrm>
          <a:prstGeom prst="rect">
            <a:avLst/>
          </a:prstGeom>
          <a:solidFill>
            <a:srgbClr val="EAF7F1"/>
          </a:solidFill>
          <a:ln w="0">
            <a:solidFill>
              <a:srgbClr val="EAF7F1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175E56-2081-4A82-B483-F049F404BBC0}"/>
              </a:ext>
            </a:extLst>
          </p:cNvPr>
          <p:cNvSpPr>
            <a:spLocks noGrp="1"/>
          </p:cNvSpPr>
          <p:nvPr/>
        </p:nvSpPr>
        <p:spPr>
          <a:xfrm>
            <a:off x="8134350" y="2514600"/>
            <a:ext cx="3276600" cy="1257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observations        505</a:t>
            </a:r>
          </a:p>
          <a:p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mean                0.00023</a:t>
            </a:r>
          </a:p>
          <a:p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median              0.00000</a:t>
            </a:r>
          </a:p>
          <a:p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standard_deviation  0.01529</a:t>
            </a:r>
          </a:p>
          <a:p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minimum             -0.06571</a:t>
            </a:r>
          </a:p>
          <a:p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maximum             0.06496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762F41-E07C-430D-AE53-4020CD8DD98E}"/>
              </a:ext>
            </a:extLst>
          </p:cNvPr>
          <p:cNvSpPr>
            <a:spLocks noGrp="1"/>
          </p:cNvSpPr>
          <p:nvPr/>
        </p:nvSpPr>
        <p:spPr>
          <a:xfrm>
            <a:off x="7905750" y="4305300"/>
            <a:ext cx="37338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B7E2FE-50EC-4427-B015-C393AA905F4E}"/>
              </a:ext>
            </a:extLst>
          </p:cNvPr>
          <p:cNvSpPr>
            <a:spLocks noGrp="1"/>
          </p:cNvSpPr>
          <p:nvPr/>
        </p:nvSpPr>
        <p:spPr>
          <a:xfrm>
            <a:off x="8134350" y="4533900"/>
            <a:ext cx="3276600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The function receives a pandas Series, so the same logic can be reused for prices, returns, volume, or a credit variable.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93D192-CD91-4721-8C7F-E70E167A7103}"/>
              </a:ext>
            </a:extLst>
          </p:cNvPr>
          <p:cNvSpPr>
            <a:spLocks noGrp="1"/>
          </p:cNvSpPr>
          <p:nvPr/>
        </p:nvSpPr>
        <p:spPr>
          <a:xfrm>
            <a:off x="552450" y="5981700"/>
            <a:ext cx="110871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Source: finance-charts-apple.csv; output calculated from the included public file.</a:t>
            </a:r>
          </a:p>
        </p:txBody>
      </p:sp>
    </p:spTree>
    <p:extLst>
      <p:ext uri="{BB962C8B-B14F-4D97-AF65-F5344CB8AC3E}">
        <p14:creationId xmlns:p14="http://schemas.microsoft.com/office/powerpoint/2010/main" val="9170521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C29A158-03D5-48AA-A65D-2A9875EF05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8A8CCC-F739-4BAC-BFC1-BC1CE599F56D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ADDITIONAL WORKED CASE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A82DCC-CEF6-416B-90B7-E8636C006019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10490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Case C · Grouped annual return 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16044C-1221-4680-B4E2-90C2A72793FC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Grouping changes the question from a whole-sample summary to a comparison across calendar years.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5FF762-9D5C-477E-97AB-619A41531D86}"/>
              </a:ext>
            </a:extLst>
          </p:cNvPr>
          <p:cNvSpPr>
            <a:spLocks noGrp="1"/>
          </p:cNvSpPr>
          <p:nvPr/>
        </p:nvSpPr>
        <p:spPr>
          <a:xfrm>
            <a:off x="552450" y="2000250"/>
            <a:ext cx="1428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ECCD7D-5019-4169-84DA-164A4901A2A5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7000875" cy="323850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06DF18-18A1-4BCD-B299-8547102C5883}"/>
              </a:ext>
            </a:extLst>
          </p:cNvPr>
          <p:cNvSpPr>
            <a:spLocks noGrp="1"/>
          </p:cNvSpPr>
          <p:nvPr/>
        </p:nvSpPr>
        <p:spPr>
          <a:xfrm>
            <a:off x="781050" y="2514600"/>
            <a:ext cx="6524625" cy="2762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annual_returns = (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analysis.dropna(subset=['simple_return'])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.groupby('year')['simple_return']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.agg(['count', 'mean', 'median', 'std', 'min', 'max'])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.round(5)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)</a:t>
            </a:r>
          </a:p>
          <a:p>
            <a:endParaRPr sz="1200" b="0">
              <a:solidFill>
                <a:srgbClr val="FFFFFF"/>
              </a:solidFill>
              <a:latin typeface="Bitstream Charter"/>
              <a:ea typeface="Bitstream Charter"/>
              <a:cs typeface="Bitstream Charter"/>
            </a:endParaRP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annual_returns.head()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00B55C-DFD0-4277-A44C-3CBC1804F219}"/>
              </a:ext>
            </a:extLst>
          </p:cNvPr>
          <p:cNvSpPr>
            <a:spLocks noGrp="1"/>
          </p:cNvSpPr>
          <p:nvPr/>
        </p:nvSpPr>
        <p:spPr>
          <a:xfrm>
            <a:off x="7905750" y="20002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418A74-1B0B-4898-9065-E989CF266E81}"/>
              </a:ext>
            </a:extLst>
          </p:cNvPr>
          <p:cNvSpPr>
            <a:spLocks noGrp="1"/>
          </p:cNvSpPr>
          <p:nvPr/>
        </p:nvSpPr>
        <p:spPr>
          <a:xfrm>
            <a:off x="7905750" y="2266950"/>
            <a:ext cx="3733800" cy="1714500"/>
          </a:xfrm>
          <a:prstGeom prst="rect">
            <a:avLst/>
          </a:prstGeom>
          <a:solidFill>
            <a:srgbClr val="EAF7F1"/>
          </a:solidFill>
          <a:ln w="0">
            <a:solidFill>
              <a:srgbClr val="EAF7F1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09A52C-F985-4C6E-95D4-6FAFD2ED7DD2}"/>
              </a:ext>
            </a:extLst>
          </p:cNvPr>
          <p:cNvSpPr>
            <a:spLocks noGrp="1"/>
          </p:cNvSpPr>
          <p:nvPr/>
        </p:nvSpPr>
        <p:spPr>
          <a:xfrm>
            <a:off x="8134350" y="2514600"/>
            <a:ext cx="3276600" cy="1257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2015  n=221  mean=-0.07%</a:t>
            </a:r>
          </a:p>
          <a:p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2016  n=252  mean=0.05%</a:t>
            </a:r>
          </a:p>
          <a:p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2017  n=32  mean=0.49%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4DD44F-31FF-40EA-9517-6DD39F23AB84}"/>
              </a:ext>
            </a:extLst>
          </p:cNvPr>
          <p:cNvSpPr>
            <a:spLocks noGrp="1"/>
          </p:cNvSpPr>
          <p:nvPr/>
        </p:nvSpPr>
        <p:spPr>
          <a:xfrm>
            <a:off x="7905750" y="4305300"/>
            <a:ext cx="37338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5CBE64-CC57-4CEC-8CF6-143D897159A1}"/>
              </a:ext>
            </a:extLst>
          </p:cNvPr>
          <p:cNvSpPr>
            <a:spLocks noGrp="1"/>
          </p:cNvSpPr>
          <p:nvPr/>
        </p:nvSpPr>
        <p:spPr>
          <a:xfrm>
            <a:off x="8134350" y="4533900"/>
            <a:ext cx="3276600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Always inspect group sizes before comparing means. A small group can make a summary unstable.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02E9C2-46CC-49B7-9626-CE39457CC02E}"/>
              </a:ext>
            </a:extLst>
          </p:cNvPr>
          <p:cNvSpPr>
            <a:spLocks noGrp="1"/>
          </p:cNvSpPr>
          <p:nvPr/>
        </p:nvSpPr>
        <p:spPr>
          <a:xfrm>
            <a:off x="552450" y="5981700"/>
            <a:ext cx="110871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Source: finance-charts-apple.csv; the output is generated from the included public file.</a:t>
            </a:r>
          </a:p>
        </p:txBody>
      </p:sp>
    </p:spTree>
    <p:extLst>
      <p:ext uri="{BB962C8B-B14F-4D97-AF65-F5344CB8AC3E}">
        <p14:creationId xmlns:p14="http://schemas.microsoft.com/office/powerpoint/2010/main" val="169888092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AE86046-1E0F-4F88-A719-D42C7E826E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461CBC-BC1D-432A-B4F4-10AFA9F4F461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ADDITIONAL WORKED CASE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6A0F50-A83D-47D0-94FB-628F57566A82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10490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Case D · Credit-risk class balance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47BF23-D5DB-4BF2-8205-B075961369D5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The target definition must be inspected before choosing a model or a performance metric.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3B2ED8-FE60-40A2-9566-7E958C140DD4}"/>
              </a:ext>
            </a:extLst>
          </p:cNvPr>
          <p:cNvSpPr>
            <a:spLocks noGrp="1"/>
          </p:cNvSpPr>
          <p:nvPr/>
        </p:nvSpPr>
        <p:spPr>
          <a:xfrm>
            <a:off x="552450" y="2000250"/>
            <a:ext cx="1428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20E135-1910-41C4-8D2E-4A4C738F9DA4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7000875" cy="323850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0F426F-FF15-46A8-AAC7-A58232BB74D8}"/>
              </a:ext>
            </a:extLst>
          </p:cNvPr>
          <p:cNvSpPr>
            <a:spLocks noGrp="1"/>
          </p:cNvSpPr>
          <p:nvPr/>
        </p:nvSpPr>
        <p:spPr>
          <a:xfrm>
            <a:off x="781050" y="2514600"/>
            <a:ext cx="6524625" cy="2762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class_balance = credit[target].value_counts()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class_share = credit[target].value_counts(normalize=True)</a:t>
            </a:r>
          </a:p>
          <a:p>
            <a:endParaRPr sz="1200" b="0">
              <a:solidFill>
                <a:srgbClr val="FFFFFF"/>
              </a:solidFill>
              <a:latin typeface="Bitstream Charter"/>
              <a:ea typeface="Bitstream Charter"/>
              <a:cs typeface="Bitstream Charter"/>
            </a:endParaRP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pd.DataFrame({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'observations': class_balance,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'share': class_share.round(4)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})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637EFB-F976-470A-9B59-9E4957B9F3C6}"/>
              </a:ext>
            </a:extLst>
          </p:cNvPr>
          <p:cNvSpPr>
            <a:spLocks noGrp="1"/>
          </p:cNvSpPr>
          <p:nvPr/>
        </p:nvSpPr>
        <p:spPr>
          <a:xfrm>
            <a:off x="7905750" y="20002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B4EFA0-3166-4D76-B137-4F37B0CAE09F}"/>
              </a:ext>
            </a:extLst>
          </p:cNvPr>
          <p:cNvSpPr>
            <a:spLocks noGrp="1"/>
          </p:cNvSpPr>
          <p:nvPr/>
        </p:nvSpPr>
        <p:spPr>
          <a:xfrm>
            <a:off x="7905750" y="2266950"/>
            <a:ext cx="3733800" cy="1714500"/>
          </a:xfrm>
          <a:prstGeom prst="rect">
            <a:avLst/>
          </a:prstGeom>
          <a:solidFill>
            <a:srgbClr val="EAF7F1"/>
          </a:solidFill>
          <a:ln w="0">
            <a:solidFill>
              <a:srgbClr val="EAF7F1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ED62C1-A663-48E2-9AD7-A1293F9E211C}"/>
              </a:ext>
            </a:extLst>
          </p:cNvPr>
          <p:cNvSpPr>
            <a:spLocks noGrp="1"/>
          </p:cNvSpPr>
          <p:nvPr/>
        </p:nvSpPr>
        <p:spPr>
          <a:xfrm>
            <a:off x="8134350" y="2514600"/>
            <a:ext cx="3276600" cy="1257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No default     23,364</a:t>
            </a:r>
          </a:p>
          <a:p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Default         6,636</a:t>
            </a:r>
          </a:p>
          <a:p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Default rate    22.12%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6BB659-37C7-45FA-9147-8741E45BBB1F}"/>
              </a:ext>
            </a:extLst>
          </p:cNvPr>
          <p:cNvSpPr>
            <a:spLocks noGrp="1"/>
          </p:cNvSpPr>
          <p:nvPr/>
        </p:nvSpPr>
        <p:spPr>
          <a:xfrm>
            <a:off x="7905750" y="4305300"/>
            <a:ext cx="37338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7816E0-7538-4F80-A6D4-3D4F3BC9B5E5}"/>
              </a:ext>
            </a:extLst>
          </p:cNvPr>
          <p:cNvSpPr>
            <a:spLocks noGrp="1"/>
          </p:cNvSpPr>
          <p:nvPr/>
        </p:nvSpPr>
        <p:spPr>
          <a:xfrm>
            <a:off x="8134350" y="4533900"/>
            <a:ext cx="3276600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Accuracy alone can be misleading when the two target classes have different sizes. Later weeks introduce metrics designed for this setting.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E99740-4FF9-44E2-8989-9718B94F48A5}"/>
              </a:ext>
            </a:extLst>
          </p:cNvPr>
          <p:cNvSpPr>
            <a:spLocks noGrp="1"/>
          </p:cNvSpPr>
          <p:nvPr/>
        </p:nvSpPr>
        <p:spPr>
          <a:xfrm>
            <a:off x="552450" y="5981700"/>
            <a:ext cx="110871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Source: UCI Default of Credit Card Clients, dataset 350; included CSV and data dictionary.</a:t>
            </a:r>
          </a:p>
        </p:txBody>
      </p:sp>
    </p:spTree>
    <p:extLst>
      <p:ext uri="{BB962C8B-B14F-4D97-AF65-F5344CB8AC3E}">
        <p14:creationId xmlns:p14="http://schemas.microsoft.com/office/powerpoint/2010/main" val="174388225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C072FA1-7318-4330-8A58-7A3C586FEE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5875C-E5AA-4B09-9496-A1DEF07F7B86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ADDITIONAL WORKED CASE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BF04F8-6968-4DB2-A242-125D2CCADA58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10490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Case E · Credit-risk borrower segments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E32359-63BE-4F51-91F4-15581037869B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The same groupby pattern can compare borrower segments before supervised modelling.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F72E52-DF9B-4FC2-9757-2AF9FCE11558}"/>
              </a:ext>
            </a:extLst>
          </p:cNvPr>
          <p:cNvSpPr>
            <a:spLocks noGrp="1"/>
          </p:cNvSpPr>
          <p:nvPr/>
        </p:nvSpPr>
        <p:spPr>
          <a:xfrm>
            <a:off x="552450" y="2000250"/>
            <a:ext cx="1428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064C85-329C-4885-AD04-4DB95A38D42D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7000875" cy="323850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C853C4-EE63-4361-82D1-0FBD0430FDB0}"/>
              </a:ext>
            </a:extLst>
          </p:cNvPr>
          <p:cNvSpPr>
            <a:spLocks noGrp="1"/>
          </p:cNvSpPr>
          <p:nvPr/>
        </p:nvSpPr>
        <p:spPr>
          <a:xfrm>
            <a:off x="781050" y="2514600"/>
            <a:ext cx="6524625" cy="2762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credit['limit_band'] = pd.cut(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credit['LIMIT_BAL'],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bins=[-float('inf'), 100000, 300000, float('inf')],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labels=['low limit', 'medium limit', 'high limit']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)</a:t>
            </a:r>
          </a:p>
          <a:p>
            <a:endParaRPr sz="1200" b="0">
              <a:solidFill>
                <a:srgbClr val="FFFFFF"/>
              </a:solidFill>
              <a:latin typeface="Bitstream Charter"/>
              <a:ea typeface="Bitstream Charter"/>
              <a:cs typeface="Bitstream Charter"/>
            </a:endParaRP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credit.groupby('limit_band', observed=False).agg(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borrowers=('ID', 'size'),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default_rate=(target, 'mean'),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median_age=('AGE', 'median')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F19465-5BC2-4280-A4A6-0FE2D2498F27}"/>
              </a:ext>
            </a:extLst>
          </p:cNvPr>
          <p:cNvSpPr>
            <a:spLocks noGrp="1"/>
          </p:cNvSpPr>
          <p:nvPr/>
        </p:nvSpPr>
        <p:spPr>
          <a:xfrm>
            <a:off x="7905750" y="20002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F35FF7-285B-4D12-AECB-2D25DA510203}"/>
              </a:ext>
            </a:extLst>
          </p:cNvPr>
          <p:cNvSpPr>
            <a:spLocks noGrp="1"/>
          </p:cNvSpPr>
          <p:nvPr/>
        </p:nvSpPr>
        <p:spPr>
          <a:xfrm>
            <a:off x="7905750" y="2266950"/>
            <a:ext cx="3733800" cy="1714500"/>
          </a:xfrm>
          <a:prstGeom prst="rect">
            <a:avLst/>
          </a:prstGeom>
          <a:solidFill>
            <a:srgbClr val="EAF7F1"/>
          </a:solidFill>
          <a:ln w="0">
            <a:solidFill>
              <a:srgbClr val="EAF7F1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A8CBA3-4ED5-41CA-9598-097D5C7AFAD1}"/>
              </a:ext>
            </a:extLst>
          </p:cNvPr>
          <p:cNvSpPr>
            <a:spLocks noGrp="1"/>
          </p:cNvSpPr>
          <p:nvPr/>
        </p:nvSpPr>
        <p:spPr>
          <a:xfrm>
            <a:off x="8134350" y="2514600"/>
            <a:ext cx="3276600" cy="1257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low limit     n=12498  default=29.48%</a:t>
            </a:r>
          </a:p>
          <a:p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medium limit  n=12939  default=18.14%</a:t>
            </a:r>
          </a:p>
          <a:p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high limit    n= 4563  default=13.26%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BC79BC-EC44-4955-9DA8-30EADA6D99C7}"/>
              </a:ext>
            </a:extLst>
          </p:cNvPr>
          <p:cNvSpPr>
            <a:spLocks noGrp="1"/>
          </p:cNvSpPr>
          <p:nvPr/>
        </p:nvSpPr>
        <p:spPr>
          <a:xfrm>
            <a:off x="7905750" y="4305300"/>
            <a:ext cx="37338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E0B1B1-F7CA-4759-818A-D4A1809E8202}"/>
              </a:ext>
            </a:extLst>
          </p:cNvPr>
          <p:cNvSpPr>
            <a:spLocks noGrp="1"/>
          </p:cNvSpPr>
          <p:nvPr/>
        </p:nvSpPr>
        <p:spPr>
          <a:xfrm>
            <a:off x="8134350" y="4533900"/>
            <a:ext cx="3276600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This table describes associations in the sample. It does not show that a credit limit caused a borrower outcome.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D67367-F0BB-47A9-A734-4305E8351AB2}"/>
              </a:ext>
            </a:extLst>
          </p:cNvPr>
          <p:cNvSpPr>
            <a:spLocks noGrp="1"/>
          </p:cNvSpPr>
          <p:nvPr/>
        </p:nvSpPr>
        <p:spPr>
          <a:xfrm>
            <a:off x="552450" y="5981700"/>
            <a:ext cx="110871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Source: UCI Default of Credit Card Clients, dataset 350; included CSV and data dictionary.</a:t>
            </a:r>
          </a:p>
        </p:txBody>
      </p:sp>
    </p:spTree>
    <p:extLst>
      <p:ext uri="{BB962C8B-B14F-4D97-AF65-F5344CB8AC3E}">
        <p14:creationId xmlns:p14="http://schemas.microsoft.com/office/powerpoint/2010/main" val="174575304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79CC355-9BF1-467F-B81D-3D7160A515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0290C9-5850-4D3A-87EA-06834D34DFB4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ADDITIONAL WORKED CASE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826DF4-84DE-4AB6-803E-2D2E54A54C75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10490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Case F · A transparent screening rule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72DD07-CA84-46B5-81EB-0F1B9605E47D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A simple rule is useful for understanding features, but it is not yet a trained or validated model.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7C06B5-4504-497E-BBA5-FE200E92DE1F}"/>
              </a:ext>
            </a:extLst>
          </p:cNvPr>
          <p:cNvSpPr>
            <a:spLocks noGrp="1"/>
          </p:cNvSpPr>
          <p:nvPr/>
        </p:nvSpPr>
        <p:spPr>
          <a:xfrm>
            <a:off x="552450" y="2000250"/>
            <a:ext cx="14287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6AE013-7DFE-4C1D-9468-D6BECBF5E98C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7000875" cy="323850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D410BE-B43A-4AB1-8538-84D036E904B4}"/>
              </a:ext>
            </a:extLst>
          </p:cNvPr>
          <p:cNvSpPr>
            <a:spLocks noGrp="1"/>
          </p:cNvSpPr>
          <p:nvPr/>
        </p:nvSpPr>
        <p:spPr>
          <a:xfrm>
            <a:off x="781050" y="2514600"/>
            <a:ext cx="6524625" cy="2762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credit['simple_review_flag'] = (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(credit['LIMIT_BAL'] &lt; 50000)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&amp; (credit['PAY_0'] &gt;= 2)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).astype(int)</a:t>
            </a:r>
          </a:p>
          <a:p>
            <a:endParaRPr sz="1200" b="0">
              <a:solidFill>
                <a:srgbClr val="FFFFFF"/>
              </a:solidFill>
              <a:latin typeface="Bitstream Charter"/>
              <a:ea typeface="Bitstream Charter"/>
              <a:cs typeface="Bitstream Charter"/>
            </a:endParaRP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credit.groupby('simple_review_flag')[target].agg(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borrowers='size',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default_rate='mean'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).round(4)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DC7EA1-8B2B-49DB-9B08-869F6FF2EDD7}"/>
              </a:ext>
            </a:extLst>
          </p:cNvPr>
          <p:cNvSpPr>
            <a:spLocks noGrp="1"/>
          </p:cNvSpPr>
          <p:nvPr/>
        </p:nvSpPr>
        <p:spPr>
          <a:xfrm>
            <a:off x="7905750" y="20002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AFC0"/>
                </a:solidFill>
                <a:latin typeface="Bitstream Charter"/>
                <a:ea typeface="Bitstream Charter"/>
                <a:cs typeface="Bitstream Charter"/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7EF0A9-2DB7-4C1C-937B-897CFF7D5174}"/>
              </a:ext>
            </a:extLst>
          </p:cNvPr>
          <p:cNvSpPr>
            <a:spLocks noGrp="1"/>
          </p:cNvSpPr>
          <p:nvPr/>
        </p:nvSpPr>
        <p:spPr>
          <a:xfrm>
            <a:off x="7905750" y="2266950"/>
            <a:ext cx="3733800" cy="1714500"/>
          </a:xfrm>
          <a:prstGeom prst="rect">
            <a:avLst/>
          </a:prstGeom>
          <a:solidFill>
            <a:srgbClr val="EAF7F1"/>
          </a:solidFill>
          <a:ln w="0">
            <a:solidFill>
              <a:srgbClr val="EAF7F1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E0CD08-6E7E-4A21-BF37-C3AFC6FA7259}"/>
              </a:ext>
            </a:extLst>
          </p:cNvPr>
          <p:cNvSpPr>
            <a:spLocks noGrp="1"/>
          </p:cNvSpPr>
          <p:nvPr/>
        </p:nvSpPr>
        <p:spPr>
          <a:xfrm>
            <a:off x="8134350" y="2514600"/>
            <a:ext cx="3276600" cy="1257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Flagged borrowers: 853</a:t>
            </a:r>
          </a:p>
          <a:p>
            <a:pPr algn="l">
              <a:buNone/>
              <a:def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43B53"/>
                </a:solidFill>
                <a:latin typeface="Bitstream Charter"/>
                <a:ea typeface="Bitstream Charter"/>
                <a:cs typeface="Bitstream Charter"/>
              </a:rPr>
              <a:t>Flagged default rate: 69.99%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AD9C5C-937A-4B79-AA13-E6F292E83318}"/>
              </a:ext>
            </a:extLst>
          </p:cNvPr>
          <p:cNvSpPr>
            <a:spLocks noGrp="1"/>
          </p:cNvSpPr>
          <p:nvPr/>
        </p:nvSpPr>
        <p:spPr>
          <a:xfrm>
            <a:off x="7905750" y="4305300"/>
            <a:ext cx="37338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464E68-C4DF-4965-B2F5-98683972338A}"/>
              </a:ext>
            </a:extLst>
          </p:cNvPr>
          <p:cNvSpPr>
            <a:spLocks noGrp="1"/>
          </p:cNvSpPr>
          <p:nvPr/>
        </p:nvSpPr>
        <p:spPr>
          <a:xfrm>
            <a:off x="8134350" y="4533900"/>
            <a:ext cx="3276600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334E68"/>
                </a:solidFill>
                <a:latin typeface="Bitstream Charter"/>
                <a:ea typeface="Bitstream Charter"/>
                <a:cs typeface="Bitstream Charter"/>
              </a:rPr>
              <a:t>Later lectures will replace hand-written rules with validated supervised models and out-of-sample evaluation.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B0CC1C-4370-4DC9-8D88-C2DDA8E5383E}"/>
              </a:ext>
            </a:extLst>
          </p:cNvPr>
          <p:cNvSpPr>
            <a:spLocks noGrp="1"/>
          </p:cNvSpPr>
          <p:nvPr/>
        </p:nvSpPr>
        <p:spPr>
          <a:xfrm>
            <a:off x="552450" y="5981700"/>
            <a:ext cx="110871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buNone/>
              <a:def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 b="0">
                <a:solidFill>
                  <a:srgbClr val="637891"/>
                </a:solidFill>
                <a:latin typeface="Bitstream Charter"/>
                <a:ea typeface="Bitstream Charter"/>
                <a:cs typeface="Bitstream Charter"/>
              </a:rPr>
              <a:t>Source: UCI Default of Credit Card Clients, dataset 350; included CSV and data dictionary.</a:t>
            </a:r>
          </a:p>
        </p:txBody>
      </p:sp>
    </p:spTree>
    <p:extLst>
      <p:ext uri="{BB962C8B-B14F-4D97-AF65-F5344CB8AC3E}">
        <p14:creationId xmlns:p14="http://schemas.microsoft.com/office/powerpoint/2010/main" val="10880114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12136</Words>
  <Application>Microsoft Office PowerPoint</Application>
  <DocSecurity>0</DocSecurity>
  <PresentationFormat>Widescreen</PresentationFormat>
  <Paragraphs>1817</Paragraphs>
  <Slides>107</Slides>
  <Notes>107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2" baseType="lpstr">
      <vt:lpstr>Aptos</vt:lpstr>
      <vt:lpstr>Bitstream Charter</vt:lpstr>
      <vt:lpstr>Cambria Math</vt:lpstr>
      <vt:lpstr>Cascadia Mono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FERDINANTOS KOTTAS</cp:lastModifiedBy>
  <cp:revision>3</cp:revision>
  <dcterms:created xsi:type="dcterms:W3CDTF">2026-10-03T20:58:58Z</dcterms:created>
  <dcterms:modified xsi:type="dcterms:W3CDTF">2026-10-04T17:34:00Z</dcterms:modified>
</cp:coreProperties>
</file>