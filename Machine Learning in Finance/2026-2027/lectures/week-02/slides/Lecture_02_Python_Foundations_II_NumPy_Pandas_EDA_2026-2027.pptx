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charts/chart1.xml" ContentType="application/vnd.openxmlformats-officedocument.drawingml.chart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2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slides/extendedCharts/chart.xml" ContentType="application/vnd.ms-office.chartex+xml"/>
  <Override PartName="/ppt/slides/extendedCharts/chart2.xml" ContentType="application/vnd.ms-office.chartex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slides/charts/chart3.xml" ContentType="application/vnd.openxmlformats-officedocument.drawingml.chart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slides/charts/chart4.xml" ContentType="application/vnd.openxmlformats-officedocument.drawingml.chart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slides/charts/chart5.xml" ContentType="application/vnd.openxmlformats-officedocument.drawingml.chart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07af7993834790" /><Relationship Type="http://schemas.openxmlformats.org/officeDocument/2006/relationships/extended-properties" Target="/docProps/app.xml" Id="R4d27c500a4fc4340" /><Relationship Type="http://schemas.openxmlformats.org/officeDocument/2006/relationships/officeDocument" Target="/ppt/presentation.xml" Id="Ra0cc9398d8c6455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632e6d4e15844e6"/>
  </p:sldMasterIdLst>
  <p:notesMasterIdLst>
    <p:notesMasterId xmlns:r="http://schemas.openxmlformats.org/officeDocument/2006/relationships" r:id="R8b985b932f4f4310"/>
  </p:notesMasterIdLst>
  <p:sldIdLst>
    <p:sldId xmlns:r="http://schemas.openxmlformats.org/officeDocument/2006/relationships" id="256" r:id="Rfeddd61c459d4175"/>
    <p:sldId xmlns:r="http://schemas.openxmlformats.org/officeDocument/2006/relationships" id="257" r:id="R16ec53b36d5146a7"/>
    <p:sldId xmlns:r="http://schemas.openxmlformats.org/officeDocument/2006/relationships" id="258" r:id="R2e7f76836bc2423a"/>
    <p:sldId xmlns:r="http://schemas.openxmlformats.org/officeDocument/2006/relationships" id="259" r:id="R9aa3fdf0a6fa469b"/>
    <p:sldId xmlns:r="http://schemas.openxmlformats.org/officeDocument/2006/relationships" id="260" r:id="Ra7a412f312d64f63"/>
    <p:sldId xmlns:r="http://schemas.openxmlformats.org/officeDocument/2006/relationships" id="261" r:id="R6f97abd58d83473f"/>
    <p:sldId xmlns:r="http://schemas.openxmlformats.org/officeDocument/2006/relationships" id="262" r:id="R18ecc4f233f94ea8"/>
    <p:sldId xmlns:r="http://schemas.openxmlformats.org/officeDocument/2006/relationships" id="263" r:id="R445decb66c174fdc"/>
    <p:sldId xmlns:r="http://schemas.openxmlformats.org/officeDocument/2006/relationships" id="264" r:id="Ra825e87a43764e0b"/>
    <p:sldId xmlns:r="http://schemas.openxmlformats.org/officeDocument/2006/relationships" id="265" r:id="Rfc82a089f5d34cbf"/>
    <p:sldId xmlns:r="http://schemas.openxmlformats.org/officeDocument/2006/relationships" id="266" r:id="Re421018aae9c4513"/>
    <p:sldId xmlns:r="http://schemas.openxmlformats.org/officeDocument/2006/relationships" id="267" r:id="Rb519f9e97ac14d09"/>
    <p:sldId xmlns:r="http://schemas.openxmlformats.org/officeDocument/2006/relationships" id="268" r:id="R4f420dfa69c54871"/>
    <p:sldId xmlns:r="http://schemas.openxmlformats.org/officeDocument/2006/relationships" id="269" r:id="R4f5af843a178454b"/>
    <p:sldId xmlns:r="http://schemas.openxmlformats.org/officeDocument/2006/relationships" id="270" r:id="R33124c1fdac94314"/>
    <p:sldId xmlns:r="http://schemas.openxmlformats.org/officeDocument/2006/relationships" id="271" r:id="R81f119ccd29c4473"/>
    <p:sldId xmlns:r="http://schemas.openxmlformats.org/officeDocument/2006/relationships" id="272" r:id="R43fe05e5a2f54664"/>
    <p:sldId xmlns:r="http://schemas.openxmlformats.org/officeDocument/2006/relationships" id="273" r:id="Rac186f5692014f39"/>
    <p:sldId xmlns:r="http://schemas.openxmlformats.org/officeDocument/2006/relationships" id="274" r:id="Rd3fc0bb4550042a4"/>
    <p:sldId xmlns:r="http://schemas.openxmlformats.org/officeDocument/2006/relationships" id="275" r:id="R7a381be300aa42d7"/>
    <p:sldId xmlns:r="http://schemas.openxmlformats.org/officeDocument/2006/relationships" id="276" r:id="Raeeac3b2b9d24783"/>
    <p:sldId xmlns:r="http://schemas.openxmlformats.org/officeDocument/2006/relationships" id="277" r:id="Rf029c2261b074909"/>
    <p:sldId xmlns:r="http://schemas.openxmlformats.org/officeDocument/2006/relationships" id="278" r:id="R6d846ada441543e7"/>
    <p:sldId xmlns:r="http://schemas.openxmlformats.org/officeDocument/2006/relationships" id="279" r:id="R59ab7e225a044834"/>
    <p:sldId xmlns:r="http://schemas.openxmlformats.org/officeDocument/2006/relationships" id="280" r:id="R52bfae2b3cd04ac5"/>
    <p:sldId xmlns:r="http://schemas.openxmlformats.org/officeDocument/2006/relationships" id="281" r:id="R11c06ac6d7c04b3c"/>
    <p:sldId xmlns:r="http://schemas.openxmlformats.org/officeDocument/2006/relationships" id="282" r:id="Re8b37feed0904396"/>
    <p:sldId xmlns:r="http://schemas.openxmlformats.org/officeDocument/2006/relationships" id="283" r:id="R8a3c5e37bf314c17"/>
    <p:sldId xmlns:r="http://schemas.openxmlformats.org/officeDocument/2006/relationships" id="284" r:id="R807cd124e2934e24"/>
    <p:sldId xmlns:r="http://schemas.openxmlformats.org/officeDocument/2006/relationships" id="285" r:id="R1478ec1a0ab74214"/>
    <p:sldId xmlns:r="http://schemas.openxmlformats.org/officeDocument/2006/relationships" id="286" r:id="Rb0ca387a486c43f4"/>
    <p:sldId xmlns:r="http://schemas.openxmlformats.org/officeDocument/2006/relationships" id="287" r:id="R16f9cfccff8e4b10"/>
    <p:sldId xmlns:r="http://schemas.openxmlformats.org/officeDocument/2006/relationships" id="288" r:id="Rf16542e459814ce9"/>
    <p:sldId xmlns:r="http://schemas.openxmlformats.org/officeDocument/2006/relationships" id="289" r:id="R261db325d89e447c"/>
    <p:sldId xmlns:r="http://schemas.openxmlformats.org/officeDocument/2006/relationships" id="290" r:id="R6c91a4830c164ff9"/>
    <p:sldId xmlns:r="http://schemas.openxmlformats.org/officeDocument/2006/relationships" id="291" r:id="Rf706b6e9eb594589"/>
    <p:sldId xmlns:r="http://schemas.openxmlformats.org/officeDocument/2006/relationships" id="292" r:id="R464007317a774428"/>
    <p:sldId xmlns:r="http://schemas.openxmlformats.org/officeDocument/2006/relationships" id="293" r:id="Rf7ae11d014464891"/>
    <p:sldId xmlns:r="http://schemas.openxmlformats.org/officeDocument/2006/relationships" id="294" r:id="R073a3dc13ef14801"/>
    <p:sldId xmlns:r="http://schemas.openxmlformats.org/officeDocument/2006/relationships" id="295" r:id="R80dd1cc8f05f4cbf"/>
    <p:sldId xmlns:r="http://schemas.openxmlformats.org/officeDocument/2006/relationships" id="296" r:id="R6d7111bb8da04dd4"/>
    <p:sldId xmlns:r="http://schemas.openxmlformats.org/officeDocument/2006/relationships" id="297" r:id="Rc5b97832d4594002"/>
    <p:sldId xmlns:r="http://schemas.openxmlformats.org/officeDocument/2006/relationships" id="298" r:id="Rf4b76c5ca5704ff8"/>
    <p:sldId xmlns:r="http://schemas.openxmlformats.org/officeDocument/2006/relationships" id="299" r:id="R1ae817516d594875"/>
    <p:sldId xmlns:r="http://schemas.openxmlformats.org/officeDocument/2006/relationships" id="300" r:id="R97c0078d04044cd3"/>
    <p:sldId xmlns:r="http://schemas.openxmlformats.org/officeDocument/2006/relationships" id="301" r:id="Ra8f2f5c526344f85"/>
    <p:sldId xmlns:r="http://schemas.openxmlformats.org/officeDocument/2006/relationships" id="302" r:id="R5d15d3cc9bd14fa2"/>
    <p:sldId xmlns:r="http://schemas.openxmlformats.org/officeDocument/2006/relationships" id="303" r:id="Rae023f09cef948e4"/>
    <p:sldId xmlns:r="http://schemas.openxmlformats.org/officeDocument/2006/relationships" id="304" r:id="Rf4b3144efe454a24"/>
    <p:sldId xmlns:r="http://schemas.openxmlformats.org/officeDocument/2006/relationships" id="305" r:id="Rbc466efdf514403b"/>
    <p:sldId xmlns:r="http://schemas.openxmlformats.org/officeDocument/2006/relationships" id="306" r:id="R04894f9f05c1487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de8f0dec0a4b30" /><Relationship Type="http://schemas.openxmlformats.org/officeDocument/2006/relationships/slideMaster" Target="/ppt/slideMasters/slideMaster1.xml" Id="R4632e6d4e15844e6" /><Relationship Type="http://schemas.openxmlformats.org/officeDocument/2006/relationships/notesMaster" Target="/ppt/notesMasters/notesMaster1.xml" Id="R8b985b932f4f4310" /><Relationship Type="http://schemas.openxmlformats.org/officeDocument/2006/relationships/presProps" Target="/ppt/presProps.xml" Id="R68400748b8534174" /><Relationship Type="http://schemas.openxmlformats.org/officeDocument/2006/relationships/tableStyles" Target="/ppt/tableStyles.xml" Id="R1a8de410ce964784" /><Relationship Type="http://schemas.openxmlformats.org/officeDocument/2006/relationships/slide" Target="/ppt/slides/slide1.xml" Id="Rfeddd61c459d4175" /><Relationship Type="http://schemas.openxmlformats.org/officeDocument/2006/relationships/slide" Target="/ppt/slides/slide2.xml" Id="R16ec53b36d5146a7" /><Relationship Type="http://schemas.openxmlformats.org/officeDocument/2006/relationships/slide" Target="/ppt/slides/slide3.xml" Id="R2e7f76836bc2423a" /><Relationship Type="http://schemas.openxmlformats.org/officeDocument/2006/relationships/slide" Target="/ppt/slides/slide4.xml" Id="R9aa3fdf0a6fa469b" /><Relationship Type="http://schemas.openxmlformats.org/officeDocument/2006/relationships/slide" Target="/ppt/slides/slide5.xml" Id="Ra7a412f312d64f63" /><Relationship Type="http://schemas.openxmlformats.org/officeDocument/2006/relationships/slide" Target="/ppt/slides/slide6.xml" Id="R6f97abd58d83473f" /><Relationship Type="http://schemas.openxmlformats.org/officeDocument/2006/relationships/slide" Target="/ppt/slides/slide7.xml" Id="R18ecc4f233f94ea8" /><Relationship Type="http://schemas.openxmlformats.org/officeDocument/2006/relationships/slide" Target="/ppt/slides/slide8.xml" Id="R445decb66c174fdc" /><Relationship Type="http://schemas.openxmlformats.org/officeDocument/2006/relationships/slide" Target="/ppt/slides/slide9.xml" Id="Ra825e87a43764e0b" /><Relationship Type="http://schemas.openxmlformats.org/officeDocument/2006/relationships/slide" Target="/ppt/slides/slide10.xml" Id="Rfc82a089f5d34cbf" /><Relationship Type="http://schemas.openxmlformats.org/officeDocument/2006/relationships/slide" Target="/ppt/slides/slide11.xml" Id="Re421018aae9c4513" /><Relationship Type="http://schemas.openxmlformats.org/officeDocument/2006/relationships/slide" Target="/ppt/slides/slide12.xml" Id="Rb519f9e97ac14d09" /><Relationship Type="http://schemas.openxmlformats.org/officeDocument/2006/relationships/slide" Target="/ppt/slides/slide13.xml" Id="R4f420dfa69c54871" /><Relationship Type="http://schemas.openxmlformats.org/officeDocument/2006/relationships/slide" Target="/ppt/slides/slide14.xml" Id="R4f5af843a178454b" /><Relationship Type="http://schemas.openxmlformats.org/officeDocument/2006/relationships/slide" Target="/ppt/slides/slide15.xml" Id="R33124c1fdac94314" /><Relationship Type="http://schemas.openxmlformats.org/officeDocument/2006/relationships/slide" Target="/ppt/slides/slide16.xml" Id="R81f119ccd29c4473" /><Relationship Type="http://schemas.openxmlformats.org/officeDocument/2006/relationships/slide" Target="/ppt/slides/slide17.xml" Id="R43fe05e5a2f54664" /><Relationship Type="http://schemas.openxmlformats.org/officeDocument/2006/relationships/slide" Target="/ppt/slides/slide18.xml" Id="Rac186f5692014f39" /><Relationship Type="http://schemas.openxmlformats.org/officeDocument/2006/relationships/slide" Target="/ppt/slides/slide19.xml" Id="Rd3fc0bb4550042a4" /><Relationship Type="http://schemas.openxmlformats.org/officeDocument/2006/relationships/slide" Target="/ppt/slides/slide20.xml" Id="R7a381be300aa42d7" /><Relationship Type="http://schemas.openxmlformats.org/officeDocument/2006/relationships/slide" Target="/ppt/slides/slide21.xml" Id="Raeeac3b2b9d24783" /><Relationship Type="http://schemas.openxmlformats.org/officeDocument/2006/relationships/slide" Target="/ppt/slides/slide22.xml" Id="Rf029c2261b074909" /><Relationship Type="http://schemas.openxmlformats.org/officeDocument/2006/relationships/slide" Target="/ppt/slides/slide23.xml" Id="R6d846ada441543e7" /><Relationship Type="http://schemas.openxmlformats.org/officeDocument/2006/relationships/slide" Target="/ppt/slides/slide24.xml" Id="R59ab7e225a044834" /><Relationship Type="http://schemas.openxmlformats.org/officeDocument/2006/relationships/slide" Target="/ppt/slides/slide25.xml" Id="R52bfae2b3cd04ac5" /><Relationship Type="http://schemas.openxmlformats.org/officeDocument/2006/relationships/slide" Target="/ppt/slides/slide26.xml" Id="R11c06ac6d7c04b3c" /><Relationship Type="http://schemas.openxmlformats.org/officeDocument/2006/relationships/slide" Target="/ppt/slides/slide27.xml" Id="Re8b37feed0904396" /><Relationship Type="http://schemas.openxmlformats.org/officeDocument/2006/relationships/slide" Target="/ppt/slides/slide28.xml" Id="R8a3c5e37bf314c17" /><Relationship Type="http://schemas.openxmlformats.org/officeDocument/2006/relationships/slide" Target="/ppt/slides/slide29.xml" Id="R807cd124e2934e24" /><Relationship Type="http://schemas.openxmlformats.org/officeDocument/2006/relationships/slide" Target="/ppt/slides/slide30.xml" Id="R1478ec1a0ab74214" /><Relationship Type="http://schemas.openxmlformats.org/officeDocument/2006/relationships/slide" Target="/ppt/slides/slide31.xml" Id="Rb0ca387a486c43f4" /><Relationship Type="http://schemas.openxmlformats.org/officeDocument/2006/relationships/slide" Target="/ppt/slides/slide32.xml" Id="R16f9cfccff8e4b10" /><Relationship Type="http://schemas.openxmlformats.org/officeDocument/2006/relationships/slide" Target="/ppt/slides/slide33.xml" Id="Rf16542e459814ce9" /><Relationship Type="http://schemas.openxmlformats.org/officeDocument/2006/relationships/slide" Target="/ppt/slides/slide34.xml" Id="R261db325d89e447c" /><Relationship Type="http://schemas.openxmlformats.org/officeDocument/2006/relationships/slide" Target="/ppt/slides/slide35.xml" Id="R6c91a4830c164ff9" /><Relationship Type="http://schemas.openxmlformats.org/officeDocument/2006/relationships/slide" Target="/ppt/slides/slide36.xml" Id="Rf706b6e9eb594589" /><Relationship Type="http://schemas.openxmlformats.org/officeDocument/2006/relationships/slide" Target="/ppt/slides/slide37.xml" Id="R464007317a774428" /><Relationship Type="http://schemas.openxmlformats.org/officeDocument/2006/relationships/slide" Target="/ppt/slides/slide38.xml" Id="Rf7ae11d014464891" /><Relationship Type="http://schemas.openxmlformats.org/officeDocument/2006/relationships/slide" Target="/ppt/slides/slide39.xml" Id="R073a3dc13ef14801" /><Relationship Type="http://schemas.openxmlformats.org/officeDocument/2006/relationships/slide" Target="/ppt/slides/slide40.xml" Id="R80dd1cc8f05f4cbf" /><Relationship Type="http://schemas.openxmlformats.org/officeDocument/2006/relationships/slide" Target="/ppt/slides/slide41.xml" Id="R6d7111bb8da04dd4" /><Relationship Type="http://schemas.openxmlformats.org/officeDocument/2006/relationships/slide" Target="/ppt/slides/slide42.xml" Id="Rc5b97832d4594002" /><Relationship Type="http://schemas.openxmlformats.org/officeDocument/2006/relationships/slide" Target="/ppt/slides/slide43.xml" Id="Rf4b76c5ca5704ff8" /><Relationship Type="http://schemas.openxmlformats.org/officeDocument/2006/relationships/slide" Target="/ppt/slides/slide44.xml" Id="R1ae817516d594875" /><Relationship Type="http://schemas.openxmlformats.org/officeDocument/2006/relationships/slide" Target="/ppt/slides/slide45.xml" Id="R97c0078d04044cd3" /><Relationship Type="http://schemas.openxmlformats.org/officeDocument/2006/relationships/slide" Target="/ppt/slides/slide46.xml" Id="Ra8f2f5c526344f85" /><Relationship Type="http://schemas.openxmlformats.org/officeDocument/2006/relationships/slide" Target="/ppt/slides/slide47.xml" Id="R5d15d3cc9bd14fa2" /><Relationship Type="http://schemas.openxmlformats.org/officeDocument/2006/relationships/slide" Target="/ppt/slides/slide48.xml" Id="Rae023f09cef948e4" /><Relationship Type="http://schemas.openxmlformats.org/officeDocument/2006/relationships/slide" Target="/ppt/slides/slide49.xml" Id="Rf4b3144efe454a24" /><Relationship Type="http://schemas.openxmlformats.org/officeDocument/2006/relationships/slide" Target="/ppt/slides/slide50.xml" Id="Rbc466efdf514403b" /><Relationship Type="http://schemas.openxmlformats.org/officeDocument/2006/relationships/slide" Target="/ppt/slides/slide51.xml" Id="R04894f9f05c1487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7bd3094fc84b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c86fda66674320" /><Relationship Type="http://schemas.openxmlformats.org/officeDocument/2006/relationships/notesMaster" Target="/ppt/notesMasters/notesMaster1.xml" Id="R7787cff8ed204a9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8096d977eb4852" /><Relationship Type="http://schemas.openxmlformats.org/officeDocument/2006/relationships/notesMaster" Target="/ppt/notesMasters/notesMaster1.xml" Id="Rb7582ea8f1c940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99916dad5834c05" /><Relationship Type="http://schemas.openxmlformats.org/officeDocument/2006/relationships/notesMaster" Target="/ppt/notesMasters/notesMaster1.xml" Id="R9981d5cd087247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a3b48c5716d4e4e" /><Relationship Type="http://schemas.openxmlformats.org/officeDocument/2006/relationships/notesMaster" Target="/ppt/notesMasters/notesMaster1.xml" Id="Rf6752196a0174a8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1cbc37a6fb345f3" /><Relationship Type="http://schemas.openxmlformats.org/officeDocument/2006/relationships/notesMaster" Target="/ppt/notesMasters/notesMaster1.xml" Id="Rc6afb20952a34a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e28c1867544794" /><Relationship Type="http://schemas.openxmlformats.org/officeDocument/2006/relationships/notesMaster" Target="/ppt/notesMasters/notesMaster1.xml" Id="Rc8ad035cd4f0420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586bf4845049f9" /><Relationship Type="http://schemas.openxmlformats.org/officeDocument/2006/relationships/notesMaster" Target="/ppt/notesMasters/notesMaster1.xml" Id="Raa9ec6d4e4dc49d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fc5831b792240e1" /><Relationship Type="http://schemas.openxmlformats.org/officeDocument/2006/relationships/notesMaster" Target="/ppt/notesMasters/notesMaster1.xml" Id="R529d6e5de14e493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640a2475181434d" /><Relationship Type="http://schemas.openxmlformats.org/officeDocument/2006/relationships/notesMaster" Target="/ppt/notesMasters/notesMaster1.xml" Id="R59b19af1a9d747e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9639b4aafc4401d" /><Relationship Type="http://schemas.openxmlformats.org/officeDocument/2006/relationships/notesMaster" Target="/ppt/notesMasters/notesMaster1.xml" Id="R5956b61e6aae440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2a5c5e33e6b48e6" /><Relationship Type="http://schemas.openxmlformats.org/officeDocument/2006/relationships/notesMaster" Target="/ppt/notesMasters/notesMaster1.xml" Id="Rd9a1e77551384e5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0a3363de4754714" /><Relationship Type="http://schemas.openxmlformats.org/officeDocument/2006/relationships/notesMaster" Target="/ppt/notesMasters/notesMaster1.xml" Id="Rd01a3bb2a29f4d8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a4b4b4eec8b4111" /><Relationship Type="http://schemas.openxmlformats.org/officeDocument/2006/relationships/notesMaster" Target="/ppt/notesMasters/notesMaster1.xml" Id="R5d989b9277e94be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74714a85717492a" /><Relationship Type="http://schemas.openxmlformats.org/officeDocument/2006/relationships/notesMaster" Target="/ppt/notesMasters/notesMaster1.xml" Id="R664cc425773749d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195e5cf6c1c49fa" /><Relationship Type="http://schemas.openxmlformats.org/officeDocument/2006/relationships/notesMaster" Target="/ppt/notesMasters/notesMaster1.xml" Id="R20b515ee696c449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b15125fe2594697" /><Relationship Type="http://schemas.openxmlformats.org/officeDocument/2006/relationships/notesMaster" Target="/ppt/notesMasters/notesMaster1.xml" Id="Ra68635e8a33b412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03f15fbe78e44cd" /><Relationship Type="http://schemas.openxmlformats.org/officeDocument/2006/relationships/notesMaster" Target="/ppt/notesMasters/notesMaster1.xml" Id="Rf00fd1500a91415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427c0e0ca8444b6" /><Relationship Type="http://schemas.openxmlformats.org/officeDocument/2006/relationships/notesMaster" Target="/ppt/notesMasters/notesMaster1.xml" Id="R728fd53744de498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fbdd172db334692" /><Relationship Type="http://schemas.openxmlformats.org/officeDocument/2006/relationships/notesMaster" Target="/ppt/notesMasters/notesMaster1.xml" Id="Racef95f9dc884bb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80d1ed8435f4770" /><Relationship Type="http://schemas.openxmlformats.org/officeDocument/2006/relationships/notesMaster" Target="/ppt/notesMasters/notesMaster1.xml" Id="R7959b1eb38254b5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ded08bea06347f5" /><Relationship Type="http://schemas.openxmlformats.org/officeDocument/2006/relationships/notesMaster" Target="/ppt/notesMasters/notesMaster1.xml" Id="R09c4a040d395457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89195d719884bb4" /><Relationship Type="http://schemas.openxmlformats.org/officeDocument/2006/relationships/notesMaster" Target="/ppt/notesMasters/notesMaster1.xml" Id="Rcf1c8843d8754fe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7303e56ee184bdd" /><Relationship Type="http://schemas.openxmlformats.org/officeDocument/2006/relationships/notesMaster" Target="/ppt/notesMasters/notesMaster1.xml" Id="R1a3ba30cefef478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2532169d4e447db" /><Relationship Type="http://schemas.openxmlformats.org/officeDocument/2006/relationships/notesMaster" Target="/ppt/notesMasters/notesMaster1.xml" Id="Rdae6d184fb0a491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40d22fe1b4f425f" /><Relationship Type="http://schemas.openxmlformats.org/officeDocument/2006/relationships/notesMaster" Target="/ppt/notesMasters/notesMaster1.xml" Id="R03f2d8dc16dc404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bc4b68d08b34844" /><Relationship Type="http://schemas.openxmlformats.org/officeDocument/2006/relationships/notesMaster" Target="/ppt/notesMasters/notesMaster1.xml" Id="R8a7313f3bc384bc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8cbf867f7d74c5b" /><Relationship Type="http://schemas.openxmlformats.org/officeDocument/2006/relationships/notesMaster" Target="/ppt/notesMasters/notesMaster1.xml" Id="R8acdeceb6d1f472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cee079faa814964" /><Relationship Type="http://schemas.openxmlformats.org/officeDocument/2006/relationships/notesMaster" Target="/ppt/notesMasters/notesMaster1.xml" Id="R689446fd5f9a475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07497f71d7e4f19" /><Relationship Type="http://schemas.openxmlformats.org/officeDocument/2006/relationships/notesMaster" Target="/ppt/notesMasters/notesMaster1.xml" Id="Rc2c5feae4c5644d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1f0f8d5496f491e" /><Relationship Type="http://schemas.openxmlformats.org/officeDocument/2006/relationships/notesMaster" Target="/ppt/notesMasters/notesMaster1.xml" Id="R2958b0cb552b402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8337ab35862466c" /><Relationship Type="http://schemas.openxmlformats.org/officeDocument/2006/relationships/notesMaster" Target="/ppt/notesMasters/notesMaster1.xml" Id="Rb24b514fd9104ca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127812485a4a4182" /><Relationship Type="http://schemas.openxmlformats.org/officeDocument/2006/relationships/notesMaster" Target="/ppt/notesMasters/notesMaster1.xml" Id="Rfd2b747035364d0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32a5a1722914c90" /><Relationship Type="http://schemas.openxmlformats.org/officeDocument/2006/relationships/notesMaster" Target="/ppt/notesMasters/notesMaster1.xml" Id="R9f056ed0382b4e83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cbdabcc2813497c" /><Relationship Type="http://schemas.openxmlformats.org/officeDocument/2006/relationships/notesMaster" Target="/ppt/notesMasters/notesMaster1.xml" Id="R1c6ed0db6c04495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f6b7e8de44064396" /><Relationship Type="http://schemas.openxmlformats.org/officeDocument/2006/relationships/notesMaster" Target="/ppt/notesMasters/notesMaster1.xml" Id="R61a0f969aad448eb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60e81f0e48246ec" /><Relationship Type="http://schemas.openxmlformats.org/officeDocument/2006/relationships/notesMaster" Target="/ppt/notesMasters/notesMaster1.xml" Id="Rfaf98d83129848da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edc5ed643c44be2" /><Relationship Type="http://schemas.openxmlformats.org/officeDocument/2006/relationships/notesMaster" Target="/ppt/notesMasters/notesMaster1.xml" Id="R2f92bcff76b0499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890baad87aa3431a" /><Relationship Type="http://schemas.openxmlformats.org/officeDocument/2006/relationships/notesMaster" Target="/ppt/notesMasters/notesMaster1.xml" Id="R58ea5b43d0db4e9b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41b28c1662a04ace" /><Relationship Type="http://schemas.openxmlformats.org/officeDocument/2006/relationships/notesMaster" Target="/ppt/notesMasters/notesMaster1.xml" Id="R9940b88f045344e2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826c87c58b3240f9" /><Relationship Type="http://schemas.openxmlformats.org/officeDocument/2006/relationships/notesMaster" Target="/ppt/notesMasters/notesMaster1.xml" Id="R7c3851ab9ca54419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d91c5f1de2384464" /><Relationship Type="http://schemas.openxmlformats.org/officeDocument/2006/relationships/notesMaster" Target="/ppt/notesMasters/notesMaster1.xml" Id="Rc01b89c8b1394e18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0dd975eeddce468c" /><Relationship Type="http://schemas.openxmlformats.org/officeDocument/2006/relationships/notesMaster" Target="/ppt/notesMasters/notesMaster1.xml" Id="Rc05606644c1a49a3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8d00d71a3b7047cb" /><Relationship Type="http://schemas.openxmlformats.org/officeDocument/2006/relationships/notesMaster" Target="/ppt/notesMasters/notesMaster1.xml" Id="R822e7c48255c402f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935d73fcd1b64dc4" /><Relationship Type="http://schemas.openxmlformats.org/officeDocument/2006/relationships/notesMaster" Target="/ppt/notesMasters/notesMaster1.xml" Id="R8a57403aebef4935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9f9f7a9836394207" /><Relationship Type="http://schemas.openxmlformats.org/officeDocument/2006/relationships/notesMaster" Target="/ppt/notesMasters/notesMaster1.xml" Id="R6c984f0354924b2b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004495163dbd491b" /><Relationship Type="http://schemas.openxmlformats.org/officeDocument/2006/relationships/notesMaster" Target="/ppt/notesMasters/notesMaster1.xml" Id="Rff04584fff784441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530747232ab74b51" /><Relationship Type="http://schemas.openxmlformats.org/officeDocument/2006/relationships/notesMaster" Target="/ppt/notesMasters/notesMaster1.xml" Id="Rb88cb8446ccb4097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feb2bc2671c8447f" /><Relationship Type="http://schemas.openxmlformats.org/officeDocument/2006/relationships/notesMaster" Target="/ppt/notesMasters/notesMaster1.xml" Id="Rf51bf77277874912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2d50928eb8384d21" /><Relationship Type="http://schemas.openxmlformats.org/officeDocument/2006/relationships/notesMaster" Target="/ppt/notesMasters/notesMaster1.xml" Id="Rb5c0244c0511421e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15918d07841c4024" /><Relationship Type="http://schemas.openxmlformats.org/officeDocument/2006/relationships/notesMaster" Target="/ppt/notesMasters/notesMaster1.xml" Id="R0f83dc0bc76f47e9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40e8dacf78704779" /><Relationship Type="http://schemas.openxmlformats.org/officeDocument/2006/relationships/notesMaster" Target="/ppt/notesMasters/notesMaster1.xml" Id="R528de09572ba42c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 The deck follows the same editable visual language as Lecture 0–1. Mathematical insertion points are documented separately; formulas are intentionally absent from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course syllabus and Lecture 0–1 structure.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course syllabus, Week 2 learning objectives.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course workflow.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NumPy documentation, https://numpy.org/doc/stable/user/quickstart.html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NumPy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NumPy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course financial-data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NumPy broadcasting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course portfolio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NumPy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Pandas user guide, https://pandas.pydata.org/docs/user_guide/10min.html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Yeh (2009), UCI Machine Learning Repository dataset 350, https://archive.ics.uci.edu/dataset/350/default+of+credit+card+clients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included UCI credit CSV and data dictionary.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dataset 350 and the course data dictionary.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course data-audit framework.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included UCI credit CSV; missingness calculated from the supplied file.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dataset 350; counts calculated from the included 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Pandas documentation, https://pandas.pydata.org/docs/reference/api/pandas.DataFrame.describe.html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credit CSV; summary calculated from included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credit CSV; filtering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credit CSV; grouped summary calculated from included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credit CSV; pivot table calculated from included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Pandas merge documentation and UCI data dictionary.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credit CSV; derived variables are teaching examples and are not a final model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dataset 350 documentation and supplied data dictionary.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course EDA framework.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credit CSV; chart values represent the supplied variables and are for descriptive teaching.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credit CSV; grouped default rates calculated from included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credit CSV; scatter plot is an illustrative native chart and the full-sample plot is generated in Colab.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credit CSV; values shown are rounded teaching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credit CSV; grouped summaries calculated from included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included UCI credit CSV; function is a reusable course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dataset 350 and course workflow.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dataset 350 and course repository.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included UCI credit 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credit 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credit 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credit CSV; native chart mirrors the Colab chart.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credit CSV; interpretation is intentionally descriptive.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credit 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credit CSV and data dictionary.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course assessment and weekly-work rules.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course exercise design.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course weekly submission standard.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13-week course map, Week 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ee65685bbe453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b556c0e5c94e7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c6de977f6d465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729e03ab30432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f148b1dd5f401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8340f768ea4a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5D29D25-FA7F-4608-BEBA-AB81F12E0B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CDD91D0-370F-44B2-A433-57FDF671C83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C53274D-2774-4A5A-A810-7D8A5A4F30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19903AA-141A-4977-A1C8-A880D74252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D74DF57-05C5-44B2-9572-AD4A56E1CF1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1758050-3E4B-4FEA-9A99-CBE3FB7D45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E8D20B7-90A1-4C3D-A5AB-A60B7CCC2F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AD01FAF-CAC2-4252-9D15-7807CD86751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C7F88BB-FCE8-4423-AF5D-457E3C1D1F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3EF4427-78EA-4214-8E1D-8E8AAFBE2E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4c657b6cebe411c" /><Relationship Type="http://schemas.openxmlformats.org/officeDocument/2006/relationships/slideLayout" Target="/ppt/slideLayouts/slideLayout1.xml" Id="R21153a9789fb49b0" /><Relationship Type="http://schemas.openxmlformats.org/officeDocument/2006/relationships/slideLayout" Target="/ppt/slideLayouts/slideLayout2.xml" Id="R72a924f4cdc046b0" /><Relationship Type="http://schemas.openxmlformats.org/officeDocument/2006/relationships/slideLayout" Target="/ppt/slideLayouts/slideLayout3.xml" Id="Rfcca8f9dd2ea4f59" /><Relationship Type="http://schemas.openxmlformats.org/officeDocument/2006/relationships/slideLayout" Target="/ppt/slideLayouts/slideLayout4.xml" Id="R481e089ef53341a2" /><Relationship Type="http://schemas.openxmlformats.org/officeDocument/2006/relationships/slideLayout" Target="/ppt/slideLayouts/slideLayout5.xml" Id="R75c66f6eb5fa44de" /><Relationship Type="http://schemas.openxmlformats.org/officeDocument/2006/relationships/slideLayout" Target="/ppt/slideLayouts/slideLayout6.xml" Id="Ref4668a9bf724ed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1153a9789fb49b0"/>
    <p:sldLayoutId xmlns:r="http://schemas.openxmlformats.org/officeDocument/2006/relationships" id="2147483650" r:id="R72a924f4cdc046b0"/>
    <p:sldLayoutId xmlns:r="http://schemas.openxmlformats.org/officeDocument/2006/relationships" id="2147483651" r:id="Rfcca8f9dd2ea4f59"/>
    <p:sldLayoutId xmlns:r="http://schemas.openxmlformats.org/officeDocument/2006/relationships" id="2147483652" r:id="R481e089ef53341a2"/>
    <p:sldLayoutId xmlns:r="http://schemas.openxmlformats.org/officeDocument/2006/relationships" id="2147483653" r:id="R75c66f6eb5fa44de"/>
    <p:sldLayoutId xmlns:r="http://schemas.openxmlformats.org/officeDocument/2006/relationships" id="2147483654" r:id="Ref4668a9bf724ed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a5192f35584a44" /><Relationship Type="http://schemas.openxmlformats.org/officeDocument/2006/relationships/notesSlide" Target="/ppt/notesSlides/notesSlide1.xml" Id="R0e0a2e1fa37a47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096aa6f45e46e8" /><Relationship Type="http://schemas.openxmlformats.org/officeDocument/2006/relationships/notesSlide" Target="/ppt/notesSlides/notesSlide2.xml" Id="Rc028f789e1b4436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f7fef52a20439b" /><Relationship Type="http://schemas.openxmlformats.org/officeDocument/2006/relationships/notesSlide" Target="/ppt/notesSlides/notesSlide3.xml" Id="Rb612affe82364d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98924257594174" /><Relationship Type="http://schemas.openxmlformats.org/officeDocument/2006/relationships/notesSlide" Target="/ppt/notesSlides/notesSlide4.xml" Id="R2805e9baaef0446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ab75d165324059" /><Relationship Type="http://schemas.openxmlformats.org/officeDocument/2006/relationships/notesSlide" Target="/ppt/notesSlides/notesSlide5.xml" Id="Rf71dced149de458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70c887e727415c" /><Relationship Type="http://schemas.openxmlformats.org/officeDocument/2006/relationships/notesSlide" Target="/ppt/notesSlides/notesSlide6.xml" Id="R5a8023b52e914d8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82e0b49c0d4970" /><Relationship Type="http://schemas.openxmlformats.org/officeDocument/2006/relationships/notesSlide" Target="/ppt/notesSlides/notesSlide7.xml" Id="R24344148919d4cf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cd34bb63a24b72" /><Relationship Type="http://schemas.openxmlformats.org/officeDocument/2006/relationships/notesSlide" Target="/ppt/notesSlides/notesSlide8.xml" Id="R357778f19086481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acd60cec7f4dd5" /><Relationship Type="http://schemas.openxmlformats.org/officeDocument/2006/relationships/notesSlide" Target="/ppt/notesSlides/notesSlide9.xml" Id="R72adfec27744454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1aacd94f1f4598" /><Relationship Type="http://schemas.openxmlformats.org/officeDocument/2006/relationships/notesSlide" Target="/ppt/notesSlides/notesSlide10.xml" Id="R9f8b37011d68437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55a9a4be114321" /><Relationship Type="http://schemas.openxmlformats.org/officeDocument/2006/relationships/notesSlide" Target="/ppt/notesSlides/notesSlide11.xml" Id="R507801354bf742d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4480b5dec941fe" /><Relationship Type="http://schemas.openxmlformats.org/officeDocument/2006/relationships/notesSlide" Target="/ppt/notesSlides/notesSlide12.xml" Id="R1190cfabccbc402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3b2d1b98134859" /><Relationship Type="http://schemas.openxmlformats.org/officeDocument/2006/relationships/notesSlide" Target="/ppt/notesSlides/notesSlide13.xml" Id="R57adc34559124af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145c28e1ca4700" /><Relationship Type="http://schemas.openxmlformats.org/officeDocument/2006/relationships/notesSlide" Target="/ppt/notesSlides/notesSlide14.xml" Id="Rf744e244ac9545c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ecfa4620cd4d71" /><Relationship Type="http://schemas.openxmlformats.org/officeDocument/2006/relationships/notesSlide" Target="/ppt/notesSlides/notesSlide15.xml" Id="R4665d55caca5403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62a2f272474992" /><Relationship Type="http://schemas.openxmlformats.org/officeDocument/2006/relationships/notesSlide" Target="/ppt/notesSlides/notesSlide16.xml" Id="Rb4fe0314fe2d412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0776381ee94549" /><Relationship Type="http://schemas.openxmlformats.org/officeDocument/2006/relationships/notesSlide" Target="/ppt/notesSlides/notesSlide17.xml" Id="R6f04ef9748a942e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7544c6ef374ebe" /><Relationship Type="http://schemas.openxmlformats.org/officeDocument/2006/relationships/notesSlide" Target="/ppt/notesSlides/notesSlide18.xml" Id="R3f21e39dc86643d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e9b4fe19ba40cc" /><Relationship Type="http://schemas.openxmlformats.org/officeDocument/2006/relationships/notesSlide" Target="/ppt/notesSlides/notesSlide19.xml" Id="Rc6c91fe82d9f499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9e87e865a44977" /><Relationship Type="http://schemas.openxmlformats.org/officeDocument/2006/relationships/chart" Target="/ppt/slides/charts/chart1.xml" Id="R472cb510c82c406b" /><Relationship Type="http://schemas.openxmlformats.org/officeDocument/2006/relationships/notesSlide" Target="/ppt/notesSlides/notesSlide20.xml" Id="R9efdd6b095344f7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450458e06e493a" /><Relationship Type="http://schemas.openxmlformats.org/officeDocument/2006/relationships/notesSlide" Target="/ppt/notesSlides/notesSlide21.xml" Id="Re72f19fe3d574f2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7778128d4f4a01" /><Relationship Type="http://schemas.openxmlformats.org/officeDocument/2006/relationships/notesSlide" Target="/ppt/notesSlides/notesSlide22.xml" Id="R9d6b3041cc14485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9729250faa452c" /><Relationship Type="http://schemas.openxmlformats.org/officeDocument/2006/relationships/notesSlide" Target="/ppt/notesSlides/notesSlide23.xml" Id="R99df801ee6644cf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7a22026dab47f4" /><Relationship Type="http://schemas.openxmlformats.org/officeDocument/2006/relationships/notesSlide" Target="/ppt/notesSlides/notesSlide24.xml" Id="Rbd70e6b592c84a4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159cdc69ad4c45" /><Relationship Type="http://schemas.openxmlformats.org/officeDocument/2006/relationships/notesSlide" Target="/ppt/notesSlides/notesSlide25.xml" Id="R9fbcf2211a204f5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eedbbdff0742e6" /><Relationship Type="http://schemas.openxmlformats.org/officeDocument/2006/relationships/notesSlide" Target="/ppt/notesSlides/notesSlide26.xml" Id="Rde781ccd7ee04a7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7bb416190b4d57" /><Relationship Type="http://schemas.openxmlformats.org/officeDocument/2006/relationships/notesSlide" Target="/ppt/notesSlides/notesSlide27.xml" Id="Rf3faa6801a9d40f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3535f9e71a4aac" /><Relationship Type="http://schemas.openxmlformats.org/officeDocument/2006/relationships/chart" Target="/ppt/slides/charts/chart2.xml" Id="R5b142f432f224ad2" /><Relationship Type="http://schemas.openxmlformats.org/officeDocument/2006/relationships/notesSlide" Target="/ppt/notesSlides/notesSlide28.xml" Id="R0ef244bd3c0d4db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63d40bda034dd1" /><Relationship Type="http://schemas.openxmlformats.org/officeDocument/2006/relationships/notesSlide" Target="/ppt/notesSlides/notesSlide29.xml" Id="Raf59f71ba900426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d869b562cf4f0c" /><Relationship Type="http://schemas.openxmlformats.org/officeDocument/2006/relationships/notesSlide" Target="/ppt/notesSlides/notesSlide30.xml" Id="Rd179835d04e6476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a6ea7513c94832" /><Relationship Type="http://schemas.microsoft.com/office/2014/relationships/chartEx" Target="/ppt/slides/extendedCharts/chart.xml" Id="R53b285cb8a2e4d79" /><Relationship Type="http://schemas.microsoft.com/office/2014/relationships/chartEx" Target="/ppt/slides/extendedCharts/chart2.xml" Id="R149cff3849b1482b" /><Relationship Type="http://schemas.openxmlformats.org/officeDocument/2006/relationships/notesSlide" Target="/ppt/notesSlides/notesSlide31.xml" Id="R1b4fea0152bc43b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0a04fdfc3e466c" /><Relationship Type="http://schemas.openxmlformats.org/officeDocument/2006/relationships/chart" Target="/ppt/slides/charts/chart3.xml" Id="Rdb8914e592374ea9" /><Relationship Type="http://schemas.openxmlformats.org/officeDocument/2006/relationships/notesSlide" Target="/ppt/notesSlides/notesSlide32.xml" Id="R53ca7e8fdd9c4ee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c359abf1a64f46" /><Relationship Type="http://schemas.openxmlformats.org/officeDocument/2006/relationships/chart" Target="/ppt/slides/charts/chart4.xml" Id="Rd0f301b98f4e4161" /><Relationship Type="http://schemas.openxmlformats.org/officeDocument/2006/relationships/notesSlide" Target="/ppt/notesSlides/notesSlide33.xml" Id="Re78b99cae28b48fd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a4fe4bdbb546c2" /><Relationship Type="http://schemas.openxmlformats.org/officeDocument/2006/relationships/notesSlide" Target="/ppt/notesSlides/notesSlide34.xml" Id="R8f1155a78b9342d9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248be205e74dd2" /><Relationship Type="http://schemas.openxmlformats.org/officeDocument/2006/relationships/notesSlide" Target="/ppt/notesSlides/notesSlide35.xml" Id="R118e8dce33e14fa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5997aa36b74992" /><Relationship Type="http://schemas.openxmlformats.org/officeDocument/2006/relationships/notesSlide" Target="/ppt/notesSlides/notesSlide36.xml" Id="R969534ebd6ca4129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31829d6385414b" /><Relationship Type="http://schemas.openxmlformats.org/officeDocument/2006/relationships/notesSlide" Target="/ppt/notesSlides/notesSlide37.xml" Id="Rb8322de32bb64fbb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3110e64a3b40c4" /><Relationship Type="http://schemas.openxmlformats.org/officeDocument/2006/relationships/notesSlide" Target="/ppt/notesSlides/notesSlide38.xml" Id="R58d96839f1f8421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2b65d447b0481b" /><Relationship Type="http://schemas.openxmlformats.org/officeDocument/2006/relationships/notesSlide" Target="/ppt/notesSlides/notesSlide39.xml" Id="R1e6e064c270b4b4e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2f7b50088b4a7c" /><Relationship Type="http://schemas.openxmlformats.org/officeDocument/2006/relationships/notesSlide" Target="/ppt/notesSlides/notesSlide40.xml" Id="Rc3e84adf68684f3d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df58ddb7a74740" /><Relationship Type="http://schemas.openxmlformats.org/officeDocument/2006/relationships/notesSlide" Target="/ppt/notesSlides/notesSlide41.xml" Id="R766a1d664ed044f2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c16afdc725446c" /><Relationship Type="http://schemas.openxmlformats.org/officeDocument/2006/relationships/notesSlide" Target="/ppt/notesSlides/notesSlide42.xml" Id="R171f7781770345b7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0ecfa5613940eb" /><Relationship Type="http://schemas.openxmlformats.org/officeDocument/2006/relationships/chart" Target="/ppt/slides/charts/chart5.xml" Id="R9159eb37a52348fc" /><Relationship Type="http://schemas.openxmlformats.org/officeDocument/2006/relationships/notesSlide" Target="/ppt/notesSlides/notesSlide43.xml" Id="R8e46ec379b0c432a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41cf2ccd4c49f6" /><Relationship Type="http://schemas.openxmlformats.org/officeDocument/2006/relationships/notesSlide" Target="/ppt/notesSlides/notesSlide44.xml" Id="R96d5e03d5f8745f0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4b0e85aae44ac9" /><Relationship Type="http://schemas.openxmlformats.org/officeDocument/2006/relationships/notesSlide" Target="/ppt/notesSlides/notesSlide45.xml" Id="R951e27732f554173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48c04d83124833" /><Relationship Type="http://schemas.openxmlformats.org/officeDocument/2006/relationships/notesSlide" Target="/ppt/notesSlides/notesSlide46.xml" Id="R105f9719c5af47dc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2e2db1a7654971" /><Relationship Type="http://schemas.openxmlformats.org/officeDocument/2006/relationships/notesSlide" Target="/ppt/notesSlides/notesSlide47.xml" Id="Rb7c72d490d4446a4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1506204e95422c" /><Relationship Type="http://schemas.openxmlformats.org/officeDocument/2006/relationships/notesSlide" Target="/ppt/notesSlides/notesSlide48.xml" Id="R0b8e353b1be04e3c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3180247af44324" /><Relationship Type="http://schemas.openxmlformats.org/officeDocument/2006/relationships/notesSlide" Target="/ppt/notesSlides/notesSlide49.xml" Id="R001858a5ca724905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29a4bc5006413d" /><Relationship Type="http://schemas.openxmlformats.org/officeDocument/2006/relationships/notesSlide" Target="/ppt/notesSlides/notesSlide50.xml" Id="R5d3241a02454445c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f393627f7c4ba0" /><Relationship Type="http://schemas.openxmlformats.org/officeDocument/2006/relationships/notesSlide" Target="/ppt/notesSlides/notesSlide51.xml" Id="R737a9d644e4e4e40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Borrowers by target class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Borrowers</c:v>
          </c:tx>
          <c:spPr>
            <a:solidFill xmlns:a="http://schemas.openxmlformats.org/drawingml/2006/main">
              <a:srgbClr val="2D9DB0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No default</c:v>
                </c:pt>
                <c:pt idx="1">
                  <c:v>Default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23364</c:v>
                </c:pt>
                <c:pt idx="1">
                  <c:v>6636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PAY_0 source-code distribution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Borrowers</c:v>
          </c:tx>
          <c:spPr>
            <a:solidFill xmlns:a="http://schemas.openxmlformats.org/drawingml/2006/main">
              <a:srgbClr val="2D9DB0"/>
            </a:solidFill>
          </c:spPr>
          <c:invertIfNegative val="0"/>
          <c:cat>
            <c:strRef>
              <c:f>'Chart Data'!$A$2:$A$8</c:f>
              <c:strCache>
                <c:ptCount val="7"/>
                <c:pt idx="0">
                  <c:v>-2</c:v>
                </c:pt>
                <c:pt idx="1">
                  <c:v>-1</c:v>
                </c:pt>
                <c:pt idx="2">
                  <c:v>0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4+</c:v>
                </c:pt>
              </c:strCache>
            </c:strRef>
          </c:cat>
          <c:val>
            <c:numRef>
              <c:f>'Chart Data'!$B$2:$B$8</c:f>
              <c:numCache>
                <c:formatCode>General</c:formatCode>
                <c:ptCount val="7"/>
                <c:pt idx="0">
                  <c:v>2759</c:v>
                </c:pt>
                <c:pt idx="1">
                  <c:v>5686</c:v>
                </c:pt>
                <c:pt idx="2">
                  <c:v>14737</c:v>
                </c:pt>
                <c:pt idx="3">
                  <c:v>3688</c:v>
                </c:pt>
                <c:pt idx="4">
                  <c:v>2667</c:v>
                </c:pt>
                <c:pt idx="5">
                  <c:v>322</c:v>
                </c:pt>
                <c:pt idx="6">
                  <c:v>141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Default rate by credit-limit band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Default rate</c:v>
          </c:tx>
          <c:spPr>
            <a:solidFill xmlns:a="http://schemas.openxmlformats.org/drawingml/2006/main">
              <a:srgbClr val="D77B6D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Low limit</c:v>
                </c:pt>
                <c:pt idx="1">
                  <c:v>Medium limit</c:v>
                </c:pt>
                <c:pt idx="2">
                  <c:v>High limit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0.2948</c:v>
                </c:pt>
                <c:pt idx="1">
                  <c:v>0.1814</c:v>
                </c:pt>
                <c:pt idx="2">
                  <c:v>0.1326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Credit limit and first bill amount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scatterChart>
        <c:scatterStyle val="marker"/>
        <c:varyColors val="0"/>
        <c:ser>
          <c:idx val="0"/>
          <c:order val="0"/>
          <c:tx>
            <c:v>Borrowers</c:v>
          </c:tx>
          <c:spPr>
            <a:ln xmlns:a="http://schemas.openxmlformats.org/drawingml/2006/main" w="9525">
              <a:solidFill>
                <a:srgbClr val="2D9DB0"/>
              </a:solidFill>
              <a:prstDash val="solid"/>
            </a:ln>
          </c:spPr>
          <c:marker>
            <c:size val="5"/>
            <c:spPr>
              <a:solidFill xmlns:a="http://schemas.openxmlformats.org/drawingml/2006/main">
                <a:srgbClr val="2D9DB0"/>
              </a:solidFill>
            </c:spPr>
          </c:marker>
          <c:xVal>
            <c:numRef>
              <c:f>'Chart Data'!$A$2:$A$10</c:f>
              <c:numCache>
                <c:formatCode>General</c:formatCode>
                <c:ptCount val="9"/>
                <c:pt idx="0">
                  <c:v>10000</c:v>
                </c:pt>
                <c:pt idx="1">
                  <c:v>50000</c:v>
                </c:pt>
                <c:pt idx="2">
                  <c:v>100000</c:v>
                </c:pt>
                <c:pt idx="3">
                  <c:v>150000</c:v>
                </c:pt>
                <c:pt idx="4">
                  <c:v>200000</c:v>
                </c:pt>
                <c:pt idx="5">
                  <c:v>300000</c:v>
                </c:pt>
                <c:pt idx="6">
                  <c:v>500000</c:v>
                </c:pt>
                <c:pt idx="7">
                  <c:v>800000</c:v>
                </c:pt>
                <c:pt idx="8">
                  <c:v>1000000</c:v>
                </c:pt>
              </c:numCache>
            </c:numRef>
          </c:xVal>
          <c:yVal>
            <c:numRef>
              <c:f>'Chart Data'!$B$2:$B$10</c:f>
              <c:numCache>
                <c:formatCode>General</c:formatCode>
                <c:ptCount val="9"/>
                <c:pt idx="0">
                  <c:v>2200</c:v>
                </c:pt>
                <c:pt idx="1">
                  <c:v>12000</c:v>
                </c:pt>
                <c:pt idx="2">
                  <c:v>28000</c:v>
                </c:pt>
                <c:pt idx="3">
                  <c:v>35000</c:v>
                </c:pt>
                <c:pt idx="4">
                  <c:v>50000</c:v>
                </c:pt>
                <c:pt idx="5">
                  <c:v>90000</c:v>
                </c:pt>
                <c:pt idx="6">
                  <c:v>180000</c:v>
                </c:pt>
                <c:pt idx="7">
                  <c:v>330000</c:v>
                </c:pt>
                <c:pt idx="8">
                  <c:v>500000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</c:valAx>
      <c:val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02A43"/>
                </a:solidFill>
                <a:latin typeface="Arial"/>
                <a:ea typeface="Arial"/>
                <a:cs typeface="Arial"/>
              </a:rPr>
              <a:t>Default rate by limit band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Rate</c:v>
          </c:tx>
          <c:spPr>
            <a:solidFill xmlns:a="http://schemas.openxmlformats.org/drawingml/2006/main">
              <a:srgbClr val="2D9DB0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Low</c:v>
                </c:pt>
                <c:pt idx="1">
                  <c:v>Medium</c:v>
                </c:pt>
                <c:pt idx="2">
                  <c:v>High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0.2948</c:v>
                </c:pt>
                <c:pt idx="1">
                  <c:v>0.1814</c:v>
                </c:pt>
                <c:pt idx="2">
                  <c:v>0.1326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0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2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:spPr>
    </c:plotArea>
    <c:plotVisOnly val="1"/>
  </c:chart>
  <c:spPr>
    <a:ln xmlns:a="http://schemas.openxmlformats.org/drawingml/2006/main" w="9525">
      <a:solidFill>
        <a:srgbClr val="D6E2E8"/>
      </a:solidFill>
      <a:prstDash val="solid"/>
    </a:ln>
  </c:spPr>
  <c:externalData r:id="rIdChartSnapshot1">
    <c:autoUpdate val="0"/>
  </c:externalData>
</c:chartSpace>
</file>

<file path=ppt/slides/extendedCharts/chart.xml><?xml version="1.0" encoding="utf-8"?>
<cx:chartSpace xmlns:cx="http://schemas.microsoft.com/office/drawing/2014/chartex">
  <cx:chartData>
    <cx:data id="0">
      <cx:numDim type="val">
        <cx:lvl ptCount="13">
          <cx:pt idx="0">10000</cx:pt>
          <cx:pt idx="1">30000</cx:pt>
          <cx:pt idx="2">50000</cx:pt>
          <cx:pt idx="3">80000</cx:pt>
          <cx:pt idx="4">100000</cx:pt>
          <cx:pt idx="5">120000</cx:pt>
          <cx:pt idx="6">140000</cx:pt>
          <cx:pt idx="7">160000</cx:pt>
          <cx:pt idx="8">180000</cx:pt>
          <cx:pt idx="9">240000</cx:pt>
          <cx:pt idx="10">300000</cx:pt>
          <cx:pt idx="11">500000</cx:pt>
          <cx:pt idx="12">1000000</cx:pt>
        </cx:lvl>
      </cx:numDim>
    </cx:data>
  </cx:chartData>
  <cx:chart>
    <cx:title overlay="0">
      <cx:tx>
        <cx:txData>
          <cx:v>LIMIT_BAL distribution</cx:v>
        </cx:txData>
      </cx:tx>
      <cx:txPr>
        <a:bodyPr xmlns:a="http://schemas.openxmlformats.org/drawingml/2006/main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  <a:r>
            <a:rPr sz="1200" b="1">
              <a:solidFill>
                <a:srgbClr val="102A43"/>
              </a:solidFill>
              <a:latin typeface="Arial"/>
              <a:ea typeface="Arial"/>
              <a:cs typeface="Arial"/>
            </a:rPr>
            <a:t>LIMIT_BAL distribution</a:t>
          </a:r>
        </a:p>
      </cx:txPr>
    </cx:title>
    <cx:plotArea>
      <cx:plotAreaRegion>
        <cx:series layoutId="clusteredColumn">
          <cx:tx>
            <cx:txData>
              <cx:v>Credit limit</cx:v>
            </cx:txData>
          </cx:tx>
          <cx:spPr>
            <a:solidFill xmlns:a="http://schemas.openxmlformats.org/drawingml/2006/main">
              <a:srgbClr val="2D9DB0"/>
            </a:solidFill>
          </cx:spPr>
          <cx:dataId val="0"/>
          <cx:layoutPr>
            <cx:binning>
              <cx:binCount>8</cx:binCount>
            </cx:binning>
          </cx:layoutPr>
        </cx:series>
      </cx:plotAreaRegion>
      <cx:axis id="0">
        <cx:catScaling gapWidth="0"/>
        <cx:tickLabels/>
      </cx:axis>
      <cx:axis id="1">
        <cx:valScaling/>
        <cx:majorGridlines>
          <cx:spPr>
            <a:ln xmlns:a="http://schemas.openxmlformats.org/drawingml/2006/main">
              <a:noFill/>
            </a:ln>
          </cx:spPr>
        </cx:majorGridlines>
        <cx:tickLabels/>
      </cx:axis>
      <cx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x:spPr>
    </cx:plotArea>
  </cx:chart>
</cx:chartSpace>
</file>

<file path=ppt/slides/extendedCharts/chart2.xml><?xml version="1.0" encoding="utf-8"?>
<cx:chartSpace xmlns:cx="http://schemas.microsoft.com/office/drawing/2014/chartex">
  <cx:chartData>
    <cx:data id="0">
      <cx:numDim type="val">
        <cx:lvl ptCount="13">
          <cx:pt idx="0">0</cx:pt>
          <cx:pt idx="1">500</cx:pt>
          <cx:pt idx="2">1000</cx:pt>
          <cx:pt idx="3">1500</cx:pt>
          <cx:pt idx="4">2000</cx:pt>
          <cx:pt idx="5">3000</cx:pt>
          <cx:pt idx="6">5000</cx:pt>
          <cx:pt idx="7">8000</cx:pt>
          <cx:pt idx="8">12000</cx:pt>
          <cx:pt idx="9">20000</cx:pt>
          <cx:pt idx="10">50000</cx:pt>
          <cx:pt idx="11">100000</cx:pt>
          <cx:pt idx="12">873552</cx:pt>
        </cx:lvl>
      </cx:numDim>
    </cx:data>
  </cx:chartData>
  <cx:chart>
    <cx:title overlay="0">
      <cx:tx>
        <cx:txData>
          <cx:v>PAY_AMT1 distribution</cx:v>
        </cx:txData>
      </cx:tx>
      <cx:txPr>
        <a:bodyPr xmlns:a="http://schemas.openxmlformats.org/drawingml/2006/main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02A43"/>
              </a:solidFill>
              <a:latin typeface="Arial"/>
              <a:ea typeface="Arial"/>
              <a:cs typeface="Arial"/>
            </a:defRPr>
          </a:pPr>
          <a:r>
            <a:rPr sz="1200" b="1">
              <a:solidFill>
                <a:srgbClr val="102A43"/>
              </a:solidFill>
              <a:latin typeface="Arial"/>
              <a:ea typeface="Arial"/>
              <a:cs typeface="Arial"/>
            </a:rPr>
            <a:t>PAY_AMT1 distribution</a:t>
          </a:r>
        </a:p>
      </cx:txPr>
    </cx:title>
    <cx:plotArea>
      <cx:plotAreaRegion>
        <cx:series layoutId="clusteredColumn">
          <cx:tx>
            <cx:txData>
              <cx:v>Payment amount</cx:v>
            </cx:txData>
          </cx:tx>
          <cx:spPr>
            <a:solidFill xmlns:a="http://schemas.openxmlformats.org/drawingml/2006/main">
              <a:srgbClr val="C99A45"/>
            </a:solidFill>
          </cx:spPr>
          <cx:dataId val="0"/>
          <cx:layoutPr>
            <cx:binning>
              <cx:binCount>8</cx:binCount>
            </cx:binning>
          </cx:layoutPr>
        </cx:series>
      </cx:plotAreaRegion>
      <cx:axis id="0">
        <cx:catScaling gapWidth="0"/>
        <cx:tickLabels/>
      </cx:axis>
      <cx:axis id="1">
        <cx:valScaling/>
        <cx:majorGridlines>
          <cx:spPr>
            <a:ln xmlns:a="http://schemas.openxmlformats.org/drawingml/2006/main">
              <a:noFill/>
            </a:ln>
          </cx:spPr>
        </cx:majorGridlines>
        <cx:tickLabels/>
      </cx:axis>
      <cx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6E2E8"/>
          </a:solidFill>
          <a:prstDash val="solid"/>
        </a:ln>
      </cx:spPr>
    </cx:plotArea>
  </cx:chart>
</cx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1EEDF1-5CC3-4036-A565-485C39DB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FBDE7B-C44C-432C-A680-97A6F131B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62000"/>
            <a:ext cx="6191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LEARNING</a:t>
            </a:r>
          </a:p>
          <a:p xmlns:a="http://schemas.openxmlformats.org/drawingml/2006/main">
            <a:pPr algn="l">
              <a:defRPr sz="3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B8A4BD-E142-4236-A7B7-F8BFC3E02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24125"/>
            <a:ext cx="609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Lecture 2  |  Python Foundations II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BDFBA6-3868-41BB-AE80-1962E550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From arrays and tables to a defensible exploratory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BFA960-F730-48C4-B2DF-98A9842E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781050"/>
            <a:ext cx="2190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0D2D4A"/>
          </a:solidFill>
          <a:ln xmlns:a="http://schemas.openxmlformats.org/drawingml/2006/main" w="9525">
            <a:solidFill>
              <a:srgbClr val="0D2D4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C4E56A-D20C-4056-8DC9-0C024ABD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276350"/>
            <a:ext cx="12001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8F7BAA-F124-4C6B-AFF6-8322C6B54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43050"/>
            <a:ext cx="666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061B33"/>
          </a:solidFill>
          <a:ln xmlns:a="http://schemas.openxmlformats.org/drawingml/2006/main" w="9525">
            <a:solidFill>
              <a:srgbClr val="061B3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580B6A-4777-4101-8C3E-68C12A32B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333750"/>
            <a:ext cx="2000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67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67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22E667-B3AE-4F89-AA2F-631B2F145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292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Dr Ferdinantos Kottas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7CE6A8-F58D-4353-97F4-970EB2D98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912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NKUA MPhil Economics  |  Academic Year 2026–2027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F4F8BE-7777-410B-B960-8BEE480D0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  |  Week 02  |  NKUA MPhil Economics  |  2026–2027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C211E2-C0C5-4A09-B107-B285CE43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580260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DF02F6-78C3-4CEB-A438-EC89E909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E8FD71-44C9-4EA9-AE7D-4AE44DA7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LECTURE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B50CB6-B735-406F-9B6F-3CE5D7304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second lecture changes the unit of analysis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370494-0DE1-4C55-A3CB-0FE2749E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Python Foundations II moves from individual commands to structured financial tables.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04CB10-617D-4FB7-80FB-92A41C488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E4C954-5815-4805-9018-80B47F21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078B31-CA34-45CA-BDFB-55F752BF5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3143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D60C2F-2BD8-4053-A804-492B690D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89D905-0EBF-4780-A7BB-042B43D9D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669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WEEK 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29DC1E-76B8-4A77-96C7-2D244ED32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27241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You learned the language: variables, control flow, functions, files, descriptive statistics, and basic plots.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A53389-5E91-4390-8667-8A33A3B77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95500"/>
            <a:ext cx="3143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52B3A3-1034-432C-BFB5-1C148A78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9550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415887-17FD-42A9-BE78-D86862A6E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2669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WEEK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B0C830-9985-44DC-A06E-950B21C6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71750"/>
            <a:ext cx="27241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You will work with arrays and DataFrames so the same analysis can be applied to thousands of observations.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EF06D6-4955-4057-B638-291071A87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95500"/>
            <a:ext cx="3143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7B7124-0A3F-41B7-AD5B-53D41BF7A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9550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DDE518-41D3-4F9E-B3B7-3F4C5145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2669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FINANCIAL QUESTION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3D2F35-EE0D-4518-A014-B408837D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7241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Which borrower characteristics and relationships should we understand before fitting a supervised model?</a:t>
            </a:r>
          </a:p>
        </p:txBody>
      </p:sp>
    </p:spTree>
    <p:extLst>
      <p:ext uri="{BB962C8B-B14F-4D97-AF65-F5344CB8AC3E}">
        <p14:creationId xmlns:p14="http://schemas.microsoft.com/office/powerpoint/2010/main" val="1037872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43A4F5-3653-4E5F-A84F-EE18DD88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EC9432-A087-4406-8423-7D32A97A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LEARNING OBJECTIVES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DD3A20-33AB-41BD-AF1A-6AF609767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What you should be able to do after this lecture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9DBCF8-6AAD-4416-AD02-2A690C52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objective is a reproducible exploratory workflow, not memorisation of isolated commands.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E89A2C-82BF-4667-9CCE-ECDBA353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EF7A61-DC3A-4851-977C-06DFFC84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08D11C-4FF0-4C39-BF17-C4A3D912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5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997D39-E10B-4004-A8C3-A5121A0B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Represent financial data as NumPy arrays and Pandas DataFrames, while understanding the difference between a value, a row, and a column.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8983B0-7301-41B0-8113-0711E1A16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81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4922D6-0351-40C5-A430-FE1BC2846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955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Load the public UCI credit-risk table, inspect its dimensions, types, coded values, missingness, and target definition.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35F54D-2704-47AB-95A6-F0B21B9E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765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477230-6C4B-480E-8192-6FDA5D41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908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Use filtering, grouping, aggregation, joins, and transformations to answer a financial question with traceable code.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FC3FEF-45EF-47A2-BED1-CB659111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71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E90AE9-5918-4BD2-9243-2DFC8059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861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Build descriptive summaries and labelled plots that reveal distributions, class balance, associations, and data-quality risks.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FEABD2-3E22-4500-89DD-16A77522F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7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9010B9-5DA2-44FC-95F9-4EF6985D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814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Write an interpretation that separates a sample association from a causal claim and records at least one limitation.</a:t>
            </a:r>
          </a:p>
        </p:txBody>
      </p:sp>
    </p:spTree>
    <p:extLst>
      <p:ext uri="{BB962C8B-B14F-4D97-AF65-F5344CB8AC3E}">
        <p14:creationId xmlns:p14="http://schemas.microsoft.com/office/powerpoint/2010/main" val="4112662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AE4E7F-B7B3-4AE5-AB39-C2D9AD8CA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B3068D-35B1-4975-B402-5CE3034C0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LECTURE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9E25D9-E281-4727-B401-580A0ADE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route from a CSV file to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0544BE-B0B8-4261-BF30-B8144BA0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Every stage answers a different question about the 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C9B527-2D96-4743-8E90-93F6C1CD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FEC172-734A-418F-B1E9-0538BA66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C7ACE3-A583-45E6-A521-2892154B6D53}"/>
              </a:ext>
            </a:extLst>
          </p:cNvPr>
          <p:cNvGraphicFramePr/>
          <p:nvPr/>
        </p:nvGraphicFramePr>
        <p:xfrm>
          <a:off xmlns:a="http://schemas.openxmlformats.org/drawingml/2006/main" x="819150" y="2000250"/>
          <a:ext xmlns:a="http://schemas.openxmlformats.org/drawingml/2006/main" cx="10572750" cy="3143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524000"/>
                <a:gridCol w="5143500"/>
                <a:gridCol w="3905250"/>
              </a:tblGrid>
              <a:tr h="449036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Typical Python object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Load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What file and source did we receive?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DataFrame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Inspect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How large, typed, and complete is it?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Index, dtypes, summary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Transform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Can the raw columns express the financial concept?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Series and new columns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Compare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Do groups differ in the sample?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groupby and pivot_table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Visualise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What pattern is easier to see than to read?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Chart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Interpret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What can the evidence support?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Written conclusion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54A0E3-FA37-4ADD-82B4-1E42FB03C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29250"/>
            <a:ext cx="10572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41DD9C-48FA-4375-9092-DCFFEB10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2925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1F000F-DCCA-403C-A671-9E5B8C01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24500"/>
            <a:ext cx="101536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QUALITY RULE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387869-9E39-485A-8565-777987EB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24525"/>
            <a:ext cx="10153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code and its interpretation travel together. A chart without units, source, or a sentence is not a complete analysis.</a:t>
            </a:r>
          </a:p>
        </p:txBody>
      </p:sp>
    </p:spTree>
    <p:extLst>
      <p:ext uri="{BB962C8B-B14F-4D97-AF65-F5344CB8AC3E}">
        <p14:creationId xmlns:p14="http://schemas.microsoft.com/office/powerpoint/2010/main" val="7559824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96D93B-6C43-4D2B-83A5-158E1A28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324C40-9FB4-4F0C-A659-32233566F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3D2955-B187-4FEE-AEFC-272078C89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NumPy as a financial calculation layer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EE1A62-FCC7-4167-98FE-1F7F161F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Arrays make repeated numerical operations explicit, fast, and easier to check.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4D9C30-C6CB-4C33-AD42-2F71EDC3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FB950D-3DDB-4643-AC24-AB1F3C64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BAD88D-FC52-430F-8623-BA03A611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9957B0-A0DE-4647-9067-3AF145FD0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910387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95E7B8-ABBF-4988-9CBF-DC3F0C75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6667E9-CCE0-4EE2-8780-CFB286379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NUMPY FOUNDATIONS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EE252F-B6B7-4544-A98C-0E50C4896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Why arrays matter in finance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624F24-7D05-41DF-B7EF-E6E08D4F6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spreadsheet cell can hide a calculation. An array makes the repeated structure visible.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2C78EC-C6BF-43CE-9D9D-86E143373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D0EB1C-0693-4B42-B246-9DFCB64BC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7FCD83-A846-4AF8-9D06-EB76FC2B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6EA3DE-681F-45B2-AB00-31427CCF1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47875"/>
            <a:ext cx="9848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one-dimensional array can represent a time series such as daily prices, returns, or payment amounts.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02A242-F350-4544-9884-48379B80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47B025-6DA8-40B4-8B44-DFEB9E45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43175"/>
            <a:ext cx="9848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two-dimensional array can represent observations by rows and variables by columns.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22D75F-CE50-4349-80BF-C604CC84F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24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E78DDF-B350-49C9-823A-711C9E59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38475"/>
            <a:ext cx="9848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array has a shape, a data type, and an axis structure. These three properties determine which operations are valid.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B8ED29-E04F-41D7-9C9C-F4D77CF1E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19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C7D527-4AA1-4C10-8A1F-614371CD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33775"/>
            <a:ext cx="9848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Vectorised operations apply one rule to all observations without writing a Python loop for each row.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BE3FEF-9FFC-482A-AA4B-FAE5C614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03AC1A-5588-41F5-AFE0-63AD865E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29075"/>
            <a:ext cx="9848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benefit is reproducibility: the same operation can be rerun after the data or time window changes.</a:t>
            </a:r>
          </a:p>
        </p:txBody>
      </p:sp>
    </p:spTree>
    <p:extLst>
      <p:ext uri="{BB962C8B-B14F-4D97-AF65-F5344CB8AC3E}">
        <p14:creationId xmlns:p14="http://schemas.microsoft.com/office/powerpoint/2010/main" val="19115305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A7D157-BBA4-4D00-B96B-6F998F10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3B0416-1967-4D9E-B43F-FA72BC4F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NUMPY FOUNDATIONS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026312-C04D-4587-A29C-E83FCC9E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Array shape describes the observation structure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DD4329-3167-4438-A436-DB883CDF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Before calculating anything, inspect how many dimensions and observations you have.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8F142F-9EC3-43FD-9CC6-18393E29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40C8C8-2413-4CC1-BFFE-F1D51728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FDD9E8-DC29-49E9-A7C6-83865EC72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837627-2ED9-45F6-8AE3-AB7259BD4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857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3E6B3D-8F43-4A6B-9B2B-BD9B30BA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4767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values = np.array([100, 105, 102, 108])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prices = np.array([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[100, 20],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[105, 21],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[102, 22],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[108, 23]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print(values.shape)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print(prices.shape)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print(prices.ndim)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D6351F-A358-4CE4-8EC8-A680EC97D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288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A5E349-D101-45DE-BFD0-E3564B5F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4762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EDB268-1BA5-4FA8-BE25-59A381AF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43815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(4,)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(4, 2)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2FA598-E886-48DB-AB07-35897E9DA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1346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BACA6D-5DE8-4821-8F66-ACFFC9A4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600052-6B04-41CF-85B3-84C6243E0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76875"/>
            <a:ext cx="9715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READING THE OUTPUT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2A6939-C8FF-4D0B-B700-B8755FA17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76900"/>
            <a:ext cx="9715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first object has four values. The second has four observations and two variables. A shape mismatch is often the first reason a financial calculation fails.</a:t>
            </a:r>
          </a:p>
        </p:txBody>
      </p:sp>
    </p:spTree>
    <p:extLst>
      <p:ext uri="{BB962C8B-B14F-4D97-AF65-F5344CB8AC3E}">
        <p14:creationId xmlns:p14="http://schemas.microsoft.com/office/powerpoint/2010/main" val="77668023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2AC642-14AE-408E-9F06-C30DD00F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98EC72-82D3-4D97-8A41-CF3FF4AE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NUMPY FOUNDATIONS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0B3B9F-041A-4948-BC51-D40C0A7A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Indexing and slicing preserve the time order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D28C13-7AD1-4F39-8310-76ED030E0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Indexing selects observations. Slicing selects a contiguous window without changing the original array.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E5BC77-2E77-4FEC-AB81-E7667A4C2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7E9C65-C776-4BFE-A65B-0CE2F340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E74E94-ABB4-41B4-9103-1D867E972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173CB6-D8E4-44D9-90BE-0F1D545B1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85775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BDA36-9F4A-42E1-9961-09A952D6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47675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prices = np.array([100, 105, 102, 108, 111])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first = prices[0]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last_two = prices[-2:]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window = prices[1:4]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print(first)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print(last_two)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print(window)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2A0A06-707B-4BD0-8C7F-F4920A30B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288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C9902A-094D-4CE2-B493-EF521C0F3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47625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9544EA-44E7-4102-91B0-03CA96570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43815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100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[108 111]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[105 102 108]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05D1B4-D1CE-428A-92C2-172525EDF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38750"/>
            <a:ext cx="101346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B01B43-AA4E-4B6F-9ADE-9A3ABE580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38750"/>
            <a:ext cx="57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548677-9411-4AA4-9998-CCD57E4D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34000"/>
            <a:ext cx="9715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FINANCIAL READING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7AD3BE-E275-4DD0-83B8-D565CEBF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9715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slice can represent a training window, an evaluation window, or a reporting period. Always state whether the endpoint is included and preserve chronological order.</a:t>
            </a:r>
          </a:p>
        </p:txBody>
      </p:sp>
    </p:spTree>
    <p:extLst>
      <p:ext uri="{BB962C8B-B14F-4D97-AF65-F5344CB8AC3E}">
        <p14:creationId xmlns:p14="http://schemas.microsoft.com/office/powerpoint/2010/main" val="197629243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F14D35-D085-4E6B-8847-C73ED6E6D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27A0C4-CB54-42DF-AC97-CD275D4F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NUMPY FOUNDATIONS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199FB2-54CC-4611-83BC-97D2BF8B1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Vectorisation makes the calculation auditable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22DE5D-64E4-44F1-992D-F90DA08D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code states the transformation once and applies it to every observation.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BD8D90-A08D-4E54-B376-605A5A75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E52682-C7F8-428B-A819-448594824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3F7601-0806-4300-8255-79B58291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155C56-77DA-43A0-82F0-842BE9815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857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497955-86A1-4CB0-A13A-4778910C8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47675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prices = np.array([100, 105, 102, 108])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returns = prices[1:] / prices[:-1] - 1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print(np.round(returns, 4))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767EA-7224-47D0-8A69-62EE99EE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288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FE4DE6-19A0-4E87-8CA6-32D0CF9AC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4762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21CB3F-C66D-48BB-A677-9F9F53EA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43815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[ 0.0500 -0.0286  0.0588]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411307-B35E-4853-9724-A3B43CB92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101346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E475DF-B6BA-41ED-9893-F71820C2A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4D58F6-4FF7-4DC9-9134-77414E40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38750"/>
            <a:ext cx="9715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WHY THIS MATTERS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3CF69B-08A3-461B-B2C5-6388C495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38775"/>
            <a:ext cx="9715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same pattern will later be used for feature transformations. The analyst still needs to check the time order, units, and whether a price or adjusted price is appropriate.</a:t>
            </a:r>
          </a:p>
        </p:txBody>
      </p:sp>
    </p:spTree>
    <p:extLst>
      <p:ext uri="{BB962C8B-B14F-4D97-AF65-F5344CB8AC3E}">
        <p14:creationId xmlns:p14="http://schemas.microsoft.com/office/powerpoint/2010/main" val="139823950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4B58FA-F184-43A1-B6C2-20887FF6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BEF55A-EDD9-4168-AD3E-27610C58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NUMPY FOUNDATIONS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D8E727-3106-4756-92AA-10B779713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Broadcasting applies a compatible rule across rows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8A3BA9-C799-4069-BA1D-9C38663F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Broadcasting lets an array operation use a scalar or a one-dimensional vector across a matrix.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501F03-10FE-4CA2-B563-C429A636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6D842D-99BC-42BF-85D0-982F9563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E7C086-EDCD-4730-8CA3-248946BF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F14727-5D87-479B-A05D-4F0C4911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857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2FCCE3-92CC-4E85-B629-06F68624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4767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returns = np.array([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[0.02, 0.01],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[-0.01, 0.03],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[0.04, -0.02]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])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weights = np.array([0.60, 0.40])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contributions = returns * weights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portfolio = contributions.sum(axis=1)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DA8533-DFCE-44CC-9EB3-569768F77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288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A92251-95D4-4F32-B7F1-057511127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4762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374834-95DF-430C-85A2-3ED284C2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43815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portfolio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[0.016 0.006 0.016]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CA37F5-991C-4B46-ACD5-4135B0CC0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1346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608FD4-4548-4FCE-9CD0-FFEFF060B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304FA2-44E7-4CAD-8334-CB7F8CC3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76875"/>
            <a:ext cx="9715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CHECK BEFORE TRUSTING THE RESULT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594B90-6FE4-4E7E-AB4D-E88A827B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76900"/>
            <a:ext cx="9715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Broadcasting is powerful but silent. Confirm that the order of columns matches the order of weights.</a:t>
            </a:r>
          </a:p>
        </p:txBody>
      </p:sp>
    </p:spTree>
    <p:extLst>
      <p:ext uri="{BB962C8B-B14F-4D97-AF65-F5344CB8AC3E}">
        <p14:creationId xmlns:p14="http://schemas.microsoft.com/office/powerpoint/2010/main" val="15643548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B7C30F-333A-4AD6-AC6A-D16C60F31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3C9546-33CC-486F-B3ED-D6ECAA3A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FINANCIAL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ED321A-EA32-415F-9B2F-D2162833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portfolio return is a weighted aggregation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769C36-2DF4-4074-8874-5888B586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small array example connects the programming operation to a portfolio concept.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BE8329-D063-4F5D-9EC5-6651CFF1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A64343-DD7A-4DCA-B222-094CD370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50825B-D603-472F-BEA8-57F1D6853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B63CF4-3930-4FBB-941A-A4ACFB043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85775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3DB1E7-A6F7-4225-A827-EE421C5F7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47675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asset_returns = np.array([0.08, 0.03, 0.01])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weights = np.array([0.50, 0.30, 0.20])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weighted = asset_returns * weights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print(weighted.round(4))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print(weighted.sum().round(4))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187E51-0D11-40DE-AD70-52FE3357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288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33BB8E-6875-43CB-9605-D278C4F7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476250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D09BCC-F5D7-4B72-9E1C-E62595E7B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43815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[0.04  0.009 0.002]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0.051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456A80-C0B8-402B-B4D0-7924970A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101346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943BBD-08CB-48D0-9CBD-84980D083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E88FAD-66F7-459A-BC41-3B0AD30CC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38750"/>
            <a:ext cx="9715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09AA50-FE95-4FC6-B93C-EE656B64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38775"/>
            <a:ext cx="9715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portfolio return is 5.10% for the stated period. The code also exposes the contribution of each asset, which is useful for explaining performance.</a:t>
            </a:r>
          </a:p>
        </p:txBody>
      </p:sp>
    </p:spTree>
    <p:extLst>
      <p:ext uri="{BB962C8B-B14F-4D97-AF65-F5344CB8AC3E}">
        <p14:creationId xmlns:p14="http://schemas.microsoft.com/office/powerpoint/2010/main" val="177766804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AFA73F-682A-4E2D-8476-22529B87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E0CA37-49F5-4D1D-8A02-58B8F33E3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NUMPY FOUNDATIONS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0B2D9F-60DB-4A28-8C6B-C3EED544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Missing values need an explicit policy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5512A7-D095-4303-A705-2171AFE33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numerical array may contain NaN. The analyst must decide whether to exclude, replace, or investigate 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B8C20B-41F7-4FBB-B919-895409EF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CF8645-27C1-4491-B2B1-9BB2DCAD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D51FA8-A1A3-46B7-9963-834FD5078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3D7E5C-023C-4CF7-83F1-DD0CACC2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85775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16120B-0376-4E5D-9F28-1D8925C5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47675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x = np.array([10.0, 12.0, np.nan, 15.0])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print(np.mean(x))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print(np.nanmean(x))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print(np.isnan(x))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C1B97C-1AAE-4A30-9023-25669B37A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288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4F01B0-AC4D-4D5D-98D7-D77BE795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47625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CDFE6A-B8BB-4FDC-B95D-50EEC0316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43815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nan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12.3333333333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[False False  True False]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C3FEB4-87A6-4650-A0B3-A2CD4B19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38750"/>
            <a:ext cx="101346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36461D-A190-48E6-BE1E-1BD2FFBD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38750"/>
            <a:ext cx="571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DBBFBB-C08B-44CF-A203-D5330694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34000"/>
            <a:ext cx="9715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COURSE RULE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9681E7-7B04-4AA9-8245-7F0A90B5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9715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Do not hide missingness with a convenient function. Report the count, explain the economic meaning, and document the choice before modelling.</a:t>
            </a:r>
          </a:p>
        </p:txBody>
      </p:sp>
    </p:spTree>
    <p:extLst>
      <p:ext uri="{BB962C8B-B14F-4D97-AF65-F5344CB8AC3E}">
        <p14:creationId xmlns:p14="http://schemas.microsoft.com/office/powerpoint/2010/main" val="176975122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3F00A0-C63F-43A6-894B-DA835214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5E0B9E-3144-48C9-AAD0-C9F281DA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EB5CE0-38CD-49F2-B13E-B4E7862B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Pandas as a financial table layer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8C5921-541A-4A73-BEDC-CC5C80EE8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DataFrames preserve labels, variable names, and the relationships between columns.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80ADB7-D1A8-4645-96A0-F9E76059E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D76880-4CD6-4E99-859A-A5A2A118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D4C026-3E75-4EC9-80BE-FFA9CC07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15350E-9646-4ACB-BF9B-5DA7EE2C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8429545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98243F-1898-4ECC-9A2F-5B9417B41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66A0E9-DC3C-46B7-B32D-128CAF80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PANDAS FOUNDATIONS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B1F085-5DC8-4696-AACE-B94B0A45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DataFrame has an observation unit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989CC7-BAF1-44A6-81D9-035EC4211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most important question is not “Which command should I use?” It is “What does one row represent?”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08C594-F810-4E38-9120-3EBF26BBF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227891-00B1-45A1-A403-2153CEA4C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E0F6E3-AFA7-4266-9669-09CEF1AFE077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2381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619250"/>
                <a:gridCol w="5619750"/>
                <a:gridCol w="3333750"/>
              </a:tblGrid>
              <a:tr h="47625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Object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 in the credit table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Row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One borrower record in the supplied sample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ID = 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One measured attribute or target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LIMIT_BAL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Index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 label for locating rows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0, 1, 2, …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Target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outcome to be understood later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default payment next month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EBFFF9-9089-491E-AABD-C4D2A635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105727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30EC4A-BFE0-4EE1-A0C3-C1BE069E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E2458F-F4A1-431D-98DE-B33DE6393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24450"/>
            <a:ext cx="10153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38E5F3-48BE-4B35-921E-0227B45D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29250"/>
            <a:ext cx="10153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If a row represents a borrower-month, a random split may be inappropriate. If a row represents one borrower, repeated rows may create dependence. Data structure affects later validation.</a:t>
            </a:r>
          </a:p>
        </p:txBody>
      </p:sp>
    </p:spTree>
    <p:extLst>
      <p:ext uri="{BB962C8B-B14F-4D97-AF65-F5344CB8AC3E}">
        <p14:creationId xmlns:p14="http://schemas.microsoft.com/office/powerpoint/2010/main" val="80433834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7C45B2-26D8-4387-B3E8-20A6F19B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2E034B-C74E-4022-B4A2-54E00333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PANDAS FOUNDATIONS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3238E7-24F6-41DC-AC21-ABF18CE8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Loading the public credit-risk table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2EC7A6-87D8-41D2-A5D6-1A3EC639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notebook uses the included CSV so students can reproduce the lecture without a private source.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F1514D-DC35-45C4-9643-239F7A6C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C458EC-E8DD-42AA-BFFB-9E38CA0A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BB8E92-A5D9-4D80-9E90-AD2ADE7B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90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BB786F-893B-4927-BD58-2C3790104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905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5E764C-E528-43B7-A840-49D6E7A3C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55245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DATA_URL = 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"https://raw.githubusercontent.com/fkottas/"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"Teaching-Courses/main/Machine%20Learning%20in%20Finance/"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"2026-2027/lectures/lecture-00-01/data/credit/"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"default_of_credit_card_clients.csv"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 = pd.read_csv(DATA_URL)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 = credit.rename(columns={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"default payment next month": "default_next_month"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})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F92519-38DB-4DD4-83D4-64DCB310A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28800"/>
            <a:ext cx="3714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DDAE8B-F3D1-4D1B-B0A6-32D46848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714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452BE1-9DF7-4739-86C3-6E95E033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66950"/>
            <a:ext cx="33337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Rows: 30,000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Columns: 25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Target: default_next_month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Source: UCI dataset 350</a:t>
            </a:r>
          </a:p>
        </p:txBody>
      </p:sp>
    </p:spTree>
    <p:extLst>
      <p:ext uri="{BB962C8B-B14F-4D97-AF65-F5344CB8AC3E}">
        <p14:creationId xmlns:p14="http://schemas.microsoft.com/office/powerpoint/2010/main" val="62353694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65CC91-6D38-4181-AFEA-7DDBACC4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6B4EED-0F23-4EBA-9E25-DA1B2B727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PANDAS FOUNDATIONS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FE7C72-5929-4115-BB18-E837EC84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first audit is small and deliberate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AEEA33-D474-4B7D-80B5-FB0FC5787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Run the same four checks before interpreting any column.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C1DEFA-BC2A-49C6-BFBE-A8FA36198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92EB16-7222-4571-9E88-8650B508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9AA2F3-4D29-4DF3-AE49-5A1369C2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D97BC2-0EC8-4CD5-85DB-E24FF96F7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953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C64E48-96D6-4788-BA51-2B77F645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572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credit.shape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credit.head(3)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credit.dtypes.value_counts()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credit.index.is_unique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ADB0EA-501C-43B0-84BD-2DDE04AD3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466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856967-B6AF-40D8-9D60-A754F202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4667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1200C5-FCBC-4806-B22D-1B2C9404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66950"/>
            <a:ext cx="42862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(30000, 25)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25 int64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True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6F4D09-A1E6-4D20-A161-824B36651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1346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5F2DC-DC46-4E2E-BE9C-5F580D1E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FCA59E-0FF8-4CD9-A1CD-96A26A8EB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76875"/>
            <a:ext cx="9715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7D44A7-474A-4C04-BB01-91CD2135D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76900"/>
            <a:ext cx="9715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table has 30,000 rows and 25 integer columns. Integer storage does not mean every variable is numeric in meaning: SEX, EDUCATION, and MARRIAGE are coded categories.</a:t>
            </a:r>
          </a:p>
        </p:txBody>
      </p:sp>
    </p:spTree>
    <p:extLst>
      <p:ext uri="{BB962C8B-B14F-4D97-AF65-F5344CB8AC3E}">
        <p14:creationId xmlns:p14="http://schemas.microsoft.com/office/powerpoint/2010/main" val="176233028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C55289-9647-4F5D-A624-E786BB5EA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4C497A-9CD6-4E07-AC4B-6AC85BAB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DATASET DICTIONARY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3E7C99-BA16-489A-9CD4-E714BFB2C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What each credit variable means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234C53-EF86-4684-9B02-D2BF1A39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same code can be correct or misleading depending on the variable definition.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48C828-1D19-4CBF-A238-23D0CE35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3D6B7D-994E-40EF-A46D-16FD3F3F6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B17DB0-12C0-425A-8B86-4FA978207745}"/>
              </a:ext>
            </a:extLst>
          </p:cNvPr>
          <p:cNvGraphicFramePr/>
          <p:nvPr/>
        </p:nvGraphicFramePr>
        <p:xfrm>
          <a:off xmlns:a="http://schemas.openxmlformats.org/drawingml/2006/main" x="666750" y="1952625"/>
          <a:ext xmlns:a="http://schemas.openxmlformats.org/drawingml/2006/main" cx="10858500" cy="3619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714500"/>
                <a:gridCol w="2476500"/>
                <a:gridCol w="6667500"/>
              </a:tblGrid>
              <a:tr h="452438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Variable family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 and unit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Identifier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Client identifier; retained for traceability, excluded from features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Credit limit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LIMIT_BAL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Given credit in New Taiwan dollars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Demographics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SEX, EDUCATION, MARRIAGE, AGE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Source-coded categories and age in years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Repayment status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PAY_0 … PAY_6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Coded repayment status across six months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Bills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BILL_AMT1 … BILL_AMT6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Monthly bill statement amounts in New Taiwan dollars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Payments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PAY_AMT1 … PAY_AMT6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Previous payment amounts in New Taiwan dollars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Target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default_next_month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 = default next month, 0 = no default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789388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C5D60D-5F69-432A-A5AA-43740BD8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116E9B-460F-4CD9-9196-329F9A9E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DATASET AUDIT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66FE77-BB69-45E9-B60E-B0940EACD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1–2–3–4 audit for a new table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263A85-154E-450B-9392-6F2EC428A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Use the sequence every time a new dataset enters the workflow.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FD9102-23D9-47A4-A845-82F409968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B97C86-48D7-474E-A779-BE85488F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F445BB-4F40-4AE1-8736-2F9588CB5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2381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329C5E-A464-418B-859F-3C0EAAF7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FDFE73-E571-41D7-BF70-9F72D837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66950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1 · IDENTITY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4E2B1E-F4F3-415A-9A21-596A6F8C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19621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What does one row represent? What is the target? Which column is an identifier?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Example: one row is one borrower record.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4CE58C-3C95-4CFE-B05A-EF7563A9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95500"/>
            <a:ext cx="2381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F939F1-44FA-49AA-B956-5F4C8062A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24CE68-3DC2-4F7C-A504-F900A743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66950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2 · STRUCTURE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F18A28-2B36-42C8-9A7C-C2594C09B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571750"/>
            <a:ext cx="19621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How many rows and columns exist? Are names unique? What are the data types?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Example: 30,000 rows, 25 integer-coded columns.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BF1638-C312-489C-B38B-31FF111A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95500"/>
            <a:ext cx="2381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563E5-5EBA-4013-9199-696FE949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BB1CC6-C3EC-4AD0-AB2F-A6953FA61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66950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3 · QUALITY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E01B4B-970C-49F5-85B5-7FB53D09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71750"/>
            <a:ext cx="19621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Which values are missing, impossible, duplicated, or special codes?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Example: PAY_0 includes negative and positive source codes.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48DEF7-6EEA-4A73-8621-31A9213A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95500"/>
            <a:ext cx="2381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8EAE8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235129-036D-4788-BBFA-37272C45C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7B6D"/>
          </a:solidFill>
          <a:ln xmlns:a="http://schemas.openxmlformats.org/drawingml/2006/main" w="9525">
            <a:solidFill>
              <a:srgbClr val="D77B6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8C9C2B-911D-4DD2-8EBA-CF99B2D7B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66950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D77B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D77B6D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D77B6D"/>
                </a:solidFill>
                <a:latin typeface="Arial"/>
                <a:ea typeface="Arial"/>
                <a:cs typeface="Arial"/>
              </a:rPr>
              <a:t>4 · MEANING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1E9244-5044-402C-ADA4-BB50D388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71750"/>
            <a:ext cx="19621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Which summaries and plots answer the financial question?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Example: compare default rates across credit-limit bands.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9CFDED-46EF-4F13-B68C-B60973F9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0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sequence connects the table to a financial decision. Skipping step 1 makes every later interpretation harder to defend.</a:t>
            </a:r>
          </a:p>
        </p:txBody>
      </p:sp>
    </p:spTree>
    <p:extLst>
      <p:ext uri="{BB962C8B-B14F-4D97-AF65-F5344CB8AC3E}">
        <p14:creationId xmlns:p14="http://schemas.microsoft.com/office/powerpoint/2010/main" val="100135172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FF05D3-C018-4003-9D46-4AB633424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C15A01-BE64-4496-A232-7C55FB0B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DATASET AUDIT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D4C42-83E1-4E0F-83B1-D7532FB81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Missingness is a table, not a single number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5EE85C-0B0E-4B22-B6D3-C7A39355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overall count can hide a variable-specific problem.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473984-30E7-4EB8-BF89-ABC49005B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B59F10-7A61-4FF7-A710-926A5B4B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CA96DA-ED30-40D8-85C7-DC2C42F9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8AD015-744A-42C6-9AD2-C6EBEDE9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8577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406786-637E-4CBF-BD09-EDF38CD43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476750" cy="2609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missing = 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credit.isna()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.sum()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.sort_values(ascending=False)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missing_rate = (missing / len(credit)).round(4)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missing_table = pd.DataFrame({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"missing": missing,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"rate": missing_rate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})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missing_table.head()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20AB3A-C18B-455D-B94C-AF0D7C09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288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16537C-4F72-46D0-8822-0352CA523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47625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B24AC9-7B42-4DC6-8F7A-82C616CB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4381500" cy="2609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All 25 columns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missing = 0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rate = 0.0000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No blank cells are reported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in the supplied CSV.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8031EE-BF19-408E-BBEB-70A021A2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29250"/>
            <a:ext cx="101346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4705B0-82D0-4578-900C-9FD870D6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2925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16E96F-3B1D-461C-8101-757858944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24500"/>
            <a:ext cx="9715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IMPORTANT DISTINCTION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373988-123A-4705-BD8C-C3C3433A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24525"/>
            <a:ext cx="9715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No missing cells does not guarantee that every code is valid. A special value can be present and still require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76354424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606AF9-7E13-45D0-819B-F4B76505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1281C4-51DC-479B-9780-15BF92FB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DATASET AUDIT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980206-7A74-446B-9745-57FB94A2D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Target balance determines the first descriptive question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119B6D-B68C-461D-AEAF-A567D677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Before using accuracy or any classifier, understand how common the outcome is.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79B6B6-1232-4B60-8669-0539E6A8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FD61D2-6379-46C3-AB64-BECC96AC3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A87CA35D-8A5A-4655-BA00-DFF866EC1D27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55245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72cb510c82c406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0269B4-7B5E-4E73-8AB7-554CD228E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90750"/>
            <a:ext cx="40005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6AA0D-19C4-442F-A57B-F4D58F0B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9075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43BEDF-8FAF-41CA-8E8B-6BF9C708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362200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OBSERVED COUNTS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2E16D6-FDA1-4BE4-A22A-0ABE59BEE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67000"/>
            <a:ext cx="3581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No default: 23,364</a:t>
            </a:r>
          </a:p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Default: 6,636</a:t>
            </a:r>
          </a:p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Default rate: 22.12%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4FBE0E-9D2A-4D70-91C3-54CDBCF8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67125"/>
            <a:ext cx="4000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921ADE-19F4-41B9-AFDF-3BB9345B2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67125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16C449-8EF1-4DD9-B676-AD37E86F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38575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BF5339-0F9E-4AD6-8674-D2921C45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143375"/>
            <a:ext cx="3581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model that always predicts “no default” would look accurate because the majority class is large. Later lectures introduce metrics that examine both classes.</a:t>
            </a:r>
          </a:p>
        </p:txBody>
      </p:sp>
    </p:spTree>
    <p:extLst>
      <p:ext uri="{BB962C8B-B14F-4D97-AF65-F5344CB8AC3E}">
        <p14:creationId xmlns:p14="http://schemas.microsoft.com/office/powerpoint/2010/main" val="129284190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513DF4-33BB-4031-A8A4-B63C4C9E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BD4412-8C77-41DF-8369-48A555BD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DESCRIPTIVE STATISTICS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0F5F64-16D0-4841-AF4E-83D9FB62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descriptive-statistics toolkit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B0858E-F762-4AAE-AB9D-F9F6070AF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Use the function that matches the question and state whether the result is a count, level, or spread.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DC2CB4-2066-405A-BC0D-5097ED21D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7DAF85-8350-4723-B76B-0A36A88F3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B13B60-1D44-4A6A-8CC0-7A01AD3110F5}"/>
              </a:ext>
            </a:extLst>
          </p:cNvPr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11049000" cy="4048125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095500"/>
                <a:gridCol w="4953000"/>
                <a:gridCol w="4000500"/>
              </a:tblGrid>
              <a:tr h="404813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Function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 answered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Typical use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count / size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How many observations are available?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Group size and denominator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mean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What is the arithmetic average?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Average credit limit or payment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median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What is the middle observation?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Robust centre for skewed amounts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std / var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How much do values vary?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Dispersion around the centre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min / max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What are the extremes?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Range and possible data errors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quantile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Where are the 25th, 50th, and 75th percentiles?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Distribution shape and bands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describe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Can the standard summary be produced together?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First numerical audit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value_counts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How common is each category or code?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Target and coded variables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corr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How do numeric columns move together in the sample?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Association screening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106680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5EE278-4929-4A12-BE32-A3CB6760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03E1CB-1AC2-4A51-B0C0-25993E1A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DESCRIPTIVE STATISTICS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F2D1A1-E5E4-4C13-97B3-653051D50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standard summary should be read, not copied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96D9F3-8733-43CC-9271-BBB80C568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default summary is a starting point. It does not replace variable definitions or plots.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73083B-A9A3-4ACD-AC08-897A9A1A8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E4F138-5420-4471-B04B-6ED191564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21795B-48AA-435A-A978-E4444C58D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9FD3BA-DD0A-48A2-9AB0-1B8A7B8F1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953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6FEACD-DBD0-4D70-90CB-112FDFC8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572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numeric = [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"LIMIT_BAL", "AGE",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"BILL_AMT1", "PAY_AMT1"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]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summary = credit[numeric].describe().T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summary["iqr"] = 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summary["75%"] - summary["25%"]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summary.round(2)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A1DD59-E828-43BA-8785-7673F4AC8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466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284D1E-8C2E-4B42-93EF-FF0203A9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4667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B214FF-DE27-4086-B959-06D8C463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66950"/>
            <a:ext cx="42862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LIMIT_BAL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mean       167484.32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median     140000.00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IQR        190000.00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AGE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mean           35.49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median         34.00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IQR            13.00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4C3E26-4E2E-4A0D-8FB9-9DB1E0D0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1346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577DDA-0B74-4C61-8584-02003866F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85A466-28C9-458F-9C0E-E95721E10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76875"/>
            <a:ext cx="9715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2FFCC5-5341-48C1-B356-01E13411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76900"/>
            <a:ext cx="9715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limit and payment variables are strongly right-skewed, so the median and interquartile range are essential alongside the mean and standard deviation.</a:t>
            </a:r>
          </a:p>
        </p:txBody>
      </p:sp>
    </p:spTree>
    <p:extLst>
      <p:ext uri="{BB962C8B-B14F-4D97-AF65-F5344CB8AC3E}">
        <p14:creationId xmlns:p14="http://schemas.microsoft.com/office/powerpoint/2010/main" val="92610150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2AAF3A-5D88-4219-8D85-FB117F2B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B85BBB-1EAD-4DD5-95DC-43EC4E75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PANDAS OPERATIONS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CF8EF0-856F-4B1F-A931-65439E21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Filtering should express a financial condition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717865-EBDC-4769-A334-B054E225D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Boolean mask converts a verbal question into a reproducible subset.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1185CE-CDA2-4AA0-AD1C-7872418EF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E92D68-3603-4DDE-BB66-83479B32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C8925F-E1D3-4A7E-B806-8AEC20759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1CE2B8-B34B-41B1-9957-7CF9F284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953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434CEF-D4CC-48C6-A04F-A1938076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572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high_limit = credit.loc[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credit["LIMIT_BAL"] &gt;= 300000,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["ID", "LIMIT_BAL", "AGE", "default_next_month"]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print(high_limit.shape)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print(high_limit["default_next_month"].mean())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57B86D-BD16-4C68-949F-15118BF5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466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42BEB1-4CE3-42B4-9DC9-BCC787F8E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4667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DD5604-B4DE-40E1-890B-A0C69B46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66950"/>
            <a:ext cx="42862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Rows: 6,548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Default rate: 0.1326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DE7CBC-1B0C-4323-A445-F6474FE8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1346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5C4C01-BCD0-4877-B12B-B0043801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7F59C1-F252-4EF1-B307-2E67F443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76875"/>
            <a:ext cx="9715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CE4A81-3CBF-4D9B-A53C-009116E6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76900"/>
            <a:ext cx="9715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result describes the supplied sample. It does not imply that increasing a credit limit causes the observed default rate.</a:t>
            </a:r>
          </a:p>
        </p:txBody>
      </p:sp>
    </p:spTree>
    <p:extLst>
      <p:ext uri="{BB962C8B-B14F-4D97-AF65-F5344CB8AC3E}">
        <p14:creationId xmlns:p14="http://schemas.microsoft.com/office/powerpoint/2010/main" val="193958898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53A139-9797-4391-8EDE-C9F2866D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E8FE84-AFE3-41FC-85C3-96A56C31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PANDAS OPERATIONS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941839-C92B-4B3C-9828-8EFC4710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Groupby turns a column into a comparison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4D2D39-01B7-4C3C-AFCA-1B47B977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Grouping is useful only when the group definition has a defensible financial meaning.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A628AC-F855-4C67-9FF1-0D9ED419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0B059C-C70A-4A19-A8F0-F526BB75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DDC714-CDDF-48E6-A1D6-D18F1B02F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7CDDA7-627A-492A-9282-DE60E213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143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9EB7A5-A6A9-4000-88DD-468DECEC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7625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credit["limit_band"] = pd.cut(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credit["LIMIT_BAL"],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bins=[-np.inf, 100000, 300000, np.inf],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labels=["low", "medium", "high"]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by_band = credit.groupby(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"limit_band", observed=False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).agg(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borrowers=("ID", "size"),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default_rate=("default_next_month", "mean"),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median_age=("AGE", "median")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A439BB-42CB-4041-BB62-98262FCB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A12CB6-20DF-4347-93FE-CE31D2E9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95500"/>
            <a:ext cx="4476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83D999-6F80-42B8-8AA2-646CC8405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66950"/>
            <a:ext cx="4095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low       12,498   0.2948   32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medium    12,939   0.1814   34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high       4,563   0.1326   36</a:t>
            </a:r>
          </a:p>
        </p:txBody>
      </p:sp>
    </p:spTree>
    <p:extLst>
      <p:ext uri="{BB962C8B-B14F-4D97-AF65-F5344CB8AC3E}">
        <p14:creationId xmlns:p14="http://schemas.microsoft.com/office/powerpoint/2010/main" val="208487460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6A9CBC-3DEB-49B4-9005-46B347197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197FA4-CBEB-4A35-B6DD-4F29143D6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PANDAS OPERATIONS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40291F-D637-47B2-AAE8-8519689E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pivot table changes the question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3545A1-4E8A-4A44-A8C3-03153C90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pivot table makes a two-way comparison explicit.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9565D4-8B74-4C14-927D-E13EF6C9D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E5D454-8CE5-43F3-826C-F107623E4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4D7F0E-5E7F-49C4-8D03-778E6B2E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F2B94A-C229-470A-BAF0-81F231D9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1435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168790-6357-44E2-8875-D264655EE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762500" cy="2609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credit["age_band"] = pd.cut(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credit["AGE"],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bins=[20, 30, 40, 50, 80],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labels=["21–30", "31–40", "41–50", "51–79"]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pivot = pd.pivot_table(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credit,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index="age_band",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columns="limit_band",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values="default_next_month",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aggfunc="mean"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pivot.round(3)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1FA89A-0FBC-4510-ADB7-A384CF0F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88F61F-F3CF-45F7-8693-F4E9FF9F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95500"/>
            <a:ext cx="44767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F3C75B-50EF-4952-840D-6409D378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66950"/>
            <a:ext cx="4095750" cy="2609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                low  medium  high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21–30         0.340   0.213  0.170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31–40         0.292   0.179  0.127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41–50         0.276   0.164  0.116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51–79         0.259   0.156  0.104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0B48EF-D31E-4531-8633-D7A8ED3C7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29250"/>
            <a:ext cx="101346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241268-C349-4DFA-B4ED-B1640EEC0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2925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79ACF2-B775-4144-9FCD-7C5776449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24500"/>
            <a:ext cx="9715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READING THE TABLE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480792-560E-40DF-9D88-10E1C521C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24525"/>
            <a:ext cx="9715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comparison combines two sample dimensions. Small cells and unequal group sizes must be checked before making a conclusion.</a:t>
            </a:r>
          </a:p>
        </p:txBody>
      </p:sp>
    </p:spTree>
    <p:extLst>
      <p:ext uri="{BB962C8B-B14F-4D97-AF65-F5344CB8AC3E}">
        <p14:creationId xmlns:p14="http://schemas.microsoft.com/office/powerpoint/2010/main" val="79280697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EAEDFC-4BAA-4919-BADB-571A815F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87E58E-F8B5-4565-AE22-0892BF1E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PANDAS OPERATIONS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29B937-95F5-4436-B57C-7816F391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join adds meaning without changing the observation unit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6A7E95-2DCB-4EF5-88AD-7F86C42F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Lookup tables are useful for turning source codes into readable labels.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D101CB-A22B-4BD0-AFD0-3D5E6323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EF7B9C-EFCA-4A74-9F6F-8124214E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91B582-9A34-4BBE-B371-9313A1C9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A77FDE-9DB0-49CD-A386-FADB3622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953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7FAAFA-5420-491C-B62B-793AB24B4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572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education_lookup = pd.DataFrame({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"EDUCATION": [1, 2, 3, 4],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"education_label": [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    "graduate school", "university",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    "high school", "others"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]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})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credit_labelled = credit.merge(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education_lookup, on="EDUCATION", how="left"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427924-5B30-49BF-AB94-4415463E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466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FACFFF-9D3D-4350-8227-F24A5440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4667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8B219A-F1ED-41E4-B99D-35DCE7AB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66950"/>
            <a:ext cx="42862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EDUCATION  education_label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1          graduate school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2          university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3          high school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4          others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E373E2-4F65-4E88-8CF7-20169BB0A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1346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71B89-52B1-4641-B489-2AA016DE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83DB10-E24F-4D3F-8D87-E392F5D1B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76875"/>
            <a:ext cx="9715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QUALITY CHECK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D6F053-734F-4A69-A236-150690B5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76900"/>
            <a:ext cx="9715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After every join, compare row counts and check whether the key is unique. An accidental many-to-many join can silently duplicate borrowers.</a:t>
            </a:r>
          </a:p>
        </p:txBody>
      </p:sp>
    </p:spTree>
    <p:extLst>
      <p:ext uri="{BB962C8B-B14F-4D97-AF65-F5344CB8AC3E}">
        <p14:creationId xmlns:p14="http://schemas.microsoft.com/office/powerpoint/2010/main" val="80173157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063A60-54E9-4589-B5CE-94009EC8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768C29-714E-47C6-8942-F079D044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FEATURE CONSTRUCTION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9CE2FD-5F77-467E-A436-47D7CCAD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derived column should have a financial interpretation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728BC2-632F-417B-A963-8E4E7F8E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Transformations are useful when the raw columns are not the most informative representation.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79B3D3-F0D9-406D-BC51-2FFC37773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954F6-C069-4CF3-92D5-187D048E3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9EBA45-A537-4501-B440-DA2A905D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D54E9B-BAA9-4E31-AB7E-9E2C8E005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1435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2DECFF-73E4-47BB-9950-1170D445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7625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 = credit.assign(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total_bill=(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    credit[[f"BILL_AMT{i}" for i in range(1, 7)]]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    .sum(axis=1)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),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total_payment=(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    credit[[f"PAY_AMT{i}" for i in range(1, 7)]]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    .sum(axis=1)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credit["payment_to_limit"] = 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credit["total_payment"] / credit["LIMIT_BAL"]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DB6C86-3915-4C9E-8695-D3594DADA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CEAF3F-7BAD-4D5F-9931-7B55D54E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95500"/>
            <a:ext cx="44767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EFAF84-63E7-4B7C-9AD1-AE256AEAA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66950"/>
            <a:ext cx="409575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New columns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total_bill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total_payment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payment_to_limit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These columns must be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checked for zero limits,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units, and time direction.</a:t>
            </a:r>
          </a:p>
        </p:txBody>
      </p:sp>
    </p:spTree>
    <p:extLst>
      <p:ext uri="{BB962C8B-B14F-4D97-AF65-F5344CB8AC3E}">
        <p14:creationId xmlns:p14="http://schemas.microsoft.com/office/powerpoint/2010/main" val="137345347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3ABB83-E925-46AB-A50A-B4400B70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D7E266-3FC5-46C6-A13E-A26E04D3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FINANCIAL EDA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2C36EA-82D3-40C3-A6D0-376F94A17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Repayment codes are categorical information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D4442F-B06E-456F-B880-CBAEF5E36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integer storage of PAY_0 does not make it a continuous measurement automatically.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4890AE-AA95-49EA-8AF3-900017DB3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38ED11-4285-4B68-B6D3-B94AB272B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B630959B-A379-475A-9246-A4A1943CD759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619125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b142f432f224ad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1E7C7-8228-427E-B631-D93D38A0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90750"/>
            <a:ext cx="34290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F9E79E-6DD5-40FF-870C-E4F35A22E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90750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13938-6D4B-4D5F-8FCF-2946D594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362200"/>
            <a:ext cx="3009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SOURCE MEANING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0405BC-6F67-430A-BF62-58C8B9AE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67000"/>
            <a:ext cx="3009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UCI documentation uses coded repayment-status categories. The course keeps the source values visible before any recoding.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D60734-6EEB-41EC-AAF4-93D144406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429000" cy="1285875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7DB411-A006-46D5-8CCD-9C59608CD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571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F07341-7C2E-4D9E-8BBE-81A9073F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981450"/>
            <a:ext cx="3009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STUDENT QUESTION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706C20-1F11-4572-B00B-DC7C6C0E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86250"/>
            <a:ext cx="30099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Which codes mean paid duly, and which represent a delay? What should be done with values that are special or ambiguous?</a:t>
            </a:r>
          </a:p>
        </p:txBody>
      </p:sp>
    </p:spTree>
    <p:extLst>
      <p:ext uri="{BB962C8B-B14F-4D97-AF65-F5344CB8AC3E}">
        <p14:creationId xmlns:p14="http://schemas.microsoft.com/office/powerpoint/2010/main" val="86971868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A741E9-3B09-4494-A7AE-2311CBA5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D56B20-0EE3-4E66-B823-0EA5B9650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8A612A-B044-422C-82AB-FB10EBBF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Exploratory data analysis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8EACC3-C000-4B4C-A048-CAD71AD1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EDA makes the structure, imbalance, distributions, and relationships visible before modelling.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67996A-0C08-4108-B324-2E11152B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63C2B-F5C4-4FE0-BD83-AA02AF68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E946B7-86E4-4FA5-98CA-ED4C3193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48E1C-D5DB-41D5-A88B-2949E58DF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6905085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985B5D-B20F-42EB-9968-BAE3D857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B12014-BBC0-40F4-BA1D-B9AB96B3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66C8E9-C201-46FA-BA7B-0FD833C0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EDA has four jobs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426D76-6754-4D1B-BA94-06231089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good EDA section is organised around decisions, not a gallery of plots.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FE3FD0-6CF2-40D0-A8E4-A2F6901D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B4FB09-455B-421C-A210-0A86E9D4F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6C5E98-CE2D-45CC-8B6D-B0508540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2381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DB7B09-AF0A-488A-8306-4FD5853C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9BA482-C45E-4EC9-9143-27C9B6AA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66950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1 · STRUCTURE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5EB606-5CBE-4B44-9EE7-2DE09272A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19621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Confirm the observation unit, target, row count, column names, and types.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86BD46-8099-4F8B-A331-98ADAA426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95500"/>
            <a:ext cx="2381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2491CB-768C-41B5-B20A-88A16521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FBDFA-DA61-4B60-A47C-60C4986E8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66950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2 · QUALITY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BBEB9C-C1D9-40E4-8127-E84DA90BE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571750"/>
            <a:ext cx="19621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Find missing values, duplicated keys, special codes, implausible ranges, and skewed variables.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5023CD-D283-48EE-A2D3-D35DBDC9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95500"/>
            <a:ext cx="2381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61B193-943A-4506-B74E-7C9E89BC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3C185E-79C4-49F8-843B-11625D10A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66950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3 · ASSOCIATION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E1F8CE-E561-429D-BEA1-2633712A2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71750"/>
            <a:ext cx="19621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Compare groups and examine relationships that may guide feature construction.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ED898D-73D5-4282-B665-9FD5324CE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95500"/>
            <a:ext cx="2381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8EAE8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E395C2-0C51-495B-8033-7CB9708C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9550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7B6D"/>
          </a:solidFill>
          <a:ln xmlns:a="http://schemas.openxmlformats.org/drawingml/2006/main" w="9525">
            <a:solidFill>
              <a:srgbClr val="D77B6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A926C4-5734-4130-AC96-DA4BEEF19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66950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D77B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D77B6D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D77B6D"/>
                </a:solidFill>
                <a:latin typeface="Arial"/>
                <a:ea typeface="Arial"/>
                <a:cs typeface="Arial"/>
              </a:rPr>
              <a:t>4 · COMMUNICATION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66C0D5-D4D3-4C98-B428-BAD2178EB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71750"/>
            <a:ext cx="19621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Use labels, units, denominators, and written interpretation so another analyst can review the result.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B5E20E-7721-44D7-B767-C6F37F433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EDA does not prove causality. It creates a defensible map of the data before supervised learning begins.</a:t>
            </a:r>
          </a:p>
        </p:txBody>
      </p:sp>
    </p:spTree>
    <p:extLst>
      <p:ext uri="{BB962C8B-B14F-4D97-AF65-F5344CB8AC3E}">
        <p14:creationId xmlns:p14="http://schemas.microsoft.com/office/powerpoint/2010/main" val="147794328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5FB91C-94AC-4EAF-AE36-E42154345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45A9C6-3025-4A69-B7DE-D1BEDC88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C9854C-FB99-4DB5-A05F-DE527098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Distribution shape changes the summary you should trust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161440-2E72-4514-AFE7-A5C1BC91F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Credit limits, bills, and payments contain large values and long right tails.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A2B608-E08B-4C9B-80DE-A14FD4569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A2F4F7-751B-4652-93B6-DEBDF8CC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419C7A58-01DE-4FA3-9E75-2B063DAD51D8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4572000" cy="3143250"/>
        </p:xfrm>
        <a:graphic xmlns:a="http://schemas.openxmlformats.org/drawingml/2006/main">
          <a:graphicData uri="http://schemas.microsoft.com/office/drawing/2014/chartex">
            <cx:chart xmlns:r="http://schemas.openxmlformats.org/officeDocument/2006/relationships" xmlns:cx="http://schemas.microsoft.com/office/drawing/2014/chartex" r:id="R53b285cb8a2e4d79"/>
          </a:graphicData>
        </a:graphic>
      </p:graphicFrame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CEA40AE0-9F98-47D8-B19E-AD150D471757}"/>
              </a:ext>
            </a:extLst>
          </p:cNvPr>
          <p:cNvGraphicFramePr/>
          <p:nvPr/>
        </p:nvGraphicFramePr>
        <p:xfrm>
          <a:off xmlns:a="http://schemas.openxmlformats.org/drawingml/2006/main" x="5905500" y="2095500"/>
          <a:ext xmlns:a="http://schemas.openxmlformats.org/drawingml/2006/main" cx="4572000" cy="3143250"/>
        </p:xfrm>
        <a:graphic xmlns:a="http://schemas.openxmlformats.org/drawingml/2006/main">
          <a:graphicData uri="http://schemas.microsoft.com/office/drawing/2014/chartex">
            <cx:chart xmlns:r="http://schemas.openxmlformats.org/officeDocument/2006/relationships" xmlns:cx="http://schemas.microsoft.com/office/drawing/2014/chartex" r:id="R149cff3849b1482b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59E1AE-BFCD-4147-BC39-E066FD9C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29250"/>
            <a:ext cx="96583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2763E3-A744-4F31-B619-7A1D64A38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2925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72C586-106A-4469-B151-182723AF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24500"/>
            <a:ext cx="9239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READING THE PLOTS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F1223B-662C-414C-8A53-A72D0C5A1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24525"/>
            <a:ext cx="9239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histogram is a diagnostic. It does not explain why the distribution has that shape and does not justify removing observations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91410713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90CDD5-9AD2-4698-B7F2-4C5EA211B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6C95C6-5F58-4F04-936F-50A8FD49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465EEA-998C-445A-927E-27050195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Boxplots make group differences easier to compare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B7B2D1-B798-4DD7-9DA0-512B3516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boxplot highlights the centre, spread, and extreme observations in each group.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961CE2-6E58-47BA-A173-86DB21DEF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07C5C1-BD9B-456F-ADCF-516E77615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2EE1C0B7-9DD5-41C1-9E23-04D94B3BA50D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59055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b8914e592374ea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5C7A6D-6786-43CD-A716-7FCE850C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90750"/>
            <a:ext cx="3714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04AB5F-9833-4C31-95E2-6BE79478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90750"/>
            <a:ext cx="571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0DC837-A28F-4632-970F-01589036B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62200"/>
            <a:ext cx="3295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WHAT THE CHART SAYS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AD77A9-2E56-410C-8C13-C30A2460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67000"/>
            <a:ext cx="32956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observed default rate is highest in the low-limit group and lowest in the high-limit group.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E79D30-C738-4335-B322-AFAAC290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62375"/>
            <a:ext cx="37147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F81825-B6EF-4710-B52B-F6C078EC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62375"/>
            <a:ext cx="571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FF6F69-1632-4F43-91C6-0CCCF0B4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933825"/>
            <a:ext cx="3295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WHAT IT DOES NOT SAY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AB6E4C-6AC4-4C54-9480-F4453479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38625"/>
            <a:ext cx="3295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chart does not establish a causal effect of credit limit. Group composition and underwriting decisions may explain part of the difference.</a:t>
            </a:r>
          </a:p>
        </p:txBody>
      </p:sp>
    </p:spTree>
    <p:extLst>
      <p:ext uri="{BB962C8B-B14F-4D97-AF65-F5344CB8AC3E}">
        <p14:creationId xmlns:p14="http://schemas.microsoft.com/office/powerpoint/2010/main" val="194082770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CB47A0-09B5-43AD-AC53-3C3C85F99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16EF46-C041-46D4-9085-F14605365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3675AE-CE33-404F-BBDF-C52065FC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scatter plot can reveal association and concentration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F96EB4-3347-4148-BBB8-8FBD0C5E4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Use a scatter plot when both axes represent numerical quantities and the observation-level relationship matters.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C147B-D414-488B-8702-9A9538A0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17B274-ED04-4773-8448-9128A9E07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1F3E8B5F-3E1A-4DF8-80B9-4DDE8841D481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619125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0f301b98f4e416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A4F29A-2F1F-412A-A9DF-526B72190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90750"/>
            <a:ext cx="3429000" cy="1285875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7302DF-B62A-4860-B094-2DD6CBDBA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90750"/>
            <a:ext cx="571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AAC62E-B721-4081-A8BB-683894106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362200"/>
            <a:ext cx="3009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USEFUL QUESTIONS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8DFCB6-B154-49F5-886B-05A972D4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67000"/>
            <a:ext cx="30099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Do bills rise with available credit? Are negative or extreme bills present? Is the cloud concentrated in a few ranges?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DED159-5407-43C8-992A-F00F8B27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05250"/>
            <a:ext cx="342900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E2AF47-7FE3-4818-9B78-BA4CEA6D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05250"/>
            <a:ext cx="571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6B8350-7C1F-4A0F-9D84-C27C5752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076700"/>
            <a:ext cx="3009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8F890F-F164-4D6A-9E88-27A91D28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381500"/>
            <a:ext cx="30099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simple chart with selected points is illustrative. The Colab notebook plots the full sample and reports the correlation separately.</a:t>
            </a:r>
          </a:p>
        </p:txBody>
      </p:sp>
    </p:spTree>
    <p:extLst>
      <p:ext uri="{BB962C8B-B14F-4D97-AF65-F5344CB8AC3E}">
        <p14:creationId xmlns:p14="http://schemas.microsoft.com/office/powerpoint/2010/main" val="51458911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22017C-E7F6-4F76-A09B-29A19243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A402F6-D510-4B09-ACE1-A0B813F34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379083-7BBA-4B59-9E37-0B2A3368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Correlation is a screening tool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E83F1F-91E0-4D75-AE5A-6D635333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correlation matrix can organise many pairwise comparisons, but it cannot replace economic reasoning.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DFE22C-F3FE-4319-A8C8-4D5A5AEC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E68878-B44F-48BE-9E51-14AA4431F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D22D37-A057-4237-98D7-0E608C633BCB}"/>
              </a:ext>
            </a:extLst>
          </p:cNvPr>
          <p:cNvGraphicFramePr/>
          <p:nvPr/>
        </p:nvGraphicFramePr>
        <p:xfrm>
          <a:off xmlns:a="http://schemas.openxmlformats.org/drawingml/2006/main" x="1238250" y="2190750"/>
          <a:ext xmlns:a="http://schemas.openxmlformats.org/drawingml/2006/main" cx="6667500" cy="2571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714500"/>
                <a:gridCol w="1238250"/>
                <a:gridCol w="1238250"/>
                <a:gridCol w="1333500"/>
                <a:gridCol w="1333500"/>
              </a:tblGrid>
              <a:tr h="51435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B2A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LIMIT_BAL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B2A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B2A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BILL_AMT1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B2A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PAY_AMT1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B2A4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LIMIT_BAL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1.000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0.145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0.286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0.178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0.145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1.000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0.056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0.026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BILL_AMT1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0.286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0.056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1.000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0.140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PAY_AMT1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0.178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0.026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0.140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1.000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0E4EBB-7AEB-4107-A646-8B8DFD3C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26670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A442E4-89AD-4D02-9364-79A28F1F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ED9FB4-3751-40BD-A4E4-D3C7EEA7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62200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EXAMPLE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E1EF5B-2F49-49F0-8197-738C9D5C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67000"/>
            <a:ext cx="2247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LIMIT_BAL and BILL_AMT1 are positively associated in the supplied sample.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7B26B7-741C-498A-8DCE-110C6CB2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14750"/>
            <a:ext cx="266700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9BA8A8-8A54-49BE-94CF-BBEBD490C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14750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77AF59-B51A-42EC-BBFE-D0191885C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886200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LIMITATION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53D70D-01ED-410D-BD2B-5889DFD1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191000"/>
            <a:ext cx="22479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weak correlation can still coexist with a useful nonlinear or conditional relationship. A strong correlation can reflect a shared scale or time pattern.</a:t>
            </a:r>
          </a:p>
        </p:txBody>
      </p:sp>
    </p:spTree>
    <p:extLst>
      <p:ext uri="{BB962C8B-B14F-4D97-AF65-F5344CB8AC3E}">
        <p14:creationId xmlns:p14="http://schemas.microsoft.com/office/powerpoint/2010/main" val="120707899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D66C3D-4C17-4341-A1F8-0FD4134A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0FA4F2-D578-4C92-AA1E-E36F1065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791351-5F3E-4552-BF23-E84663C3E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target relationship should be inspected separately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238FFD-2CD6-4589-A7CB-6F79028FD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full-sample correlation does not answer whether a variable separates default and non-default borrowers.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749DCA-CDD3-4185-8C47-902120CAB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7CE8EA-3355-4BC4-8241-03EE22E90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8EDE39-818C-46FC-81A3-DDF5674D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C616E1-BD26-476E-BCA0-CA9D6ABC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9530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50959D-45C1-4734-9B69-BE6E134E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57200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target_summary = credit.groupby(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"default_next_month"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)[["LIMIT_BAL", "AGE", "BILL_AMT1", "PAY_AMT1"]].agg(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["mean", "median"]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).round(2)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target_summary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3EDB15-61C6-4F18-9809-344E251C3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466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D9554B-C619-45C9-8727-D61BA5EAD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466725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729418-CA58-42C5-80D2-9834C109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66950"/>
            <a:ext cx="428625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default = 0   default = 1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LIMIT_BAL median 150000  90000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AGE       median 34      34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BILL_AMT1 median 21367   26003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PAY_AMT1 median 2459    1636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90DCE5-07BE-426D-BCEE-324AFEDF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38750"/>
            <a:ext cx="101346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B71DC8-01A4-4BCF-B9CB-3E304BE42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38750"/>
            <a:ext cx="57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52E375-A7D3-419D-82D8-E2602B80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34000"/>
            <a:ext cx="9715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A7CF73-DEAB-4404-AD3F-4098960E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34025"/>
            <a:ext cx="9715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Group summaries are a first comparison. Later supervised models combine variables and evaluate performance on observations that were not used to fit the model.</a:t>
            </a:r>
          </a:p>
        </p:txBody>
      </p:sp>
    </p:spTree>
    <p:extLst>
      <p:ext uri="{BB962C8B-B14F-4D97-AF65-F5344CB8AC3E}">
        <p14:creationId xmlns:p14="http://schemas.microsoft.com/office/powerpoint/2010/main" val="67165155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FC71FD-D1D0-435C-B265-86345B58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A34655-DCFB-4751-9E65-FF16B84D5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EDA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F530E3-59B8-417C-B907-916184EA2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reproducible EDA function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FA106A-F105-467B-AECB-502F09C40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function turns the audit into a reusable object for later datasets.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838F29-E58D-41C6-B1A9-4E0914313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D16485-478F-490A-A7F2-4F0EA84BC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51184A-E03D-48A2-B31D-2402C274A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9CE075-B7E9-491C-A1C5-9B9766E89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143500" cy="323850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B2F47B-9B56-4475-AA47-EBC668B4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762500" cy="289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def audit_table(df, target):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return {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    "shape": df.shape,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    "duplicate_rows": int(df.duplicated().sum()),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    "missing_cells": int(df.isna().sum().sum()),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    "target_counts": df[target].value_counts().to_dict(),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    "numeric_columns": int(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        df.select_dtypes("number").shape[1]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    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audit_table(credit, "default_next_month")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BC740-4E2E-4A72-A54B-DFCEAE1B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28800"/>
            <a:ext cx="447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824361-4CB9-43AA-AF9D-4BB7A762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95500"/>
            <a:ext cx="4476750" cy="323850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391350-CCED-4905-844F-530D28EB9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66950"/>
            <a:ext cx="4095750" cy="289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shape: (30000, 25)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duplicate_rows: 0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missing_cells: 0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target_counts: {0: 23364, 1: 6636}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numeric_columns: 25</a:t>
            </a:r>
          </a:p>
        </p:txBody>
      </p:sp>
    </p:spTree>
    <p:extLst>
      <p:ext uri="{BB962C8B-B14F-4D97-AF65-F5344CB8AC3E}">
        <p14:creationId xmlns:p14="http://schemas.microsoft.com/office/powerpoint/2010/main" val="1536315752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7171E7-FA90-496C-B7BE-C9DD72EE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6CC0B6-7E32-4F0E-A7F9-79E9FB02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780750-3CB3-42F8-8DE4-75A411519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Worked notebook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A4BCE9-557C-4F7D-B35C-1D87D5841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The code now combines loading, auditing, grouping, transformation, and visualisation.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086107-B0F1-490C-80E4-9B164181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C09011-00FE-4AA2-AE7A-7DFDEFF3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AE2F25-187C-4A75-8C34-63974361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F7D85F-0718-4124-A47B-12581222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986418066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790230-3364-4D1C-939B-71D76AD8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E43DBD-9377-429B-BBE6-2FB2780DD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B92695-5222-4D7E-8F18-5F6E9AF5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Case study: understand default risk before modelling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887705-D4C8-40AB-BE36-92F91F12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objective is to create an evidence base for the supervised-learning weeks.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4AFEE7-8D70-41AB-8D12-B1F29DF35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D4A566-C87A-4A5D-AB9B-6A1A7124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324C21-38B8-4CBB-B2A3-9D82207A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812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747244-E60C-4B9E-A8D1-9B19B3E8C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9550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Question: how does the supplied borrower table differ across target classes and credit-limit groups?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57C7E6-F999-4FC8-A896-41B39128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76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11A54E-9D16-4270-AED5-F040C71C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9080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Observation unit: one borrower credit-card account record in the UCI sample.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DB3681-964D-4831-B238-7B31B8CA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718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2C6230-1478-4273-932B-E097A51D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8610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Outcome: default payment next month, coded 1 or 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5679C0-66A3-4010-B1CA-1CDCA592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671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38C38E-D351-47A7-8CAB-3A2B90ACA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8140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Inputs for this lecture: raw variables, source codes, group definitions, and descriptive transformations.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33403E-4829-40B4-AB4B-92D61FD8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624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319883-FB35-4269-9D8B-13855D37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7670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Out of scope today: fitting a classifier, choosing a threshold, or claiming causal effects.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43B8C6-3457-4BCB-B434-22E70E60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9906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E0D1D8-A842-4309-AA76-9525FF9F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FE705E-6C3E-4750-8FC6-9DBA61BD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0"/>
            <a:ext cx="94869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EXPECTED OUTPUT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DAFE32-EC53-4ACD-A17A-BFA50EF7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48275"/>
            <a:ext cx="9486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short notebook that another student can rerun, inspect, and understand without asking which file, unit, or denominator you used.</a:t>
            </a:r>
          </a:p>
        </p:txBody>
      </p:sp>
    </p:spTree>
    <p:extLst>
      <p:ext uri="{BB962C8B-B14F-4D97-AF65-F5344CB8AC3E}">
        <p14:creationId xmlns:p14="http://schemas.microsoft.com/office/powerpoint/2010/main" val="120879308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4D3FDC-6BFF-421D-A857-220E2F095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6BA344-B4B7-40E1-A902-50FF3D13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8C2476-07FD-4D10-9D68-08F93FE5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Cell 1: make the source explicit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D06D32-6675-4112-9F1E-775DA6FA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notebook starts with an auditable data-access cell.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9B47A0-32FD-4906-8596-928DFAA85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9DCF70-E59B-4C43-A0A7-E75EC85D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BE4F9B-9822-4EF3-B84D-1570B378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COLAB CELL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917898-311C-4E90-A53E-BA9D48FF7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5C8F96-14A2-44A5-ADA5-F967E9C3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53340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import numpy as np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import pandas as pd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import matplotlib.pyplot as plt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DATA_URL = "&lt;course raw GitHub URL&gt;"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 = pd.read_csv(DATA_URL)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 = credit.rename(columns={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"default payment next month": "default_next_month"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})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EE1E81-2974-45CD-9C5D-8FEDD848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2880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721395-AC7A-4372-A3BC-13136476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95500"/>
            <a:ext cx="3905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CC2836-1495-4985-8505-B5AB5308B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35242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Loaded public CSV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Rows: 30,000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Columns: 25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The URL and target rename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are visible in the notebook.</a:t>
            </a:r>
          </a:p>
        </p:txBody>
      </p:sp>
    </p:spTree>
    <p:extLst>
      <p:ext uri="{BB962C8B-B14F-4D97-AF65-F5344CB8AC3E}">
        <p14:creationId xmlns:p14="http://schemas.microsoft.com/office/powerpoint/2010/main" val="1116130814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9A12A3-9D4F-48AC-A24E-5E48E8C8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7F5DC0-2F3B-441D-9BCA-4BE2CAAA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6DEC4A-CDFA-4BA8-9A5E-4896BEBA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Cell 2: audit the table before selecting columns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BBCBA5-AB3E-421D-A72C-E3AE4220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audit records the evidence needed for every later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94F79D-71BD-4555-BC45-2E39980E5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1B7328-6FFA-46E3-B40A-494CE8DD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B047C6-B5DD-440B-A95C-FFBA7EE9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COLAB CELL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205365-7F37-4E55-9B2D-F031E0AF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088B24-0B32-498B-B2FC-0BAD2EF6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53340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audit = pd.Series({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"rows": len(credit),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"columns": credit.shape[1],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"missing_cells": int(credit.isna().sum().sum()),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"duplicate_rows": int(credit.duplicated().sum()),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"unique_ids": credit["ID"].nunique()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})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audit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FF2D12-DFA1-48AF-96FA-D93772980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2880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0E3985-5FA7-454C-98BD-63A910498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95500"/>
            <a:ext cx="39052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892C52-D6D6-4407-8E1C-D3DC03A52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352425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rows             30000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columns             25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missing_cells        0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duplicate_rows       0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unique_ids       30000</a:t>
            </a:r>
          </a:p>
        </p:txBody>
      </p:sp>
    </p:spTree>
    <p:extLst>
      <p:ext uri="{BB962C8B-B14F-4D97-AF65-F5344CB8AC3E}">
        <p14:creationId xmlns:p14="http://schemas.microsoft.com/office/powerpoint/2010/main" val="2062942845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048B5E-447A-4911-B91C-D6355997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3D5EAD-A55B-42F3-94AF-3E5688A2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109927-959C-455E-B8EB-877D12675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Cell 3: create the descriptive table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199CDF-E98F-4300-9461-D9B8AADD4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descriptive table is easier to review when the variables are selected intentionally.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0E5178-4EDD-4828-9C16-ED1B28DE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42F6E1-D0CF-4C49-AE43-5D280A7F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7B90E3-5375-4926-BFEB-61378C813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COLAB CELL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6B9030-8D70-4AC8-B335-7C7085F2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86F409-F90A-4CD7-8379-D46313B7A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53340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variables = [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"LIMIT_BAL", "AGE",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"BILL_AMT1", "PAY_AMT1"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]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summary = 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credit[variables]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.describe()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.T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.assign(IQR=lambda x: x["75%"] - x["25%"])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.round(2)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summary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B9DB50-7B33-41A6-A0B3-6A16A4B0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2880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B10B4-917C-4641-AE1D-7B34C5F8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95500"/>
            <a:ext cx="39052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E4E4FA-29A3-449E-939F-84102776D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352425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LIMIT_BAL  mean 167484.32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           median 140000.00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AGE        mean 35.49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           median 34.00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BILL_AMT1  mean 51223.33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PAY_AMT1   mean 5663.58</a:t>
            </a:r>
          </a:p>
        </p:txBody>
      </p:sp>
    </p:spTree>
    <p:extLst>
      <p:ext uri="{BB962C8B-B14F-4D97-AF65-F5344CB8AC3E}">
        <p14:creationId xmlns:p14="http://schemas.microsoft.com/office/powerpoint/2010/main" val="1960177560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0D53B4-08C2-497B-BE66-C9808A82C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D9C79E-EFE6-4F38-A9A9-99E0FFD0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129DC4-83C2-462D-B989-45861B3D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Cell 4: compare meaningful groups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065898-3857-4ABB-8D48-6334D5C0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group definition is written in the code so another analyst can reproduce 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B20020-90A0-4CF8-B58A-9E56AD4BE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599804-5606-484E-B2F0-5462E9C3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EEC391-7A47-4255-A351-E30E7C032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COLAB CELL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F0CBC5-FDB3-41A4-AD32-0D8B3506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F2FD67-E379-4F4A-A984-9899DD09F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53340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credit["limit_band"] = pd.cut(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credit["LIMIT_BAL"],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bins=[-np.inf, 100000, 300000, np.inf],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labels=["low", "medium", "high"]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by_band = credit.groupby(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"limit_band", observed=False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).agg(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borrowers=("ID", "size"),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default_rate=("default_next_month", "mean")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).round(4)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85EE04-4240-4E6F-AC3F-A620BBF7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2880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D46CBB-0668-4ABC-9D76-13E70201F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95500"/>
            <a:ext cx="39052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99E514-4E16-4907-9F7C-C061ACCFC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352425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              borrowers  default_rate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low              12498        0.2948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medium           12939        0.1814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high              4563        0.1326</a:t>
            </a:r>
          </a:p>
        </p:txBody>
      </p:sp>
    </p:spTree>
    <p:extLst>
      <p:ext uri="{BB962C8B-B14F-4D97-AF65-F5344CB8AC3E}">
        <p14:creationId xmlns:p14="http://schemas.microsoft.com/office/powerpoint/2010/main" val="1057678433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4464E3-06D6-476C-8067-E14B9C364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931BF3-A2F5-417A-833D-2931DF90D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678674-D04B-4846-B238-E1B4F9B6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Cell 5: create one chart with units and labels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F471F4-DCD9-40BA-9403-D0EAE595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chart should answer the question stated above 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8A3A32-EF78-42DF-B935-634D89F3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22B7B6-800B-4B4D-BA62-CCE3E4A2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D8ABB9-52A0-45BE-9E50-DDB26910E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COLAB CELL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116DD4-6788-4807-9012-1F95FA5B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0482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13D653-0640-4520-A70E-51B2897E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466725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rates = by_band["default_rate"]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rates.plot(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kind="bar",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color="#2D9DB0",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title="Default rate by credit-limit band"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plt.ylabel("Share of borrowers")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plt.xlabel("Credit-limit band")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plt.xticks(rotation=0)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plt.show()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B82A60D6-2592-45AC-A2FB-9033C78AF6B9}"/>
              </a:ext>
            </a:extLst>
          </p:cNvPr>
          <p:cNvGraphicFramePr/>
          <p:nvPr/>
        </p:nvGraphicFramePr>
        <p:xfrm>
          <a:off xmlns:a="http://schemas.openxmlformats.org/drawingml/2006/main" x="6572250" y="2095500"/>
          <a:ext xmlns:a="http://schemas.openxmlformats.org/drawingml/2006/main" cx="438150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159eb37a52348fc"/>
          </a:graphicData>
        </a:graphic>
      </p:graphicFrame>
    </p:spTree>
    <p:extLst>
      <p:ext uri="{BB962C8B-B14F-4D97-AF65-F5344CB8AC3E}">
        <p14:creationId xmlns:p14="http://schemas.microsoft.com/office/powerpoint/2010/main" val="851232498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80E8B1-0421-4476-B169-3D24084B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DF49EA-B2C9-4C71-A711-33E30D13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1A8FB3-A426-4798-BDF6-D9E131454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Cell 6: record interpretation beside the output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A6EB5B-37B7-4631-9796-AC81B0CCA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paragraph is part of the analysis. It identifies the pattern and its limit.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B7024F-5B0A-4E0C-AB17-21E84381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F30783-12E6-480C-8291-932195ED0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506597-FD04-4DB0-9C75-E48E671F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99060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5CCC41-5CA7-4D15-8BCC-D62BFEED1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031E73-4EC9-4011-8EBE-AB52319CB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66950"/>
            <a:ext cx="948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SAMPLE FINDING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A626AE-98E8-47B3-BCB8-A841CB9F3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9486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 the supplied sample, the default rate is 29.48% among borrowers in the low-limit band, compared with 13.26% in the high-limit band.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EE54BF-543E-4B23-8ABC-D9FAFFE5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10000"/>
            <a:ext cx="99060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088D56-784E-4FCB-8771-33F4F13C8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100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35A0CC-0822-48D1-9A7B-FA22AC83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81450"/>
            <a:ext cx="948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LIMITATION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9FADD7-8C24-484E-9CE6-73BC2AF3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86250"/>
            <a:ext cx="9486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This comparison is descriptive. It does not show that a credit limit caused the outcome, because the groups may differ in repayment history, age, education, and other variables.</a:t>
            </a:r>
          </a:p>
        </p:txBody>
      </p:sp>
    </p:spTree>
    <p:extLst>
      <p:ext uri="{BB962C8B-B14F-4D97-AF65-F5344CB8AC3E}">
        <p14:creationId xmlns:p14="http://schemas.microsoft.com/office/powerpoint/2010/main" val="34342789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622D59-B9A5-49E2-97FD-D5BDE400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D022DA-FED6-4EE3-84EE-C87EA580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9E040C-530D-472E-AB42-E6BD2625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Cell 7: check a relationship with a second variable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457271-1772-4DB1-9491-9699588C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same group definition can be extended to age or repayment status.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76FB7F-4883-4393-A23D-53E82825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F404C4-80EF-4A9A-837D-DF011C43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4D6804-8570-4E21-824C-ABECEE216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COLAB CELL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9A6CAE-87E8-4C40-80CC-B11D77342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B59245-E225-4271-9C7D-920061AF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53340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credit["age_band"] = pd.cut(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credit["AGE"],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bins=[20, 30, 40, 50, 80],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labels=["21–30", "31–40", "41–50", "51–79"]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result = pd.crosstab(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credit["age_band"],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credit["limit_band"],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values=credit["default_next_month"],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aggfunc="mean"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).round(3)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result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E995DD-82AD-4313-BC8D-3700F968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2880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8E3E1B-4D47-40F7-BAE8-F73D15A21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95500"/>
            <a:ext cx="39052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BBE346-9EFB-4BEA-849B-9A4450D72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352425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The result is a matrix of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default rates by two group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definitions.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Check cell counts before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comparing the rates.</a:t>
            </a:r>
          </a:p>
        </p:txBody>
      </p:sp>
    </p:spTree>
    <p:extLst>
      <p:ext uri="{BB962C8B-B14F-4D97-AF65-F5344CB8AC3E}">
        <p14:creationId xmlns:p14="http://schemas.microsoft.com/office/powerpoint/2010/main" val="1227799007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EEF047-CBA8-44E6-B25D-D89398651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5609E1-1FA1-4275-A727-B9BA4B656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8E0E0B-2F18-4DAF-98B1-22B60475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Cell 8: save a compact EDA report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655467-9F6E-47A6-BA0D-55298ACD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A report object makes it easier to compare datasets and later document modelling decisions.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DD85C7-8CB4-4018-B72E-41073468D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944AFF-8FA5-4502-9170-3AB28F611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8E1AAB-A0B7-48EB-9D4B-8BB95E44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COLAB CELL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A342C5-DA99-4A42-AAFD-A637CCB6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0B2038"/>
          </a:solidFill>
          <a:ln xmlns:a="http://schemas.openxmlformats.org/drawingml/2006/main" w="9525">
            <a:solidFill>
              <a:srgbClr val="0B20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9708A0-C789-4658-B2CD-11450AE8C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53340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report = {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"source": "UCI dataset 350",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"observation_unit": "borrower record",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"shape": credit.shape,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"missing_cells": int(credit.isna().sum().sum()),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"default_rate": round(credit["default_next_month"].mean(), 4),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    "numeric_columns": credit.select_dtypes("number").columns.tolist()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}</a:t>
            </a:r>
          </a:p>
          <a:p xmlns:a="http://schemas.openxmlformats.org/drawingml/2006/main">
            <a:pPr algn="l">
              <a:def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E5F4F3"/>
                </a:solidFill>
                <a:latin typeface="Courier New"/>
                <a:ea typeface="Courier New"/>
                <a:cs typeface="Courier New"/>
              </a:rPr>
              <a:t>report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17E225-6ABC-4427-864B-49241003F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2880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59072B-C801-4946-A514-1AA38695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95500"/>
            <a:ext cx="39052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30D1B3-D39E-4C52-A0EE-9795F02B0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352425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source: UCI dataset 350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observation_unit: borrower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shape: (30000, 25)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missing_cells: 0</a:t>
            </a:r>
          </a:p>
          <a:p xmlns:a="http://schemas.openxmlformats.org/drawingml/2006/main">
            <a:pPr algn="l">
              <a:def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102A43"/>
                </a:solidFill>
                <a:latin typeface="Courier New"/>
                <a:ea typeface="Courier New"/>
                <a:cs typeface="Courier New"/>
              </a:rPr>
              <a:t>default_rate: 0.2212</a:t>
            </a:r>
          </a:p>
        </p:txBody>
      </p:sp>
    </p:spTree>
    <p:extLst>
      <p:ext uri="{BB962C8B-B14F-4D97-AF65-F5344CB8AC3E}">
        <p14:creationId xmlns:p14="http://schemas.microsoft.com/office/powerpoint/2010/main" val="1091212856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6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E51159-BC6D-4A54-B9B1-F23CBD99E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1882BD-13D9-41DF-B96F-CAF0373B9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PART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B0DF68-4D2E-4998-9CA8-C842E38AD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95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Practice and submission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137B6F-C570-49BB-9430-23BD233A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 i="0">
                <a:solidFill>
                  <a:srgbClr val="CFE1EA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CFE1EA"/>
                </a:solidFill>
                <a:latin typeface="Arial"/>
                <a:ea typeface="Arial"/>
                <a:cs typeface="Arial"/>
              </a:rPr>
              <a:t>The weekly work turns the lecture workflow into an independently reproducible notebook.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60B890-8060-44AC-A818-CBBC055F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00150"/>
            <a:ext cx="257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450" b="1" i="0">
                <a:solidFill>
                  <a:srgbClr val="143858"/>
                </a:solidFill>
                <a:latin typeface="Arial"/>
                <a:ea typeface="Arial"/>
                <a:cs typeface="Arial"/>
              </a:defRPr>
            </a:pPr>
            <a:r>
              <a:rPr sz="9450" b="1" i="0">
                <a:solidFill>
                  <a:srgbClr val="14385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E6ACEE-2392-4E6B-B7C9-4947E475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432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D5D904-4A08-4D82-9CF1-49395A32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0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Machine Learning in Finance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0289BE-DEF9-4A82-B4BC-5CD27432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9FB9C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9C8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  <p:extLst>
      <p:ext uri="{BB962C8B-B14F-4D97-AF65-F5344CB8AC3E}">
        <p14:creationId xmlns:p14="http://schemas.microsoft.com/office/powerpoint/2010/main" val="877006200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D22AA5-39BF-417D-9907-8CA9F8901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CA0420-A1A8-421A-A304-AC0B844A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WEEKLY EXERCISE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030613-B304-4317-9E12-F7A9822E0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exercise uses the same dataset with a new question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E85E2-E929-4804-B4BE-642DE8C7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Students should change the analysis question, not merely copy the displayed code.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045138-2EF3-430A-A45D-9505E624A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E2A1F4-D0FE-4C09-AFA4-45ABDC357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0B8F87-1530-41EA-8C52-280FAFDBB88B}"/>
              </a:ext>
            </a:extLst>
          </p:cNvPr>
          <p:cNvGraphicFramePr/>
          <p:nvPr/>
        </p:nvGraphicFramePr>
        <p:xfrm>
          <a:off xmlns:a="http://schemas.openxmlformats.org/drawingml/2006/main" x="819150" y="1952625"/>
          <a:ext xmlns:a="http://schemas.openxmlformats.org/drawingml/2006/main" cx="10572750" cy="3476625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381250"/>
                <a:gridCol w="8191500"/>
              </a:tblGrid>
              <a:tr h="496661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Deliverable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Minimum evidence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Data identity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Source link, access date, observation unit, target definition, and variable dictionary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Audit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Shape, types, missingness, duplicate check, and target counts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Descriptive table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At least six variables with mean, median, spread, range, and a written interpretation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Group comparison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One defensible group definition with counts and a rate or mean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Visual evidence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Two labelled plots with units, readable axes, and a paragraph for each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9666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Limitations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One data-quality issue and one reason not to interpret association as causality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3D3748-634D-4394-9B00-EB1601C1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15000"/>
            <a:ext cx="1057275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00A1F3-FA9F-482A-9785-F746E85D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15000"/>
            <a:ext cx="57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9436C7-374C-45CF-88F9-2224366B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10250"/>
            <a:ext cx="101536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DEADLINE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AB3434-6B16-4F98-A7A0-62055209E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010275"/>
            <a:ext cx="1015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Submit the completed Colab notebook one day before the next course meeting.</a:t>
            </a:r>
          </a:p>
        </p:txBody>
      </p:sp>
    </p:spTree>
    <p:extLst>
      <p:ext uri="{BB962C8B-B14F-4D97-AF65-F5344CB8AC3E}">
        <p14:creationId xmlns:p14="http://schemas.microsoft.com/office/powerpoint/2010/main" val="1224668794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6FE65D-8E1C-4A5C-A38B-5AB92AE6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8BF0C2-1566-4A37-96CA-FF289942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WEEKLY EXERCISE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DC556C-D13D-423B-8B18-ED8B35947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Suggested student questions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D833EC-10C6-4F68-A6DE-AB61E76B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Choose one question and define the denominator before calculating the result.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4CB009-96A6-4B1D-8B65-C01F9E40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6ADA19-ECE1-410F-9706-DF21BDAA6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53E877-9272-41C7-8062-329742A8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812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607D59-22CB-495F-9F9F-D39F8BDF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95500"/>
            <a:ext cx="9658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Do default rates differ across repayment-status groups after documenting what the source codes mean?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DC0487-C1CA-4F94-BF5F-07E0ADEE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52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FD4B9D-2407-4F08-9C5F-804FA8109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67000"/>
            <a:ext cx="9658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How do median bill amounts compare across age bands or education categories?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8A6530-7DB4-4824-961F-D0B6CB09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242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615924-C5DF-40E3-B935-6CB1D70B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38500"/>
            <a:ext cx="9658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Which variables have the strongest sample associations with the target, and what does the comparison miss?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6D07A-1FBA-421C-83BA-D6BA33B2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95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FD7AD0-88FF-4227-9CE1-BB1CC6B5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0"/>
            <a:ext cx="9658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Do payment-to-limit ratios have a different distribution for default and non-default borrowers?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61CA05-0CF4-43A8-84C8-D9AEA8E1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672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325FCE-AE99-4DDD-9EF9-B14C0F9B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81500"/>
            <a:ext cx="9658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Which two visualisations would help a credit analyst decide what to inspect next?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965E9D-B8B2-47A0-9E85-90C63D992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99060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C49738-2543-4D3E-A33C-9172B6DC3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977CAE-BED2-4DA3-B99F-C86F4D48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381625"/>
            <a:ext cx="94869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GOOD QUESTION 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C31E84-4C13-47A1-94C3-FC0E1363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581650"/>
            <a:ext cx="9486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classmate should be able to identify the rows, columns, target, group definition, unit, and denominator from your notebook.</a:t>
            </a:r>
          </a:p>
        </p:txBody>
      </p:sp>
    </p:spTree>
    <p:extLst>
      <p:ext uri="{BB962C8B-B14F-4D97-AF65-F5344CB8AC3E}">
        <p14:creationId xmlns:p14="http://schemas.microsoft.com/office/powerpoint/2010/main" val="77347312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4AE055-B185-4411-AA5C-DEB8E7F7B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8D4B3A-B3E0-4866-B9DE-3578542B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QUALITY CHECKLIST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AE9217-309B-4D6D-9C7C-48E47F9A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Before submitting the notebook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7F6A74-B2CF-4B29-84A0-980221265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Use the checklist as a final review rather than as a decorative final slide.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158E2E-D249-4F76-A803-D7A32C70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C0EDE6-53E6-4258-AD0D-D22C6A6E6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018803-853A-416E-9E12-7AF535787B37}"/>
              </a:ext>
            </a:extLst>
          </p:cNvPr>
          <p:cNvGraphicFramePr/>
          <p:nvPr/>
        </p:nvGraphicFramePr>
        <p:xfrm>
          <a:off xmlns:a="http://schemas.openxmlformats.org/drawingml/2006/main" x="819150" y="2095500"/>
          <a:ext xmlns:a="http://schemas.openxmlformats.org/drawingml/2006/main" cx="10572750" cy="3143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667000"/>
                <a:gridCol w="7905750"/>
              </a:tblGrid>
              <a:tr h="449036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Pass condition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T w="9525">
                      <a:solidFill>
                        <a:srgbClr val="D6E2E8"/>
                      </a:solidFill>
                      <a:prstDash val="solid"/>
                    </a:lnT>
                    <a:lnB w="9525">
                      <a:solidFill>
                        <a:srgbClr val="D6E2E8"/>
                      </a:solidFill>
                      <a:prstDash val="solid"/>
                    </a:lnB>
                    <a:solidFill>
                      <a:srgbClr val="061B33"/>
                    </a:solidFill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Reproducibility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notebook runs from a clean Colab session without hidden local files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Data provenance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The source, URL, access date, licence, and variable meanings are visible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Correctness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Rows, denominators, units, and target coding are consistent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Visual quality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Labels, units, legends, and axis ranges are readable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Interpretation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Each result has a financial meaning and a limitation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  <a:tr h="4490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Scope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E2E8"/>
                      </a:solidFill>
                      <a:prstDash val="solid"/>
                    </a:lnL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No supervised model is fitted in this Week 2 exercise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E2E8"/>
                      </a:solidFill>
                      <a:prstDash val="solid"/>
                    </a:lnR>
                    <a:lnB w="9525">
                      <a:solidFill>
                        <a:srgbClr val="D6E2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CD84AA-EF9E-4848-9956-455237DA0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24500"/>
            <a:ext cx="10572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FCE9DA-E76F-4109-B10F-B3702EFF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24500"/>
            <a:ext cx="57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458BC2-A3C5-448F-BBC3-588D34F10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19750"/>
            <a:ext cx="101536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SUBMISSION STANDARD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586F4-ED71-4C9B-B654-8B48BB70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19775"/>
            <a:ext cx="1015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 shorter notebook with clear evidence is stronger than a longer notebook with unexplained output.</a:t>
            </a:r>
          </a:p>
        </p:txBody>
      </p:sp>
    </p:spTree>
    <p:extLst>
      <p:ext uri="{BB962C8B-B14F-4D97-AF65-F5344CB8AC3E}">
        <p14:creationId xmlns:p14="http://schemas.microsoft.com/office/powerpoint/2010/main" val="2013203318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B74DF4-76E6-4757-BE80-426CDBAEC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82E90A-6F18-4225-848E-F7D10274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NEXT WEEK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0982E7-FDDB-4E28-8F56-9E19A581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Week 3 introduces cleaning and preprocessing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0F430B-CBDA-45C9-943B-C21F139C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The next lecture uses the same data discipline before any model sees the 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5E03BD-E827-40A2-A769-2AE3B38AE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Machine Learning in Finance  ·  Week 02  ·  NKUA MPhil Economics  ·  2026–2027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3D7AA8-31B8-4634-90D1-FFDEB4BC3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 i="0">
                <a:solidFill>
                  <a:srgbClr val="58708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587087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C5E285-DD8A-4C6E-922E-DDA729120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AF3F7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D2B60C-F1C1-4483-9C23-A3DB9CCD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DB0"/>
          </a:solidFill>
          <a:ln xmlns:a="http://schemas.openxmlformats.org/drawingml/2006/main" w="9525">
            <a:solidFill>
              <a:srgbClr val="2D9DB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FF45C1-840C-4CAC-AF0D-DBA44538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66950"/>
            <a:ext cx="2628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2D9DB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D9DB0"/>
                </a:solidFill>
                <a:latin typeface="Arial"/>
                <a:ea typeface="Arial"/>
                <a:cs typeface="Arial"/>
              </a:rPr>
              <a:t>DATA QUALITY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A44BDC-F594-490A-B1F4-A566C2C7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26289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Missing values, duplicates, outliers, and special codes become explicit modelling decisions.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890172-D4DD-4787-B39F-5997B7D4F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9550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7F3EC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D19807-E25A-42C5-BA87-9F3B19E2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9550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C7C0"/>
          </a:solidFill>
          <a:ln xmlns:a="http://schemas.openxmlformats.org/drawingml/2006/main" w="9525">
            <a:solidFill>
              <a:srgbClr val="72C7C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3BA016-FECE-4D2D-8CF9-7088889C6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266950"/>
            <a:ext cx="2628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72C7C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2C7C0"/>
                </a:solidFill>
                <a:latin typeface="Arial"/>
                <a:ea typeface="Arial"/>
                <a:cs typeface="Arial"/>
              </a:rPr>
              <a:t>PREPROCESSING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F78FFE-9C17-4CFA-8E5A-4B187B61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71750"/>
            <a:ext cx="26289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Numeric scaling, categorical encoding, and ColumnTransformer organise transformations without leakage.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A2D830-3FA3-4878-8623-4C2613CB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9550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6E2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895F99-B605-418D-AA5E-18F329C8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9550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9A45"/>
          </a:solidFill>
          <a:ln xmlns:a="http://schemas.openxmlformats.org/drawingml/2006/main" w="9525">
            <a:solidFill>
              <a:srgbClr val="C99A4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5B60AF-F543-4FC5-9FFD-2C526CEE8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66950"/>
            <a:ext cx="2628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99A4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C99A45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D59596-F97C-4ED3-A7C0-FAEB9841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571750"/>
            <a:ext cx="26289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The train/test split comes before fitting transformation parameters to the data.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6502A2-0B25-4B7E-8175-E3E203BF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Bring your Week 2 notebook. The next lecture will convert the EDA findings into a reproducible preprocessing pipeline.</a:t>
            </a:r>
          </a:p>
        </p:txBody>
      </p:sp>
    </p:spTree>
    <p:extLst>
      <p:ext uri="{BB962C8B-B14F-4D97-AF65-F5344CB8AC3E}">
        <p14:creationId xmlns:p14="http://schemas.microsoft.com/office/powerpoint/2010/main" val="1405990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2026-10-14T23:02:41.1240000Z</dcterms:created>
  <dcterms:modified xsi:type="dcterms:W3CDTF">2026-10-14T23:02:41.1240000Z</dcterms:modified>
</coreProperties>
</file>