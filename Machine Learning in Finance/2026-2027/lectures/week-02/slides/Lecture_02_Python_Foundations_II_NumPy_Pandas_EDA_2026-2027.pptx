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5.xml" ContentType="application/vnd.openxmlformats-officedocument.drawingml.chart+xml"/>
  <Override PartName="/ppt/charts/style4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7.xml" ContentType="application/vnd.openxmlformats-officedocument.drawingml.chart+xml"/>
  <Override PartName="/ppt/charts/colors2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style6.xml" ContentType="application/vnd.ms-office.chartstyle+xml"/>
  <Override PartName="/ppt/charts/style1.xml" ContentType="application/vnd.ms-office.chartstyle+xml"/>
  <Override PartName="/ppt/charts/chart1.xml" ContentType="application/vnd.openxmlformats-officedocument.drawingml.chart+xml"/>
  <Override PartName="/ppt/charts/colors6.xml" ContentType="application/vnd.ms-office.chartcolorstyle+xml"/>
  <Override PartName="/ppt/charts/colors5.xml" ContentType="application/vnd.ms-office.chartcolorstyle+xml"/>
  <Override PartName="/ppt/charts/style5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colors7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49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0.xml" ContentType="application/vnd.openxmlformats-officedocument.presentationml.slide+xml"/>
  <Override PartName="/ppt/slides/slide14.xml" ContentType="application/vnd.openxmlformats-officedocument.presentationml.slide+xml"/>
  <Override PartName="/ppt/slides/slide51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_rels/chart5.xml.rels><?xml version="1.0" encoding="UTF-8"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
</Relationships>
</file>

<file path=ppt/charts/_rels/chart6.xml.rels><?xml version="1.0" encoding="UTF-8"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
</Relationships>
</file>

<file path=ppt/charts/_rels/chart7.xml.rels><?xml version="1.0" encoding="UTF-8"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1" u="none" strike="noStrike">
                <a:solidFill>
                  <a:srgbClr val="102A43"/>
                </a:solidFill>
                <a:uFillTx/>
                <a:latin typeface="Arial"/>
                <a:ea typeface="Arial"/>
              </a:rPr>
              <a:t>Borrowers by target class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Borrowers</c:v>
                </c:pt>
              </c:strCache>
            </c:strRef>
          </c:tx>
          <c:spPr>
            <a:solidFill>
              <a:srgbClr val="2D9DB0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No default</c:v>
                </c:pt>
                <c:pt idx="1">
                  <c:v>Default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23364</c:v>
                </c:pt>
                <c:pt idx="1">
                  <c:v>6636</c:v>
                </c:pt>
              </c:numCache>
            </c:numRef>
          </c:val>
        </c:ser>
        <c:gapWidth val="80"/>
        <c:overlap val="0"/>
        <c:axId val="23967507"/>
        <c:axId val="49922311"/>
      </c:barChart>
      <c:catAx>
        <c:axId val="23967507"/>
        <c:scaling>
          <c:orientation val="minMax"/>
        </c:scaling>
        <c:delete val="0"/>
        <c:axPos val="b"/>
        <c:majorGridlines>
          <c:spPr>
            <a:ln w="0">
              <a:solidFill>
                <a:srgbClr val="D6E2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49922311"/>
        <c:crosses val="autoZero"/>
        <c:auto val="1"/>
        <c:lblAlgn val="ctr"/>
        <c:lblOffset val="100"/>
        <c:noMultiLvlLbl val="0"/>
      </c:catAx>
      <c:valAx>
        <c:axId val="49922311"/>
        <c:scaling>
          <c:orientation val="minMax"/>
        </c:scaling>
        <c:delete val="0"/>
        <c:axPos val="l"/>
        <c:majorGridlines>
          <c:spPr>
            <a:ln w="9360">
              <a:solidFill>
                <a:srgbClr val="D6E2E8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23967507"/>
        <c:crosses val="autoZero"/>
        <c:crossBetween val="between"/>
      </c:valAx>
      <c:spPr>
        <a:solidFill>
          <a:srgbClr val="FFFFFF"/>
        </a:solidFill>
        <a:ln w="9360">
          <a:solidFill>
            <a:srgbClr val="D6E2E8"/>
          </a:solidFill>
          <a:round/>
        </a:ln>
      </c:spPr>
    </c:plotArea>
    <c:plotVisOnly val="1"/>
    <c:dispBlanksAs val="zero"/>
  </c:chart>
  <c:spPr>
    <a:noFill/>
    <a:ln w="9360">
      <a:solidFill>
        <a:srgbClr val="D6E2E8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1" u="none" strike="noStrike">
                <a:solidFill>
                  <a:srgbClr val="102A43"/>
                </a:solidFill>
                <a:uFillTx/>
                <a:latin typeface="Arial"/>
                <a:ea typeface="Arial"/>
              </a:rPr>
              <a:t>PAY_0 source-code distribution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Borrowers</c:v>
                </c:pt>
              </c:strCache>
            </c:strRef>
          </c:tx>
          <c:spPr>
            <a:solidFill>
              <a:srgbClr val="2D9DB0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4+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2759</c:v>
                </c:pt>
                <c:pt idx="1">
                  <c:v>5686</c:v>
                </c:pt>
                <c:pt idx="2">
                  <c:v>14737</c:v>
                </c:pt>
                <c:pt idx="3">
                  <c:v>3688</c:v>
                </c:pt>
                <c:pt idx="4">
                  <c:v>2667</c:v>
                </c:pt>
                <c:pt idx="5">
                  <c:v>322</c:v>
                </c:pt>
                <c:pt idx="6">
                  <c:v>141</c:v>
                </c:pt>
              </c:numCache>
            </c:numRef>
          </c:val>
        </c:ser>
        <c:gapWidth val="55"/>
        <c:overlap val="0"/>
        <c:axId val="37556269"/>
        <c:axId val="9241502"/>
      </c:barChart>
      <c:catAx>
        <c:axId val="37556269"/>
        <c:scaling>
          <c:orientation val="minMax"/>
        </c:scaling>
        <c:delete val="0"/>
        <c:axPos val="b"/>
        <c:majorGridlines>
          <c:spPr>
            <a:ln w="0">
              <a:solidFill>
                <a:srgbClr val="D6E2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9241502"/>
        <c:crosses val="autoZero"/>
        <c:auto val="1"/>
        <c:lblAlgn val="ctr"/>
        <c:lblOffset val="100"/>
        <c:noMultiLvlLbl val="0"/>
      </c:catAx>
      <c:valAx>
        <c:axId val="9241502"/>
        <c:scaling>
          <c:orientation val="minMax"/>
        </c:scaling>
        <c:delete val="0"/>
        <c:axPos val="l"/>
        <c:majorGridlines>
          <c:spPr>
            <a:ln w="9360">
              <a:solidFill>
                <a:srgbClr val="D6E2E8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37556269"/>
        <c:crosses val="autoZero"/>
        <c:crossBetween val="between"/>
      </c:valAx>
      <c:spPr>
        <a:solidFill>
          <a:srgbClr val="FFFFFF"/>
        </a:solidFill>
        <a:ln w="9360">
          <a:solidFill>
            <a:srgbClr val="D6E2E8"/>
          </a:solidFill>
          <a:round/>
        </a:ln>
      </c:spPr>
    </c:plotArea>
    <c:plotVisOnly val="1"/>
    <c:dispBlanksAs val="zero"/>
  </c:chart>
  <c:spPr>
    <a:noFill/>
    <a:ln w="9360">
      <a:solidFill>
        <a:srgbClr val="D6E2E8"/>
      </a:solidFill>
      <a:round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1" u="none" strike="noStrike">
                <a:solidFill>
                  <a:srgbClr val="102A43"/>
                </a:solidFill>
                <a:uFillTx/>
                <a:latin typeface="Arial"/>
                <a:ea typeface="Arial"/>
              </a:rPr>
              <a:t>LIMIT_BAL: borrowers by band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Borrowers</c:v>
                </c:pt>
              </c:strCache>
            </c:strRef>
          </c:tx>
          <c:spPr>
            <a:solidFill>
              <a:srgbClr val="2D9DB0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≤100k</c:v>
                </c:pt>
                <c:pt idx="1">
                  <c:v>100–200k</c:v>
                </c:pt>
                <c:pt idx="2">
                  <c:v>200–300k</c:v>
                </c:pt>
                <c:pt idx="3">
                  <c:v>300–500k</c:v>
                </c:pt>
                <c:pt idx="4">
                  <c:v>&gt;500k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12498</c:v>
                </c:pt>
                <c:pt idx="1">
                  <c:v>7880</c:v>
                </c:pt>
                <c:pt idx="2">
                  <c:v>5059</c:v>
                </c:pt>
                <c:pt idx="3">
                  <c:v>4357</c:v>
                </c:pt>
                <c:pt idx="4">
                  <c:v>206</c:v>
                </c:pt>
              </c:numCache>
            </c:numRef>
          </c:val>
        </c:ser>
        <c:gapWidth val="55"/>
        <c:overlap val="0"/>
        <c:axId val="81406682"/>
        <c:axId val="90813330"/>
      </c:barChart>
      <c:catAx>
        <c:axId val="81406682"/>
        <c:scaling>
          <c:orientation val="minMax"/>
        </c:scaling>
        <c:delete val="0"/>
        <c:axPos val="b"/>
        <c:majorGridlines>
          <c:spPr>
            <a:ln w="0">
              <a:solidFill>
                <a:srgbClr val="D6E2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90813330"/>
        <c:crosses val="autoZero"/>
        <c:auto val="1"/>
        <c:lblAlgn val="ctr"/>
        <c:lblOffset val="100"/>
        <c:noMultiLvlLbl val="0"/>
      </c:catAx>
      <c:valAx>
        <c:axId val="90813330"/>
        <c:scaling>
          <c:orientation val="minMax"/>
        </c:scaling>
        <c:delete val="0"/>
        <c:axPos val="l"/>
        <c:majorGridlines>
          <c:spPr>
            <a:ln w="9360">
              <a:solidFill>
                <a:srgbClr val="D6E2E8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81406682"/>
        <c:crosses val="autoZero"/>
        <c:crossBetween val="between"/>
      </c:valAx>
      <c:spPr>
        <a:solidFill>
          <a:srgbClr val="FFFFFF"/>
        </a:solidFill>
        <a:ln w="9360">
          <a:solidFill>
            <a:srgbClr val="D6E2E8"/>
          </a:solidFill>
          <a:round/>
        </a:ln>
      </c:spPr>
    </c:plotArea>
    <c:plotVisOnly val="1"/>
    <c:dispBlanksAs val="zero"/>
  </c:chart>
  <c:spPr>
    <a:noFill/>
    <a:ln w="9360">
      <a:solidFill>
        <a:srgbClr val="D6E2E8"/>
      </a:solidFill>
      <a:round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1" u="none" strike="noStrike">
                <a:solidFill>
                  <a:srgbClr val="102A43"/>
                </a:solidFill>
                <a:uFillTx/>
                <a:latin typeface="Arial"/>
                <a:ea typeface="Arial"/>
              </a:rPr>
              <a:t>PAY_AMT1: borrowers by band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Borrowers</c:v>
                </c:pt>
              </c:strCache>
            </c:strRef>
          </c:tx>
          <c:spPr>
            <a:solidFill>
              <a:srgbClr val="C99A45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≤0</c:v>
                </c:pt>
                <c:pt idx="1">
                  <c:v>0–1k</c:v>
                </c:pt>
                <c:pt idx="2">
                  <c:v>1–5k</c:v>
                </c:pt>
                <c:pt idx="3">
                  <c:v>5–20k</c:v>
                </c:pt>
                <c:pt idx="4">
                  <c:v>20–100k</c:v>
                </c:pt>
                <c:pt idx="5">
                  <c:v>&gt;100k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5249</c:v>
                </c:pt>
                <c:pt idx="1">
                  <c:v>2590</c:v>
                </c:pt>
                <c:pt idx="2">
                  <c:v>14597</c:v>
                </c:pt>
                <c:pt idx="3">
                  <c:v>6245</c:v>
                </c:pt>
                <c:pt idx="4">
                  <c:v>1170</c:v>
                </c:pt>
                <c:pt idx="5">
                  <c:v>149</c:v>
                </c:pt>
              </c:numCache>
            </c:numRef>
          </c:val>
        </c:ser>
        <c:gapWidth val="45"/>
        <c:overlap val="0"/>
        <c:axId val="82827452"/>
        <c:axId val="67782068"/>
      </c:barChart>
      <c:catAx>
        <c:axId val="82827452"/>
        <c:scaling>
          <c:orientation val="minMax"/>
        </c:scaling>
        <c:delete val="0"/>
        <c:axPos val="b"/>
        <c:majorGridlines>
          <c:spPr>
            <a:ln w="0">
              <a:solidFill>
                <a:srgbClr val="D6E2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67782068"/>
        <c:crosses val="autoZero"/>
        <c:auto val="1"/>
        <c:lblAlgn val="ctr"/>
        <c:lblOffset val="100"/>
        <c:noMultiLvlLbl val="0"/>
      </c:catAx>
      <c:valAx>
        <c:axId val="67782068"/>
        <c:scaling>
          <c:orientation val="minMax"/>
        </c:scaling>
        <c:delete val="0"/>
        <c:axPos val="l"/>
        <c:majorGridlines>
          <c:spPr>
            <a:ln w="9360">
              <a:solidFill>
                <a:srgbClr val="D6E2E8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82827452"/>
        <c:crosses val="autoZero"/>
        <c:crossBetween val="between"/>
      </c:valAx>
      <c:spPr>
        <a:solidFill>
          <a:srgbClr val="FFFFFF"/>
        </a:solidFill>
        <a:ln w="9360">
          <a:solidFill>
            <a:srgbClr val="D6E2E8"/>
          </a:solidFill>
          <a:round/>
        </a:ln>
      </c:spPr>
    </c:plotArea>
    <c:plotVisOnly val="1"/>
    <c:dispBlanksAs val="zero"/>
  </c:chart>
  <c:spPr>
    <a:noFill/>
    <a:ln w="9360">
      <a:solidFill>
        <a:srgbClr val="D6E2E8"/>
      </a:solidFill>
      <a:round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1" u="none" strike="noStrike">
                <a:solidFill>
                  <a:srgbClr val="102A43"/>
                </a:solidFill>
                <a:uFillTx/>
                <a:latin typeface="Arial"/>
                <a:ea typeface="Arial"/>
              </a:rPr>
              <a:t>Default rate by credit-limit band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D77B6D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Low limit</c:v>
                </c:pt>
                <c:pt idx="1">
                  <c:v>Medium limit</c:v>
                </c:pt>
                <c:pt idx="2">
                  <c:v>High limit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0.2948</c:v>
                </c:pt>
                <c:pt idx="1">
                  <c:v>0.1814</c:v>
                </c:pt>
                <c:pt idx="2">
                  <c:v>0.1326</c:v>
                </c:pt>
              </c:numCache>
            </c:numRef>
          </c:val>
        </c:ser>
        <c:gapWidth val="90"/>
        <c:overlap val="0"/>
        <c:axId val="91029488"/>
        <c:axId val="69476661"/>
      </c:barChart>
      <c:catAx>
        <c:axId val="91029488"/>
        <c:scaling>
          <c:orientation val="minMax"/>
        </c:scaling>
        <c:delete val="0"/>
        <c:axPos val="b"/>
        <c:majorGridlines>
          <c:spPr>
            <a:ln w="0">
              <a:solidFill>
                <a:srgbClr val="D6E2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69476661"/>
        <c:crosses val="autoZero"/>
        <c:auto val="1"/>
        <c:lblAlgn val="ctr"/>
        <c:lblOffset val="100"/>
        <c:noMultiLvlLbl val="0"/>
      </c:catAx>
      <c:valAx>
        <c:axId val="69476661"/>
        <c:scaling>
          <c:orientation val="minMax"/>
        </c:scaling>
        <c:delete val="0"/>
        <c:axPos val="l"/>
        <c:majorGridlines>
          <c:spPr>
            <a:ln w="9360">
              <a:solidFill>
                <a:srgbClr val="D6E2E8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91029488"/>
        <c:crosses val="autoZero"/>
        <c:crossBetween val="between"/>
      </c:valAx>
      <c:spPr>
        <a:solidFill>
          <a:srgbClr val="FFFFFF"/>
        </a:solidFill>
        <a:ln w="9360">
          <a:solidFill>
            <a:srgbClr val="D6E2E8"/>
          </a:solidFill>
          <a:round/>
        </a:ln>
      </c:spPr>
    </c:plotArea>
    <c:plotVisOnly val="1"/>
    <c:dispBlanksAs val="zero"/>
  </c:chart>
  <c:spPr>
    <a:noFill/>
    <a:ln w="9360">
      <a:solidFill>
        <a:srgbClr val="D6E2E8"/>
      </a:solidFill>
      <a:round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1" u="none" strike="noStrike">
                <a:solidFill>
                  <a:srgbClr val="102A43"/>
                </a:solidFill>
                <a:uFillTx/>
                <a:latin typeface="Arial"/>
                <a:ea typeface="Arial"/>
              </a:rPr>
              <a:t>Credit limit and first bill amount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Borrowers</c:v>
                </c:pt>
              </c:strCache>
            </c:strRef>
          </c:tx>
          <c:spPr>
            <a:ln w="9360">
              <a:solidFill>
                <a:srgbClr val="2D9DB0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9"/>
                <c:pt idx="0">
                  <c:v>10000</c:v>
                </c:pt>
                <c:pt idx="1">
                  <c:v>50000</c:v>
                </c:pt>
                <c:pt idx="2">
                  <c:v>100000</c:v>
                </c:pt>
                <c:pt idx="3">
                  <c:v>150000</c:v>
                </c:pt>
                <c:pt idx="4">
                  <c:v>200000</c:v>
                </c:pt>
                <c:pt idx="5">
                  <c:v>300000</c:v>
                </c:pt>
                <c:pt idx="6">
                  <c:v>500000</c:v>
                </c:pt>
                <c:pt idx="7">
                  <c:v>800000</c:v>
                </c:pt>
                <c:pt idx="8">
                  <c:v>1000000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9"/>
                <c:pt idx="0">
                  <c:v>2200</c:v>
                </c:pt>
                <c:pt idx="1">
                  <c:v>12000</c:v>
                </c:pt>
                <c:pt idx="2">
                  <c:v>28000</c:v>
                </c:pt>
                <c:pt idx="3">
                  <c:v>35000</c:v>
                </c:pt>
                <c:pt idx="4">
                  <c:v>50000</c:v>
                </c:pt>
                <c:pt idx="5">
                  <c:v>90000</c:v>
                </c:pt>
                <c:pt idx="6">
                  <c:v>180000</c:v>
                </c:pt>
                <c:pt idx="7">
                  <c:v>330000</c:v>
                </c:pt>
                <c:pt idx="8">
                  <c:v>500000</c:v>
                </c:pt>
              </c:numCache>
            </c:numRef>
          </c:yVal>
          <c:smooth val="1"/>
        </c:ser>
        <c:axId val="86577857"/>
        <c:axId val="53300645"/>
      </c:scatterChart>
      <c:valAx>
        <c:axId val="86577857"/>
        <c:scaling>
          <c:orientation val="minMax"/>
        </c:scaling>
        <c:delete val="0"/>
        <c:axPos val="b"/>
        <c:majorGridlines>
          <c:spPr>
            <a:ln w="0">
              <a:solidFill>
                <a:srgbClr val="D6E2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53300645"/>
        <c:crosses val="autoZero"/>
        <c:crossBetween val="midCat"/>
      </c:valAx>
      <c:valAx>
        <c:axId val="53300645"/>
        <c:scaling>
          <c:orientation val="minMax"/>
        </c:scaling>
        <c:delete val="0"/>
        <c:axPos val="l"/>
        <c:majorGridlines>
          <c:spPr>
            <a:ln w="9360">
              <a:solidFill>
                <a:srgbClr val="D6E2E8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86577857"/>
        <c:crosses val="autoZero"/>
        <c:crossBetween val="midCat"/>
      </c:valAx>
      <c:spPr>
        <a:solidFill>
          <a:srgbClr val="FFFFFF"/>
        </a:solidFill>
        <a:ln w="9360">
          <a:solidFill>
            <a:srgbClr val="D6E2E8"/>
          </a:solidFill>
          <a:round/>
        </a:ln>
      </c:spPr>
    </c:plotArea>
    <c:plotVisOnly val="1"/>
    <c:dispBlanksAs val="zero"/>
  </c:chart>
  <c:spPr>
    <a:noFill/>
    <a:ln w="9360">
      <a:solidFill>
        <a:srgbClr val="D6E2E8"/>
      </a:solidFill>
      <a:round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1" u="none" strike="noStrike">
                <a:solidFill>
                  <a:srgbClr val="102A43"/>
                </a:solidFill>
                <a:uFillTx/>
                <a:latin typeface="Arial"/>
                <a:ea typeface="Arial"/>
              </a:rPr>
              <a:t>Default rate by limit band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2D9DB0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0.2948</c:v>
                </c:pt>
                <c:pt idx="1">
                  <c:v>0.1814</c:v>
                </c:pt>
                <c:pt idx="2">
                  <c:v>0.1326</c:v>
                </c:pt>
              </c:numCache>
            </c:numRef>
          </c:val>
        </c:ser>
        <c:gapWidth val="90"/>
        <c:overlap val="0"/>
        <c:axId val="63108086"/>
        <c:axId val="5217549"/>
      </c:barChart>
      <c:catAx>
        <c:axId val="63108086"/>
        <c:scaling>
          <c:orientation val="minMax"/>
        </c:scaling>
        <c:delete val="0"/>
        <c:axPos val="b"/>
        <c:majorGridlines>
          <c:spPr>
            <a:ln w="0">
              <a:solidFill>
                <a:srgbClr val="D6E2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5217549"/>
        <c:crosses val="autoZero"/>
        <c:auto val="1"/>
        <c:lblAlgn val="ctr"/>
        <c:lblOffset val="100"/>
        <c:noMultiLvlLbl val="0"/>
      </c:catAx>
      <c:valAx>
        <c:axId val="5217549"/>
        <c:scaling>
          <c:orientation val="minMax"/>
        </c:scaling>
        <c:delete val="0"/>
        <c:axPos val="l"/>
        <c:majorGridlines>
          <c:spPr>
            <a:ln w="9360">
              <a:solidFill>
                <a:srgbClr val="D6E2E8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87087"/>
                </a:solidFill>
                <a:uFillTx/>
                <a:latin typeface="Arial"/>
                <a:ea typeface="Arial"/>
              </a:defRPr>
            </a:pPr>
          </a:p>
        </c:txPr>
        <c:crossAx val="63108086"/>
        <c:crosses val="autoZero"/>
        <c:crossBetween val="between"/>
      </c:valAx>
      <c:spPr>
        <a:solidFill>
          <a:srgbClr val="FFFFFF"/>
        </a:solidFill>
        <a:ln w="9360">
          <a:solidFill>
            <a:srgbClr val="D6E2E8"/>
          </a:solidFill>
          <a:round/>
        </a:ln>
      </c:spPr>
    </c:plotArea>
    <c:plotVisOnly val="1"/>
    <c:dispBlanksAs val="zero"/>
  </c:chart>
  <c:spPr>
    <a:noFill/>
    <a:ln w="9360">
      <a:solidFill>
        <a:srgbClr val="D6E2E8"/>
      </a:solidFill>
      <a:round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6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7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98AF565-938C-4048-A7D3-A3246FAC5C4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NKUA Machine Learning in Finance syllabus, academic year 2026–2027. The deck follows the same editable visual language as Lecture 0–1. Mathematical insertion points are documented separately; formulas are intentionally absent from this deck.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syllabus and Lecture 0–1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syllabus, Week 2 learning objectives.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workflow.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NKUA Machine Learning in Finance syllabus, academic year 2026–2027.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NumPy documentation, https://numpy.org/doc/stable/user/quickstart.html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NumPy documentation.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NumPy documentation.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financial-data example.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NumPy broadcasting documentation.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portfolio example.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NumPy documentation.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NKUA Machine Learning in Finance syllabus, academic year 2026–2027.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Pandas user guide, https://pandas.pydata.org/docs/user_guide/10min.html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Yeh (2009), UCI Machine Learning Repository dataset 350, https://archive.ics.uci.edu/dataset/350/default+of+credit+card+clients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included UCI credit CSV and data dictionary.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dataset 350 and the course data dictionary.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data-audit framework.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included UCI credit CSV; missingness calculated from the supplied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dataset 350; counts calculated from the included CSV.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Pandas documentation, https://pandas.pydata.org/docs/reference/api/pandas.DataFrame.describe.html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summary calculated from included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filtering example.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grouped summary calculated from included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pivot table calculated from included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Pandas merge documentation and UCI data dictionary.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derived variables are teaching examples and are not a final model specification.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dataset 350 documentation and supplied data dictionary.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NKUA Machine Learning in Finance syllabus, academic year 2026–2027.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EDA framework.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counts calculated using the displayed credit-limit and PAY_AMT1 bands.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grouped default rates calculated from included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scatter plot is an illustrative native chart and the full-sample plot is generated in Colab.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values shown are rounded teaching outputs.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grouped summaries calculated from included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included UCI credit CSV; function is a reusable course example.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NKUA Machine Learning in Finance syllabus, academic year 2026–2027.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dataset 350 and course workflow.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dataset 350 and course repository.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included UCI credit CSV.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native chart mirrors the Colab chart.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CSV; interpretation is intentionally descriptive.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UCI credit CSV and data dictionary.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NKUA Machine Learning in Finance syllabus, academic year 2026–2027.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assessment and weekly-work rules.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exercise design.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course weekly submission standard.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13-week course map, Week 3.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47712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One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10820160" cy="426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9320" y="2857680"/>
            <a:ext cx="975312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US" sz="4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19320" y="2590920"/>
            <a:ext cx="9753120" cy="99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US" sz="4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685800" y="685800"/>
            <a:ext cx="56880" cy="74268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047600" y="762120"/>
            <a:ext cx="619092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MACHINE LEARNING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FINANCE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066680" y="2523960"/>
            <a:ext cx="6095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CFE1EA"/>
                </a:solidFill>
                <a:effectLst/>
                <a:uFillTx/>
                <a:latin typeface="Arial"/>
                <a:ea typeface="Arial"/>
              </a:rPr>
              <a:t>Lecture 2  |  Python Foundations II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066680" y="3048120"/>
            <a:ext cx="65718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From arrays and tables to a defensible exploratory analysis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858160" y="781200"/>
            <a:ext cx="2190240" cy="2190240"/>
          </a:xfrm>
          <a:prstGeom prst="roundRect">
            <a:avLst>
              <a:gd name="adj" fmla="val 5217"/>
            </a:avLst>
          </a:prstGeom>
          <a:solidFill>
            <a:srgbClr val="0D2D4A"/>
          </a:solidFill>
          <a:ln w="9525">
            <a:solidFill>
              <a:srgbClr val="0D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9353520" y="1276200"/>
            <a:ext cx="1199880" cy="1199880"/>
          </a:xfrm>
          <a:prstGeom prst="roundRect">
            <a:avLst>
              <a:gd name="adj" fmla="val 9524"/>
            </a:avLst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620280" y="1542960"/>
            <a:ext cx="666360" cy="666360"/>
          </a:xfrm>
          <a:prstGeom prst="roundRect">
            <a:avLst>
              <a:gd name="adj" fmla="val 17143"/>
            </a:avLst>
          </a:prstGeom>
          <a:solidFill>
            <a:srgbClr val="061B33"/>
          </a:solidFill>
          <a:ln w="9525">
            <a:solidFill>
              <a:srgbClr val="06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9086760" y="3333600"/>
            <a:ext cx="199980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6750" b="1" u="none" strike="noStrike">
                <a:solidFill>
                  <a:srgbClr val="143858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6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066680" y="5429160"/>
            <a:ext cx="3809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Dr Ferdinantos Kottas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066680" y="5791320"/>
            <a:ext cx="5905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NKUA MPhil Economics  |  Academic Year 2026–2027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Machine Learning in Finance  |  Week 02  |  NKUA MPhil Economics  |  2026–2027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LECTURE 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second lecture changes the unit of analysis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Python Foundations II moves from individual commands to structured financial tables.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43040" y="2095560"/>
            <a:ext cx="3142800" cy="2190240"/>
          </a:xfrm>
          <a:prstGeom prst="roundRect">
            <a:avLst>
              <a:gd name="adj" fmla="val 5217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743040" y="2095560"/>
            <a:ext cx="56880" cy="21902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952560" y="2266920"/>
            <a:ext cx="272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WEEK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952560" y="2571840"/>
            <a:ext cx="2723760" cy="15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You learned the language: variables, control flow, functions, files, descriptive statistics, and basic plots.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514760" y="2095560"/>
            <a:ext cx="3142800" cy="2190240"/>
          </a:xfrm>
          <a:prstGeom prst="roundRect">
            <a:avLst>
              <a:gd name="adj" fmla="val 5217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4514760" y="2095560"/>
            <a:ext cx="56880" cy="219024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724280" y="2266920"/>
            <a:ext cx="272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WEEK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4724280" y="2571840"/>
            <a:ext cx="2723760" cy="15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You will work with arrays and DataFrames so the same analysis can be applied to thousands of observations.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8286840" y="2095560"/>
            <a:ext cx="3142800" cy="219024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8286840" y="2095560"/>
            <a:ext cx="56880" cy="219024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496360" y="2266920"/>
            <a:ext cx="2723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FINANCIAL QUESTION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8496360" y="2571840"/>
            <a:ext cx="2723760" cy="15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Which borrower characteristics and relationships should we understand before fitting a supervised model?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What you should be able to do after this lecture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objective is a reproducible exploratory workflow, not memorisation of isolated commands.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914400" y="208584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162080" y="200016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Represent financial data as NumPy arrays and Pandas DataFrames, while understanding the difference between a value, a row, and a column.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914400" y="258120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162080" y="249552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Load the public UCI credit-risk table, inspect its dimensions, types, coded values, missingness, and target definition.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14400" y="307656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162080" y="299088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Use filtering, grouping, aggregation, joins, and transformations to answer a financial question with traceable code.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14400" y="357192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162080" y="348624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Build descriptive summaries and labelled plots that reveal distributions, class balance, associations, and data-quality risks.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14400" y="406728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162080" y="398160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Write an interpretation that separates a sample association from a causal claim and records at least one limitation.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LECTURE MAP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route from a CSV file to evidence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Every stage answers a different question about the table.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" name=""/>
          <p:cNvGraphicFramePr/>
          <p:nvPr/>
        </p:nvGraphicFramePr>
        <p:xfrm>
          <a:off x="819000" y="2000160"/>
          <a:ext cx="10572480" cy="3142800"/>
        </p:xfrm>
        <a:graphic>
          <a:graphicData uri="http://schemas.openxmlformats.org/drawingml/2006/table">
            <a:tbl>
              <a:tblPr/>
              <a:tblGrid>
                <a:gridCol w="1523880"/>
                <a:gridCol w="5143320"/>
                <a:gridCol w="3904920"/>
              </a:tblGrid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Stage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Question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Typical Python object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Load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What file and source did we receive?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DataFrame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Inspect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How large, typed, and complete is it?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Index, dtypes, summary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Transform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Can the raw columns express the financial concept?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Series and new columns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Compare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Do groups differ in the sample?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groupby and pivot_table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Visualise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What pattern is easier to see than to read?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Chart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Interpret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What can the evidence support?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Written conclusion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2" name=""/>
          <p:cNvSpPr/>
          <p:nvPr/>
        </p:nvSpPr>
        <p:spPr>
          <a:xfrm>
            <a:off x="819000" y="5429160"/>
            <a:ext cx="10572480" cy="666360"/>
          </a:xfrm>
          <a:prstGeom prst="roundRect">
            <a:avLst>
              <a:gd name="adj" fmla="val 17143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819000" y="5429160"/>
            <a:ext cx="56880" cy="66636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028880" y="5524560"/>
            <a:ext cx="101534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QUALITY RULE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028880" y="5724360"/>
            <a:ext cx="101534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code and its interpretation travel together. A chart without units, source, or a sentence is not a complete analysis.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685800" y="609480"/>
            <a:ext cx="56880" cy="39960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914400" y="590400"/>
            <a:ext cx="438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PART 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85800" y="1219320"/>
            <a:ext cx="695304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NumPy as a financial calculation layer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723960" y="2286000"/>
            <a:ext cx="6190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CFE1EA"/>
                </a:solidFill>
                <a:effectLst/>
                <a:uFillTx/>
                <a:latin typeface="Arial"/>
                <a:ea typeface="Arial"/>
              </a:rPr>
              <a:t>Arrays make repeated numerical operations explicit, fast, and easier to check.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8667720" y="1200240"/>
            <a:ext cx="25714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450" b="1" u="none" strike="noStrike">
                <a:solidFill>
                  <a:srgbClr val="143858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9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8763120" y="3143160"/>
            <a:ext cx="2095200" cy="3780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85800" y="632448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Machine Learning in Finance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1049120" y="6305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NUMPY FOUNDATIONS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Why arrays matter in finance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spreadsheet cell can hide a calculation. An array makes the repeated structure visible.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914400" y="213372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162080" y="2048040"/>
            <a:ext cx="98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one-dimensional array can represent a time series such as daily prices, returns, or payment amounts.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914400" y="262908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162080" y="2543040"/>
            <a:ext cx="98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two-dimensional array can represent observations by rows and variables by columns.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914400" y="312408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162080" y="3038400"/>
            <a:ext cx="98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array has a shape, a data type, and an axis structure. These three properties determine which operations are valid.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914400" y="361944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162080" y="3533760"/>
            <a:ext cx="98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Vectorised operations apply one rule to all observations without writing a Python loop for each row.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914400" y="411480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162080" y="4029120"/>
            <a:ext cx="984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benefit is reproducibility: the same operation can be rerun after the data or time window changes.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NUMPY FOUNDATIONS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Array shape describes the observation structure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Before calculating anything, inspect how many dimensions and observations you have.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19000" y="182880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19000" y="2095560"/>
            <a:ext cx="4857480" cy="2857320"/>
          </a:xfrm>
          <a:prstGeom prst="roundRect">
            <a:avLst>
              <a:gd name="adj" fmla="val 400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009800" y="2266920"/>
            <a:ext cx="44762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values = np.array([100, 105, 102, 108])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prices = np.array([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[100, 20],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[105, 21],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[102, 22],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[108, 23]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print(values.shape)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print(prices.shape)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print(prices.ndim)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191280" y="182880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191280" y="2095560"/>
            <a:ext cx="4762080" cy="285732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381720" y="2266920"/>
            <a:ext cx="43812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(4,)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(4, 2)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19000" y="5381640"/>
            <a:ext cx="10134360" cy="666360"/>
          </a:xfrm>
          <a:prstGeom prst="roundRect">
            <a:avLst>
              <a:gd name="adj" fmla="val 17143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819000" y="5381640"/>
            <a:ext cx="56880" cy="6663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028880" y="547704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READING THE OUTPUT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028880" y="5676840"/>
            <a:ext cx="9715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first object has four values. The second has four observations and two variables. A shape mismatch is often the first reason a financial calculation fails.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NUMPY FOUNDATIONS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Indexing and slicing preserve the time order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Indexing selects observations. Slicing selects a contiguous window without changing the original array.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819000" y="182880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819000" y="2095560"/>
            <a:ext cx="4857480" cy="2666520"/>
          </a:xfrm>
          <a:prstGeom prst="roundRect">
            <a:avLst>
              <a:gd name="adj" fmla="val 4286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009800" y="2266920"/>
            <a:ext cx="4476240" cy="23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prices = np.array([100, 105, 102, 108, 111])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first = prices[0]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last_two = prices[-2:]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window = prices[1:4]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print(first)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print(last_two)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print(window)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191280" y="182880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191280" y="2095560"/>
            <a:ext cx="4762080" cy="2666520"/>
          </a:xfrm>
          <a:prstGeom prst="roundRect">
            <a:avLst>
              <a:gd name="adj" fmla="val 4286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381720" y="2266920"/>
            <a:ext cx="4381200" cy="23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100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[108 111]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[105 102 108]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819000" y="5238720"/>
            <a:ext cx="10134360" cy="780840"/>
          </a:xfrm>
          <a:prstGeom prst="roundRect">
            <a:avLst>
              <a:gd name="adj" fmla="val 14634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819000" y="5238720"/>
            <a:ext cx="56880" cy="78084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028880" y="533412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FINANCIAL READING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028880" y="5533920"/>
            <a:ext cx="9715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slice can represent a training window, an evaluation window, or a reporting period. Always state whether the endpoint is included and preserve chronological order.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NUMPY FOUNDATIONS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Vectorisation makes the calculation auditable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code states the transformation once and applies it to every observation.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819000" y="182880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819000" y="2095560"/>
            <a:ext cx="4857480" cy="2476080"/>
          </a:xfrm>
          <a:prstGeom prst="roundRect">
            <a:avLst>
              <a:gd name="adj" fmla="val 4615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009800" y="2266920"/>
            <a:ext cx="4476240" cy="21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prices = np.array([100, 105, 102, 108])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returns = prices[1:] / prices[:-1] - 1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print(np.round(returns, 4))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191280" y="182880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191280" y="2095560"/>
            <a:ext cx="4762080" cy="2476080"/>
          </a:xfrm>
          <a:prstGeom prst="roundRect">
            <a:avLst>
              <a:gd name="adj" fmla="val 4615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381720" y="2266920"/>
            <a:ext cx="4381200" cy="21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[ 0.0500 -0.0286  0.0588]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819000" y="5143680"/>
            <a:ext cx="10134360" cy="875880"/>
          </a:xfrm>
          <a:prstGeom prst="roundRect">
            <a:avLst>
              <a:gd name="adj" fmla="val 13043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819000" y="5143680"/>
            <a:ext cx="56880" cy="87588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028880" y="523872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WHY THIS MATTERS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028880" y="5438880"/>
            <a:ext cx="97153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same pattern will later be used for feature transformations. The analyst still needs to check the time order, units, and whether a price or adjusted price is appropriate.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NUMPY FOUNDATIONS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Broadcasting applies a compatible rule across rows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Broadcasting lets an array operation use a scalar or a one-dimensional vector across a matrix.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819000" y="182880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819000" y="2095560"/>
            <a:ext cx="4857480" cy="2857320"/>
          </a:xfrm>
          <a:prstGeom prst="roundRect">
            <a:avLst>
              <a:gd name="adj" fmla="val 400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009800" y="2266920"/>
            <a:ext cx="44762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returns = np.array([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[0.02, 0.01],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[-0.01, 0.03],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[0.04, -0.02]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weights = np.array([0.60, 0.40])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contributions = returns * weights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portfolio = contributions.sum(axis=1)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191280" y="182880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191280" y="2095560"/>
            <a:ext cx="4762080" cy="285732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381720" y="2266920"/>
            <a:ext cx="43812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portfolio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[0.016 0.006 0.016]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19000" y="5381640"/>
            <a:ext cx="10134360" cy="666360"/>
          </a:xfrm>
          <a:prstGeom prst="roundRect">
            <a:avLst>
              <a:gd name="adj" fmla="val 17143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19000" y="5381640"/>
            <a:ext cx="56880" cy="6663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028880" y="547704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CHECK BEFORE TRUSTING THE RESULT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028880" y="5676840"/>
            <a:ext cx="9715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Broadcasting is powerful but silent. Confirm that the order of columns matches the order of weights.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FINANCIAL EXAMPLE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portfolio return is a weighted aggregation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small array example connects the programming operation to a portfolio concept.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819000" y="182880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819000" y="2095560"/>
            <a:ext cx="4857480" cy="2571480"/>
          </a:xfrm>
          <a:prstGeom prst="roundRect">
            <a:avLst>
              <a:gd name="adj" fmla="val 4444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009800" y="2266920"/>
            <a:ext cx="4476240" cy="22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asset_returns = np.array([0.08, 0.03, 0.01])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weights = np.array([0.50, 0.30, 0.20])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weighted = asset_returns * weights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print(weighted.round(4))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print(weighted.sum().round(4))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191280" y="182880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191280" y="2095560"/>
            <a:ext cx="4762080" cy="2571480"/>
          </a:xfrm>
          <a:prstGeom prst="roundRect">
            <a:avLst>
              <a:gd name="adj" fmla="val 4444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381720" y="2266920"/>
            <a:ext cx="4381200" cy="22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[0.04  0.009 0.002]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0.051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819000" y="5143680"/>
            <a:ext cx="10134360" cy="875880"/>
          </a:xfrm>
          <a:prstGeom prst="roundRect">
            <a:avLst>
              <a:gd name="adj" fmla="val 13043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819000" y="5143680"/>
            <a:ext cx="56880" cy="87588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28880" y="523872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1028880" y="5438880"/>
            <a:ext cx="97153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portfolio return is 5.10% for the stated period. The code also exposes the contribution of each asset, which is useful for explaining performance.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NUMPY FOUNDATIONS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Missing values need an explicit policy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numerical array may contain NaN. The analyst must decide whether to exclude, replace, or investigate it.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819000" y="182880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819000" y="2095560"/>
            <a:ext cx="4857480" cy="2666520"/>
          </a:xfrm>
          <a:prstGeom prst="roundRect">
            <a:avLst>
              <a:gd name="adj" fmla="val 4286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009800" y="2266920"/>
            <a:ext cx="4476240" cy="23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x = np.array([10.0, 12.0, np.nan, 15.0])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print(np.mean(x))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print(np.nanmean(x))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print(np.isnan(x))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191280" y="182880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191280" y="2095560"/>
            <a:ext cx="4762080" cy="2666520"/>
          </a:xfrm>
          <a:prstGeom prst="roundRect">
            <a:avLst>
              <a:gd name="adj" fmla="val 4286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381720" y="2266920"/>
            <a:ext cx="4381200" cy="23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nan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12.3333333333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[False False  True False]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819000" y="5238720"/>
            <a:ext cx="10134360" cy="761760"/>
          </a:xfrm>
          <a:prstGeom prst="roundRect">
            <a:avLst>
              <a:gd name="adj" fmla="val 15000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819000" y="5238720"/>
            <a:ext cx="56880" cy="76176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028880" y="533412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COURSE RULE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028880" y="5533920"/>
            <a:ext cx="97153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Do not hide missingness with a convenient function. Report the count, explain the economic meaning, and document the choice before modelling.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685800" y="609480"/>
            <a:ext cx="56880" cy="39960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914400" y="590400"/>
            <a:ext cx="438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PART 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85800" y="1219320"/>
            <a:ext cx="695304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Pandas as a financial table layer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723960" y="2286000"/>
            <a:ext cx="6190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CFE1EA"/>
                </a:solidFill>
                <a:effectLst/>
                <a:uFillTx/>
                <a:latin typeface="Arial"/>
                <a:ea typeface="Arial"/>
              </a:rPr>
              <a:t>DataFrames preserve labels, variable names, and the relationships between columns.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8667720" y="1200240"/>
            <a:ext cx="25714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450" b="1" u="none" strike="noStrike">
                <a:solidFill>
                  <a:srgbClr val="143858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9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8763120" y="3143160"/>
            <a:ext cx="2095200" cy="3780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685800" y="632448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Machine Learning in Finance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1049120" y="6305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PANDAS FOUNDATIONS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DataFrame has an observation unit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most important question is not “Which command should I use?” It is “What does one row represent?”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0" name=""/>
          <p:cNvGraphicFramePr/>
          <p:nvPr/>
        </p:nvGraphicFramePr>
        <p:xfrm>
          <a:off x="819000" y="2095560"/>
          <a:ext cx="10572480" cy="2381040"/>
        </p:xfrm>
        <a:graphic>
          <a:graphicData uri="http://schemas.openxmlformats.org/drawingml/2006/table">
            <a:tbl>
              <a:tblPr/>
              <a:tblGrid>
                <a:gridCol w="1618920"/>
                <a:gridCol w="5619600"/>
                <a:gridCol w="3333600"/>
              </a:tblGrid>
              <a:tr h="475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Object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Meaning in the credit table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Example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75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Row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One borrower record in the supplied sample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 = 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75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Column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One measured attribute or target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LIMIT_BAL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75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Index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 label for locating rows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0, 1, 2, …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75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Target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 outcome to be understood later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default payment next month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1" name=""/>
          <p:cNvSpPr/>
          <p:nvPr/>
        </p:nvSpPr>
        <p:spPr>
          <a:xfrm>
            <a:off x="819000" y="4952880"/>
            <a:ext cx="10572480" cy="952200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819000" y="4952880"/>
            <a:ext cx="56880" cy="95220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1028880" y="5124600"/>
            <a:ext cx="10153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WHY IT MATTERS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1028880" y="5429160"/>
            <a:ext cx="10153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If a row represents a borrower-month, a random split may be inappropriate. If a row represents one borrower, repeated rows may create dependence. Data structure affects later validation.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PANDAS FOUNDATIONS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Loading the public credit-risk table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notebook uses the included CSV so students can reproduce the lecture without a private source.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819000" y="1828800"/>
            <a:ext cx="5905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819000" y="2095560"/>
            <a:ext cx="5905080" cy="2857320"/>
          </a:xfrm>
          <a:prstGeom prst="roundRect">
            <a:avLst>
              <a:gd name="adj" fmla="val 400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1009800" y="2266920"/>
            <a:ext cx="55242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DATA_URL = 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"https://raw.githubusercontent.com/fkottas/"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"Teaching-Courses/main/Machine%20Learning%20in%20Finance/"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"2026-2027/lectures/lecture-00-01/data/credit/"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"default_of_credit_card_clients.csv"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 = pd.read_csv(DATA_URL)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 = credit.rename(columns={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"default payment next month": "default_next_month"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})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7238880" y="1828800"/>
            <a:ext cx="3714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238880" y="2095560"/>
            <a:ext cx="3714480" cy="285732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7429680" y="2266920"/>
            <a:ext cx="33332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Rows: 30,000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Columns: 25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Target: default_next_month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Source: UCI dataset 350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PANDAS FOUNDATIONS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first audit is small and deliberate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Run the same four checks before interpreting any column.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819000" y="182880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819000" y="2095560"/>
            <a:ext cx="4952520" cy="2857320"/>
          </a:xfrm>
          <a:prstGeom prst="roundRect">
            <a:avLst>
              <a:gd name="adj" fmla="val 400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1009800" y="2266920"/>
            <a:ext cx="45716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credit.shape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credit.head(3)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credit.dtypes.value_counts()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credit.index.is_unique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286680" y="1828800"/>
            <a:ext cx="4667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6286680" y="2095560"/>
            <a:ext cx="4667040" cy="285732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477120" y="2266920"/>
            <a:ext cx="42858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(30000, 25)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25 int64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True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819000" y="5381640"/>
            <a:ext cx="10134360" cy="666360"/>
          </a:xfrm>
          <a:prstGeom prst="roundRect">
            <a:avLst>
              <a:gd name="adj" fmla="val 17143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819000" y="5381640"/>
            <a:ext cx="56880" cy="66636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1028880" y="547704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1028880" y="5676840"/>
            <a:ext cx="9715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table has 30,000 rows and 25 integer columns. Integer storage does not mean every variable is numeric in meaning: SEX, EDUCATION, and MARRIAGE are coded categories.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DATASET DICTIONARY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What each credit variable means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same code can be correct or misleading depending on the variable definition.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9" name=""/>
          <p:cNvGraphicFramePr/>
          <p:nvPr/>
        </p:nvGraphicFramePr>
        <p:xfrm>
          <a:off x="666720" y="1952640"/>
          <a:ext cx="10858320" cy="3619080"/>
        </p:xfrm>
        <a:graphic>
          <a:graphicData uri="http://schemas.openxmlformats.org/drawingml/2006/table">
            <a:tbl>
              <a:tblPr/>
              <a:tblGrid>
                <a:gridCol w="1714320"/>
                <a:gridCol w="2476440"/>
                <a:gridCol w="6667200"/>
              </a:tblGrid>
              <a:tr h="45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Variable family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Columns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Meaning and unit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5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Identifier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Client identifier; retained for traceability, excluded from features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5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Credit limit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LIMIT_BAL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Given credit in New Taiwan dollars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5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Demographics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SEX, EDUCATION, MARRIAGE, AGE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Source-coded categories and age in years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5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Repayment status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PAY_0 … PAY_6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Coded repayment status across six months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5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Bills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BILL_AMT1 … BILL_AMT6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Monthly bill statement amounts in New Taiwan dollars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5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Payments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PAY_AMT1 … PAY_AMT6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Previous payment amounts in New Taiwan dollars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5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Target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default_next_month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 = default next month, 0 = no default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DATASET AUDIT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1–2–3–4 audit for a new table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Use the sequence every time a new dataset enters the workflow.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819000" y="2095560"/>
            <a:ext cx="2381040" cy="2381040"/>
          </a:xfrm>
          <a:prstGeom prst="roundRect">
            <a:avLst>
              <a:gd name="adj" fmla="val 4800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819000" y="2095560"/>
            <a:ext cx="56880" cy="23810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1028880" y="2266920"/>
            <a:ext cx="1961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1 · IDENTITY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1028880" y="2571840"/>
            <a:ext cx="196164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What does one row represent? What is the target? Which column is an identifier?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Example: one row is one borrower record.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524400" y="2095560"/>
            <a:ext cx="2381040" cy="2381040"/>
          </a:xfrm>
          <a:prstGeom prst="roundRect">
            <a:avLst>
              <a:gd name="adj" fmla="val 48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3524400" y="2095560"/>
            <a:ext cx="56880" cy="238104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3733920" y="2266920"/>
            <a:ext cx="1961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2 · STRUCTURE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733920" y="2571840"/>
            <a:ext cx="196164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How many rows and columns exist? Are names unique? What are the data types?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Example: 30,000 rows, 25 integer-coded columns.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6229440" y="2095560"/>
            <a:ext cx="2381040" cy="2381040"/>
          </a:xfrm>
          <a:prstGeom prst="roundRect">
            <a:avLst>
              <a:gd name="adj" fmla="val 4800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6229440" y="2095560"/>
            <a:ext cx="56880" cy="238104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438960" y="2266920"/>
            <a:ext cx="1961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3 · QUALITY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6438960" y="2571840"/>
            <a:ext cx="196164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Which values are missing, impossible, duplicated, or special codes?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Example: PAY_0 includes negative and positive source codes.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8934480" y="2095560"/>
            <a:ext cx="2381040" cy="2381040"/>
          </a:xfrm>
          <a:prstGeom prst="roundRect">
            <a:avLst>
              <a:gd name="adj" fmla="val 4800"/>
            </a:avLst>
          </a:prstGeom>
          <a:solidFill>
            <a:srgbClr val="F8EAE8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8934480" y="2095560"/>
            <a:ext cx="56880" cy="2381040"/>
          </a:xfrm>
          <a:prstGeom prst="rect">
            <a:avLst/>
          </a:prstGeom>
          <a:solidFill>
            <a:srgbClr val="D77B6D"/>
          </a:solidFill>
          <a:ln w="9525">
            <a:solidFill>
              <a:srgbClr val="D77B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9144000" y="2266920"/>
            <a:ext cx="1961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D77B6D"/>
                </a:solidFill>
                <a:effectLst/>
                <a:uFillTx/>
                <a:latin typeface="Arial"/>
                <a:ea typeface="Arial"/>
              </a:rPr>
              <a:t>4 · MEANING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9144000" y="2571840"/>
            <a:ext cx="196164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Which summaries and plots answer the financial question?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Example: compare default rates across credit-limit bands.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914400" y="5143680"/>
            <a:ext cx="100008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sequence connects the table to a financial decision. Skipping step 1 makes every later interpretation harder to defend.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DATASET AUDIT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Missingness is a table, not a single number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overall count can hide a variable-specific problem.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819000" y="1828800"/>
            <a:ext cx="4857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819000" y="2095560"/>
            <a:ext cx="4857480" cy="2952360"/>
          </a:xfrm>
          <a:prstGeom prst="roundRect">
            <a:avLst>
              <a:gd name="adj" fmla="val 3871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1009800" y="2266920"/>
            <a:ext cx="4476240" cy="26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missing = 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credit.isna()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.sum()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.sort_values(ascending=False)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missing_rate = (missing / len(credit)).round(4)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missing_table = pd.DataFrame({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"missing": missing,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"rate": missing_rate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})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missing_table.head()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6191280" y="182880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6191280" y="2095560"/>
            <a:ext cx="4762080" cy="2952360"/>
          </a:xfrm>
          <a:prstGeom prst="roundRect">
            <a:avLst>
              <a:gd name="adj" fmla="val 3871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6381720" y="2266920"/>
            <a:ext cx="4381200" cy="26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All 25 columns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missing = 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rate = 0.0000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No blank cells are reported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in the supplied CSV.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819000" y="5429160"/>
            <a:ext cx="10134360" cy="666360"/>
          </a:xfrm>
          <a:prstGeom prst="roundRect">
            <a:avLst>
              <a:gd name="adj" fmla="val 17143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819000" y="5429160"/>
            <a:ext cx="56880" cy="66636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1028880" y="552456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IMPORTANT DISTINCTION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1028880" y="5724360"/>
            <a:ext cx="9715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No missing cells does not guarantee that every code is valid. A special value can be present and still require interpretation.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DATASET AUDIT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Target balance determines the first descriptive question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Before using accuracy or any classifier, understand how common the outcome is.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5" name="Chart"/>
          <p:cNvGraphicFramePr/>
          <p:nvPr/>
        </p:nvGraphicFramePr>
        <p:xfrm>
          <a:off x="819000" y="2095560"/>
          <a:ext cx="5524200" cy="314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6" name=""/>
          <p:cNvSpPr/>
          <p:nvPr/>
        </p:nvSpPr>
        <p:spPr>
          <a:xfrm>
            <a:off x="6953400" y="2190600"/>
            <a:ext cx="4000320" cy="114264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953400" y="2190600"/>
            <a:ext cx="56880" cy="1142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7162920" y="2362320"/>
            <a:ext cx="3580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OBSERVED COUNTS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7162920" y="2666880"/>
            <a:ext cx="35809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No default: 23,364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Default: 6,636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Default rate: 22.12%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6953400" y="3666960"/>
            <a:ext cx="4000320" cy="1428480"/>
          </a:xfrm>
          <a:prstGeom prst="roundRect">
            <a:avLst>
              <a:gd name="adj" fmla="val 8000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953400" y="3666960"/>
            <a:ext cx="56880" cy="142848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7162920" y="3838680"/>
            <a:ext cx="3580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7162920" y="4143240"/>
            <a:ext cx="35809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model that always predicts “no default” would look accurate because the majority class is large. Later lectures introduce metrics that examine both classes.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DESCRIPTIVE STATISTICS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descriptive-statistics toolkit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Use the function that matches the question and state whether the result is a count, level, or spread.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0" name=""/>
          <p:cNvGraphicFramePr/>
          <p:nvPr/>
        </p:nvGraphicFramePr>
        <p:xfrm>
          <a:off x="571680" y="1809720"/>
          <a:ext cx="11048760" cy="4047840"/>
        </p:xfrm>
        <a:graphic>
          <a:graphicData uri="http://schemas.openxmlformats.org/drawingml/2006/table">
            <a:tbl>
              <a:tblPr/>
              <a:tblGrid>
                <a:gridCol w="2095200"/>
                <a:gridCol w="4952880"/>
                <a:gridCol w="4000320"/>
              </a:tblGrid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Function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Question answered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Typical use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count / size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How many observations are available?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Group size and denominator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mean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What is the arithmetic average?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Average credit limit or payment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median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What is the middle observation?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Robust centre for skewed amounts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std / var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How much do values vary?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Dispersion around the centre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min / max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What are the extremes?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Range and possible data errors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quantile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Where are the 25th, 50th, and 75th percentiles?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Distribution shape and bands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describe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Can the standard summary be produced together?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First numerical audit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value_counts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How common is each category or code?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Target and coded variables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0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corr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How do numeric columns move together in the sample?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Association screening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DESCRIPTIVE STATISTICS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standard summary should be read, not copied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default summary is a starting point. It does not replace variable definitions or plots.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819000" y="182880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819000" y="2095560"/>
            <a:ext cx="4952520" cy="2857320"/>
          </a:xfrm>
          <a:prstGeom prst="roundRect">
            <a:avLst>
              <a:gd name="adj" fmla="val 400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1009800" y="2266920"/>
            <a:ext cx="45716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numeric = [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"LIMIT_BAL", "AGE",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"BILL_AMT1", "PAY_AMT1"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summary = credit[numeric].describe().T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summary["iqr"] = 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summary["75%"] - summary["25%"]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summary.round(2)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6286680" y="1828800"/>
            <a:ext cx="4667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6286680" y="2095560"/>
            <a:ext cx="4667040" cy="285732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477120" y="2266920"/>
            <a:ext cx="42858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LIMIT_BAL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mean       167484.32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median     140000.00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IQR        190000.00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AGE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mean           35.49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median         34.00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IQR            13.00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819000" y="5381640"/>
            <a:ext cx="10134360" cy="666360"/>
          </a:xfrm>
          <a:prstGeom prst="roundRect">
            <a:avLst>
              <a:gd name="adj" fmla="val 17143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819000" y="5381640"/>
            <a:ext cx="56880" cy="66636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1028880" y="547704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1028880" y="5676840"/>
            <a:ext cx="9715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limit and payment variables are strongly right-skewed, so the median and interquartile range are essential alongside the mean and standard deviation.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PANDAS OPERATIONS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Filtering should express a financial condition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Boolean mask converts a verbal question into a reproducible subset.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819000" y="182880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819000" y="2095560"/>
            <a:ext cx="4952520" cy="2857320"/>
          </a:xfrm>
          <a:prstGeom prst="roundRect">
            <a:avLst>
              <a:gd name="adj" fmla="val 400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1009800" y="2266920"/>
            <a:ext cx="45716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high_limit = credit.loc[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credit["LIMIT_BAL"] &gt;= 300000,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["ID", "LIMIT_BAL", "AGE", "default_next_month"]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print(high_limit.shape)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print(high_limit["default_next_month"].mean())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6286680" y="1828800"/>
            <a:ext cx="4667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6286680" y="2095560"/>
            <a:ext cx="4667040" cy="285732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6477120" y="2266920"/>
            <a:ext cx="42858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Rows: 6,548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Default rate: 0.1326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819000" y="5381640"/>
            <a:ext cx="10134360" cy="666360"/>
          </a:xfrm>
          <a:prstGeom prst="roundRect">
            <a:avLst>
              <a:gd name="adj" fmla="val 17143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819000" y="5381640"/>
            <a:ext cx="56880" cy="66636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1028880" y="547704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1028880" y="5676840"/>
            <a:ext cx="9715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result describes the supplied sample. It does not imply that increasing a credit limit causes the observed default rate.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PANDAS OPERATIONS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Groupby turns a column into a comparison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Grouping is useful only when the group definition has a defensible financial meaning.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819000" y="1828800"/>
            <a:ext cx="5143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819000" y="2095560"/>
            <a:ext cx="5143320" cy="3142800"/>
          </a:xfrm>
          <a:prstGeom prst="roundRect">
            <a:avLst>
              <a:gd name="adj" fmla="val 3636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1009800" y="2266920"/>
            <a:ext cx="4762080" cy="28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credit["limit_band"] = pd.cut(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credit["LIMIT_BAL"],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bins=[-np.inf, 100000, 300000, np.inf],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labels=["low", "medium", "high"]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by_band = credit.groupby(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"limit_band", observed=False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).agg(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borrowers=("ID", "size"),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default_rate=("default_next_month", "mean"),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median_age=("AGE", "median")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6477120" y="1828800"/>
            <a:ext cx="4476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6477120" y="2095560"/>
            <a:ext cx="4476240" cy="3142800"/>
          </a:xfrm>
          <a:prstGeom prst="roundRect">
            <a:avLst>
              <a:gd name="adj" fmla="val 3636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6667560" y="2266920"/>
            <a:ext cx="4095360" cy="28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low       12,498   0.2948   32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medium    12,939   0.1814   34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high       4,563   0.1326   36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PANDAS OPERATIONS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pivot table changes the question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pivot table makes a two-way comparison explicit.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819000" y="1828800"/>
            <a:ext cx="5143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819000" y="2095560"/>
            <a:ext cx="5143320" cy="2952360"/>
          </a:xfrm>
          <a:prstGeom prst="roundRect">
            <a:avLst>
              <a:gd name="adj" fmla="val 3871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1009800" y="2266920"/>
            <a:ext cx="4762080" cy="26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credit["age_band"] = pd.cut(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credit["AGE"],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bins=[20, 30, 40, 50, 80],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labels=["21–30", "31–40", "41–50", "51–79"]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pivot = pd.pivot_table(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index="age_band",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columns="limit_band",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values="default_next_month",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aggfunc="mean"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pivot.round(3)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6477120" y="1828800"/>
            <a:ext cx="4476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6477120" y="2095560"/>
            <a:ext cx="4476240" cy="2952360"/>
          </a:xfrm>
          <a:prstGeom prst="roundRect">
            <a:avLst>
              <a:gd name="adj" fmla="val 3871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6667560" y="2266920"/>
            <a:ext cx="4095360" cy="26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                low  medium  high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21–30         0.340   0.213  0.170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31–40         0.292   0.179  0.127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41–50         0.276   0.164  0.116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51–79         0.259   0.156  0.104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819000" y="5429160"/>
            <a:ext cx="10134360" cy="666360"/>
          </a:xfrm>
          <a:prstGeom prst="roundRect">
            <a:avLst>
              <a:gd name="adj" fmla="val 17143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819000" y="5429160"/>
            <a:ext cx="56880" cy="6663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1028880" y="552456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READING THE TABLE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1028880" y="5724360"/>
            <a:ext cx="9715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comparison combines two sample dimensions. Small cells and unequal group sizes must be checked before making a conclusion.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PANDAS OPERATIONS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join adds meaning without changing the observation unit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Lookup tables are useful for turning source codes into readable labels.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819000" y="182880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819000" y="2095560"/>
            <a:ext cx="4952520" cy="2857320"/>
          </a:xfrm>
          <a:prstGeom prst="roundRect">
            <a:avLst>
              <a:gd name="adj" fmla="val 400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1009800" y="2266920"/>
            <a:ext cx="45716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education_lookup = pd.DataFrame({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"EDUCATION": [1, 2, 3, 4],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"education_label": [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"graduate school", "university",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"high school", "others"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})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credit_labelled = credit.merge(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education_lookup, on="EDUCATION", how="left"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6286680" y="1828800"/>
            <a:ext cx="4667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6286680" y="2095560"/>
            <a:ext cx="4667040" cy="285732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6477120" y="2266920"/>
            <a:ext cx="42858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EDUCATION  education_label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1          graduate school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2          university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3          high school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4          others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819000" y="5381640"/>
            <a:ext cx="10134360" cy="666360"/>
          </a:xfrm>
          <a:prstGeom prst="roundRect">
            <a:avLst>
              <a:gd name="adj" fmla="val 17143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819000" y="5381640"/>
            <a:ext cx="56880" cy="66636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1028880" y="547704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QUALITY CHECK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1028880" y="5676840"/>
            <a:ext cx="9715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After every join, compare row counts and check whether the key is unique. An accidental many-to-many join can silently duplicate borrowers.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FEATURE CONSTRUCTION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derived column should have a financial interpretation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Transformations are useful when the raw columns are not the most informative representation.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819000" y="1828800"/>
            <a:ext cx="5143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819000" y="2095560"/>
            <a:ext cx="5143320" cy="3047760"/>
          </a:xfrm>
          <a:prstGeom prst="roundRect">
            <a:avLst>
              <a:gd name="adj" fmla="val 375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1009800" y="2266920"/>
            <a:ext cx="476208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 = credit.assign(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total_bill=(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credit[[f"BILL_AMT{i}" for i in range(1, 7)]]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.sum(axis=1)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total_payment=(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credit[[f"PAY_AMT{i}" for i in range(1, 7)]]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.sum(axis=1)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credit["payment_to_limit"] = 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credit["total_payment"] / credit["LIMIT_BAL"]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6477120" y="1828800"/>
            <a:ext cx="4476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6477120" y="2095560"/>
            <a:ext cx="4476240" cy="3047760"/>
          </a:xfrm>
          <a:prstGeom prst="roundRect">
            <a:avLst>
              <a:gd name="adj" fmla="val 375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6667560" y="2266920"/>
            <a:ext cx="409536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New columns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total_bill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total_payment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payment_to_limit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These columns must be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checked for zero limits,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units, and time direction.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FINANCIAL EDA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Repayment codes are categorical information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integer storage of PAY_0 does not make it a continuous measurement automatically.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5" name="Chart"/>
          <p:cNvGraphicFramePr/>
          <p:nvPr/>
        </p:nvGraphicFramePr>
        <p:xfrm>
          <a:off x="819000" y="2095560"/>
          <a:ext cx="6190920" cy="314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06" name=""/>
          <p:cNvSpPr/>
          <p:nvPr/>
        </p:nvSpPr>
        <p:spPr>
          <a:xfrm>
            <a:off x="7524720" y="2190600"/>
            <a:ext cx="3428640" cy="1238040"/>
          </a:xfrm>
          <a:prstGeom prst="roundRect">
            <a:avLst>
              <a:gd name="adj" fmla="val 9231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7524720" y="2190600"/>
            <a:ext cx="56880" cy="12380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7734240" y="2362320"/>
            <a:ext cx="3009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SOURCE MEANING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7734240" y="2666880"/>
            <a:ext cx="300960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UCI documentation uses coded repayment-status categories. The course keeps the source values visible before any recoding.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7524720" y="3809880"/>
            <a:ext cx="3428640" cy="1285560"/>
          </a:xfrm>
          <a:prstGeom prst="roundRect">
            <a:avLst>
              <a:gd name="adj" fmla="val 8889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7524720" y="3809880"/>
            <a:ext cx="56880" cy="128556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7734240" y="3981600"/>
            <a:ext cx="3009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STUDENT QUESTION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7734240" y="4286160"/>
            <a:ext cx="300960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Which codes mean paid duly, and which represent a delay? What should be done with values that are special or ambiguous?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>
            <a:off x="685800" y="609480"/>
            <a:ext cx="56880" cy="39960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914400" y="590400"/>
            <a:ext cx="438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PART 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685800" y="1219320"/>
            <a:ext cx="695304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Exploratory data analysis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723960" y="2286000"/>
            <a:ext cx="6190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CFE1EA"/>
                </a:solidFill>
                <a:effectLst/>
                <a:uFillTx/>
                <a:latin typeface="Arial"/>
                <a:ea typeface="Arial"/>
              </a:rPr>
              <a:t>EDA makes the structure, imbalance, distributions, and relationships visible before modelling.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8667720" y="1200240"/>
            <a:ext cx="25714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450" b="1" u="none" strike="noStrike">
                <a:solidFill>
                  <a:srgbClr val="143858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9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8763120" y="3143160"/>
            <a:ext cx="2095200" cy="3780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685800" y="632448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Machine Learning in Finance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11049120" y="6305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EDA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EDA has four jobs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good EDA section is organised around decisions, not a gallery of plots.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819000" y="2095560"/>
            <a:ext cx="2381040" cy="2381040"/>
          </a:xfrm>
          <a:prstGeom prst="roundRect">
            <a:avLst>
              <a:gd name="adj" fmla="val 4800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819000" y="2095560"/>
            <a:ext cx="56880" cy="23810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1028880" y="2266920"/>
            <a:ext cx="1961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1 · STRUCTURE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1028880" y="2571840"/>
            <a:ext cx="196164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Confirm the observation unit, target, row count, column names, and types.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3524400" y="2095560"/>
            <a:ext cx="2381040" cy="2381040"/>
          </a:xfrm>
          <a:prstGeom prst="roundRect">
            <a:avLst>
              <a:gd name="adj" fmla="val 48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3524400" y="2095560"/>
            <a:ext cx="56880" cy="238104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3733920" y="2266920"/>
            <a:ext cx="1961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2 · QUALITY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3733920" y="2571840"/>
            <a:ext cx="196164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Find missing values, duplicated keys, special codes, implausible ranges, and skewed variables.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6229440" y="2095560"/>
            <a:ext cx="2381040" cy="2381040"/>
          </a:xfrm>
          <a:prstGeom prst="roundRect">
            <a:avLst>
              <a:gd name="adj" fmla="val 4800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6229440" y="2095560"/>
            <a:ext cx="56880" cy="238104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6438960" y="2266920"/>
            <a:ext cx="1961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3 · ASSOCIATION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6438960" y="2571840"/>
            <a:ext cx="196164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Compare groups and examine relationships that may guide feature construction.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8934480" y="2095560"/>
            <a:ext cx="2381040" cy="2381040"/>
          </a:xfrm>
          <a:prstGeom prst="roundRect">
            <a:avLst>
              <a:gd name="adj" fmla="val 4800"/>
            </a:avLst>
          </a:prstGeom>
          <a:solidFill>
            <a:srgbClr val="F8EAE8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8934480" y="2095560"/>
            <a:ext cx="56880" cy="2381040"/>
          </a:xfrm>
          <a:prstGeom prst="rect">
            <a:avLst/>
          </a:prstGeom>
          <a:solidFill>
            <a:srgbClr val="D77B6D"/>
          </a:solidFill>
          <a:ln w="9525">
            <a:solidFill>
              <a:srgbClr val="D77B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9144000" y="2266920"/>
            <a:ext cx="1961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D77B6D"/>
                </a:solidFill>
                <a:effectLst/>
                <a:uFillTx/>
                <a:latin typeface="Arial"/>
                <a:ea typeface="Arial"/>
              </a:rPr>
              <a:t>4 · COMMUNICATION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9144000" y="2571840"/>
            <a:ext cx="196164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Use labels, units, denominators, and written interpretation so another analyst can review the result.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914400" y="5143680"/>
            <a:ext cx="100008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EDA does not prove causality. It creates a defensible map of the data before supervised learning begins.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EDA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Binned counts show the long right tail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bins preserve the distribution message while keeping the chart portable and easy to reproduce in Colab.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1" name="Chart"/>
          <p:cNvGraphicFramePr/>
          <p:nvPr/>
        </p:nvGraphicFramePr>
        <p:xfrm>
          <a:off x="819000" y="2095560"/>
          <a:ext cx="4762080" cy="314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52" name="Chart"/>
          <p:cNvGraphicFramePr/>
          <p:nvPr/>
        </p:nvGraphicFramePr>
        <p:xfrm>
          <a:off x="5905440" y="2095560"/>
          <a:ext cx="4762080" cy="314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3" name=""/>
          <p:cNvSpPr/>
          <p:nvPr/>
        </p:nvSpPr>
        <p:spPr>
          <a:xfrm>
            <a:off x="819000" y="5429160"/>
            <a:ext cx="9658080" cy="666360"/>
          </a:xfrm>
          <a:prstGeom prst="roundRect">
            <a:avLst>
              <a:gd name="adj" fmla="val 17143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819000" y="5429160"/>
            <a:ext cx="56880" cy="66636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1028880" y="5524560"/>
            <a:ext cx="9239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READING THE PLOTS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1028880" y="5724360"/>
            <a:ext cx="92390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Most first payments fall between 1,000 and 5,000 New Taiwan dollars. The credit-limit distribution is concentrated below 300,000, with a small high-limit tail.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EDA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Boxplots make group differences easier to compare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boxplot highlights the centre, spread, and extreme observations in each group.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63" name="Chart"/>
          <p:cNvGraphicFramePr/>
          <p:nvPr/>
        </p:nvGraphicFramePr>
        <p:xfrm>
          <a:off x="819000" y="2095560"/>
          <a:ext cx="5905080" cy="314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64" name=""/>
          <p:cNvSpPr/>
          <p:nvPr/>
        </p:nvSpPr>
        <p:spPr>
          <a:xfrm>
            <a:off x="7238880" y="2190600"/>
            <a:ext cx="3714480" cy="1190160"/>
          </a:xfrm>
          <a:prstGeom prst="roundRect">
            <a:avLst>
              <a:gd name="adj" fmla="val 9600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7238880" y="2190600"/>
            <a:ext cx="56880" cy="11901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7448400" y="2362320"/>
            <a:ext cx="3295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WHAT THE CHART SAYS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7448400" y="2666880"/>
            <a:ext cx="329544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observed default rate is highest in the low-limit group and lowest in the high-limit group.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7238880" y="3762360"/>
            <a:ext cx="3714480" cy="1333080"/>
          </a:xfrm>
          <a:prstGeom prst="roundRect">
            <a:avLst>
              <a:gd name="adj" fmla="val 8571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7238880" y="3762360"/>
            <a:ext cx="56880" cy="133308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7448400" y="3933720"/>
            <a:ext cx="3295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WHAT IT DOES NOT SAY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7448400" y="4238640"/>
            <a:ext cx="32954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chart does not establish a causal effect of credit limit. Group composition and underwriting decisions may explain part of the difference.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EDA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scatter plot can reveal association and concentration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Use a scatter plot when both axes represent numerical quantities and the observation-level relationship matters.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8" name="Chart"/>
          <p:cNvGraphicFramePr/>
          <p:nvPr/>
        </p:nvGraphicFramePr>
        <p:xfrm>
          <a:off x="819000" y="2095560"/>
          <a:ext cx="6190920" cy="314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79" name=""/>
          <p:cNvSpPr/>
          <p:nvPr/>
        </p:nvSpPr>
        <p:spPr>
          <a:xfrm>
            <a:off x="7524720" y="2190600"/>
            <a:ext cx="3428640" cy="1285560"/>
          </a:xfrm>
          <a:prstGeom prst="roundRect">
            <a:avLst>
              <a:gd name="adj" fmla="val 8889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7524720" y="2190600"/>
            <a:ext cx="56880" cy="12855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7734240" y="2362320"/>
            <a:ext cx="3009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USEFUL QUESTIONS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7734240" y="2666880"/>
            <a:ext cx="300960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Do bills rise with available credit? Are negative or extreme bills present? Is the cloud concentrated in a few ranges?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7524720" y="3905280"/>
            <a:ext cx="3428640" cy="1190160"/>
          </a:xfrm>
          <a:prstGeom prst="roundRect">
            <a:avLst>
              <a:gd name="adj" fmla="val 9600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7524720" y="3905280"/>
            <a:ext cx="56880" cy="119016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7734240" y="4076640"/>
            <a:ext cx="3009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CAUTION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7734240" y="4381560"/>
            <a:ext cx="30096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simple chart with selected points is illustrative. The Colab notebook plots the full sample and reports the correlation separately.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EDA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Correlation is a screening tool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correlation matrix can organise many pairwise comparisons, but it cannot replace economic reasoning.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93" name=""/>
          <p:cNvGraphicFramePr/>
          <p:nvPr/>
        </p:nvGraphicFramePr>
        <p:xfrm>
          <a:off x="1238400" y="2190600"/>
          <a:ext cx="6857640" cy="2571480"/>
        </p:xfrm>
        <a:graphic>
          <a:graphicData uri="http://schemas.openxmlformats.org/drawingml/2006/table">
            <a:tbl>
              <a:tblPr/>
              <a:tblGrid>
                <a:gridCol w="1714320"/>
                <a:gridCol w="1238040"/>
                <a:gridCol w="1238040"/>
                <a:gridCol w="1333440"/>
                <a:gridCol w="1333440"/>
              </a:tblGrid>
              <a:tr h="514080">
                <a:tc>
                  <a:txBody>
                    <a:bodyPr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B2A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LIMIT_BAL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B2A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AGE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B2A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BILL_AMT1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B2A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PAY_AMT1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B2A47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LIMIT_BAL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1.000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0.145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0.286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0.178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AGE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0.145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1.000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0.056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0.026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BILL_AMT1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0.286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0.056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1.000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0.140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PAY_AMT1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0.178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0.026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0.140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1.000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4" name=""/>
          <p:cNvSpPr/>
          <p:nvPr/>
        </p:nvSpPr>
        <p:spPr>
          <a:xfrm>
            <a:off x="8381880" y="2190600"/>
            <a:ext cx="2666520" cy="114264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8381880" y="2190600"/>
            <a:ext cx="56880" cy="1142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8591400" y="2362320"/>
            <a:ext cx="2247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EXAMPLE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8591400" y="2666880"/>
            <a:ext cx="22474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LIMIT_BAL and BILL_AMT1 are positively associated in the supplied sample.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8381880" y="3714840"/>
            <a:ext cx="2666520" cy="1380600"/>
          </a:xfrm>
          <a:prstGeom prst="roundRect">
            <a:avLst>
              <a:gd name="adj" fmla="val 8276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8381880" y="3714840"/>
            <a:ext cx="56880" cy="138060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8591400" y="3886200"/>
            <a:ext cx="2247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LIMITATION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8591400" y="4191120"/>
            <a:ext cx="224748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weak correlation can still coexist with a useful nonlinear or conditional relationship. A strong correlation can reflect a shared scale or time pattern.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EDA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target relationship should be inspected separately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full-sample correlation does not answer whether a variable separates default and non-default borrowers.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819000" y="1828800"/>
            <a:ext cx="4952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819000" y="2095560"/>
            <a:ext cx="4952520" cy="2761920"/>
          </a:xfrm>
          <a:prstGeom prst="roundRect">
            <a:avLst>
              <a:gd name="adj" fmla="val 4138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1009800" y="2266920"/>
            <a:ext cx="4571640" cy="24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target_summary = credit.groupby(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"default_next_month"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)[["LIMIT_BAL", "AGE", "BILL_AMT1", "PAY_AMT1"]].agg(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["mean", "median"]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).round(2)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target_summary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6286680" y="1828800"/>
            <a:ext cx="4667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6286680" y="2095560"/>
            <a:ext cx="4667040" cy="2761920"/>
          </a:xfrm>
          <a:prstGeom prst="roundRect">
            <a:avLst>
              <a:gd name="adj" fmla="val 4138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6477120" y="2266920"/>
            <a:ext cx="4285800" cy="24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default = 0   default = 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LIMIT_BAL median 150000  90000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AGE       median 34      34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BILL_AMT1 median 21367   26003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PAY_AMT1 median 2459    1636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819000" y="5238720"/>
            <a:ext cx="10134360" cy="780840"/>
          </a:xfrm>
          <a:prstGeom prst="roundRect">
            <a:avLst>
              <a:gd name="adj" fmla="val 14634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819000" y="5238720"/>
            <a:ext cx="56880" cy="78084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1028880" y="5334120"/>
            <a:ext cx="9715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1028880" y="5533920"/>
            <a:ext cx="9715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Group summaries are a first comparison. Later supervised models combine variables and evaluate performance on observations that were not used to fit the model.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EDA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reproducible EDA function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function turns the audit into a reusable object for later datasets.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36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819000" y="1828800"/>
            <a:ext cx="5143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819000" y="2095560"/>
            <a:ext cx="5143320" cy="3238200"/>
          </a:xfrm>
          <a:prstGeom prst="roundRect">
            <a:avLst>
              <a:gd name="adj" fmla="val 3529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1009800" y="2266920"/>
            <a:ext cx="4762080" cy="28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def audit_table(df, target):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return {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"shape": df.shape,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"duplicate_rows": int(df.duplicated().sum()),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"missing_cells": int(df.isna().sum().sum()),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"target_counts": df[target].value_counts().to_dict(),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"numeric_columns": int(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    df.select_dtypes("number").shape[1]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    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audit_table(credit, "default_next_month")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6477120" y="1828800"/>
            <a:ext cx="4476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6477120" y="2095560"/>
            <a:ext cx="4476240" cy="3238200"/>
          </a:xfrm>
          <a:prstGeom prst="roundRect">
            <a:avLst>
              <a:gd name="adj" fmla="val 3529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6667560" y="2266920"/>
            <a:ext cx="4095360" cy="28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shape: (30000, 25)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duplicate_rows: 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missing_cells: 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target_counts: {0: 23364, 1: 6636}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numeric_columns: 25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>
            <a:off x="685800" y="609480"/>
            <a:ext cx="56880" cy="39960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914400" y="590400"/>
            <a:ext cx="438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PART 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685800" y="1219320"/>
            <a:ext cx="695304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Worked notebook workflow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723960" y="2286000"/>
            <a:ext cx="6190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CFE1EA"/>
                </a:solidFill>
                <a:effectLst/>
                <a:uFillTx/>
                <a:latin typeface="Arial"/>
                <a:ea typeface="Arial"/>
              </a:rPr>
              <a:t>The code now combines loading, auditing, grouping, transformation, and visualisation.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8667720" y="1200240"/>
            <a:ext cx="25714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450" b="1" u="none" strike="noStrike">
                <a:solidFill>
                  <a:srgbClr val="143858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9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8763120" y="3143160"/>
            <a:ext cx="2095200" cy="3780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685800" y="632448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Machine Learning in Finance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11049120" y="6305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37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WORKED CASE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Case study: understand default risk before modelling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objective is to create an evidence base for the supervised-learning weeks.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38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914400" y="218124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1162080" y="209556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Question: how does the supplied borrower table differ across target classes and credit-limit groups?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914400" y="267660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1162080" y="259092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Observation unit: one borrower credit-card account record in the UCI sample.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914400" y="317196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1162080" y="308628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Outcome: default payment next month, coded 1 or 0.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914400" y="366696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1162080" y="358128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Inputs for this lecture: raw variables, source codes, group definitions, and descriptive transformations.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914400" y="416232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1162080" y="4076640"/>
            <a:ext cx="9753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Out of scope today: fitting a classifier, choosing a threshold, or claiming causal effects.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914400" y="4952880"/>
            <a:ext cx="9905760" cy="875880"/>
          </a:xfrm>
          <a:prstGeom prst="roundRect">
            <a:avLst>
              <a:gd name="adj" fmla="val 13043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914400" y="4952880"/>
            <a:ext cx="56880" cy="87588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1123920" y="5048280"/>
            <a:ext cx="9486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EXPECTED OUTPUT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1123920" y="5248440"/>
            <a:ext cx="9486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short notebook that another student can rerun, inspect, and understand without asking which file, unit, or denominator you used.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WORKED CASE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Cell 1: make the source explicit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notebook starts with an auditable data-access cell.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39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819000" y="1828800"/>
            <a:ext cx="5714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COLAB CELL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819000" y="2095560"/>
            <a:ext cx="5714640" cy="2857320"/>
          </a:xfrm>
          <a:prstGeom prst="roundRect">
            <a:avLst>
              <a:gd name="adj" fmla="val 400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1009800" y="2266920"/>
            <a:ext cx="533376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import numpy as np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import pandas as pd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import matplotlib.pyplot as plt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DATA_URL = "&lt;course raw GitHub URL&gt;"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 = pd.read_csv(DATA_URL)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 = credit.rename(columns={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"default payment next month": "default_next_month"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})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7048440" y="1828800"/>
            <a:ext cx="390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7048440" y="2095560"/>
            <a:ext cx="3904920" cy="285732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7238880" y="2266920"/>
            <a:ext cx="35240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Loaded public CSV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Rows: 30,000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Columns: 25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The URL and target rename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are visible in the notebook.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WORKED CASE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Cell 2: audit the table before selecting columns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audit records the evidence needed for every later operation.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819000" y="1828800"/>
            <a:ext cx="5714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COLAB CELL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819000" y="2095560"/>
            <a:ext cx="5714640" cy="3047760"/>
          </a:xfrm>
          <a:prstGeom prst="roundRect">
            <a:avLst>
              <a:gd name="adj" fmla="val 375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1009800" y="2266920"/>
            <a:ext cx="533376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audit = pd.Series({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"rows": len(credit),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"columns": credit.shape[1],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"missing_cells": int(credit.isna().sum().sum()),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"duplicate_rows": int(credit.duplicated().sum()),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"unique_ids": credit["ID"].nunique()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})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audit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7048440" y="1828800"/>
            <a:ext cx="390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7048440" y="2095560"/>
            <a:ext cx="3904920" cy="3047760"/>
          </a:xfrm>
          <a:prstGeom prst="roundRect">
            <a:avLst>
              <a:gd name="adj" fmla="val 375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7238880" y="2266920"/>
            <a:ext cx="352404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rows             30000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columns             25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missing_cells        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duplicate_rows       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unique_ids       30000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WORKED CASE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Cell 3: create the descriptive table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descriptive table is easier to review when the variables are selected intentionally.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41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819000" y="1828800"/>
            <a:ext cx="5714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COLAB CELL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819000" y="2095560"/>
            <a:ext cx="5714640" cy="3047760"/>
          </a:xfrm>
          <a:prstGeom prst="roundRect">
            <a:avLst>
              <a:gd name="adj" fmla="val 375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1009800" y="2266920"/>
            <a:ext cx="533376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variables = [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"LIMIT_BAL", "AGE",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"BILL_AMT1", "PAY_AMT1"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summary = 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credit[variables]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.describe()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.T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.assign(IQR=lambda x: x["75%"] - x["25%"])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.round(2)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summary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7048440" y="1828800"/>
            <a:ext cx="390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7048440" y="2095560"/>
            <a:ext cx="3904920" cy="3047760"/>
          </a:xfrm>
          <a:prstGeom prst="roundRect">
            <a:avLst>
              <a:gd name="adj" fmla="val 375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7238880" y="2266920"/>
            <a:ext cx="352404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LIMIT_BAL  mean 167484.32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           median 140000.00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AGE        mean 35.49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           median 34.00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BILL_AMT1  mean 51223.33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PAY_AMT1   mean 5663.58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WORKED CASE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Cell 4: compare meaningful groups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group definition is written in the code so another analyst can reproduce it.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42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819000" y="1828800"/>
            <a:ext cx="5714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COLAB CELL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819000" y="2095560"/>
            <a:ext cx="5714640" cy="3047760"/>
          </a:xfrm>
          <a:prstGeom prst="roundRect">
            <a:avLst>
              <a:gd name="adj" fmla="val 375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1009800" y="2266920"/>
            <a:ext cx="533376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credit["limit_band"] = pd.cut(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credit["LIMIT_BAL"],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bins=[-np.inf, 100000, 300000, np.inf],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labels=["low", "medium", "high"]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by_band = credit.groupby(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"limit_band", observed=False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).agg(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borrowers=("ID", "size"),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default_rate=("default_next_month", "mean")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).round(4)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7048440" y="1828800"/>
            <a:ext cx="390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7048440" y="2095560"/>
            <a:ext cx="3904920" cy="3047760"/>
          </a:xfrm>
          <a:prstGeom prst="roundRect">
            <a:avLst>
              <a:gd name="adj" fmla="val 375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7238880" y="2266920"/>
            <a:ext cx="352404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              borrowers  default_rate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low              12498        0.2948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medium           12939        0.1814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high              4563        0.1326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WORKED CASE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Cell 5: create one chart with units and labels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chart should answer the question stated above it.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43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819000" y="1828800"/>
            <a:ext cx="5047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COLAB CELL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819000" y="2095560"/>
            <a:ext cx="5047920" cy="3047760"/>
          </a:xfrm>
          <a:prstGeom prst="roundRect">
            <a:avLst>
              <a:gd name="adj" fmla="val 375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1009800" y="2266920"/>
            <a:ext cx="466704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rates = by_band["default_rate"]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rates.plot(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kind="bar",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color="#2D9DB0",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title="Default rate by credit-limit band"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plt.ylabel("Share of borrowers")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plt.xlabel("Credit-limit band")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plt.xticks(rotation=0)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plt.show()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5" name="Chart"/>
          <p:cNvGraphicFramePr/>
          <p:nvPr/>
        </p:nvGraphicFramePr>
        <p:xfrm>
          <a:off x="6572160" y="2095560"/>
          <a:ext cx="4381200" cy="304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WORKED CASE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Cell 6: record interpretation beside the output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paragraph is part of the analysis. It identifies the pattern and its limit.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44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819000" y="2095560"/>
            <a:ext cx="9905760" cy="142848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819000" y="2095560"/>
            <a:ext cx="56880" cy="142848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1028880" y="2266920"/>
            <a:ext cx="9486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SAMPLE FINDING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1028880" y="2571840"/>
            <a:ext cx="94867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In the supplied sample, the default rate is 29.48% among borrowers in the low-limit band, compared with 13.26% in the high-limit band.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819000" y="3809880"/>
            <a:ext cx="9905760" cy="1428480"/>
          </a:xfrm>
          <a:prstGeom prst="roundRect">
            <a:avLst>
              <a:gd name="adj" fmla="val 8000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819000" y="3809880"/>
            <a:ext cx="56880" cy="142848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1028880" y="3981600"/>
            <a:ext cx="9486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LIMITATION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1028880" y="4286160"/>
            <a:ext cx="94867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This comparison is descriptive. It does not show that a credit limit caused the outcome, because the groups may differ in repayment history, age, education, and other variables.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WORKED CASE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Cell 7: check a relationship with a second variable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same group definition can be extended to age or repayment status.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45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819000" y="1828800"/>
            <a:ext cx="5714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COLAB CELL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819000" y="2095560"/>
            <a:ext cx="5714640" cy="3047760"/>
          </a:xfrm>
          <a:prstGeom prst="roundRect">
            <a:avLst>
              <a:gd name="adj" fmla="val 375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1009800" y="2266920"/>
            <a:ext cx="533376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credit["age_band"] = pd.cut(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credit["AGE"],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bins=[20, 30, 40, 50, 80],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labels=["21–30", "31–40", "41–50", "51–79"]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result = pd.crosstab(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credit["age_band"],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credit["limit_band"],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values=credit["default_next_month"],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aggfunc="mean"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).round(3)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result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7048440" y="1828800"/>
            <a:ext cx="390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7048440" y="2095560"/>
            <a:ext cx="3904920" cy="3047760"/>
          </a:xfrm>
          <a:prstGeom prst="roundRect">
            <a:avLst>
              <a:gd name="adj" fmla="val 375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7238880" y="2266920"/>
            <a:ext cx="352404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The result is a matrix of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default rates by two group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definitions.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Check cell counts before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comparing the rates.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WORKED CASE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Cell 8: save a compact EDA report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A report object makes it easier to compare datasets and later document modelling decisions.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46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819000" y="1828800"/>
            <a:ext cx="5714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COLAB CELL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819000" y="2095560"/>
            <a:ext cx="5714640" cy="3047760"/>
          </a:xfrm>
          <a:prstGeom prst="roundRect">
            <a:avLst>
              <a:gd name="adj" fmla="val 3750"/>
            </a:avLst>
          </a:prstGeom>
          <a:solidFill>
            <a:srgbClr val="0B2038"/>
          </a:solidFill>
          <a:ln w="9525">
            <a:solidFill>
              <a:srgbClr val="0B20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1009800" y="2266920"/>
            <a:ext cx="533376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report = {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"source": "UCI dataset 350",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"observation_unit": "borrower record",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"shape": credit.shape,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"missing_cells": int(credit.isna().sum().sum()),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"default_rate": round(credit["default_next_month"].mean(), 4),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    "numeric_columns": credit.select_dtypes("number").columns.tolist()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E5F4F3"/>
                </a:solidFill>
                <a:effectLst/>
                <a:uFillTx/>
                <a:latin typeface="Courier New"/>
                <a:ea typeface="Courier New"/>
              </a:rPr>
              <a:t>report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7048440" y="1828800"/>
            <a:ext cx="390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7048440" y="2095560"/>
            <a:ext cx="3904920" cy="3047760"/>
          </a:xfrm>
          <a:prstGeom prst="roundRect">
            <a:avLst>
              <a:gd name="adj" fmla="val 3750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7238880" y="2266920"/>
            <a:ext cx="3524040" cy="27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source: UCI dataset 350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observation_unit: borrower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shape: (30000, 25)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missing_cells: 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02A43"/>
                </a:solidFill>
                <a:effectLst/>
                <a:uFillTx/>
                <a:latin typeface="Courier New"/>
                <a:ea typeface="Courier New"/>
              </a:rPr>
              <a:t>default_rate: 0.2212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"/>
          <p:cNvSpPr/>
          <p:nvPr/>
        </p:nvSpPr>
        <p:spPr>
          <a:xfrm>
            <a:off x="685800" y="609480"/>
            <a:ext cx="56880" cy="39960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914400" y="590400"/>
            <a:ext cx="438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PART 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685800" y="1219320"/>
            <a:ext cx="695304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Practice and submission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723960" y="2286000"/>
            <a:ext cx="61909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CFE1EA"/>
                </a:solidFill>
                <a:effectLst/>
                <a:uFillTx/>
                <a:latin typeface="Arial"/>
                <a:ea typeface="Arial"/>
              </a:rPr>
              <a:t>The weekly work turns the lecture workflow into an independently reproducible notebook.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8667720" y="1200240"/>
            <a:ext cx="25714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450" b="1" u="none" strike="noStrike">
                <a:solidFill>
                  <a:srgbClr val="143858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9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8763120" y="3143160"/>
            <a:ext cx="2095200" cy="3780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685800" y="632448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Machine Learning in Finance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11049120" y="6305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9FB9C8"/>
                </a:solidFill>
                <a:effectLst/>
                <a:uFillTx/>
                <a:latin typeface="Arial"/>
                <a:ea typeface="Arial"/>
              </a:rPr>
              <a:t>47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WEEKLY EXERCISE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exercise uses the same dataset with a new question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Students should change the analysis question, not merely copy the displayed code.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48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68" name=""/>
          <p:cNvGraphicFramePr/>
          <p:nvPr/>
        </p:nvGraphicFramePr>
        <p:xfrm>
          <a:off x="819000" y="1952640"/>
          <a:ext cx="10572480" cy="3476160"/>
        </p:xfrm>
        <a:graphic>
          <a:graphicData uri="http://schemas.openxmlformats.org/drawingml/2006/table">
            <a:tbl>
              <a:tblPr/>
              <a:tblGrid>
                <a:gridCol w="2381040"/>
                <a:gridCol w="8191440"/>
              </a:tblGrid>
              <a:tr h="496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Deliverable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Minimum evidence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96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Data identity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Source link, access date, observation unit, target definition, and variable dictionary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96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Audit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Shape, types, missingness, duplicate check, and target counts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96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Descriptive table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At least six variables with mean, median, spread, range, and a written interpretation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96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Group comparison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One defensible group definition with counts and a rate or mean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96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Visual evidence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Two labelled plots with units, readable axes, and a paragraph for each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96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Limitations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One data-quality issue and one reason not to interpret association as causality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69" name=""/>
          <p:cNvSpPr/>
          <p:nvPr/>
        </p:nvSpPr>
        <p:spPr>
          <a:xfrm>
            <a:off x="819000" y="5715000"/>
            <a:ext cx="10572480" cy="523440"/>
          </a:xfrm>
          <a:prstGeom prst="roundRect">
            <a:avLst>
              <a:gd name="adj" fmla="val 21818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819000" y="5715000"/>
            <a:ext cx="56880" cy="52344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1028880" y="5810400"/>
            <a:ext cx="101534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DEADLINE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1028880" y="6010200"/>
            <a:ext cx="10153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Submit the completed Colab notebook one day before the next course meeting.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WEEKLY EXERCISE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Suggested student questions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Choose one question and define the denominator before calculating the result.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49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914400" y="218124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1162080" y="2095560"/>
            <a:ext cx="9658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Do default rates differ across repayment-status groups after documenting what the source codes mean?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914400" y="275256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1162080" y="2666880"/>
            <a:ext cx="9658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How do median bill amounts compare across age bands or education categories?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914400" y="332424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1162080" y="3238560"/>
            <a:ext cx="9658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Which variables have the strongest sample associations with the target, and what does the comparison miss?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914400" y="389556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1162080" y="3809880"/>
            <a:ext cx="9658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Do payment-to-limit ratios have a different distribution for default and non-default borrowers?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914400" y="4467240"/>
            <a:ext cx="75960" cy="7596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1162080" y="4381560"/>
            <a:ext cx="9658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Which two visualisations would help a credit analyst decide what to inspect next?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914400" y="5286240"/>
            <a:ext cx="9905760" cy="666360"/>
          </a:xfrm>
          <a:prstGeom prst="roundRect">
            <a:avLst>
              <a:gd name="adj" fmla="val 17143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914400" y="5286240"/>
            <a:ext cx="56880" cy="66636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1123920" y="5381640"/>
            <a:ext cx="9486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GOOD QUESTION TEST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1123920" y="5581800"/>
            <a:ext cx="94867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classmate should be able to identify the rows, columns, target, group definition, unit, and denominator from your notebook.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QUALITY CHECKLIST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Before submitting the notebook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Use the checklist as a final review rather than as a decorative final slide.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9" name=""/>
          <p:cNvGraphicFramePr/>
          <p:nvPr/>
        </p:nvGraphicFramePr>
        <p:xfrm>
          <a:off x="819000" y="2095560"/>
          <a:ext cx="10572480" cy="3142800"/>
        </p:xfrm>
        <a:graphic>
          <a:graphicData uri="http://schemas.openxmlformats.org/drawingml/2006/table">
            <a:tbl>
              <a:tblPr/>
              <a:tblGrid>
                <a:gridCol w="2666880"/>
                <a:gridCol w="7905600"/>
              </a:tblGrid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Check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Pass condition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9360">
                      <a:solidFill>
                        <a:srgbClr val="D6E2E8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solidFill>
                      <a:srgbClr val="061B33"/>
                    </a:solidFill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Reproducibility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 notebook runs from a clean Colab session without hidden local files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Data provenance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 source, URL, access date, licence, and variable meanings are visible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Correctness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Rows, denominators, units, and target coding are consistent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Visual quality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Labels, units, legends, and axis ranges are readable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Interpretation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Each result has a financial meaning and a limitation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  <a:tr h="448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Scope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6E2E8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supervised model is fitted in this Week 2 exercise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6E2E8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6E2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0" name=""/>
          <p:cNvSpPr/>
          <p:nvPr/>
        </p:nvSpPr>
        <p:spPr>
          <a:xfrm>
            <a:off x="819000" y="5524560"/>
            <a:ext cx="10572480" cy="571320"/>
          </a:xfrm>
          <a:prstGeom prst="roundRect">
            <a:avLst>
              <a:gd name="adj" fmla="val 20000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819000" y="5524560"/>
            <a:ext cx="56880" cy="57132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1028880" y="5619600"/>
            <a:ext cx="101534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5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SUBMISSION STANDARD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1028880" y="5819760"/>
            <a:ext cx="10153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A shorter notebook with clear evidence is stronger than a longer notebook with unexplained output.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"/>
          <p:cNvSpPr/>
          <p:nvPr/>
        </p:nvSpPr>
        <p:spPr>
          <a:xfrm>
            <a:off x="685800" y="476280"/>
            <a:ext cx="47160" cy="32364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895320" y="45720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NEXT WEEK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685800" y="81900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Week 3 introduces cleaning and preprocessing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685800" y="1352520"/>
            <a:ext cx="9810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The next lecture uses the same data discipline before any model sees the table.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>
            <a:off x="685800" y="6496200"/>
            <a:ext cx="8762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Machine Learning in Finance  ·  Week 02  ·  NKUA MPhil Economics  ·  2026–2027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11049120" y="6467400"/>
            <a:ext cx="456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587087"/>
                </a:solidFill>
                <a:effectLst/>
                <a:uFillTx/>
                <a:latin typeface="Arial"/>
                <a:ea typeface="Arial"/>
              </a:rPr>
              <a:t>51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819000" y="2095560"/>
            <a:ext cx="3047760" cy="2095200"/>
          </a:xfrm>
          <a:prstGeom prst="roundRect">
            <a:avLst>
              <a:gd name="adj" fmla="val 5455"/>
            </a:avLst>
          </a:prstGeom>
          <a:solidFill>
            <a:srgbClr val="EAF3F7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819000" y="2095560"/>
            <a:ext cx="56880" cy="2095200"/>
          </a:xfrm>
          <a:prstGeom prst="rect">
            <a:avLst/>
          </a:prstGeom>
          <a:solidFill>
            <a:srgbClr val="2D9DB0"/>
          </a:solidFill>
          <a:ln w="9525">
            <a:solidFill>
              <a:srgbClr val="2D9D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1028880" y="2266920"/>
            <a:ext cx="2628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D9DB0"/>
                </a:solidFill>
                <a:effectLst/>
                <a:uFillTx/>
                <a:latin typeface="Arial"/>
                <a:ea typeface="Arial"/>
              </a:rPr>
              <a:t>DATA QUALITY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1028880" y="2571840"/>
            <a:ext cx="262872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Missing values, duplicates, outliers, and special codes become explicit modelling decisions.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4572000" y="2095560"/>
            <a:ext cx="3047760" cy="2095200"/>
          </a:xfrm>
          <a:prstGeom prst="roundRect">
            <a:avLst>
              <a:gd name="adj" fmla="val 5455"/>
            </a:avLst>
          </a:prstGeom>
          <a:solidFill>
            <a:srgbClr val="E7F3EC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"/>
          <p:cNvSpPr/>
          <p:nvPr/>
        </p:nvSpPr>
        <p:spPr>
          <a:xfrm>
            <a:off x="4572000" y="2095560"/>
            <a:ext cx="56880" cy="2095200"/>
          </a:xfrm>
          <a:prstGeom prst="rect">
            <a:avLst/>
          </a:prstGeom>
          <a:solidFill>
            <a:srgbClr val="72C7C0"/>
          </a:solidFill>
          <a:ln w="9525">
            <a:solidFill>
              <a:srgbClr val="72C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>
            <a:off x="4781520" y="2266920"/>
            <a:ext cx="2628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72C7C0"/>
                </a:solidFill>
                <a:effectLst/>
                <a:uFillTx/>
                <a:latin typeface="Arial"/>
                <a:ea typeface="Arial"/>
              </a:rPr>
              <a:t>PREPROCESSING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4781520" y="2571840"/>
            <a:ext cx="262872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Numeric scaling, categorical encoding, and ColumnTransformer organise transformations without leakage.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8325000" y="2095560"/>
            <a:ext cx="3047760" cy="2095200"/>
          </a:xfrm>
          <a:prstGeom prst="roundRect">
            <a:avLst>
              <a:gd name="adj" fmla="val 5455"/>
            </a:avLst>
          </a:prstGeom>
          <a:solidFill>
            <a:srgbClr val="FBF3E5"/>
          </a:solidFill>
          <a:ln w="9525">
            <a:solidFill>
              <a:srgbClr val="D6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8325000" y="2095560"/>
            <a:ext cx="56880" cy="2095200"/>
          </a:xfrm>
          <a:prstGeom prst="rect">
            <a:avLst/>
          </a:prstGeom>
          <a:solidFill>
            <a:srgbClr val="C99A45"/>
          </a:solidFill>
          <a:ln w="9525">
            <a:solidFill>
              <a:srgbClr val="C99A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8534520" y="2266920"/>
            <a:ext cx="2628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C99A45"/>
                </a:solidFill>
                <a:effectLst/>
                <a:uFillTx/>
                <a:latin typeface="Arial"/>
                <a:ea typeface="Arial"/>
              </a:rPr>
              <a:t>WORKFLOW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8534520" y="2571840"/>
            <a:ext cx="262872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The train/test split comes before fitting transformation parameters to the data.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>
            <a:off x="914400" y="5143680"/>
            <a:ext cx="99057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102A43"/>
                </a:solidFill>
                <a:effectLst/>
                <a:uFillTx/>
                <a:latin typeface="Arial"/>
                <a:ea typeface="Arial"/>
              </a:rPr>
              <a:t>Bring your Week 2 notebook. The next lecture will convert the EDA findings into a reproducible preprocessing pipeline.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2026-10-14T23:44:44Z</dcterms:created>
  <dc:creator>Walnut Exporter</dc:creator>
  <dc:description/>
  <dc:language>en-US</dc:language>
  <cp:lastModifiedBy>Walnut Exporter</cp:lastModifiedBy>
  <dcterms:modified xsi:type="dcterms:W3CDTF">2026-10-14T23:44:44Z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